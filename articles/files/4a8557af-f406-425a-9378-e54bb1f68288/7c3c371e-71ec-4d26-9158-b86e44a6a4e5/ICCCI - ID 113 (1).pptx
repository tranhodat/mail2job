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 id="2147483863" r:id="rId2"/>
  </p:sldMasterIdLst>
  <p:notesMasterIdLst>
    <p:notesMasterId r:id="rId36"/>
  </p:notesMasterIdLst>
  <p:sldIdLst>
    <p:sldId id="291" r:id="rId3"/>
    <p:sldId id="338" r:id="rId4"/>
    <p:sldId id="292" r:id="rId5"/>
    <p:sldId id="323" r:id="rId6"/>
    <p:sldId id="337" r:id="rId7"/>
    <p:sldId id="324" r:id="rId8"/>
    <p:sldId id="344" r:id="rId9"/>
    <p:sldId id="343" r:id="rId10"/>
    <p:sldId id="359" r:id="rId11"/>
    <p:sldId id="361" r:id="rId12"/>
    <p:sldId id="302" r:id="rId13"/>
    <p:sldId id="352" r:id="rId14"/>
    <p:sldId id="362" r:id="rId15"/>
    <p:sldId id="351" r:id="rId16"/>
    <p:sldId id="300" r:id="rId17"/>
    <p:sldId id="301" r:id="rId18"/>
    <p:sldId id="330" r:id="rId19"/>
    <p:sldId id="345" r:id="rId20"/>
    <p:sldId id="304" r:id="rId21"/>
    <p:sldId id="306" r:id="rId22"/>
    <p:sldId id="342" r:id="rId23"/>
    <p:sldId id="346" r:id="rId24"/>
    <p:sldId id="354" r:id="rId25"/>
    <p:sldId id="355" r:id="rId26"/>
    <p:sldId id="356" r:id="rId27"/>
    <p:sldId id="348" r:id="rId28"/>
    <p:sldId id="333" r:id="rId29"/>
    <p:sldId id="349" r:id="rId30"/>
    <p:sldId id="350" r:id="rId31"/>
    <p:sldId id="357" r:id="rId32"/>
    <p:sldId id="316" r:id="rId33"/>
    <p:sldId id="318" r:id="rId34"/>
    <p:sldId id="317" r:id="rId35"/>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72A"/>
    <a:srgbClr val="000000"/>
    <a:srgbClr val="E4EEF8"/>
    <a:srgbClr val="E8DEF0"/>
    <a:srgbClr val="CCD2DE"/>
    <a:srgbClr val="E2E5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1" autoAdjust="0"/>
    <p:restoredTop sz="86044" autoAdjust="0"/>
  </p:normalViewPr>
  <p:slideViewPr>
    <p:cSldViewPr snapToGrid="0">
      <p:cViewPr>
        <p:scale>
          <a:sx n="75" d="100"/>
          <a:sy n="75" d="100"/>
        </p:scale>
        <p:origin x="715" y="43"/>
      </p:cViewPr>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DC321E-919F-40A1-8B4F-ED3C173FFBB6}" type="doc">
      <dgm:prSet loTypeId="urn:microsoft.com/office/officeart/2008/layout/LinedList" loCatId="list" qsTypeId="urn:microsoft.com/office/officeart/2005/8/quickstyle/simple5" qsCatId="simple" csTypeId="urn:microsoft.com/office/officeart/2005/8/colors/colorful4" csCatId="colorful" phldr="1"/>
      <dgm:spPr/>
      <dgm:t>
        <a:bodyPr/>
        <a:lstStyle/>
        <a:p>
          <a:endParaRPr lang="en-US"/>
        </a:p>
      </dgm:t>
    </dgm:pt>
    <dgm:pt modelId="{4BA853E3-6B37-4EEE-B870-270D9575B883}">
      <dgm:prSet phldrT="[Text]" custT="1"/>
      <dgm:spPr/>
      <dgm:t>
        <a:bodyPr/>
        <a:lstStyle/>
        <a:p>
          <a:r>
            <a:rPr lang="en-US" sz="3000" smtClean="0">
              <a:latin typeface="Cambria" panose="02040503050406030204" pitchFamily="18" charset="0"/>
              <a:ea typeface="Cambria" panose="02040503050406030204" pitchFamily="18" charset="0"/>
            </a:rPr>
            <a:t>1. Introduction</a:t>
          </a:r>
          <a:endParaRPr lang="en-US" sz="3000">
            <a:latin typeface="Cambria" panose="02040503050406030204" pitchFamily="18" charset="0"/>
            <a:ea typeface="Cambria" panose="02040503050406030204" pitchFamily="18" charset="0"/>
          </a:endParaRPr>
        </a:p>
      </dgm:t>
    </dgm:pt>
    <dgm:pt modelId="{B938A720-C0A3-4115-8161-C8FCE398629C}" type="par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071A486A-321D-4A92-BE28-65AAC3811270}" type="sib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CB6C174C-AD39-4F32-A69C-1943F6FCA0AD}">
      <dgm:prSet phldrT="[Text]" custT="1"/>
      <dgm:spPr/>
      <dgm:t>
        <a:bodyPr/>
        <a:lstStyle/>
        <a:p>
          <a:r>
            <a:rPr lang="en-US" sz="3000" smtClean="0">
              <a:latin typeface="Cambria" panose="02040503050406030204" pitchFamily="18" charset="0"/>
              <a:ea typeface="Cambria" panose="02040503050406030204" pitchFamily="18" charset="0"/>
            </a:rPr>
            <a:t>2. Related works</a:t>
          </a:r>
          <a:endParaRPr lang="en-US" sz="3000">
            <a:latin typeface="Cambria" panose="02040503050406030204" pitchFamily="18" charset="0"/>
            <a:ea typeface="Cambria" panose="02040503050406030204" pitchFamily="18" charset="0"/>
          </a:endParaRPr>
        </a:p>
      </dgm:t>
    </dgm:pt>
    <dgm:pt modelId="{0AA1EE46-3B6A-4F62-B357-F1F7AF7FC0BC}" type="par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83720B8D-FA55-4AE0-A459-962B549F5280}" type="sib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37067F57-594D-497F-A5AB-F04E94E155CB}">
      <dgm:prSet phldrT="[Text]" custT="1"/>
      <dgm:spPr/>
      <dgm:t>
        <a:bodyPr/>
        <a:lstStyle/>
        <a:p>
          <a:r>
            <a:rPr lang="en-US" sz="3000" smtClean="0">
              <a:latin typeface="Cambria" panose="02040503050406030204" pitchFamily="18" charset="0"/>
              <a:ea typeface="Cambria" panose="02040503050406030204" pitchFamily="18" charset="0"/>
            </a:rPr>
            <a:t>3. Proposed method</a:t>
          </a:r>
          <a:endParaRPr lang="en-US" sz="3000">
            <a:latin typeface="Cambria" panose="02040503050406030204" pitchFamily="18" charset="0"/>
            <a:ea typeface="Cambria" panose="02040503050406030204" pitchFamily="18" charset="0"/>
          </a:endParaRPr>
        </a:p>
      </dgm:t>
    </dgm:pt>
    <dgm:pt modelId="{1E020827-09FF-4E02-B615-50794545DE9F}" type="par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533DCD23-C3A5-41AD-AD95-529064A32B00}" type="sib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84B520AF-6E48-49D1-8641-105A3D363435}">
      <dgm:prSet phldrT="[Text]" custT="1"/>
      <dgm:spPr/>
      <dgm:t>
        <a:bodyPr/>
        <a:lstStyle/>
        <a:p>
          <a:r>
            <a:rPr lang="en-US" sz="3000" smtClean="0">
              <a:latin typeface="Cambria" panose="02040503050406030204" pitchFamily="18" charset="0"/>
              <a:ea typeface="Cambria" panose="02040503050406030204" pitchFamily="18" charset="0"/>
            </a:rPr>
            <a:t>5. Conclusion</a:t>
          </a:r>
          <a:endParaRPr lang="en-US" sz="3000">
            <a:latin typeface="Cambria" panose="02040503050406030204" pitchFamily="18" charset="0"/>
            <a:ea typeface="Cambria" panose="02040503050406030204" pitchFamily="18" charset="0"/>
          </a:endParaRPr>
        </a:p>
      </dgm:t>
    </dgm:pt>
    <dgm:pt modelId="{508F2D6B-B0B0-4897-8C35-3A5B28264CC6}" type="par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B64573C5-9254-4F89-A13E-F786D9BAAC1E}" type="sib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0D8CC914-4B79-45E6-9C9B-673327DDFF32}">
      <dgm:prSet phldrT="[Text]" custT="1"/>
      <dgm:spPr/>
      <dgm:t>
        <a:bodyPr/>
        <a:lstStyle/>
        <a:p>
          <a:r>
            <a:rPr lang="en-US" sz="3000" smtClean="0">
              <a:latin typeface="Cambria" panose="02040503050406030204" pitchFamily="18" charset="0"/>
              <a:ea typeface="Cambria" panose="02040503050406030204" pitchFamily="18" charset="0"/>
            </a:rPr>
            <a:t>4. Experimental results</a:t>
          </a:r>
          <a:endParaRPr lang="en-US" sz="3000">
            <a:latin typeface="Cambria" panose="02040503050406030204" pitchFamily="18" charset="0"/>
            <a:ea typeface="Cambria" panose="02040503050406030204" pitchFamily="18" charset="0"/>
          </a:endParaRPr>
        </a:p>
      </dgm:t>
    </dgm:pt>
    <dgm:pt modelId="{025631BD-4CEA-49DE-8217-3B1DD224ADBF}" type="par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C4509E76-E84D-4436-8DEB-B59749AF7C35}" type="sib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B5E66452-C6DE-444C-B18C-B6A371B1653C}" type="pres">
      <dgm:prSet presAssocID="{AEDC321E-919F-40A1-8B4F-ED3C173FFBB6}" presName="vert0" presStyleCnt="0">
        <dgm:presLayoutVars>
          <dgm:dir/>
          <dgm:animOne val="branch"/>
          <dgm:animLvl val="lvl"/>
        </dgm:presLayoutVars>
      </dgm:prSet>
      <dgm:spPr/>
      <dgm:t>
        <a:bodyPr/>
        <a:lstStyle/>
        <a:p>
          <a:endParaRPr lang="en-US"/>
        </a:p>
      </dgm:t>
    </dgm:pt>
    <dgm:pt modelId="{D15B6E73-FB71-4972-95FD-77CC89B41F9B}" type="pres">
      <dgm:prSet presAssocID="{4BA853E3-6B37-4EEE-B870-270D9575B883}" presName="thickLine" presStyleLbl="alignNode1" presStyleIdx="0" presStyleCnt="5"/>
      <dgm:spPr/>
      <dgm:t>
        <a:bodyPr/>
        <a:lstStyle/>
        <a:p>
          <a:endParaRPr lang="en-US"/>
        </a:p>
      </dgm:t>
    </dgm:pt>
    <dgm:pt modelId="{DCE577C6-78D9-4E48-B19F-F1E4B645F0BB}" type="pres">
      <dgm:prSet presAssocID="{4BA853E3-6B37-4EEE-B870-270D9575B883}" presName="horz1" presStyleCnt="0"/>
      <dgm:spPr/>
      <dgm:t>
        <a:bodyPr/>
        <a:lstStyle/>
        <a:p>
          <a:endParaRPr lang="en-US"/>
        </a:p>
      </dgm:t>
    </dgm:pt>
    <dgm:pt modelId="{02C8D4F3-BF6D-4972-A216-41FFBF8E4EA3}" type="pres">
      <dgm:prSet presAssocID="{4BA853E3-6B37-4EEE-B870-270D9575B883}" presName="tx1" presStyleLbl="revTx" presStyleIdx="0" presStyleCnt="5"/>
      <dgm:spPr/>
      <dgm:t>
        <a:bodyPr/>
        <a:lstStyle/>
        <a:p>
          <a:endParaRPr lang="en-US"/>
        </a:p>
      </dgm:t>
    </dgm:pt>
    <dgm:pt modelId="{816935F0-8156-4157-AC70-B5E9DB1E570D}" type="pres">
      <dgm:prSet presAssocID="{4BA853E3-6B37-4EEE-B870-270D9575B883}" presName="vert1" presStyleCnt="0"/>
      <dgm:spPr/>
      <dgm:t>
        <a:bodyPr/>
        <a:lstStyle/>
        <a:p>
          <a:endParaRPr lang="en-US"/>
        </a:p>
      </dgm:t>
    </dgm:pt>
    <dgm:pt modelId="{4E808DA8-2AE3-4AFB-953F-585D5A7EB9C1}" type="pres">
      <dgm:prSet presAssocID="{CB6C174C-AD39-4F32-A69C-1943F6FCA0AD}" presName="thickLine" presStyleLbl="alignNode1" presStyleIdx="1" presStyleCnt="5"/>
      <dgm:spPr/>
      <dgm:t>
        <a:bodyPr/>
        <a:lstStyle/>
        <a:p>
          <a:endParaRPr lang="en-US"/>
        </a:p>
      </dgm:t>
    </dgm:pt>
    <dgm:pt modelId="{B7BC5993-A808-4A3C-BF44-6614B68AFDDB}" type="pres">
      <dgm:prSet presAssocID="{CB6C174C-AD39-4F32-A69C-1943F6FCA0AD}" presName="horz1" presStyleCnt="0"/>
      <dgm:spPr/>
      <dgm:t>
        <a:bodyPr/>
        <a:lstStyle/>
        <a:p>
          <a:endParaRPr lang="en-US"/>
        </a:p>
      </dgm:t>
    </dgm:pt>
    <dgm:pt modelId="{6938AA73-F497-4DF4-AE51-AE7EEAD34742}" type="pres">
      <dgm:prSet presAssocID="{CB6C174C-AD39-4F32-A69C-1943F6FCA0AD}" presName="tx1" presStyleLbl="revTx" presStyleIdx="1" presStyleCnt="5"/>
      <dgm:spPr/>
      <dgm:t>
        <a:bodyPr/>
        <a:lstStyle/>
        <a:p>
          <a:endParaRPr lang="en-US"/>
        </a:p>
      </dgm:t>
    </dgm:pt>
    <dgm:pt modelId="{FEDB7669-F822-4BF0-88A3-48DCB4B25957}" type="pres">
      <dgm:prSet presAssocID="{CB6C174C-AD39-4F32-A69C-1943F6FCA0AD}" presName="vert1" presStyleCnt="0"/>
      <dgm:spPr/>
      <dgm:t>
        <a:bodyPr/>
        <a:lstStyle/>
        <a:p>
          <a:endParaRPr lang="en-US"/>
        </a:p>
      </dgm:t>
    </dgm:pt>
    <dgm:pt modelId="{4308F9AB-48F2-46B1-9CA8-1959138D1D80}" type="pres">
      <dgm:prSet presAssocID="{37067F57-594D-497F-A5AB-F04E94E155CB}" presName="thickLine" presStyleLbl="alignNode1" presStyleIdx="2" presStyleCnt="5"/>
      <dgm:spPr/>
      <dgm:t>
        <a:bodyPr/>
        <a:lstStyle/>
        <a:p>
          <a:endParaRPr lang="en-US"/>
        </a:p>
      </dgm:t>
    </dgm:pt>
    <dgm:pt modelId="{04E80DB8-55DE-4361-B26F-7C55C61822EA}" type="pres">
      <dgm:prSet presAssocID="{37067F57-594D-497F-A5AB-F04E94E155CB}" presName="horz1" presStyleCnt="0"/>
      <dgm:spPr/>
      <dgm:t>
        <a:bodyPr/>
        <a:lstStyle/>
        <a:p>
          <a:endParaRPr lang="en-US"/>
        </a:p>
      </dgm:t>
    </dgm:pt>
    <dgm:pt modelId="{8576C280-DD3B-4AAF-8437-2548F119716B}" type="pres">
      <dgm:prSet presAssocID="{37067F57-594D-497F-A5AB-F04E94E155CB}" presName="tx1" presStyleLbl="revTx" presStyleIdx="2" presStyleCnt="5"/>
      <dgm:spPr/>
      <dgm:t>
        <a:bodyPr/>
        <a:lstStyle/>
        <a:p>
          <a:endParaRPr lang="en-US"/>
        </a:p>
      </dgm:t>
    </dgm:pt>
    <dgm:pt modelId="{561966BE-2A67-4FC7-9E61-4B327F7BDBBD}" type="pres">
      <dgm:prSet presAssocID="{37067F57-594D-497F-A5AB-F04E94E155CB}" presName="vert1" presStyleCnt="0"/>
      <dgm:spPr/>
      <dgm:t>
        <a:bodyPr/>
        <a:lstStyle/>
        <a:p>
          <a:endParaRPr lang="en-US"/>
        </a:p>
      </dgm:t>
    </dgm:pt>
    <dgm:pt modelId="{96B7D6FF-2747-46D5-93BF-1905EBD4904C}" type="pres">
      <dgm:prSet presAssocID="{0D8CC914-4B79-45E6-9C9B-673327DDFF32}" presName="thickLine" presStyleLbl="alignNode1" presStyleIdx="3" presStyleCnt="5"/>
      <dgm:spPr/>
      <dgm:t>
        <a:bodyPr/>
        <a:lstStyle/>
        <a:p>
          <a:endParaRPr lang="en-US"/>
        </a:p>
      </dgm:t>
    </dgm:pt>
    <dgm:pt modelId="{346F5498-54F7-4D76-9C9E-E64BA5E6463A}" type="pres">
      <dgm:prSet presAssocID="{0D8CC914-4B79-45E6-9C9B-673327DDFF32}" presName="horz1" presStyleCnt="0"/>
      <dgm:spPr/>
      <dgm:t>
        <a:bodyPr/>
        <a:lstStyle/>
        <a:p>
          <a:endParaRPr lang="en-US"/>
        </a:p>
      </dgm:t>
    </dgm:pt>
    <dgm:pt modelId="{21A1ACD9-52D2-437A-9BD0-3C4F0E44D96C}" type="pres">
      <dgm:prSet presAssocID="{0D8CC914-4B79-45E6-9C9B-673327DDFF32}" presName="tx1" presStyleLbl="revTx" presStyleIdx="3" presStyleCnt="5"/>
      <dgm:spPr/>
      <dgm:t>
        <a:bodyPr/>
        <a:lstStyle/>
        <a:p>
          <a:endParaRPr lang="en-US"/>
        </a:p>
      </dgm:t>
    </dgm:pt>
    <dgm:pt modelId="{77018FBE-4480-4F5B-ADE0-12E8E068DA54}" type="pres">
      <dgm:prSet presAssocID="{0D8CC914-4B79-45E6-9C9B-673327DDFF32}" presName="vert1" presStyleCnt="0"/>
      <dgm:spPr/>
      <dgm:t>
        <a:bodyPr/>
        <a:lstStyle/>
        <a:p>
          <a:endParaRPr lang="en-US"/>
        </a:p>
      </dgm:t>
    </dgm:pt>
    <dgm:pt modelId="{7DBE17F3-C781-428E-B04E-23DCB85D206A}" type="pres">
      <dgm:prSet presAssocID="{84B520AF-6E48-49D1-8641-105A3D363435}" presName="thickLine" presStyleLbl="alignNode1" presStyleIdx="4" presStyleCnt="5"/>
      <dgm:spPr/>
      <dgm:t>
        <a:bodyPr/>
        <a:lstStyle/>
        <a:p>
          <a:endParaRPr lang="en-US"/>
        </a:p>
      </dgm:t>
    </dgm:pt>
    <dgm:pt modelId="{BBF4FC03-4390-4184-A6A4-52832F83DDC2}" type="pres">
      <dgm:prSet presAssocID="{84B520AF-6E48-49D1-8641-105A3D363435}" presName="horz1" presStyleCnt="0"/>
      <dgm:spPr/>
      <dgm:t>
        <a:bodyPr/>
        <a:lstStyle/>
        <a:p>
          <a:endParaRPr lang="en-US"/>
        </a:p>
      </dgm:t>
    </dgm:pt>
    <dgm:pt modelId="{09946E45-62C8-4278-B199-DF9B4ED47DEA}" type="pres">
      <dgm:prSet presAssocID="{84B520AF-6E48-49D1-8641-105A3D363435}" presName="tx1" presStyleLbl="revTx" presStyleIdx="4" presStyleCnt="5"/>
      <dgm:spPr/>
      <dgm:t>
        <a:bodyPr/>
        <a:lstStyle/>
        <a:p>
          <a:endParaRPr lang="en-US"/>
        </a:p>
      </dgm:t>
    </dgm:pt>
    <dgm:pt modelId="{066009DE-787B-4FB9-A67F-DA8CF24EA028}" type="pres">
      <dgm:prSet presAssocID="{84B520AF-6E48-49D1-8641-105A3D363435}" presName="vert1" presStyleCnt="0"/>
      <dgm:spPr/>
      <dgm:t>
        <a:bodyPr/>
        <a:lstStyle/>
        <a:p>
          <a:endParaRPr lang="en-US"/>
        </a:p>
      </dgm:t>
    </dgm:pt>
  </dgm:ptLst>
  <dgm:cxnLst>
    <dgm:cxn modelId="{5ABD5B5D-5DCE-4921-89AE-23D957E0BBD8}" type="presOf" srcId="{0D8CC914-4B79-45E6-9C9B-673327DDFF32}" destId="{21A1ACD9-52D2-437A-9BD0-3C4F0E44D96C}" srcOrd="0" destOrd="0" presId="urn:microsoft.com/office/officeart/2008/layout/LinedList"/>
    <dgm:cxn modelId="{FC182781-9477-4EB9-9FA0-4C7D5B1C629C}" srcId="{AEDC321E-919F-40A1-8B4F-ED3C173FFBB6}" destId="{4BA853E3-6B37-4EEE-B870-270D9575B883}" srcOrd="0" destOrd="0" parTransId="{B938A720-C0A3-4115-8161-C8FCE398629C}" sibTransId="{071A486A-321D-4A92-BE28-65AAC3811270}"/>
    <dgm:cxn modelId="{1655883E-C540-4AAD-8440-095E15845157}" type="presOf" srcId="{84B520AF-6E48-49D1-8641-105A3D363435}" destId="{09946E45-62C8-4278-B199-DF9B4ED47DEA}" srcOrd="0" destOrd="0" presId="urn:microsoft.com/office/officeart/2008/layout/LinedList"/>
    <dgm:cxn modelId="{3AA3E95A-EC8E-4F3D-B5EE-E17DFA3741F3}" srcId="{AEDC321E-919F-40A1-8B4F-ED3C173FFBB6}" destId="{37067F57-594D-497F-A5AB-F04E94E155CB}" srcOrd="2" destOrd="0" parTransId="{1E020827-09FF-4E02-B615-50794545DE9F}" sibTransId="{533DCD23-C3A5-41AD-AD95-529064A32B00}"/>
    <dgm:cxn modelId="{CC9C8BCC-1D4C-4132-8C8E-BA6FC3A35174}" srcId="{AEDC321E-919F-40A1-8B4F-ED3C173FFBB6}" destId="{0D8CC914-4B79-45E6-9C9B-673327DDFF32}" srcOrd="3" destOrd="0" parTransId="{025631BD-4CEA-49DE-8217-3B1DD224ADBF}" sibTransId="{C4509E76-E84D-4436-8DEB-B59749AF7C35}"/>
    <dgm:cxn modelId="{BAB1171B-ADD5-4B64-8E17-BC8FC85E8BC7}" type="presOf" srcId="{37067F57-594D-497F-A5AB-F04E94E155CB}" destId="{8576C280-DD3B-4AAF-8437-2548F119716B}" srcOrd="0" destOrd="0" presId="urn:microsoft.com/office/officeart/2008/layout/LinedList"/>
    <dgm:cxn modelId="{6CA9DCE7-CFAE-4B71-AF54-55DDA423ACAE}" type="presOf" srcId="{CB6C174C-AD39-4F32-A69C-1943F6FCA0AD}" destId="{6938AA73-F497-4DF4-AE51-AE7EEAD34742}" srcOrd="0" destOrd="0" presId="urn:microsoft.com/office/officeart/2008/layout/LinedList"/>
    <dgm:cxn modelId="{E031A03C-7106-4831-935A-C2802363C003}" type="presOf" srcId="{4BA853E3-6B37-4EEE-B870-270D9575B883}" destId="{02C8D4F3-BF6D-4972-A216-41FFBF8E4EA3}" srcOrd="0" destOrd="0" presId="urn:microsoft.com/office/officeart/2008/layout/LinedList"/>
    <dgm:cxn modelId="{677F619D-B3EA-476F-BEBF-B926C1E99BD2}" srcId="{AEDC321E-919F-40A1-8B4F-ED3C173FFBB6}" destId="{CB6C174C-AD39-4F32-A69C-1943F6FCA0AD}" srcOrd="1" destOrd="0" parTransId="{0AA1EE46-3B6A-4F62-B357-F1F7AF7FC0BC}" sibTransId="{83720B8D-FA55-4AE0-A459-962B549F5280}"/>
    <dgm:cxn modelId="{643C0F74-3A63-4DB7-AA3A-8378660E7FE8}" type="presOf" srcId="{AEDC321E-919F-40A1-8B4F-ED3C173FFBB6}" destId="{B5E66452-C6DE-444C-B18C-B6A371B1653C}" srcOrd="0" destOrd="0" presId="urn:microsoft.com/office/officeart/2008/layout/LinedList"/>
    <dgm:cxn modelId="{BA6BDDE7-BFE1-4D90-BC18-81266B27FE9B}" srcId="{AEDC321E-919F-40A1-8B4F-ED3C173FFBB6}" destId="{84B520AF-6E48-49D1-8641-105A3D363435}" srcOrd="4" destOrd="0" parTransId="{508F2D6B-B0B0-4897-8C35-3A5B28264CC6}" sibTransId="{B64573C5-9254-4F89-A13E-F786D9BAAC1E}"/>
    <dgm:cxn modelId="{E10B6AF9-7F0F-4C06-8698-C7630D4C5A12}" type="presParOf" srcId="{B5E66452-C6DE-444C-B18C-B6A371B1653C}" destId="{D15B6E73-FB71-4972-95FD-77CC89B41F9B}" srcOrd="0" destOrd="0" presId="urn:microsoft.com/office/officeart/2008/layout/LinedList"/>
    <dgm:cxn modelId="{8824BB02-D5EA-46D9-8154-11B1BF817A7D}" type="presParOf" srcId="{B5E66452-C6DE-444C-B18C-B6A371B1653C}" destId="{DCE577C6-78D9-4E48-B19F-F1E4B645F0BB}" srcOrd="1" destOrd="0" presId="urn:microsoft.com/office/officeart/2008/layout/LinedList"/>
    <dgm:cxn modelId="{F33E1AC1-8A7B-4C3B-9E87-EC571ED8D343}" type="presParOf" srcId="{DCE577C6-78D9-4E48-B19F-F1E4B645F0BB}" destId="{02C8D4F3-BF6D-4972-A216-41FFBF8E4EA3}" srcOrd="0" destOrd="0" presId="urn:microsoft.com/office/officeart/2008/layout/LinedList"/>
    <dgm:cxn modelId="{BC6D25FF-048D-4288-B9EE-67F9D02718C6}" type="presParOf" srcId="{DCE577C6-78D9-4E48-B19F-F1E4B645F0BB}" destId="{816935F0-8156-4157-AC70-B5E9DB1E570D}" srcOrd="1" destOrd="0" presId="urn:microsoft.com/office/officeart/2008/layout/LinedList"/>
    <dgm:cxn modelId="{DBA504DD-FBAF-4E02-9A1E-82C96630079A}" type="presParOf" srcId="{B5E66452-C6DE-444C-B18C-B6A371B1653C}" destId="{4E808DA8-2AE3-4AFB-953F-585D5A7EB9C1}" srcOrd="2" destOrd="0" presId="urn:microsoft.com/office/officeart/2008/layout/LinedList"/>
    <dgm:cxn modelId="{8B2858F5-F6EE-42A8-B220-A2FB6FFEA8E6}" type="presParOf" srcId="{B5E66452-C6DE-444C-B18C-B6A371B1653C}" destId="{B7BC5993-A808-4A3C-BF44-6614B68AFDDB}" srcOrd="3" destOrd="0" presId="urn:microsoft.com/office/officeart/2008/layout/LinedList"/>
    <dgm:cxn modelId="{268A3F19-A6CD-422B-9892-F33687A540CB}" type="presParOf" srcId="{B7BC5993-A808-4A3C-BF44-6614B68AFDDB}" destId="{6938AA73-F497-4DF4-AE51-AE7EEAD34742}" srcOrd="0" destOrd="0" presId="urn:microsoft.com/office/officeart/2008/layout/LinedList"/>
    <dgm:cxn modelId="{3858CE33-EF1C-46D2-B30E-3F52C3ACF545}" type="presParOf" srcId="{B7BC5993-A808-4A3C-BF44-6614B68AFDDB}" destId="{FEDB7669-F822-4BF0-88A3-48DCB4B25957}" srcOrd="1" destOrd="0" presId="urn:microsoft.com/office/officeart/2008/layout/LinedList"/>
    <dgm:cxn modelId="{F4A6F874-970A-4B7A-8242-3A8200E31609}" type="presParOf" srcId="{B5E66452-C6DE-444C-B18C-B6A371B1653C}" destId="{4308F9AB-48F2-46B1-9CA8-1959138D1D80}" srcOrd="4" destOrd="0" presId="urn:microsoft.com/office/officeart/2008/layout/LinedList"/>
    <dgm:cxn modelId="{B41BE792-DD9E-4C6A-A096-0CC21D7B0D70}" type="presParOf" srcId="{B5E66452-C6DE-444C-B18C-B6A371B1653C}" destId="{04E80DB8-55DE-4361-B26F-7C55C61822EA}" srcOrd="5" destOrd="0" presId="urn:microsoft.com/office/officeart/2008/layout/LinedList"/>
    <dgm:cxn modelId="{A36ED9BD-359B-4D67-A5FA-765659160F5A}" type="presParOf" srcId="{04E80DB8-55DE-4361-B26F-7C55C61822EA}" destId="{8576C280-DD3B-4AAF-8437-2548F119716B}" srcOrd="0" destOrd="0" presId="urn:microsoft.com/office/officeart/2008/layout/LinedList"/>
    <dgm:cxn modelId="{4F93CCED-48D1-44C9-A180-67D5ABC362CE}" type="presParOf" srcId="{04E80DB8-55DE-4361-B26F-7C55C61822EA}" destId="{561966BE-2A67-4FC7-9E61-4B327F7BDBBD}" srcOrd="1" destOrd="0" presId="urn:microsoft.com/office/officeart/2008/layout/LinedList"/>
    <dgm:cxn modelId="{F8F8CC36-FE93-4D7E-A413-948FE5D69007}" type="presParOf" srcId="{B5E66452-C6DE-444C-B18C-B6A371B1653C}" destId="{96B7D6FF-2747-46D5-93BF-1905EBD4904C}" srcOrd="6" destOrd="0" presId="urn:microsoft.com/office/officeart/2008/layout/LinedList"/>
    <dgm:cxn modelId="{DCB5B190-9EA4-4787-BF8C-4F3C690EA74E}" type="presParOf" srcId="{B5E66452-C6DE-444C-B18C-B6A371B1653C}" destId="{346F5498-54F7-4D76-9C9E-E64BA5E6463A}" srcOrd="7" destOrd="0" presId="urn:microsoft.com/office/officeart/2008/layout/LinedList"/>
    <dgm:cxn modelId="{0B14A7ED-0AD4-48A6-A666-DCE334CFCC5E}" type="presParOf" srcId="{346F5498-54F7-4D76-9C9E-E64BA5E6463A}" destId="{21A1ACD9-52D2-437A-9BD0-3C4F0E44D96C}" srcOrd="0" destOrd="0" presId="urn:microsoft.com/office/officeart/2008/layout/LinedList"/>
    <dgm:cxn modelId="{FB28AB9F-A310-41EA-B001-9EA00114EEA2}" type="presParOf" srcId="{346F5498-54F7-4D76-9C9E-E64BA5E6463A}" destId="{77018FBE-4480-4F5B-ADE0-12E8E068DA54}" srcOrd="1" destOrd="0" presId="urn:microsoft.com/office/officeart/2008/layout/LinedList"/>
    <dgm:cxn modelId="{39398FEC-1682-4033-A294-A5509F8B1A8B}" type="presParOf" srcId="{B5E66452-C6DE-444C-B18C-B6A371B1653C}" destId="{7DBE17F3-C781-428E-B04E-23DCB85D206A}" srcOrd="8" destOrd="0" presId="urn:microsoft.com/office/officeart/2008/layout/LinedList"/>
    <dgm:cxn modelId="{83016289-CC6A-4A8C-B51C-669722A46995}" type="presParOf" srcId="{B5E66452-C6DE-444C-B18C-B6A371B1653C}" destId="{BBF4FC03-4390-4184-A6A4-52832F83DDC2}" srcOrd="9" destOrd="0" presId="urn:microsoft.com/office/officeart/2008/layout/LinedList"/>
    <dgm:cxn modelId="{18D3EE9F-9353-4025-AF55-55F189BE4DA1}" type="presParOf" srcId="{BBF4FC03-4390-4184-A6A4-52832F83DDC2}" destId="{09946E45-62C8-4278-B199-DF9B4ED47DEA}" srcOrd="0" destOrd="0" presId="urn:microsoft.com/office/officeart/2008/layout/LinedList"/>
    <dgm:cxn modelId="{E9DD9C23-C223-445B-BEEA-9F88FC985F7C}" type="presParOf" srcId="{BBF4FC03-4390-4184-A6A4-52832F83DDC2}" destId="{066009DE-787B-4FB9-A67F-DA8CF24EA02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B6E73-FB71-4972-95FD-77CC89B41F9B}">
      <dsp:nvSpPr>
        <dsp:cNvPr id="0" name=""/>
        <dsp:cNvSpPr/>
      </dsp:nvSpPr>
      <dsp:spPr>
        <a:xfrm>
          <a:off x="0" y="520"/>
          <a:ext cx="11136710"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2C8D4F3-BF6D-4972-A216-41FFBF8E4EA3}">
      <dsp:nvSpPr>
        <dsp:cNvPr id="0" name=""/>
        <dsp:cNvSpPr/>
      </dsp:nvSpPr>
      <dsp:spPr>
        <a:xfrm>
          <a:off x="0" y="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1. Introduction</a:t>
          </a:r>
          <a:endParaRPr lang="en-US" sz="3000" kern="1200">
            <a:latin typeface="Cambria" panose="02040503050406030204" pitchFamily="18" charset="0"/>
            <a:ea typeface="Cambria" panose="02040503050406030204" pitchFamily="18" charset="0"/>
          </a:endParaRPr>
        </a:p>
      </dsp:txBody>
      <dsp:txXfrm>
        <a:off x="0" y="520"/>
        <a:ext cx="11136710" cy="851999"/>
      </dsp:txXfrm>
    </dsp:sp>
    <dsp:sp modelId="{4E808DA8-2AE3-4AFB-953F-585D5A7EB9C1}">
      <dsp:nvSpPr>
        <dsp:cNvPr id="0" name=""/>
        <dsp:cNvSpPr/>
      </dsp:nvSpPr>
      <dsp:spPr>
        <a:xfrm>
          <a:off x="0" y="852520"/>
          <a:ext cx="11136710" cy="0"/>
        </a:xfrm>
        <a:prstGeom prst="line">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w="6350" cap="flat" cmpd="sng" algn="ctr">
          <a:solidFill>
            <a:schemeClr val="accent4">
              <a:hueOff val="2450223"/>
              <a:satOff val="-10194"/>
              <a:lumOff val="240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938AA73-F497-4DF4-AE51-AE7EEAD34742}">
      <dsp:nvSpPr>
        <dsp:cNvPr id="0" name=""/>
        <dsp:cNvSpPr/>
      </dsp:nvSpPr>
      <dsp:spPr>
        <a:xfrm>
          <a:off x="0" y="852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2. Related works</a:t>
          </a:r>
          <a:endParaRPr lang="en-US" sz="3000" kern="1200">
            <a:latin typeface="Cambria" panose="02040503050406030204" pitchFamily="18" charset="0"/>
            <a:ea typeface="Cambria" panose="02040503050406030204" pitchFamily="18" charset="0"/>
          </a:endParaRPr>
        </a:p>
      </dsp:txBody>
      <dsp:txXfrm>
        <a:off x="0" y="852520"/>
        <a:ext cx="11136710" cy="851999"/>
      </dsp:txXfrm>
    </dsp:sp>
    <dsp:sp modelId="{4308F9AB-48F2-46B1-9CA8-1959138D1D80}">
      <dsp:nvSpPr>
        <dsp:cNvPr id="0" name=""/>
        <dsp:cNvSpPr/>
      </dsp:nvSpPr>
      <dsp:spPr>
        <a:xfrm>
          <a:off x="0" y="1704520"/>
          <a:ext cx="11136710" cy="0"/>
        </a:xfrm>
        <a:prstGeom prst="lin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w="6350" cap="flat" cmpd="sng" algn="ctr">
          <a:solidFill>
            <a:schemeClr val="accent4">
              <a:hueOff val="4900445"/>
              <a:satOff val="-20388"/>
              <a:lumOff val="480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576C280-DD3B-4AAF-8437-2548F119716B}">
      <dsp:nvSpPr>
        <dsp:cNvPr id="0" name=""/>
        <dsp:cNvSpPr/>
      </dsp:nvSpPr>
      <dsp:spPr>
        <a:xfrm>
          <a:off x="0" y="1704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3. Proposed method</a:t>
          </a:r>
          <a:endParaRPr lang="en-US" sz="3000" kern="1200">
            <a:latin typeface="Cambria" panose="02040503050406030204" pitchFamily="18" charset="0"/>
            <a:ea typeface="Cambria" panose="02040503050406030204" pitchFamily="18" charset="0"/>
          </a:endParaRPr>
        </a:p>
      </dsp:txBody>
      <dsp:txXfrm>
        <a:off x="0" y="1704520"/>
        <a:ext cx="11136710" cy="851999"/>
      </dsp:txXfrm>
    </dsp:sp>
    <dsp:sp modelId="{96B7D6FF-2747-46D5-93BF-1905EBD4904C}">
      <dsp:nvSpPr>
        <dsp:cNvPr id="0" name=""/>
        <dsp:cNvSpPr/>
      </dsp:nvSpPr>
      <dsp:spPr>
        <a:xfrm>
          <a:off x="0" y="2556519"/>
          <a:ext cx="11136710" cy="0"/>
        </a:xfrm>
        <a:prstGeom prst="line">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w="6350" cap="flat" cmpd="sng" algn="ctr">
          <a:solidFill>
            <a:schemeClr val="accent4">
              <a:hueOff val="7350668"/>
              <a:satOff val="-30583"/>
              <a:lumOff val="720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1A1ACD9-52D2-437A-9BD0-3C4F0E44D96C}">
      <dsp:nvSpPr>
        <dsp:cNvPr id="0" name=""/>
        <dsp:cNvSpPr/>
      </dsp:nvSpPr>
      <dsp:spPr>
        <a:xfrm>
          <a:off x="0" y="2556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4. Experimental results</a:t>
          </a:r>
          <a:endParaRPr lang="en-US" sz="3000" kern="1200">
            <a:latin typeface="Cambria" panose="02040503050406030204" pitchFamily="18" charset="0"/>
            <a:ea typeface="Cambria" panose="02040503050406030204" pitchFamily="18" charset="0"/>
          </a:endParaRPr>
        </a:p>
      </dsp:txBody>
      <dsp:txXfrm>
        <a:off x="0" y="2556519"/>
        <a:ext cx="11136710" cy="851999"/>
      </dsp:txXfrm>
    </dsp:sp>
    <dsp:sp modelId="{7DBE17F3-C781-428E-B04E-23DCB85D206A}">
      <dsp:nvSpPr>
        <dsp:cNvPr id="0" name=""/>
        <dsp:cNvSpPr/>
      </dsp:nvSpPr>
      <dsp:spPr>
        <a:xfrm>
          <a:off x="0" y="3408519"/>
          <a:ext cx="11136710" cy="0"/>
        </a:xfrm>
        <a:prstGeom prst="lin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w="6350" cap="flat" cmpd="sng" algn="ctr">
          <a:solidFill>
            <a:schemeClr val="accent4">
              <a:hueOff val="9800891"/>
              <a:satOff val="-40777"/>
              <a:lumOff val="960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9946E45-62C8-4278-B199-DF9B4ED47DEA}">
      <dsp:nvSpPr>
        <dsp:cNvPr id="0" name=""/>
        <dsp:cNvSpPr/>
      </dsp:nvSpPr>
      <dsp:spPr>
        <a:xfrm>
          <a:off x="0" y="3408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5. Conclusion</a:t>
          </a:r>
          <a:endParaRPr lang="en-US" sz="3000" kern="1200">
            <a:latin typeface="Cambria" panose="02040503050406030204" pitchFamily="18" charset="0"/>
            <a:ea typeface="Cambria" panose="02040503050406030204" pitchFamily="18" charset="0"/>
          </a:endParaRPr>
        </a:p>
      </dsp:txBody>
      <dsp:txXfrm>
        <a:off x="0" y="3408519"/>
        <a:ext cx="11136710" cy="8519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EC91D-BEBA-4CF8-88AE-6F4F22BBCE52}"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7A3CC4-A1AF-4799-818E-6EEBBE945652}" type="slidenum">
              <a:rPr lang="en-US" smtClean="0"/>
              <a:t>‹#›</a:t>
            </a:fld>
            <a:endParaRPr lang="en-US"/>
          </a:p>
        </p:txBody>
      </p:sp>
    </p:spTree>
    <p:extLst>
      <p:ext uri="{BB962C8B-B14F-4D97-AF65-F5344CB8AC3E}">
        <p14:creationId xmlns:p14="http://schemas.microsoft.com/office/powerpoint/2010/main" val="1213125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ace7fa64f5_1_1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ace7fa64f5_1_1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defTabSz="1219170">
              <a:buClr>
                <a:srgbClr val="07105C"/>
              </a:buClr>
            </a:pPr>
            <a:r>
              <a:rPr lang="en-US" smtClean="0"/>
              <a:t>Good</a:t>
            </a:r>
            <a:r>
              <a:rPr lang="en-US" baseline="0" smtClean="0"/>
              <a:t> morning everyone</a:t>
            </a:r>
            <a:r>
              <a:rPr lang="en-US" smtClean="0"/>
              <a:t>, I’m very</a:t>
            </a:r>
            <a:r>
              <a:rPr lang="en-US" baseline="0" smtClean="0"/>
              <a:t> please present my research ,</a:t>
            </a:r>
            <a:r>
              <a:rPr lang="en-US" smtClean="0"/>
              <a:t> </a:t>
            </a:r>
            <a:r>
              <a:rPr lang="en-US" sz="1200" kern="0" smtClean="0">
                <a:solidFill>
                  <a:srgbClr val="C00000"/>
                </a:solidFill>
                <a:latin typeface="Open Sans" panose="020B0606030504020204" pitchFamily="34" charset="0"/>
                <a:ea typeface="Open Sans" panose="020B0606030504020204" pitchFamily="34" charset="0"/>
                <a:cs typeface="Open Sans" panose="020B0606030504020204" pitchFamily="34" charset="0"/>
              </a:rPr>
              <a:t>Breast cancer classification based on fuzzy rules and deep learning techniques</a:t>
            </a:r>
          </a:p>
          <a:p>
            <a:pPr marL="0" lvl="0" indent="0" algn="l" rtl="0">
              <a:spcBef>
                <a:spcPts val="0"/>
              </a:spcBef>
              <a:spcAft>
                <a:spcPts val="0"/>
              </a:spcAft>
              <a:buNone/>
            </a:pPr>
            <a:endParaRPr/>
          </a:p>
        </p:txBody>
      </p:sp>
    </p:spTree>
    <p:extLst>
      <p:ext uri="{BB962C8B-B14F-4D97-AF65-F5344CB8AC3E}">
        <p14:creationId xmlns:p14="http://schemas.microsoft.com/office/powerpoint/2010/main" val="391191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mtClean="0"/>
              <a:t>The</a:t>
            </a:r>
            <a:r>
              <a:rPr lang="en-US" baseline="0" smtClean="0"/>
              <a:t> following is the content for my presentation. Section 2 introduces and summarizes related work. In Sections 3, we provide a detailed description of the main components of our approach. We describe the experimental setup to validate our approach along with a discussion of the results in Section 4. Finally, we conclude with a summary of our findings and comment on possible future directions in Section 5.</a:t>
            </a:r>
            <a:endParaRPr lang="en-US" smtClean="0"/>
          </a:p>
          <a:p>
            <a:pPr marL="0" lvl="0" indent="0" algn="l" rtl="0">
              <a:spcBef>
                <a:spcPts val="0"/>
              </a:spcBef>
              <a:spcAft>
                <a:spcPts val="0"/>
              </a:spcAft>
              <a:buNone/>
            </a:pPr>
            <a:endParaRPr lang="en-US" smtClean="0"/>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a:t>
            </a:fld>
            <a:endParaRPr lang="en-US"/>
          </a:p>
        </p:txBody>
      </p:sp>
    </p:spTree>
    <p:extLst>
      <p:ext uri="{BB962C8B-B14F-4D97-AF65-F5344CB8AC3E}">
        <p14:creationId xmlns:p14="http://schemas.microsoft.com/office/powerpoint/2010/main" val="559246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As we know, cancer is one of the most common diseases in the world and takes the lives of millions of people every year. Breast cancer is one of the most common cancers affecting women worldwide. </a:t>
            </a:r>
          </a:p>
          <a:p>
            <a:r>
              <a:rPr lang="en-US" smtClean="0"/>
              <a:t>Early detection and accurate staging of breast cancer can significantly improve survival rates and quality of life for patients..Figure 1 is an image of a breast with a mass of unusual brightness.</a:t>
            </a:r>
          </a:p>
        </p:txBody>
      </p:sp>
      <p:sp>
        <p:nvSpPr>
          <p:cNvPr id="4" name="Slide Number Placeholder 3"/>
          <p:cNvSpPr>
            <a:spLocks noGrp="1"/>
          </p:cNvSpPr>
          <p:nvPr>
            <p:ph type="sldNum" sz="quarter" idx="10"/>
          </p:nvPr>
        </p:nvSpPr>
        <p:spPr/>
        <p:txBody>
          <a:bodyPr/>
          <a:lstStyle/>
          <a:p>
            <a:fld id="{157A3CC4-A1AF-4799-818E-6EEBBE945652}" type="slidenum">
              <a:rPr lang="en-US" smtClean="0"/>
              <a:t>3</a:t>
            </a:fld>
            <a:endParaRPr lang="en-US"/>
          </a:p>
        </p:txBody>
      </p:sp>
    </p:spTree>
    <p:extLst>
      <p:ext uri="{BB962C8B-B14F-4D97-AF65-F5344CB8AC3E}">
        <p14:creationId xmlns:p14="http://schemas.microsoft.com/office/powerpoint/2010/main" val="2060754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According to GLOBOCAN statistics in 2020, the world is estimated to have about 19.3 million cases and 10 million deaths caused by cancer. Of which, breast cancer in women is 2.26 million cases, accounting for 11.7%. </a:t>
            </a:r>
          </a:p>
          <a:p>
            <a:r>
              <a:rPr lang="en-US" smtClean="0"/>
              <a:t>In Vietnam, breast cancer is the leading disease among women. Because of the prevalence of this disease, there are currently many related studies being conducted with the goal of detecting and classifying breast cancer using many different methods, the most popular of which is the application of information technology in detecting and classifying abnormalities on mammograms.</a:t>
            </a:r>
          </a:p>
          <a:p>
            <a:endParaRPr lang="en-US" smtClean="0"/>
          </a:p>
          <a:p>
            <a:r>
              <a:rPr lang="en-US" smtClean="0"/>
              <a:t>Because of its popularity, there have been many research projects related to this disease in recent times.</a:t>
            </a:r>
          </a:p>
          <a:p>
            <a:endParaRPr lang="en-US" smtClean="0"/>
          </a:p>
          <a:p>
            <a:r>
              <a:rPr lang="vi-VN" smtClean="0"/>
              <a:t>Theo số liệu thống kê của GLOBOCAN trong năm 2020 cả thế giới ước tính có khoảng 19.3 triệu ca mắc và 10 triệu ca tử vong do ung thư gây nên. Trong đó, ung thư vú ở phụ nữ là 2.26 triệu ca chiếm 11.7%</a:t>
            </a:r>
            <a:r>
              <a:rPr lang="en-US" smtClean="0"/>
              <a:t>.</a:t>
            </a:r>
          </a:p>
          <a:p>
            <a:endParaRPr lang="en-US" smtClean="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4</a:t>
            </a:fld>
            <a:endParaRPr lang="en-US"/>
          </a:p>
        </p:txBody>
      </p:sp>
    </p:spTree>
    <p:extLst>
      <p:ext uri="{BB962C8B-B14F-4D97-AF65-F5344CB8AC3E}">
        <p14:creationId xmlns:p14="http://schemas.microsoft.com/office/powerpoint/2010/main" val="975290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Some of the key points our research covers are:</a:t>
            </a:r>
          </a:p>
          <a:p>
            <a:endParaRPr lang="en-US" smtClean="0"/>
          </a:p>
          <a:p>
            <a:endParaRPr lang="en-US" smtClean="0"/>
          </a:p>
          <a:p>
            <a:r>
              <a:rPr lang="en-US" smtClean="0"/>
              <a:t>To achieve the above content, we briefly reviewed the research works of previous authors.</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5</a:t>
            </a:fld>
            <a:endParaRPr lang="en-US"/>
          </a:p>
        </p:txBody>
      </p:sp>
    </p:spTree>
    <p:extLst>
      <p:ext uri="{BB962C8B-B14F-4D97-AF65-F5344CB8AC3E}">
        <p14:creationId xmlns:p14="http://schemas.microsoft.com/office/powerpoint/2010/main" val="3917165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GB" sz="1200" smtClean="0"/>
              <a:t>Adedigba và</a:t>
            </a:r>
            <a:r>
              <a:rPr lang="en-GB" sz="1200" baseline="0" smtClean="0"/>
              <a:t> cộng sự </a:t>
            </a:r>
            <a:r>
              <a:rPr lang="vi-VN" sz="1200" baseline="0" smtClean="0"/>
              <a:t>y một phương pháp huấn luyện mô hình học sâu để chẩn đoán BC. Chúng tôi đã phát triển một phương pháp tinh chỉnh phân biệt, </a:t>
            </a:r>
            <a:r>
              <a:rPr lang="en-US" sz="1200" baseline="0" smtClean="0"/>
              <a:t>fine-tuning</a:t>
            </a:r>
            <a:r>
              <a:rPr lang="vi-VN" sz="1200" baseline="0" smtClean="0"/>
              <a:t> cho mỗi lớp của CNN sâu. Ngoài ra, mô hình được huấn luyện bằng phương pháp huấn luyện độ chính xác hỗn hợp để giảm bớt nhu cầu tính toán khi huấn luyện các mô hình học sâu. Cuối cùng, chúng tôi trình bày các phương pháp tăng cường dữ liệu cho chụp nhũ ảnh.</a:t>
            </a:r>
            <a:endParaRPr lang="en-GB" sz="1200" smtClean="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6</a:t>
            </a:fld>
            <a:endParaRPr lang="en-US"/>
          </a:p>
        </p:txBody>
      </p:sp>
    </p:spTree>
    <p:extLst>
      <p:ext uri="{BB962C8B-B14F-4D97-AF65-F5344CB8AC3E}">
        <p14:creationId xmlns:p14="http://schemas.microsoft.com/office/powerpoint/2010/main" val="2077902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US" sz="1200" smtClean="0"/>
              <a:t>Attention-Enhanced Deep Learning Ensemble for Breast Density Classification in Mammography - Peyman Sharifian</a:t>
            </a:r>
            <a:endParaRPr lang="en-GB" sz="1200" smtClean="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7</a:t>
            </a:fld>
            <a:endParaRPr lang="en-US"/>
          </a:p>
        </p:txBody>
      </p:sp>
    </p:spTree>
    <p:extLst>
      <p:ext uri="{BB962C8B-B14F-4D97-AF65-F5344CB8AC3E}">
        <p14:creationId xmlns:p14="http://schemas.microsoft.com/office/powerpoint/2010/main" val="1465083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 focal point of our study is the evaluation of XAI’s effectiveness in</a:t>
            </a:r>
          </a:p>
          <a:p>
            <a:r>
              <a:rPr lang="en-US" smtClean="0"/>
              <a:t>interpreting model predictions, highlighted by utilising the Hausdorff measure to assess the align-ment between AI-generated explanations and expert annotations quantitatively.</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8</a:t>
            </a:fld>
            <a:endParaRPr lang="en-US"/>
          </a:p>
        </p:txBody>
      </p:sp>
    </p:spTree>
    <p:extLst>
      <p:ext uri="{BB962C8B-B14F-4D97-AF65-F5344CB8AC3E}">
        <p14:creationId xmlns:p14="http://schemas.microsoft.com/office/powerpoint/2010/main" val="425409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US" sz="1200" smtClean="0"/>
              <a:t>Attention-Enhanced Deep Learning Ensemble for Breast Density Classification in Mammography - Peyman Sharifian</a:t>
            </a:r>
            <a:endParaRPr lang="en-GB" sz="1200" smtClean="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9</a:t>
            </a:fld>
            <a:endParaRPr lang="en-US"/>
          </a:p>
        </p:txBody>
      </p:sp>
    </p:spTree>
    <p:extLst>
      <p:ext uri="{BB962C8B-B14F-4D97-AF65-F5344CB8AC3E}">
        <p14:creationId xmlns:p14="http://schemas.microsoft.com/office/powerpoint/2010/main" val="692880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10</a:t>
            </a:fld>
            <a:endParaRPr lang="en-US"/>
          </a:p>
        </p:txBody>
      </p:sp>
    </p:spTree>
    <p:extLst>
      <p:ext uri="{BB962C8B-B14F-4D97-AF65-F5344CB8AC3E}">
        <p14:creationId xmlns:p14="http://schemas.microsoft.com/office/powerpoint/2010/main" val="2744678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11</a:t>
            </a:fld>
            <a:endParaRPr lang="en-US"/>
          </a:p>
        </p:txBody>
      </p:sp>
    </p:spTree>
    <p:extLst>
      <p:ext uri="{BB962C8B-B14F-4D97-AF65-F5344CB8AC3E}">
        <p14:creationId xmlns:p14="http://schemas.microsoft.com/office/powerpoint/2010/main" val="769203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JRIP algorithm is a rule-based classification method that builds an interpretable set of rules from training data. It starts by ordering the categories based on their sample sizes, then iteratively constructs, refines, and adds rules that best fit each category. After each rule is created, the covered instances are removed from the dataset. This process repeats until all samples are covered. Finally, a default rule is added to handle any remaining instances. The result is a compact and optimized rule set that serves as the final classification model.</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12</a:t>
            </a:fld>
            <a:endParaRPr lang="en-US"/>
          </a:p>
        </p:txBody>
      </p:sp>
    </p:spTree>
    <p:extLst>
      <p:ext uri="{BB962C8B-B14F-4D97-AF65-F5344CB8AC3E}">
        <p14:creationId xmlns:p14="http://schemas.microsoft.com/office/powerpoint/2010/main" val="3784264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PART algorithm is a rule-based learning method that generates a set of classification rules without global optimization. It begins with an empty rule set and uses all training instances as uncovered data. In each iteration, the algorithm builds a partial decision tree from the remaining uncovered instances and selects the most discriminative branch to form a provisional rule. This rule is then added to the rule set, and all instances covered by it are removed from the uncovered data. The rest of the partial tree is discarded, and the process repeats until all instances are covered. Finally, the algorithm outputs the complete set of rules as the final rule base.</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13</a:t>
            </a:fld>
            <a:endParaRPr lang="en-US"/>
          </a:p>
        </p:txBody>
      </p:sp>
    </p:spTree>
    <p:extLst>
      <p:ext uri="{BB962C8B-B14F-4D97-AF65-F5344CB8AC3E}">
        <p14:creationId xmlns:p14="http://schemas.microsoft.com/office/powerpoint/2010/main" val="798691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Delta</a:t>
            </a:r>
          </a:p>
          <a:p>
            <a:r>
              <a:rPr lang="en-US" smtClean="0"/>
              <a:t>The crisp values of the input are converted into fuzzy values with the assistance of fuzzy membership functions.</a:t>
            </a:r>
          </a:p>
          <a:p>
            <a:endParaRPr lang="en-US" smtClean="0"/>
          </a:p>
          <a:p>
            <a:r>
              <a:rPr lang="en-US" smtClean="0"/>
              <a:t>In the context of a fuzzy set M, the membership function is defined by the expression θM(x), where θM(x) ∈ [0, 1] denotes the degree of membership of x to the fuzzy set M. A graphical representation of each membership function is presented in order to highlight the degree to which each input contributes to a set. A mathematically straightforward approach is provided by the triangular membership function, which is utilized in this study. It is defined by three parameters {a, b, c}, where the membership function θM(x) for each value x isspecified in Eq.1. The values of these parameters are taken from the knowledge of specialists.</a:t>
            </a:r>
          </a:p>
          <a:p>
            <a:endParaRPr lang="en-US" smtClean="0"/>
          </a:p>
          <a:p>
            <a:r>
              <a:rPr lang="en-US" smtClean="0"/>
              <a:t>A fuzzy inference is performed during the second phase, during which the system processes the values that are input. Concluding statements are generated by the fuzzy inference system by employing IF-THEN language rules derived from a knowledge base. For the purpose of influencing the fuzzy output sets and the conclusions that are ultimately drawn, these rules use input membership values as weights. During the last phase, the fuzzy findings are converted back into exact and crisp values by the process of defuzzification. The method of defuzzification involves taking a weighted average of the values of x, where the weights are the membership function values denoted by θ(x).</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14</a:t>
            </a:fld>
            <a:endParaRPr lang="en-US"/>
          </a:p>
        </p:txBody>
      </p:sp>
    </p:spTree>
    <p:extLst>
      <p:ext uri="{BB962C8B-B14F-4D97-AF65-F5344CB8AC3E}">
        <p14:creationId xmlns:p14="http://schemas.microsoft.com/office/powerpoint/2010/main" val="2611485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mtClean="0"/>
                  <a:t>Some metrics we use in evaluating proposed models</a:t>
                </a:r>
              </a:p>
              <a:p>
                <a:endParaRPr lang="en-US" smtClean="0"/>
              </a:p>
              <a:p>
                <a:r>
                  <a:rPr lang="en-US" sz="1200" kern="1200" smtClean="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14:m>
                  <m:oMath xmlns:m="http://schemas.openxmlformats.org/officeDocument/2006/math">
                    <m:acc>
                      <m:accPr>
                        <m:chr m:val="̂"/>
                        <m:ctrlPr>
                          <a:rPr lang="en-US" sz="1200" i="1" kern="1200">
                            <a:solidFill>
                              <a:schemeClr val="tx1"/>
                            </a:solidFill>
                            <a:effectLst/>
                            <a:latin typeface="Cambria Math" panose="02040503050406030204" pitchFamily="18" charset="0"/>
                            <a:ea typeface="+mn-ea"/>
                            <a:cs typeface="+mn-cs"/>
                          </a:rPr>
                        </m:ctrlPr>
                      </m:accPr>
                      <m:e>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𝑢</m:t>
                            </m:r>
                          </m:e>
                          <m:sub>
                            <m:r>
                              <a:rPr lang="en-US" sz="1200" i="1" kern="1200">
                                <a:solidFill>
                                  <a:schemeClr val="tx1"/>
                                </a:solidFill>
                                <a:effectLst/>
                                <a:latin typeface="Cambria Math" panose="02040503050406030204" pitchFamily="18" charset="0"/>
                                <a:ea typeface="+mn-ea"/>
                                <a:cs typeface="+mn-cs"/>
                              </a:rPr>
                              <m:t>𝑖</m:t>
                            </m:r>
                          </m:sub>
                        </m:sSub>
                      </m:e>
                    </m:acc>
                  </m:oMath>
                </a14:m>
                <a:r>
                  <a:rPr lang="en-US" sz="1200" kern="1200">
                    <a:solidFill>
                      <a:schemeClr val="tx1"/>
                    </a:solidFill>
                    <a:effectLst/>
                    <a:latin typeface="+mn-lt"/>
                    <a:ea typeface="+mn-ea"/>
                    <a:cs typeface="+mn-cs"/>
                  </a:rPr>
                  <a:t> is the predicted value at pixel 𝑖 out of total number of pixels n</a:t>
                </a:r>
                <a:r>
                  <a:rPr lang="en-US" sz="1200" kern="1200" smtClean="0">
                    <a:solidFill>
                      <a:schemeClr val="tx1"/>
                    </a:solidFill>
                    <a:effectLst/>
                    <a:latin typeface="+mn-lt"/>
                    <a:ea typeface="+mn-ea"/>
                    <a:cs typeface="+mn-cs"/>
                  </a:rPr>
                  <a:t>.</a:t>
                </a:r>
              </a:p>
              <a:p>
                <a:endParaRPr lang="en-US" sz="1200" kern="1200" smtClean="0">
                  <a:solidFill>
                    <a:schemeClr val="tx1"/>
                  </a:solidFill>
                  <a:effectLst/>
                  <a:latin typeface="+mn-lt"/>
                  <a:ea typeface="+mn-ea"/>
                  <a:cs typeface="+mn-cs"/>
                </a:endParaRPr>
              </a:p>
              <a:p>
                <a:r>
                  <a:rPr lang="en-US" sz="1200" b="0" i="0" kern="1200" smtClean="0">
                    <a:solidFill>
                      <a:schemeClr val="tx1"/>
                    </a:solidFill>
                    <a:effectLst/>
                    <a:latin typeface="+mn-lt"/>
                    <a:ea typeface="+mn-ea"/>
                    <a:cs typeface="+mn-cs"/>
                  </a:rPr>
                  <a:t>In which, </a:t>
                </a:r>
                <a:r>
                  <a:rPr lang="en-US" sz="1200" b="0" i="1" kern="1200" smtClean="0">
                    <a:solidFill>
                      <a:schemeClr val="tx1"/>
                    </a:solidFill>
                    <a:effectLst/>
                    <a:latin typeface="+mn-lt"/>
                    <a:ea typeface="+mn-ea"/>
                    <a:cs typeface="+mn-cs"/>
                  </a:rPr>
                  <a:t>wi</a:t>
                </a:r>
                <a:r>
                  <a:rPr lang="en-US" sz="1200" b="0" i="0" kern="1200" smtClean="0">
                    <a:solidFill>
                      <a:schemeClr val="tx1"/>
                    </a:solidFill>
                    <a:effectLst/>
                    <a:latin typeface="+mn-lt"/>
                    <a:ea typeface="+mn-ea"/>
                    <a:cs typeface="+mn-cs"/>
                  </a:rPr>
                  <a:t>: weight of the </a:t>
                </a:r>
                <a:r>
                  <a:rPr lang="en-US" sz="1200" b="0" i="1" kern="1200" smtClean="0">
                    <a:solidFill>
                      <a:schemeClr val="tx1"/>
                    </a:solidFill>
                    <a:effectLst/>
                    <a:latin typeface="+mn-lt"/>
                    <a:ea typeface="+mn-ea"/>
                    <a:cs typeface="+mn-cs"/>
                  </a:rPr>
                  <a:t>ith </a:t>
                </a:r>
                <a:r>
                  <a:rPr lang="en-US" sz="1200" b="0" i="0" kern="1200" smtClean="0">
                    <a:solidFill>
                      <a:schemeClr val="tx1"/>
                    </a:solidFill>
                    <a:effectLst/>
                    <a:latin typeface="+mn-lt"/>
                    <a:ea typeface="+mn-ea"/>
                    <a:cs typeface="+mn-cs"/>
                  </a:rPr>
                  <a:t>model; 1</a:t>
                </a:r>
                <a:r>
                  <a:rPr lang="en-US" sz="1200" b="0" i="1" kern="1200" smtClean="0">
                    <a:solidFill>
                      <a:schemeClr val="tx1"/>
                    </a:solidFill>
                    <a:effectLst/>
                    <a:latin typeface="+mn-lt"/>
                    <a:ea typeface="+mn-ea"/>
                    <a:cs typeface="+mn-cs"/>
                  </a:rPr>
                  <a:t>{mi</a:t>
                </a:r>
                <a:r>
                  <a:rPr lang="en-US" sz="1200" b="0" i="0" kern="1200" smtClean="0">
                    <a:solidFill>
                      <a:schemeClr val="tx1"/>
                    </a:solidFill>
                    <a:effectLst/>
                    <a:latin typeface="+mn-lt"/>
                    <a:ea typeface="+mn-ea"/>
                    <a:cs typeface="+mn-cs"/>
                  </a:rPr>
                  <a:t>(</a:t>
                </a:r>
                <a:r>
                  <a:rPr lang="en-US" sz="1200" b="0" i="1" kern="1200" smtClean="0">
                    <a:solidFill>
                      <a:schemeClr val="tx1"/>
                    </a:solidFill>
                    <a:effectLst/>
                    <a:latin typeface="+mn-lt"/>
                    <a:ea typeface="+mn-ea"/>
                    <a:cs typeface="+mn-cs"/>
                  </a:rPr>
                  <a:t>x</a:t>
                </a:r>
                <a:r>
                  <a:rPr lang="en-US" sz="1200" b="0" i="0" kern="1200" smtClean="0">
                    <a:solidFill>
                      <a:schemeClr val="tx1"/>
                    </a:solidFill>
                    <a:effectLst/>
                    <a:latin typeface="+mn-lt"/>
                    <a:ea typeface="+mn-ea"/>
                    <a:cs typeface="+mn-cs"/>
                  </a:rPr>
                  <a:t>)=</a:t>
                </a:r>
                <a:r>
                  <a:rPr lang="en-US" sz="1200" b="0" i="1" kern="1200" smtClean="0">
                    <a:solidFill>
                      <a:schemeClr val="tx1"/>
                    </a:solidFill>
                    <a:effectLst/>
                    <a:latin typeface="+mn-lt"/>
                    <a:ea typeface="+mn-ea"/>
                    <a:cs typeface="+mn-cs"/>
                  </a:rPr>
                  <a:t>c} </a:t>
                </a:r>
                <a:r>
                  <a:rPr lang="en-US" sz="1200" b="0" i="0" kern="1200" smtClean="0">
                    <a:solidFill>
                      <a:schemeClr val="tx1"/>
                    </a:solidFill>
                    <a:effectLst/>
                    <a:latin typeface="+mn-lt"/>
                    <a:ea typeface="+mn-ea"/>
                    <a:cs typeface="+mn-cs"/>
                  </a:rPr>
                  <a:t>: equal to 1 if model </a:t>
                </a:r>
                <a:r>
                  <a:rPr lang="en-US" sz="1200" b="0" i="1" kern="1200" smtClean="0">
                    <a:solidFill>
                      <a:schemeClr val="tx1"/>
                    </a:solidFill>
                    <a:effectLst/>
                    <a:latin typeface="+mn-lt"/>
                    <a:ea typeface="+mn-ea"/>
                    <a:cs typeface="+mn-cs"/>
                  </a:rPr>
                  <a:t>i </a:t>
                </a:r>
                <a:r>
                  <a:rPr lang="en-US" sz="1200" b="0" i="0" kern="1200" smtClean="0">
                    <a:solidFill>
                      <a:schemeClr val="tx1"/>
                    </a:solidFill>
                    <a:effectLst/>
                    <a:latin typeface="+mn-lt"/>
                    <a:ea typeface="+mn-ea"/>
                    <a:cs typeface="+mn-cs"/>
                  </a:rPr>
                  <a:t>chooses</a:t>
                </a:r>
              </a:p>
              <a:p>
                <a:r>
                  <a:rPr lang="en-US" sz="1200" b="0" i="0" kern="1200" smtClean="0">
                    <a:solidFill>
                      <a:schemeClr val="tx1"/>
                    </a:solidFill>
                    <a:effectLst/>
                    <a:latin typeface="+mn-lt"/>
                    <a:ea typeface="+mn-ea"/>
                    <a:cs typeface="+mn-cs"/>
                  </a:rPr>
                  <a:t>class </a:t>
                </a:r>
                <a:r>
                  <a:rPr lang="en-US" sz="1200" b="0" i="1" kern="1200" smtClean="0">
                    <a:solidFill>
                      <a:schemeClr val="tx1"/>
                    </a:solidFill>
                    <a:effectLst/>
                    <a:latin typeface="+mn-lt"/>
                    <a:ea typeface="+mn-ea"/>
                    <a:cs typeface="+mn-cs"/>
                  </a:rPr>
                  <a:t>c</a:t>
                </a:r>
                <a:r>
                  <a:rPr lang="en-US" sz="1200" b="0" i="0" kern="1200" smtClean="0">
                    <a:solidFill>
                      <a:schemeClr val="tx1"/>
                    </a:solidFill>
                    <a:effectLst/>
                    <a:latin typeface="+mn-lt"/>
                    <a:ea typeface="+mn-ea"/>
                    <a:cs typeface="+mn-cs"/>
                  </a:rPr>
                  <a:t>, otherwise equal to 0.</a:t>
                </a:r>
                <a:r>
                  <a:rPr lang="en-US" smtClean="0"/>
                  <a:t> </a:t>
                </a:r>
                <a:br>
                  <a:rPr lang="en-US" smtClean="0"/>
                </a:br>
                <a:endParaRPr lang="en-US" smtClean="0"/>
              </a:p>
              <a:p>
                <a:endParaRPr lang="en-US"/>
              </a:p>
            </p:txBody>
          </p:sp>
        </mc:Choice>
        <mc:Fallback xmlns="">
          <p:sp>
            <p:nvSpPr>
              <p:cNvPr id="3" name="Notes Placeholder 2"/>
              <p:cNvSpPr>
                <a:spLocks noGrp="1"/>
              </p:cNvSpPr>
              <p:nvPr>
                <p:ph type="body" idx="1"/>
              </p:nvPr>
            </p:nvSpPr>
            <p:spPr/>
            <p:txBody>
              <a:bodyPr/>
              <a:lstStyle/>
              <a:p>
                <a:r>
                  <a:rPr lang="en-US" smtClean="0"/>
                  <a:t>Some metrics we use in evaluating proposed </a:t>
                </a:r>
                <a:r>
                  <a:rPr lang="en-US" smtClean="0"/>
                  <a:t>models</a:t>
                </a:r>
              </a:p>
              <a:p>
                <a:endParaRPr lang="en-US" smtClean="0"/>
              </a:p>
              <a:p>
                <a:r>
                  <a:rPr lang="en-US" sz="1200" kern="1200" smtClean="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r>
                  <a:rPr lang="en-US" sz="1200" i="0" kern="1200">
                    <a:solidFill>
                      <a:schemeClr val="tx1"/>
                    </a:solidFill>
                    <a:effectLst/>
                    <a:latin typeface="+mn-lt"/>
                    <a:ea typeface="+mn-ea"/>
                    <a:cs typeface="+mn-cs"/>
                  </a:rPr>
                  <a:t>(𝑢_𝑖 ) ̂</a:t>
                </a:r>
                <a:r>
                  <a:rPr lang="en-US" sz="1200" kern="1200">
                    <a:solidFill>
                      <a:schemeClr val="tx1"/>
                    </a:solidFill>
                    <a:effectLst/>
                    <a:latin typeface="+mn-lt"/>
                    <a:ea typeface="+mn-ea"/>
                    <a:cs typeface="+mn-cs"/>
                  </a:rPr>
                  <a:t> is the predicted value at pixel 𝑖 out of total number of pixels n.</a:t>
                </a:r>
                <a:endParaRPr lang="en-US" smtClean="0"/>
              </a:p>
              <a:p>
                <a:endParaRPr lang="en-US"/>
              </a:p>
            </p:txBody>
          </p:sp>
        </mc:Fallback>
      </mc:AlternateContent>
      <p:sp>
        <p:nvSpPr>
          <p:cNvPr id="4" name="Slide Number Placeholder 3"/>
          <p:cNvSpPr>
            <a:spLocks noGrp="1"/>
          </p:cNvSpPr>
          <p:nvPr>
            <p:ph type="sldNum" sz="quarter" idx="10"/>
          </p:nvPr>
        </p:nvSpPr>
        <p:spPr/>
        <p:txBody>
          <a:bodyPr/>
          <a:lstStyle/>
          <a:p>
            <a:fld id="{157A3CC4-A1AF-4799-818E-6EEBBE945652}" type="slidenum">
              <a:rPr lang="en-US" smtClean="0"/>
              <a:t>15</a:t>
            </a:fld>
            <a:endParaRPr lang="en-US"/>
          </a:p>
        </p:txBody>
      </p:sp>
    </p:spTree>
    <p:extLst>
      <p:ext uri="{BB962C8B-B14F-4D97-AF65-F5344CB8AC3E}">
        <p14:creationId xmlns:p14="http://schemas.microsoft.com/office/powerpoint/2010/main" val="2291722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16</a:t>
            </a:fld>
            <a:endParaRPr lang="en-US"/>
          </a:p>
        </p:txBody>
      </p:sp>
    </p:spTree>
    <p:extLst>
      <p:ext uri="{BB962C8B-B14F-4D97-AF65-F5344CB8AC3E}">
        <p14:creationId xmlns:p14="http://schemas.microsoft.com/office/powerpoint/2010/main" val="3128589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effectLst/>
                <a:latin typeface="+mn-lt"/>
                <a:ea typeface="+mn-ea"/>
                <a:cs typeface="+mn-cs"/>
              </a:rPr>
              <a:t>The classification stage employs a Fuzzy Inference System (FIS). The system is trained using features obtained from U-Net and DeepLabv3+ models, which are converted into fuzzy rules. These rules associate fuzzy inputs with their corresponding class labels and define the membership functions for each feature. During inference, features from unseen images are fuzzified and processed through the FIS to generate fuzzy outputs. A defuzzification step is then performed using the weighted average method, producing crisp classification results. Finally, these results are matched with the trained classes, enabling accurate categorization of the test images. This pipeline ensures robust classification while retaining interpretability through fuzzy reasoning.</a:t>
            </a:r>
            <a:r>
              <a:rPr lang="en-US" smtClean="0"/>
              <a:t> </a:t>
            </a:r>
            <a:br>
              <a:rPr lang="en-US" smtClean="0"/>
            </a:br>
            <a:endParaRPr lang="en-US" smtClean="0"/>
          </a:p>
          <a:p>
            <a:r>
              <a:rPr lang="en-US" sz="1200" b="1" i="0" kern="1200" smtClean="0">
                <a:solidFill>
                  <a:schemeClr val="tx1"/>
                </a:solidFill>
                <a:effectLst/>
                <a:latin typeface="+mn-lt"/>
                <a:ea typeface="+mn-ea"/>
                <a:cs typeface="+mn-cs"/>
              </a:rPr>
              <a:t>Explanation of Grad-CAM Heatmap: </a:t>
            </a:r>
            <a:r>
              <a:rPr lang="en-US" sz="1200" b="0" i="0" kern="1200" smtClean="0">
                <a:solidFill>
                  <a:schemeClr val="tx1"/>
                </a:solidFill>
                <a:effectLst/>
                <a:latin typeface="+mn-lt"/>
                <a:ea typeface="+mn-ea"/>
                <a:cs typeface="+mn-cs"/>
              </a:rPr>
              <a:t>The Grad-CAM heatmap visualizes the model’s attention regions when making predictions. The heatmap intensity ranges from 0.0 (Blue regions) to 1.0 (Red regions). Intermediate values from 0.0 to 1.0 (shades of green to yellow) represent varying levels of attention or suspicion for potential abnormalities. The color gradient helps identify areas of interest, assisting physicians in further examination.</a:t>
            </a:r>
            <a:r>
              <a:rPr lang="en-US" smtClean="0"/>
              <a:t> </a:t>
            </a:r>
            <a:br>
              <a:rPr lang="en-US" smtClean="0"/>
            </a:br>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17</a:t>
            </a:fld>
            <a:endParaRPr lang="en-US"/>
          </a:p>
        </p:txBody>
      </p:sp>
    </p:spTree>
    <p:extLst>
      <p:ext uri="{BB962C8B-B14F-4D97-AF65-F5344CB8AC3E}">
        <p14:creationId xmlns:p14="http://schemas.microsoft.com/office/powerpoint/2010/main" val="1032119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smtClean="0"/>
              <a:t>The algorithm classifies a test sample using a Fuzzy Inference System (FIS) with Grad-CAM integration. </a:t>
            </a:r>
          </a:p>
          <a:p>
            <a:r>
              <a:rPr lang="en-US" b="0" smtClean="0"/>
              <a:t>It standardizes input features, computes fuzzy membership degrees for each attribute and fuzzy set, derives rule firing strengths, aggregates them into crisp class scores via defuzzification, generates Grad-CAM heatmaps to highlight influential input regions, and assigns the class with the highest score as the final prediction.</a:t>
            </a:r>
          </a:p>
          <a:p>
            <a:endParaRPr lang="en-US" b="1" smtClean="0"/>
          </a:p>
          <a:p>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18</a:t>
            </a:fld>
            <a:endParaRPr lang="en-US"/>
          </a:p>
        </p:txBody>
      </p:sp>
    </p:spTree>
    <p:extLst>
      <p:ext uri="{BB962C8B-B14F-4D97-AF65-F5344CB8AC3E}">
        <p14:creationId xmlns:p14="http://schemas.microsoft.com/office/powerpoint/2010/main" val="3453056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dataset is divided into a training dataset and a validation dataset with a ratio of 80% and 20%, respectively. For testing, we build a hypothetical scenario where the students were doing the exam, then recorded a video, and tested it with a number of 15 videos on a cheating action to check the accuracy of the network models. </a:t>
            </a:r>
          </a:p>
          <a:p>
            <a:endParaRPr lang="en-US" smtClean="0"/>
          </a:p>
          <a:p>
            <a:r>
              <a:rPr lang="en-US" smtClean="0"/>
              <a:t>Table 1 presents the scenarios we used with the training parameters</a:t>
            </a:r>
          </a:p>
          <a:p>
            <a:r>
              <a:rPr lang="en-US" smtClean="0"/>
              <a:t>In scenarios 2,3,5,6 we use algorithms to generate rule sets from the data extracted from the network models. The goal of this process is to improve the accuracy of the model by better handling ambiguous or contradictory cases in the data set. After conducting experiments with various sets of parameters, we selected identical parameters for all scenarios. The learning rate is set at 0.0001, with the training being conducted 100 times. The number of classes (Num classes) being 3, corresponding to benign, malignant and normal.</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19</a:t>
            </a:fld>
            <a:endParaRPr lang="en-US"/>
          </a:p>
        </p:txBody>
      </p:sp>
    </p:spTree>
    <p:extLst>
      <p:ext uri="{BB962C8B-B14F-4D97-AF65-F5344CB8AC3E}">
        <p14:creationId xmlns:p14="http://schemas.microsoft.com/office/powerpoint/2010/main" val="1212215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20</a:t>
            </a:fld>
            <a:endParaRPr lang="en-US"/>
          </a:p>
        </p:txBody>
      </p:sp>
    </p:spTree>
    <p:extLst>
      <p:ext uri="{BB962C8B-B14F-4D97-AF65-F5344CB8AC3E}">
        <p14:creationId xmlns:p14="http://schemas.microsoft.com/office/powerpoint/2010/main" val="2414872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21</a:t>
            </a:fld>
            <a:endParaRPr lang="en-US"/>
          </a:p>
        </p:txBody>
      </p:sp>
    </p:spTree>
    <p:extLst>
      <p:ext uri="{BB962C8B-B14F-4D97-AF65-F5344CB8AC3E}">
        <p14:creationId xmlns:p14="http://schemas.microsoft.com/office/powerpoint/2010/main" val="97957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22</a:t>
            </a:fld>
            <a:endParaRPr lang="en-US"/>
          </a:p>
        </p:txBody>
      </p:sp>
    </p:spTree>
    <p:extLst>
      <p:ext uri="{BB962C8B-B14F-4D97-AF65-F5344CB8AC3E}">
        <p14:creationId xmlns:p14="http://schemas.microsoft.com/office/powerpoint/2010/main" val="4289543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23</a:t>
            </a:fld>
            <a:endParaRPr lang="en-US"/>
          </a:p>
        </p:txBody>
      </p:sp>
    </p:spTree>
    <p:extLst>
      <p:ext uri="{BB962C8B-B14F-4D97-AF65-F5344CB8AC3E}">
        <p14:creationId xmlns:p14="http://schemas.microsoft.com/office/powerpoint/2010/main" val="3969651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24</a:t>
            </a:fld>
            <a:endParaRPr lang="en-US"/>
          </a:p>
        </p:txBody>
      </p:sp>
    </p:spTree>
    <p:extLst>
      <p:ext uri="{BB962C8B-B14F-4D97-AF65-F5344CB8AC3E}">
        <p14:creationId xmlns:p14="http://schemas.microsoft.com/office/powerpoint/2010/main" val="18403441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25</a:t>
            </a:fld>
            <a:endParaRPr lang="en-US"/>
          </a:p>
        </p:txBody>
      </p:sp>
    </p:spTree>
    <p:extLst>
      <p:ext uri="{BB962C8B-B14F-4D97-AF65-F5344CB8AC3E}">
        <p14:creationId xmlns:p14="http://schemas.microsoft.com/office/powerpoint/2010/main" val="38722070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26</a:t>
            </a:fld>
            <a:endParaRPr lang="en-US"/>
          </a:p>
        </p:txBody>
      </p:sp>
    </p:spTree>
    <p:extLst>
      <p:ext uri="{BB962C8B-B14F-4D97-AF65-F5344CB8AC3E}">
        <p14:creationId xmlns:p14="http://schemas.microsoft.com/office/powerpoint/2010/main" val="2173958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27</a:t>
            </a:fld>
            <a:endParaRPr lang="en-US"/>
          </a:p>
        </p:txBody>
      </p:sp>
    </p:spTree>
    <p:extLst>
      <p:ext uri="{BB962C8B-B14F-4D97-AF65-F5344CB8AC3E}">
        <p14:creationId xmlns:p14="http://schemas.microsoft.com/office/powerpoint/2010/main" val="3018748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28</a:t>
            </a:fld>
            <a:endParaRPr lang="en-US"/>
          </a:p>
        </p:txBody>
      </p:sp>
    </p:spTree>
    <p:extLst>
      <p:ext uri="{BB962C8B-B14F-4D97-AF65-F5344CB8AC3E}">
        <p14:creationId xmlns:p14="http://schemas.microsoft.com/office/powerpoint/2010/main" val="810198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29</a:t>
            </a:fld>
            <a:endParaRPr lang="en-US"/>
          </a:p>
        </p:txBody>
      </p:sp>
    </p:spTree>
    <p:extLst>
      <p:ext uri="{BB962C8B-B14F-4D97-AF65-F5344CB8AC3E}">
        <p14:creationId xmlns:p14="http://schemas.microsoft.com/office/powerpoint/2010/main" val="20173913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30</a:t>
            </a:fld>
            <a:endParaRPr lang="en-US"/>
          </a:p>
        </p:txBody>
      </p:sp>
    </p:spTree>
    <p:extLst>
      <p:ext uri="{BB962C8B-B14F-4D97-AF65-F5344CB8AC3E}">
        <p14:creationId xmlns:p14="http://schemas.microsoft.com/office/powerpoint/2010/main" val="36767787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mtClean="0"/>
          </a:p>
        </p:txBody>
      </p:sp>
      <p:sp>
        <p:nvSpPr>
          <p:cNvPr id="4" name="Slide Number Placeholder 3"/>
          <p:cNvSpPr>
            <a:spLocks noGrp="1"/>
          </p:cNvSpPr>
          <p:nvPr>
            <p:ph type="sldNum" sz="quarter" idx="10"/>
          </p:nvPr>
        </p:nvSpPr>
        <p:spPr/>
        <p:txBody>
          <a:bodyPr/>
          <a:lstStyle/>
          <a:p>
            <a:fld id="{157A3CC4-A1AF-4799-818E-6EEBBE945652}" type="slidenum">
              <a:rPr lang="en-US" smtClean="0"/>
              <a:t>31</a:t>
            </a:fld>
            <a:endParaRPr lang="en-US"/>
          </a:p>
        </p:txBody>
      </p:sp>
    </p:spTree>
    <p:extLst>
      <p:ext uri="{BB962C8B-B14F-4D97-AF65-F5344CB8AC3E}">
        <p14:creationId xmlns:p14="http://schemas.microsoft.com/office/powerpoint/2010/main" val="38957323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33</a:t>
            </a:fld>
            <a:endParaRPr lang="en-US"/>
          </a:p>
        </p:txBody>
      </p:sp>
    </p:spTree>
    <p:extLst>
      <p:ext uri="{BB962C8B-B14F-4D97-AF65-F5344CB8AC3E}">
        <p14:creationId xmlns:p14="http://schemas.microsoft.com/office/powerpoint/2010/main" val="180451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4048-7A0E-F6D1-CC76-329EE7F0C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0366C70-62AE-505D-6DE2-D11479C4D9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401A95D-256E-3F71-CE7C-40B3859CEA95}"/>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5" name="Footer Placeholder 4">
            <a:extLst>
              <a:ext uri="{FF2B5EF4-FFF2-40B4-BE49-F238E27FC236}">
                <a16:creationId xmlns:a16="http://schemas.microsoft.com/office/drawing/2014/main" id="{E02FDE33-C2D0-D4F6-EAAA-A488810A2E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C8FE39-57E6-D643-C66C-E7E08577E78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1888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8A6B-1E11-870F-9FAE-5F56E95ADF2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043E874-1809-994C-1A1C-71FBD4C10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C7495F5-B24E-3EA4-F069-C12D2EB8BC50}"/>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5" name="Footer Placeholder 4">
            <a:extLst>
              <a:ext uri="{FF2B5EF4-FFF2-40B4-BE49-F238E27FC236}">
                <a16:creationId xmlns:a16="http://schemas.microsoft.com/office/drawing/2014/main" id="{B37D4A93-2CE3-ADCB-17D7-0FBE13DC50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BFBB78-6BEA-E840-0A5D-083B8A88AD0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5834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0F97-283A-2E91-C2FB-6C3C8E8FA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28409C5A-541D-22D5-A72C-8E6A4D789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F1F9F-ADD7-201E-D3FF-A57E7DDDFDDE}"/>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5" name="Footer Placeholder 4">
            <a:extLst>
              <a:ext uri="{FF2B5EF4-FFF2-40B4-BE49-F238E27FC236}">
                <a16:creationId xmlns:a16="http://schemas.microsoft.com/office/drawing/2014/main" id="{F58669C8-EDEF-71B5-7F05-57EA7F29F6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64C73C-01AE-9964-C171-BA515DEB03F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526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985C-B3E8-59F0-0A1B-0E58FD5E020F}"/>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C7F5C37-5D35-168A-6287-1045828A75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69FFE33F-F5DF-ED04-102A-19B214AC3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154C9C0-B282-BD74-3406-5D998E6CCCF6}"/>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6" name="Footer Placeholder 5">
            <a:extLst>
              <a:ext uri="{FF2B5EF4-FFF2-40B4-BE49-F238E27FC236}">
                <a16:creationId xmlns:a16="http://schemas.microsoft.com/office/drawing/2014/main" id="{5C36DBE1-CF19-6AF5-3942-DF86F81C022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5DA522-355E-848B-C1AA-56D7D32AA60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0355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1B30-AB59-DB1E-9512-A8BF9D72FC36}"/>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0C9C621-12ED-E7E5-7DA5-6B92926DAF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76A62-5089-248D-5FA7-C8E878BFC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0AB2717-E7C8-DD23-AE64-B7F07A87CF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C2E7CB-8AAA-9AA1-C634-EE04119EC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EA63780-30AA-EB4E-D62B-9DA53363A6AD}"/>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8" name="Footer Placeholder 7">
            <a:extLst>
              <a:ext uri="{FF2B5EF4-FFF2-40B4-BE49-F238E27FC236}">
                <a16:creationId xmlns:a16="http://schemas.microsoft.com/office/drawing/2014/main" id="{F35B88E4-3CEE-DDDE-8FE0-148480AA7F3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658B8B-6386-633C-C5A7-4F917BDD7C5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6349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755C-B6ED-2EA4-FD6A-2D06A03996F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577D81E1-091A-DEB6-D4E5-C5E8E846ACE8}"/>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4" name="Footer Placeholder 3">
            <a:extLst>
              <a:ext uri="{FF2B5EF4-FFF2-40B4-BE49-F238E27FC236}">
                <a16:creationId xmlns:a16="http://schemas.microsoft.com/office/drawing/2014/main" id="{8577E8E2-6396-0E50-2DE6-16D6B8EDC6C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4B9FEA-A3D6-804D-73DB-8B0840BF3BF8}"/>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600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51188-EDC2-B162-34A0-9E17EE238E47}"/>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3" name="Footer Placeholder 2">
            <a:extLst>
              <a:ext uri="{FF2B5EF4-FFF2-40B4-BE49-F238E27FC236}">
                <a16:creationId xmlns:a16="http://schemas.microsoft.com/office/drawing/2014/main" id="{7212E1EA-92EE-9019-BA30-02D87EC81A3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5D1EEA5-CF87-0E55-3887-24DE764A19E2}"/>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678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93434-AD96-3DE3-802A-868C6944C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47CB1EC8-A45A-1DCD-F225-91DC8202ED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833F9B4-CF04-2432-168A-BFDA49447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163DC-642E-96AB-17C1-7FADB55F80BA}"/>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6" name="Footer Placeholder 5">
            <a:extLst>
              <a:ext uri="{FF2B5EF4-FFF2-40B4-BE49-F238E27FC236}">
                <a16:creationId xmlns:a16="http://schemas.microsoft.com/office/drawing/2014/main" id="{56E3A441-A081-9D84-21E3-589481E8F8A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DD4B59-CFC7-B605-44E0-5F2B52211DC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92672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35B2-D6BB-22BD-F152-D8F542CC84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0D616224-C1BB-9A5A-3CF3-C8BAA5823A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AF7FE61-EEF3-F9D0-D16A-5927F6461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F1079-BB67-4C46-5E91-6C7CD045D693}"/>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6" name="Footer Placeholder 5">
            <a:extLst>
              <a:ext uri="{FF2B5EF4-FFF2-40B4-BE49-F238E27FC236}">
                <a16:creationId xmlns:a16="http://schemas.microsoft.com/office/drawing/2014/main" id="{0E4196DF-3B78-ECA1-6EF2-C9D978EF7BE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C56EEF0-1296-706E-2F52-66232523087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7863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228A-090C-D852-9C03-1E3B34A1322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F96CDB7-4EA5-263B-CADD-520004FEC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69D9939-8721-B7EF-04FA-9760B69F177D}"/>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5" name="Footer Placeholder 4">
            <a:extLst>
              <a:ext uri="{FF2B5EF4-FFF2-40B4-BE49-F238E27FC236}">
                <a16:creationId xmlns:a16="http://schemas.microsoft.com/office/drawing/2014/main" id="{886995E2-8FC5-F847-FC96-EF4D6021DE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5A47D4-9CDC-3BDB-E6D9-BFE1BEF1AAFF}"/>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5632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E64C9-897C-F05A-6F31-A5A1E6E396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86334EC-5B2B-73B3-A601-617D7F252F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912BAA6-37AF-4475-0D7A-A2A2619F13B6}"/>
              </a:ext>
            </a:extLst>
          </p:cNvPr>
          <p:cNvSpPr>
            <a:spLocks noGrp="1"/>
          </p:cNvSpPr>
          <p:nvPr>
            <p:ph type="dt" sz="half" idx="10"/>
          </p:nvPr>
        </p:nvSpPr>
        <p:spPr/>
        <p:txBody>
          <a:bodyPr/>
          <a:lstStyle/>
          <a:p>
            <a:fld id="{C764DE79-268F-4C1A-8933-263129D2AF90}" type="datetimeFigureOut">
              <a:rPr lang="en-US" smtClean="0"/>
              <a:t>11/11/2025</a:t>
            </a:fld>
            <a:endParaRPr lang="en-US" dirty="0"/>
          </a:p>
        </p:txBody>
      </p:sp>
      <p:sp>
        <p:nvSpPr>
          <p:cNvPr id="5" name="Footer Placeholder 4">
            <a:extLst>
              <a:ext uri="{FF2B5EF4-FFF2-40B4-BE49-F238E27FC236}">
                <a16:creationId xmlns:a16="http://schemas.microsoft.com/office/drawing/2014/main" id="{AC293CAC-3170-C993-33AF-CF149D8D1F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CC1950-80AC-BCAD-6DD8-099CB4EB2DE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072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1"/>
            <a:ext cx="11234737" cy="5397404"/>
          </a:xfrm>
        </p:spPr>
        <p:txBody>
          <a:bodyPr/>
          <a:lstStyle>
            <a:lvl1pPr>
              <a:defRPr>
                <a:latin typeface="Cambria" panose="02040503050406030204" pitchFamily="18" charset="0"/>
                <a:ea typeface="Cambria" panose="02040503050406030204" pitchFamily="18" charset="0"/>
                <a:cs typeface="Times New Roman" panose="02020603050405020304" pitchFamily="18" charset="0"/>
              </a:defRPr>
            </a:lvl1pPr>
          </a:lstStyle>
          <a:p>
            <a:pPr lvl="0"/>
            <a:endParaRPr lang="en-US"/>
          </a:p>
        </p:txBody>
      </p:sp>
      <p:sp>
        <p:nvSpPr>
          <p:cNvPr id="5" name="Rectangle: Rounded Corners 3">
            <a:extLst>
              <a:ext uri="{FF2B5EF4-FFF2-40B4-BE49-F238E27FC236}">
                <a16:creationId xmlns:a16="http://schemas.microsoft.com/office/drawing/2014/main" id="{9F3403E1-F657-927A-94DB-C64E7369A5E4}"/>
              </a:ext>
            </a:extLst>
          </p:cNvPr>
          <p:cNvSpPr/>
          <p:nvPr userDrawn="1"/>
        </p:nvSpPr>
        <p:spPr>
          <a:xfrm>
            <a:off x="347665" y="6476290"/>
            <a:ext cx="11234736" cy="45719"/>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userDrawn="1"/>
        </p:nvSpPr>
        <p:spPr>
          <a:xfrm>
            <a:off x="11134166" y="6499149"/>
            <a:ext cx="475130" cy="369332"/>
          </a:xfrm>
          <a:prstGeom prst="rect">
            <a:avLst/>
          </a:prstGeom>
          <a:solidFill>
            <a:srgbClr val="002060"/>
          </a:solidFill>
        </p:spPr>
        <p:txBody>
          <a:bodyPr wrap="square" rtlCol="0">
            <a:spAutoFit/>
          </a:bodyPr>
          <a:lstStyle/>
          <a:p>
            <a:fld id="{67037DFD-7A2B-4512-A492-6059EDE34B73}" type="slidenum">
              <a:rPr lang="en-US" smtClean="0">
                <a:solidFill>
                  <a:schemeClr val="bg1"/>
                </a:solidFill>
              </a:rPr>
              <a:t>‹#›</a:t>
            </a:fld>
            <a:endParaRPr lang="en-US">
              <a:solidFill>
                <a:schemeClr val="bg1"/>
              </a:solidFill>
            </a:endParaRPr>
          </a:p>
        </p:txBody>
      </p:sp>
      <p:pic>
        <p:nvPicPr>
          <p:cNvPr id="3" name="Picture 2"/>
          <p:cNvPicPr>
            <a:picLocks noChangeAspect="1"/>
          </p:cNvPicPr>
          <p:nvPr userDrawn="1"/>
        </p:nvPicPr>
        <p:blipFill>
          <a:blip r:embed="rId2"/>
          <a:stretch>
            <a:fillRect/>
          </a:stretch>
        </p:blipFill>
        <p:spPr>
          <a:xfrm rot="10800000">
            <a:off x="0" y="4039"/>
            <a:ext cx="12192000" cy="564919"/>
          </a:xfrm>
          <a:prstGeom prst="rect">
            <a:avLst/>
          </a:prstGeom>
        </p:spPr>
      </p:pic>
      <p:sp>
        <p:nvSpPr>
          <p:cNvPr id="12" name="Title 11"/>
          <p:cNvSpPr>
            <a:spLocks noGrp="1"/>
          </p:cNvSpPr>
          <p:nvPr>
            <p:ph type="title"/>
          </p:nvPr>
        </p:nvSpPr>
        <p:spPr>
          <a:xfrm>
            <a:off x="347665" y="-10356"/>
            <a:ext cx="11498895" cy="638484"/>
          </a:xfrm>
        </p:spPr>
        <p:txBody>
          <a:bodyPr>
            <a:normAutofit/>
          </a:bodyPr>
          <a:lstStyle>
            <a:lvl1pPr>
              <a:defRPr sz="3000">
                <a:solidFill>
                  <a:schemeClr val="bg1"/>
                </a:solidFill>
                <a:latin typeface="Cambria" panose="02040503050406030204" pitchFamily="18" charset="0"/>
                <a:ea typeface="Cambria" panose="02040503050406030204" pitchFamily="18" charset="0"/>
              </a:defRPr>
            </a:lvl1pPr>
          </a:lstStyle>
          <a:p>
            <a:r>
              <a:rPr lang="en-US" smtClean="0"/>
              <a:t>Click to edit Master title style</a:t>
            </a:r>
            <a:endParaRPr lang="en-US"/>
          </a:p>
        </p:txBody>
      </p:sp>
    </p:spTree>
    <p:extLst>
      <p:ext uri="{BB962C8B-B14F-4D97-AF65-F5344CB8AC3E}">
        <p14:creationId xmlns:p14="http://schemas.microsoft.com/office/powerpoint/2010/main" val="107302522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5" y="145145"/>
            <a:ext cx="7380609"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2. Các công trình nghiên cứu liên quan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53505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4961880"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3. Cơ sở lý thuyết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70906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7155545"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4. Phương pháp đề xuất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50940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8589784"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6. Kết luận và hướng phát triển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866414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5302348"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5. Kết quả và thảo luận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769744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20400" y="2630967"/>
            <a:ext cx="5162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19" name="Google Shape;19;p4"/>
          <p:cNvSpPr txBox="1">
            <a:spLocks noGrp="1"/>
          </p:cNvSpPr>
          <p:nvPr>
            <p:ph type="subTitle" idx="1"/>
          </p:nvPr>
        </p:nvSpPr>
        <p:spPr>
          <a:xfrm>
            <a:off x="6420400" y="3427433"/>
            <a:ext cx="5162000" cy="1206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867"/>
            </a:lvl1pPr>
            <a:lvl2pPr lvl="1" algn="ctr">
              <a:spcBef>
                <a:spcPts val="2133"/>
              </a:spcBef>
              <a:spcAft>
                <a:spcPts val="0"/>
              </a:spcAft>
              <a:buSzPts val="1400"/>
              <a:buNone/>
              <a:defRPr/>
            </a:lvl2pPr>
            <a:lvl3pPr lvl="2" algn="ctr">
              <a:spcBef>
                <a:spcPts val="2133"/>
              </a:spcBef>
              <a:spcAft>
                <a:spcPts val="0"/>
              </a:spcAft>
              <a:buSzPts val="1400"/>
              <a:buNone/>
              <a:defRPr/>
            </a:lvl3pPr>
            <a:lvl4pPr lvl="3" algn="ctr">
              <a:spcBef>
                <a:spcPts val="2133"/>
              </a:spcBef>
              <a:spcAft>
                <a:spcPts val="0"/>
              </a:spcAft>
              <a:buSzPts val="1400"/>
              <a:buNone/>
              <a:defRPr/>
            </a:lvl4pPr>
            <a:lvl5pPr lvl="4" algn="ctr">
              <a:spcBef>
                <a:spcPts val="2133"/>
              </a:spcBef>
              <a:spcAft>
                <a:spcPts val="0"/>
              </a:spcAft>
              <a:buSzPts val="1400"/>
              <a:buNone/>
              <a:defRPr/>
            </a:lvl5pPr>
            <a:lvl6pPr lvl="5" algn="ctr">
              <a:spcBef>
                <a:spcPts val="2133"/>
              </a:spcBef>
              <a:spcAft>
                <a:spcPts val="0"/>
              </a:spcAft>
              <a:buSzPts val="1400"/>
              <a:buNone/>
              <a:defRPr/>
            </a:lvl6pPr>
            <a:lvl7pPr lvl="6" algn="ctr">
              <a:spcBef>
                <a:spcPts val="2133"/>
              </a:spcBef>
              <a:spcAft>
                <a:spcPts val="0"/>
              </a:spcAft>
              <a:buSzPts val="1400"/>
              <a:buNone/>
              <a:defRPr/>
            </a:lvl7pPr>
            <a:lvl8pPr lvl="7" algn="ctr">
              <a:spcBef>
                <a:spcPts val="2133"/>
              </a:spcBef>
              <a:spcAft>
                <a:spcPts val="0"/>
              </a:spcAft>
              <a:buSzPts val="1400"/>
              <a:buNone/>
              <a:defRPr/>
            </a:lvl8pPr>
            <a:lvl9pPr lvl="8" algn="ctr">
              <a:spcBef>
                <a:spcPts val="2133"/>
              </a:spcBef>
              <a:spcAft>
                <a:spcPts val="2133"/>
              </a:spcAft>
              <a:buSzPts val="1400"/>
              <a:buNone/>
              <a:defRPr/>
            </a:lvl9pPr>
          </a:lstStyle>
          <a:p>
            <a:endParaRPr/>
          </a:p>
        </p:txBody>
      </p:sp>
    </p:spTree>
    <p:extLst>
      <p:ext uri="{BB962C8B-B14F-4D97-AF65-F5344CB8AC3E}">
        <p14:creationId xmlns:p14="http://schemas.microsoft.com/office/powerpoint/2010/main" val="4068464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 name="Google Shape;30;p6"/>
          <p:cNvSpPr txBox="1">
            <a:spLocks noGrp="1"/>
          </p:cNvSpPr>
          <p:nvPr>
            <p:ph type="sldNum" idx="12"/>
          </p:nvPr>
        </p:nvSpPr>
        <p:spPr>
          <a:xfrm>
            <a:off x="11281345" y="6208524"/>
            <a:ext cx="731600" cy="524800"/>
          </a:xfrm>
          <a:prstGeom prst="rect">
            <a:avLst/>
          </a:prstGeom>
          <a:noFill/>
          <a:ln>
            <a:noFill/>
          </a:ln>
        </p:spPr>
        <p:txBody>
          <a:bodyPr spcFirstLastPara="1" wrap="square" lIns="91425" tIns="91425" rIns="91425" bIns="91425" anchor="ctr" anchorCtr="0">
            <a:noAutofit/>
          </a:bodyPr>
          <a:lstStyle>
            <a:lvl1pPr lvl="0">
              <a:buNone/>
              <a:defRPr sz="1600" b="1">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65359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03737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of Contents ">
  <p:cSld name="Table of Contents ">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609600" y="593367"/>
            <a:ext cx="10972800" cy="6460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spcBef>
                <a:spcPts val="0"/>
              </a:spcBef>
              <a:spcAft>
                <a:spcPts val="0"/>
              </a:spcAft>
              <a:buSzPts val="3000"/>
              <a:buNone/>
              <a:defRPr>
                <a:latin typeface="Ubuntu"/>
                <a:ea typeface="Ubuntu"/>
                <a:cs typeface="Ubuntu"/>
                <a:sym typeface="Ubuntu"/>
              </a:defRPr>
            </a:lvl2pPr>
            <a:lvl3pPr lvl="2">
              <a:spcBef>
                <a:spcPts val="0"/>
              </a:spcBef>
              <a:spcAft>
                <a:spcPts val="0"/>
              </a:spcAft>
              <a:buSzPts val="3000"/>
              <a:buNone/>
              <a:defRPr>
                <a:latin typeface="Ubuntu"/>
                <a:ea typeface="Ubuntu"/>
                <a:cs typeface="Ubuntu"/>
                <a:sym typeface="Ubuntu"/>
              </a:defRPr>
            </a:lvl3pPr>
            <a:lvl4pPr lvl="3">
              <a:spcBef>
                <a:spcPts val="0"/>
              </a:spcBef>
              <a:spcAft>
                <a:spcPts val="0"/>
              </a:spcAft>
              <a:buSzPts val="3000"/>
              <a:buNone/>
              <a:defRPr>
                <a:latin typeface="Ubuntu"/>
                <a:ea typeface="Ubuntu"/>
                <a:cs typeface="Ubuntu"/>
                <a:sym typeface="Ubuntu"/>
              </a:defRPr>
            </a:lvl4pPr>
            <a:lvl5pPr lvl="4">
              <a:spcBef>
                <a:spcPts val="0"/>
              </a:spcBef>
              <a:spcAft>
                <a:spcPts val="0"/>
              </a:spcAft>
              <a:buSzPts val="3000"/>
              <a:buNone/>
              <a:defRPr>
                <a:latin typeface="Ubuntu"/>
                <a:ea typeface="Ubuntu"/>
                <a:cs typeface="Ubuntu"/>
                <a:sym typeface="Ubuntu"/>
              </a:defRPr>
            </a:lvl5pPr>
            <a:lvl6pPr lvl="5">
              <a:spcBef>
                <a:spcPts val="0"/>
              </a:spcBef>
              <a:spcAft>
                <a:spcPts val="0"/>
              </a:spcAft>
              <a:buSzPts val="3000"/>
              <a:buNone/>
              <a:defRPr>
                <a:latin typeface="Ubuntu"/>
                <a:ea typeface="Ubuntu"/>
                <a:cs typeface="Ubuntu"/>
                <a:sym typeface="Ubuntu"/>
              </a:defRPr>
            </a:lvl6pPr>
            <a:lvl7pPr lvl="6">
              <a:spcBef>
                <a:spcPts val="0"/>
              </a:spcBef>
              <a:spcAft>
                <a:spcPts val="0"/>
              </a:spcAft>
              <a:buSzPts val="3000"/>
              <a:buNone/>
              <a:defRPr>
                <a:latin typeface="Ubuntu"/>
                <a:ea typeface="Ubuntu"/>
                <a:cs typeface="Ubuntu"/>
                <a:sym typeface="Ubuntu"/>
              </a:defRPr>
            </a:lvl7pPr>
            <a:lvl8pPr lvl="7">
              <a:spcBef>
                <a:spcPts val="0"/>
              </a:spcBef>
              <a:spcAft>
                <a:spcPts val="0"/>
              </a:spcAft>
              <a:buSzPts val="3000"/>
              <a:buNone/>
              <a:defRPr>
                <a:latin typeface="Ubuntu"/>
                <a:ea typeface="Ubuntu"/>
                <a:cs typeface="Ubuntu"/>
                <a:sym typeface="Ubuntu"/>
              </a:defRPr>
            </a:lvl8pPr>
            <a:lvl9pPr lvl="8">
              <a:spcBef>
                <a:spcPts val="0"/>
              </a:spcBef>
              <a:spcAft>
                <a:spcPts val="0"/>
              </a:spcAft>
              <a:buSzPts val="3000"/>
              <a:buNone/>
              <a:defRPr>
                <a:latin typeface="Ubuntu"/>
                <a:ea typeface="Ubuntu"/>
                <a:cs typeface="Ubuntu"/>
                <a:sym typeface="Ubuntu"/>
              </a:defRPr>
            </a:lvl9pPr>
          </a:lstStyle>
          <a:p>
            <a:endParaRPr/>
          </a:p>
        </p:txBody>
      </p:sp>
      <p:sp>
        <p:nvSpPr>
          <p:cNvPr id="61" name="Google Shape;61;p13"/>
          <p:cNvSpPr txBox="1">
            <a:spLocks noGrp="1"/>
          </p:cNvSpPr>
          <p:nvPr>
            <p:ph type="title" idx="2"/>
          </p:nvPr>
        </p:nvSpPr>
        <p:spPr>
          <a:xfrm>
            <a:off x="1493400" y="243686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2" name="Google Shape;62;p13"/>
          <p:cNvSpPr txBox="1">
            <a:spLocks noGrp="1"/>
          </p:cNvSpPr>
          <p:nvPr>
            <p:ph type="subTitle" idx="1"/>
          </p:nvPr>
        </p:nvSpPr>
        <p:spPr>
          <a:xfrm>
            <a:off x="1515400" y="2944337"/>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3" hasCustomPrompt="1"/>
          </p:nvPr>
        </p:nvSpPr>
        <p:spPr>
          <a:xfrm>
            <a:off x="1515400" y="1681369"/>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4" name="Google Shape;64;p13"/>
          <p:cNvSpPr txBox="1">
            <a:spLocks noGrp="1"/>
          </p:cNvSpPr>
          <p:nvPr>
            <p:ph type="title" idx="4"/>
          </p:nvPr>
        </p:nvSpPr>
        <p:spPr>
          <a:xfrm>
            <a:off x="1402233" y="4805333"/>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5" name="Google Shape;65;p13"/>
          <p:cNvSpPr txBox="1">
            <a:spLocks noGrp="1"/>
          </p:cNvSpPr>
          <p:nvPr>
            <p:ph type="subTitle" idx="5"/>
          </p:nvPr>
        </p:nvSpPr>
        <p:spPr>
          <a:xfrm>
            <a:off x="1515400"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 name="Google Shape;66;p13"/>
          <p:cNvSpPr txBox="1">
            <a:spLocks noGrp="1"/>
          </p:cNvSpPr>
          <p:nvPr>
            <p:ph type="title" idx="6" hasCustomPrompt="1"/>
          </p:nvPr>
        </p:nvSpPr>
        <p:spPr>
          <a:xfrm>
            <a:off x="1515400" y="4048375"/>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7" name="Google Shape;67;p13"/>
          <p:cNvSpPr txBox="1">
            <a:spLocks noGrp="1"/>
          </p:cNvSpPr>
          <p:nvPr>
            <p:ph type="title" idx="7"/>
          </p:nvPr>
        </p:nvSpPr>
        <p:spPr>
          <a:xfrm>
            <a:off x="4704967" y="2423233"/>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8" name="Google Shape;68;p13"/>
          <p:cNvSpPr txBox="1">
            <a:spLocks noGrp="1"/>
          </p:cNvSpPr>
          <p:nvPr>
            <p:ph type="subTitle" idx="8"/>
          </p:nvPr>
        </p:nvSpPr>
        <p:spPr>
          <a:xfrm>
            <a:off x="4589769" y="2944337"/>
            <a:ext cx="2986800" cy="85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9" hasCustomPrompt="1"/>
          </p:nvPr>
        </p:nvSpPr>
        <p:spPr>
          <a:xfrm>
            <a:off x="4589769" y="1647267"/>
            <a:ext cx="2986800" cy="9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0" name="Google Shape;70;p13"/>
          <p:cNvSpPr txBox="1">
            <a:spLocks noGrp="1"/>
          </p:cNvSpPr>
          <p:nvPr>
            <p:ph type="title" idx="13"/>
          </p:nvPr>
        </p:nvSpPr>
        <p:spPr>
          <a:xfrm>
            <a:off x="4589769" y="480533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1" name="Google Shape;71;p13"/>
          <p:cNvSpPr txBox="1">
            <a:spLocks noGrp="1"/>
          </p:cNvSpPr>
          <p:nvPr>
            <p:ph type="subTitle" idx="14"/>
          </p:nvPr>
        </p:nvSpPr>
        <p:spPr>
          <a:xfrm>
            <a:off x="4589769"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15" hasCustomPrompt="1"/>
          </p:nvPr>
        </p:nvSpPr>
        <p:spPr>
          <a:xfrm>
            <a:off x="4589769" y="4016067"/>
            <a:ext cx="2986800" cy="8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3" name="Google Shape;73;p13"/>
          <p:cNvSpPr txBox="1">
            <a:spLocks noGrp="1"/>
          </p:cNvSpPr>
          <p:nvPr>
            <p:ph type="title" idx="16"/>
          </p:nvPr>
        </p:nvSpPr>
        <p:spPr>
          <a:xfrm>
            <a:off x="7576567" y="2434900"/>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4" name="Google Shape;74;p13"/>
          <p:cNvSpPr txBox="1">
            <a:spLocks noGrp="1"/>
          </p:cNvSpPr>
          <p:nvPr>
            <p:ph type="subTitle" idx="17"/>
          </p:nvPr>
        </p:nvSpPr>
        <p:spPr>
          <a:xfrm>
            <a:off x="7691936" y="2881703"/>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3"/>
          <p:cNvSpPr txBox="1">
            <a:spLocks noGrp="1"/>
          </p:cNvSpPr>
          <p:nvPr>
            <p:ph type="title" idx="18" hasCustomPrompt="1"/>
          </p:nvPr>
        </p:nvSpPr>
        <p:spPr>
          <a:xfrm>
            <a:off x="7691935" y="1686008"/>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6" name="Google Shape;76;p13"/>
          <p:cNvSpPr txBox="1">
            <a:spLocks noGrp="1"/>
          </p:cNvSpPr>
          <p:nvPr>
            <p:ph type="title" idx="19"/>
          </p:nvPr>
        </p:nvSpPr>
        <p:spPr>
          <a:xfrm>
            <a:off x="7691936" y="4803391"/>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7" name="Google Shape;77;p13"/>
          <p:cNvSpPr txBox="1">
            <a:spLocks noGrp="1"/>
          </p:cNvSpPr>
          <p:nvPr>
            <p:ph type="subTitle" idx="20"/>
          </p:nvPr>
        </p:nvSpPr>
        <p:spPr>
          <a:xfrm>
            <a:off x="7691936" y="5250176"/>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 name="Google Shape;78;p13"/>
          <p:cNvSpPr txBox="1">
            <a:spLocks noGrp="1"/>
          </p:cNvSpPr>
          <p:nvPr>
            <p:ph type="title" idx="21" hasCustomPrompt="1"/>
          </p:nvPr>
        </p:nvSpPr>
        <p:spPr>
          <a:xfrm>
            <a:off x="7691935" y="4052819"/>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9" name="Google Shape;79;p13"/>
          <p:cNvSpPr/>
          <p:nvPr/>
        </p:nvSpPr>
        <p:spPr>
          <a:xfrm>
            <a:off x="2286784"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80;p13"/>
          <p:cNvSpPr/>
          <p:nvPr/>
        </p:nvSpPr>
        <p:spPr>
          <a:xfrm>
            <a:off x="2130018"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13"/>
          <p:cNvSpPr/>
          <p:nvPr/>
        </p:nvSpPr>
        <p:spPr>
          <a:xfrm>
            <a:off x="5204352" y="1560251"/>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13"/>
          <p:cNvSpPr/>
          <p:nvPr/>
        </p:nvSpPr>
        <p:spPr>
          <a:xfrm>
            <a:off x="5408719"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13"/>
          <p:cNvSpPr/>
          <p:nvPr/>
        </p:nvSpPr>
        <p:spPr>
          <a:xfrm>
            <a:off x="8393520"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13"/>
          <p:cNvSpPr/>
          <p:nvPr/>
        </p:nvSpPr>
        <p:spPr>
          <a:xfrm>
            <a:off x="8306520"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58;p12"/>
          <p:cNvSpPr txBox="1">
            <a:spLocks noGrp="1"/>
          </p:cNvSpPr>
          <p:nvPr>
            <p:ph type="sldNum" idx="22"/>
          </p:nvPr>
        </p:nvSpPr>
        <p:spPr>
          <a:xfrm>
            <a:off x="11296611" y="6235820"/>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384318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6420412" y="1719000"/>
            <a:ext cx="5162000" cy="18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53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7" name="Google Shape;197;p33"/>
          <p:cNvSpPr txBox="1">
            <a:spLocks noGrp="1"/>
          </p:cNvSpPr>
          <p:nvPr>
            <p:ph type="subTitle" idx="1"/>
          </p:nvPr>
        </p:nvSpPr>
        <p:spPr>
          <a:xfrm>
            <a:off x="6420400" y="3317221"/>
            <a:ext cx="51620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Tree>
    <p:extLst>
      <p:ext uri="{BB962C8B-B14F-4D97-AF65-F5344CB8AC3E}">
        <p14:creationId xmlns:p14="http://schemas.microsoft.com/office/powerpoint/2010/main" val="26883447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290729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2E368-DA95-4E0E-69B7-070546B7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09E9B9C-DB00-4016-0EAD-39BB7BBD34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02FD6CD-82E8-A568-FEFC-19C346B76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11/11/2025</a:t>
            </a:fld>
            <a:endParaRPr lang="en-US" dirty="0"/>
          </a:p>
        </p:txBody>
      </p:sp>
      <p:sp>
        <p:nvSpPr>
          <p:cNvPr id="5" name="Footer Placeholder 4">
            <a:extLst>
              <a:ext uri="{FF2B5EF4-FFF2-40B4-BE49-F238E27FC236}">
                <a16:creationId xmlns:a16="http://schemas.microsoft.com/office/drawing/2014/main" id="{93C9C013-B326-BD05-156D-A3D6289AFF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9BFB734-D57E-5259-379D-D6F0B8A64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93158113"/>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792" r:id="rId12"/>
    <p:sldLayoutId id="2147483793" r:id="rId13"/>
    <p:sldLayoutId id="2147483794" r:id="rId14"/>
    <p:sldLayoutId id="2147483795" r:id="rId15"/>
    <p:sldLayoutId id="2147483796" r:id="rId16"/>
    <p:sldLayoutId id="214748382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1pPr>
            <a:lvl2pPr lvl="1">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sz="1600" b="1" i="0">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3811400055"/>
      </p:ext>
    </p:extLst>
  </p:cSld>
  <p:clrMap bg1="lt1" tx1="dk1" bg2="dk2" tx2="lt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8.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15.xml"/><Relationship Id="rId16" Type="http://schemas.openxmlformats.org/officeDocument/2006/relationships/image" Target="../media/image43.png"/><Relationship Id="rId1" Type="http://schemas.openxmlformats.org/officeDocument/2006/relationships/slideLayout" Target="../slideLayouts/slideLayout1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072A"/>
            </a:gs>
            <a:gs pos="100000">
              <a:srgbClr val="000000"/>
            </a:gs>
          </a:gsLst>
          <a:lin ang="5400000" scaled="1"/>
        </a:gradFill>
        <a:effectLst/>
      </p:bgPr>
    </p:bg>
    <p:spTree>
      <p:nvGrpSpPr>
        <p:cNvPr id="1" name="Shape 763"/>
        <p:cNvGrpSpPr/>
        <p:nvPr/>
      </p:nvGrpSpPr>
      <p:grpSpPr>
        <a:xfrm>
          <a:off x="0" y="0"/>
          <a:ext cx="0" cy="0"/>
          <a:chOff x="0" y="0"/>
          <a:chExt cx="0" cy="0"/>
        </a:xfrm>
      </p:grpSpPr>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0" y="0"/>
            <a:ext cx="9680971" cy="6858000"/>
          </a:xfrm>
          <a:prstGeom prst="rect">
            <a:avLst/>
          </a:prstGeom>
        </p:spPr>
      </p:pic>
      <p:sp>
        <p:nvSpPr>
          <p:cNvPr id="2" name="Subtitle 1"/>
          <p:cNvSpPr>
            <a:spLocks noGrp="1"/>
          </p:cNvSpPr>
          <p:nvPr>
            <p:ph type="subTitle" idx="1"/>
          </p:nvPr>
        </p:nvSpPr>
        <p:spPr>
          <a:xfrm>
            <a:off x="2451331" y="4321721"/>
            <a:ext cx="7370618" cy="886744"/>
          </a:xfrm>
        </p:spPr>
        <p:txBody>
          <a:bodyPr/>
          <a:lstStyle/>
          <a:p>
            <a:r>
              <a:rPr lang="en-US" b="1">
                <a:solidFill>
                  <a:schemeClr val="accent3">
                    <a:lumMod val="20000"/>
                    <a:lumOff val="80000"/>
                  </a:schemeClr>
                </a:solidFill>
              </a:rPr>
              <a:t>Ho-Dat </a:t>
            </a:r>
            <a:r>
              <a:rPr lang="en-US" b="1" smtClean="0">
                <a:solidFill>
                  <a:schemeClr val="accent3">
                    <a:lumMod val="20000"/>
                    <a:lumOff val="80000"/>
                  </a:schemeClr>
                </a:solidFill>
              </a:rPr>
              <a:t>TRAN, </a:t>
            </a:r>
            <a:r>
              <a:rPr lang="en-US" b="1">
                <a:solidFill>
                  <a:schemeClr val="accent3">
                    <a:lumMod val="20000"/>
                    <a:lumOff val="80000"/>
                  </a:schemeClr>
                </a:solidFill>
              </a:rPr>
              <a:t>Thuong-Cang PHAN</a:t>
            </a:r>
            <a:r>
              <a:rPr lang="en-US" b="1" smtClean="0">
                <a:solidFill>
                  <a:schemeClr val="accent3">
                    <a:lumMod val="20000"/>
                    <a:lumOff val="80000"/>
                  </a:schemeClr>
                </a:solidFill>
              </a:rPr>
              <a:t>, </a:t>
            </a:r>
          </a:p>
          <a:p>
            <a:r>
              <a:rPr lang="en-US" b="1" smtClean="0">
                <a:solidFill>
                  <a:schemeClr val="accent3">
                    <a:lumMod val="20000"/>
                    <a:lumOff val="80000"/>
                  </a:schemeClr>
                </a:solidFill>
              </a:rPr>
              <a:t>Vinh-Phong NGUYEN, Anh-Cang PHAN</a:t>
            </a:r>
            <a:r>
              <a:rPr lang="en-US" b="1" baseline="30000" smtClean="0">
                <a:solidFill>
                  <a:schemeClr val="accent3">
                    <a:lumMod val="20000"/>
                    <a:lumOff val="80000"/>
                  </a:schemeClr>
                </a:solidFill>
                <a:sym typeface="Wingdings" panose="05000000000000000000" pitchFamily="2" charset="2"/>
              </a:rPr>
              <a:t></a:t>
            </a:r>
            <a:r>
              <a:rPr lang="en-US" b="1" smtClean="0">
                <a:solidFill>
                  <a:schemeClr val="accent3">
                    <a:lumMod val="20000"/>
                    <a:lumOff val="80000"/>
                  </a:schemeClr>
                </a:solidFill>
              </a:rPr>
              <a:t> </a:t>
            </a:r>
            <a:endParaRPr lang="en-US" b="1">
              <a:solidFill>
                <a:schemeClr val="accent3">
                  <a:lumMod val="20000"/>
                  <a:lumOff val="80000"/>
                </a:schemeClr>
              </a:solidFill>
            </a:endParaRPr>
          </a:p>
        </p:txBody>
      </p:sp>
      <p:sp>
        <p:nvSpPr>
          <p:cNvPr id="5" name="Google Shape;764;p41"/>
          <p:cNvSpPr txBox="1">
            <a:spLocks/>
          </p:cNvSpPr>
          <p:nvPr/>
        </p:nvSpPr>
        <p:spPr>
          <a:xfrm>
            <a:off x="416561" y="2523134"/>
            <a:ext cx="11003280" cy="15699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3000"/>
              <a:buFont typeface="Montserrat"/>
              <a:buNone/>
              <a:defRPr sz="3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pPr defTabSz="1219170">
              <a:buClr>
                <a:srgbClr val="07105C"/>
              </a:buClr>
            </a:pPr>
            <a:r>
              <a:rPr lang="en-US" sz="3200" kern="0">
                <a:solidFill>
                  <a:srgbClr val="FFFF00"/>
                </a:solidFill>
                <a:latin typeface="Open Sans" panose="020B0606030504020204" pitchFamily="34" charset="0"/>
                <a:ea typeface="Open Sans" panose="020B0606030504020204" pitchFamily="34" charset="0"/>
                <a:cs typeface="Open Sans" panose="020B0606030504020204" pitchFamily="34" charset="0"/>
              </a:rPr>
              <a:t>An Explainable AI-Based Breast </a:t>
            </a:r>
            <a:r>
              <a:rPr lang="en-US" sz="3200" kern="0" smtClean="0">
                <a:solidFill>
                  <a:srgbClr val="FFFF00"/>
                </a:solidFill>
                <a:latin typeface="Open Sans" panose="020B0606030504020204" pitchFamily="34" charset="0"/>
                <a:ea typeface="Open Sans" panose="020B0606030504020204" pitchFamily="34" charset="0"/>
                <a:cs typeface="Open Sans" panose="020B0606030504020204" pitchFamily="34" charset="0"/>
              </a:rPr>
              <a:t>Cancer Classification </a:t>
            </a:r>
            <a:r>
              <a:rPr lang="en-US" sz="3200" kern="0">
                <a:solidFill>
                  <a:srgbClr val="FFFF00"/>
                </a:solidFill>
                <a:latin typeface="Open Sans" panose="020B0606030504020204" pitchFamily="34" charset="0"/>
                <a:ea typeface="Open Sans" panose="020B0606030504020204" pitchFamily="34" charset="0"/>
                <a:cs typeface="Open Sans" panose="020B0606030504020204" pitchFamily="34" charset="0"/>
              </a:rPr>
              <a:t>Combining Rule Sets and </a:t>
            </a:r>
            <a:r>
              <a:rPr lang="en-US" sz="3200" kern="0" smtClean="0">
                <a:solidFill>
                  <a:srgbClr val="FFFF00"/>
                </a:solidFill>
                <a:latin typeface="Open Sans" panose="020B0606030504020204" pitchFamily="34" charset="0"/>
                <a:ea typeface="Open Sans" panose="020B0606030504020204" pitchFamily="34" charset="0"/>
                <a:cs typeface="Open Sans" panose="020B0606030504020204" pitchFamily="34" charset="0"/>
              </a:rPr>
              <a:t>Deep Neural </a:t>
            </a:r>
            <a:r>
              <a:rPr lang="en-US" sz="3200" kern="0">
                <a:solidFill>
                  <a:srgbClr val="FFFF00"/>
                </a:solidFill>
                <a:latin typeface="Open Sans" panose="020B0606030504020204" pitchFamily="34" charset="0"/>
                <a:ea typeface="Open Sans" panose="020B0606030504020204" pitchFamily="34" charset="0"/>
                <a:cs typeface="Open Sans" panose="020B0606030504020204" pitchFamily="34" charset="0"/>
              </a:rPr>
              <a:t>Networks</a:t>
            </a:r>
            <a:endParaRPr lang="en-US" sz="3200" kern="0" dirty="0">
              <a:solidFill>
                <a:srgbClr val="FFFF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ubtitle 1"/>
          <p:cNvSpPr txBox="1">
            <a:spLocks/>
          </p:cNvSpPr>
          <p:nvPr/>
        </p:nvSpPr>
        <p:spPr>
          <a:xfrm>
            <a:off x="-140978" y="6246064"/>
            <a:ext cx="12332977" cy="61193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pPr marL="609585" indent="-457189" defTabSz="1219170">
              <a:buClr>
                <a:srgbClr val="07105C"/>
              </a:buClr>
            </a:pPr>
            <a:r>
              <a:rPr lang="en-US" sz="1867" i="1" kern="0" smtClean="0">
                <a:solidFill>
                  <a:schemeClr val="tx1">
                    <a:lumMod val="10000"/>
                    <a:lumOff val="90000"/>
                  </a:schemeClr>
                </a:solidFill>
              </a:rPr>
              <a:t>Ho Chi Minh, Nov-12-2025</a:t>
            </a:r>
            <a:endParaRPr lang="en-US" sz="1867" i="1" kern="0">
              <a:solidFill>
                <a:schemeClr val="tx1">
                  <a:lumMod val="10000"/>
                  <a:lumOff val="90000"/>
                </a:schemeClr>
              </a:solidFill>
            </a:endParaRPr>
          </a:p>
        </p:txBody>
      </p:sp>
      <p:sp>
        <p:nvSpPr>
          <p:cNvPr id="10" name="Subtitle 1"/>
          <p:cNvSpPr txBox="1">
            <a:spLocks/>
          </p:cNvSpPr>
          <p:nvPr/>
        </p:nvSpPr>
        <p:spPr>
          <a:xfrm>
            <a:off x="0" y="321593"/>
            <a:ext cx="12192000" cy="6119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2133"/>
              </a:spcBef>
              <a:spcAft>
                <a:spcPts val="2133"/>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9pPr>
          </a:lstStyle>
          <a:p>
            <a:r>
              <a:rPr lang="en-US" sz="2600" b="1" kern="0">
                <a:solidFill>
                  <a:schemeClr val="bg1"/>
                </a:solidFill>
              </a:rPr>
              <a:t>17th International Conference on Computational Collective Intelligence</a:t>
            </a:r>
          </a:p>
        </p:txBody>
      </p:sp>
      <p:sp>
        <p:nvSpPr>
          <p:cNvPr id="8" name="AutoShape 2" descr="http://localhost/wordpress/wp-content/uploads/2025/02/scopus.png"/>
          <p:cNvSpPr>
            <a:spLocks noChangeAspect="1" noChangeArrowheads="1"/>
          </p:cNvSpPr>
          <p:nvPr/>
        </p:nvSpPr>
        <p:spPr bwMode="auto">
          <a:xfrm>
            <a:off x="155575" y="-457200"/>
            <a:ext cx="3028950" cy="95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ELTE"/>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3041826" y="1170107"/>
            <a:ext cx="664936" cy="66493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5"/>
          <a:stretch>
            <a:fillRect/>
          </a:stretch>
        </p:blipFill>
        <p:spPr>
          <a:xfrm>
            <a:off x="3851587" y="1255121"/>
            <a:ext cx="2694927" cy="555555"/>
          </a:xfrm>
          <a:prstGeom prst="rect">
            <a:avLst/>
          </a:prstGeom>
        </p:spPr>
      </p:pic>
      <p:pic>
        <p:nvPicPr>
          <p:cNvPr id="1028" name="Picture 4" descr="Springer"/>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6691339" y="1255121"/>
            <a:ext cx="1683973" cy="555555"/>
          </a:xfrm>
          <a:prstGeom prst="rect">
            <a:avLst/>
          </a:prstGeom>
          <a:solidFill>
            <a:schemeClr val="lt1"/>
          </a:solidFill>
          <a:extLst/>
        </p:spPr>
      </p:pic>
    </p:spTree>
    <p:extLst>
      <p:ext uri="{BB962C8B-B14F-4D97-AF65-F5344CB8AC3E}">
        <p14:creationId xmlns:p14="http://schemas.microsoft.com/office/powerpoint/2010/main" val="4268509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0"/>
            <p:extLst>
              <p:ext uri="{D42A27DB-BD31-4B8C-83A1-F6EECF244321}">
                <p14:modId xmlns:p14="http://schemas.microsoft.com/office/powerpoint/2010/main" val="2922396422"/>
              </p:ext>
            </p:extLst>
          </p:nvPr>
        </p:nvGraphicFramePr>
        <p:xfrm>
          <a:off x="416859" y="1213168"/>
          <a:ext cx="11136710" cy="4261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p:txBody>
          <a:bodyPr/>
          <a:lstStyle/>
          <a:p>
            <a:r>
              <a:rPr lang="en-US" smtClean="0"/>
              <a:t>CONTENT</a:t>
            </a:r>
            <a:endParaRPr lang="en-US"/>
          </a:p>
        </p:txBody>
      </p:sp>
    </p:spTree>
    <p:extLst>
      <p:ext uri="{BB962C8B-B14F-4D97-AF65-F5344CB8AC3E}">
        <p14:creationId xmlns:p14="http://schemas.microsoft.com/office/powerpoint/2010/main" val="3587800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sp>
        <p:nvSpPr>
          <p:cNvPr id="7" name="Text Placeholder 3">
            <a:extLst>
              <a:ext uri="{FF2B5EF4-FFF2-40B4-BE49-F238E27FC236}">
                <a16:creationId xmlns:a16="http://schemas.microsoft.com/office/drawing/2014/main" id="{3566F4D3-DCF0-21B4-78C8-7C68967D3402}"/>
              </a:ext>
            </a:extLst>
          </p:cNvPr>
          <p:cNvSpPr txBox="1">
            <a:spLocks/>
          </p:cNvSpPr>
          <p:nvPr/>
        </p:nvSpPr>
        <p:spPr>
          <a:xfrm>
            <a:off x="416858" y="1303590"/>
            <a:ext cx="11283950" cy="1641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mtClean="0"/>
              <a:t>Breast cancer is one of the most common cancers affecting women worldwide.</a:t>
            </a:r>
          </a:p>
          <a:p>
            <a:pPr algn="just"/>
            <a:r>
              <a:rPr lang="en-US" smtClean="0"/>
              <a:t>Early detection and accurate staging of breast cancer can significantly improve survival rates and quality of life for patients.</a:t>
            </a:r>
            <a:endParaRPr lang="en-US"/>
          </a:p>
        </p:txBody>
      </p:sp>
      <p:sp>
        <p:nvSpPr>
          <p:cNvPr id="8" name="Text Placeholder 3">
            <a:extLst>
              <a:ext uri="{FF2B5EF4-FFF2-40B4-BE49-F238E27FC236}">
                <a16:creationId xmlns:a16="http://schemas.microsoft.com/office/drawing/2014/main" id="{BA70E0D6-5866-D359-1561-35D9D396DE6F}"/>
              </a:ext>
            </a:extLst>
          </p:cNvPr>
          <p:cNvSpPr txBox="1">
            <a:spLocks/>
          </p:cNvSpPr>
          <p:nvPr/>
        </p:nvSpPr>
        <p:spPr>
          <a:xfrm>
            <a:off x="1108750" y="6072774"/>
            <a:ext cx="9974500" cy="3651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600">
                <a:solidFill>
                  <a:schemeClr val="tx1"/>
                </a:solidFill>
              </a:rPr>
              <a:t>Fig 1. Images on 2 views a) RMLO b) LMLO c) RCC d) LCC with the mass location localized in </a:t>
            </a:r>
            <a:r>
              <a:rPr lang="en-US" sz="1600" smtClean="0">
                <a:solidFill>
                  <a:schemeClr val="tx1"/>
                </a:solidFill>
              </a:rPr>
              <a:t>images </a:t>
            </a:r>
            <a:r>
              <a:rPr lang="en-US" sz="1600">
                <a:solidFill>
                  <a:schemeClr val="tx1"/>
                </a:solidFill>
              </a:rPr>
              <a:t>a) and c)</a:t>
            </a:r>
          </a:p>
        </p:txBody>
      </p:sp>
      <p:sp>
        <p:nvSpPr>
          <p:cNvPr id="9" name="Text Placeholder 2">
            <a:extLst>
              <a:ext uri="{FF2B5EF4-FFF2-40B4-BE49-F238E27FC236}">
                <a16:creationId xmlns:a16="http://schemas.microsoft.com/office/drawing/2014/main" id="{C6EBFF3D-01F7-94FA-CA6D-6914A5A5A030}"/>
              </a:ext>
            </a:extLst>
          </p:cNvPr>
          <p:cNvSpPr txBox="1">
            <a:spLocks/>
          </p:cNvSpPr>
          <p:nvPr/>
        </p:nvSpPr>
        <p:spPr>
          <a:xfrm>
            <a:off x="440296" y="849800"/>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pic>
        <p:nvPicPr>
          <p:cNvPr id="10" name="Picture 9">
            <a:extLst>
              <a:ext uri="{FF2B5EF4-FFF2-40B4-BE49-F238E27FC236}">
                <a16:creationId xmlns:a16="http://schemas.microsoft.com/office/drawing/2014/main" id="{DC42A336-B1F2-CC32-E162-5761E3E50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6575" y="3253725"/>
            <a:ext cx="4416166" cy="2683798"/>
          </a:xfrm>
          <a:prstGeom prst="rect">
            <a:avLst/>
          </a:prstGeom>
        </p:spPr>
      </p:pic>
    </p:spTree>
    <p:extLst>
      <p:ext uri="{BB962C8B-B14F-4D97-AF65-F5344CB8AC3E}">
        <p14:creationId xmlns:p14="http://schemas.microsoft.com/office/powerpoint/2010/main" val="400702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sp>
        <p:nvSpPr>
          <p:cNvPr id="6" name="TextBox 5"/>
          <p:cNvSpPr txBox="1"/>
          <p:nvPr/>
        </p:nvSpPr>
        <p:spPr>
          <a:xfrm>
            <a:off x="1" y="6133186"/>
            <a:ext cx="8534400" cy="369332"/>
          </a:xfrm>
          <a:prstGeom prst="rect">
            <a:avLst/>
          </a:prstGeom>
          <a:noFill/>
        </p:spPr>
        <p:txBody>
          <a:bodyPr wrap="square" rtlCol="0">
            <a:spAutoFit/>
          </a:bodyPr>
          <a:lstStyle/>
          <a:p>
            <a:pPr algn="ctr"/>
            <a:r>
              <a:rPr lang="en-US">
                <a:latin typeface="Cambria" panose="02040503050406030204" pitchFamily="18" charset="0"/>
                <a:ea typeface="Cambria" panose="02040503050406030204" pitchFamily="18" charset="0"/>
              </a:rPr>
              <a:t>Fig 2. </a:t>
            </a:r>
            <a:r>
              <a:rPr lang="en-US" smtClean="0">
                <a:latin typeface="Cambria" panose="02040503050406030204" pitchFamily="18" charset="0"/>
                <a:ea typeface="Cambria" panose="02040503050406030204" pitchFamily="18" charset="0"/>
              </a:rPr>
              <a:t>Global Cancer statistics</a:t>
            </a:r>
            <a:endParaRPr lang="en-US">
              <a:latin typeface="Cambria" panose="02040503050406030204" pitchFamily="18" charset="0"/>
              <a:ea typeface="Cambria" panose="02040503050406030204" pitchFamily="18" charset="0"/>
            </a:endParaRPr>
          </a:p>
        </p:txBody>
      </p:sp>
      <p:sp>
        <p:nvSpPr>
          <p:cNvPr id="7" name="Text Placeholder 3"/>
          <p:cNvSpPr txBox="1">
            <a:spLocks/>
          </p:cNvSpPr>
          <p:nvPr/>
        </p:nvSpPr>
        <p:spPr>
          <a:xfrm>
            <a:off x="347665" y="1000964"/>
            <a:ext cx="11459646" cy="1088145"/>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mtClean="0"/>
              <a:t>Breast cancer (BC) predicted has affected 2.3 million women worldwide in 2020, with 685,000 fatalities. Breast cancer had been detected in 7.8 million females in the previous five years as of 2020, making it the most common cancer on the planet. It causes more disability adjusted life years (DALYs) in women worldwidethan any other form of cancer[1].</a:t>
            </a:r>
            <a:endParaRPr lang="en-US"/>
          </a:p>
        </p:txBody>
      </p:sp>
      <p:sp>
        <p:nvSpPr>
          <p:cNvPr id="8" name="Text Placeholder 2">
            <a:extLst>
              <a:ext uri="{FF2B5EF4-FFF2-40B4-BE49-F238E27FC236}">
                <a16:creationId xmlns:a16="http://schemas.microsoft.com/office/drawing/2014/main" id="{7FAB9184-9F82-0A15-9420-C7CB676F04E4}"/>
              </a:ext>
            </a:extLst>
          </p:cNvPr>
          <p:cNvSpPr txBox="1">
            <a:spLocks/>
          </p:cNvSpPr>
          <p:nvPr/>
        </p:nvSpPr>
        <p:spPr>
          <a:xfrm>
            <a:off x="267576" y="59054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a:solidFill>
                  <a:srgbClr val="C00000"/>
                </a:solidFill>
              </a:rPr>
              <a:t>Challenges</a:t>
            </a:r>
          </a:p>
        </p:txBody>
      </p:sp>
      <p:pic>
        <p:nvPicPr>
          <p:cNvPr id="1028" name="Picture 4" descr="Global Cancer Observatory (GCO) on X"/>
          <p:cNvPicPr>
            <a:picLocks noChangeAspect="1" noChangeArrowheads="1"/>
          </p:cNvPicPr>
          <p:nvPr/>
        </p:nvPicPr>
        <p:blipFill rotWithShape="1">
          <a:blip r:embed="rId3">
            <a:extLst>
              <a:ext uri="{28A0092B-C50C-407E-A947-70E740481C1C}">
                <a14:useLocalDpi xmlns:a14="http://schemas.microsoft.com/office/drawing/2010/main" val="0"/>
              </a:ext>
            </a:extLst>
          </a:blip>
          <a:srcRect t="23542" b="2140"/>
          <a:stretch/>
        </p:blipFill>
        <p:spPr bwMode="auto">
          <a:xfrm>
            <a:off x="0" y="2321719"/>
            <a:ext cx="8357419" cy="349372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4"/>
          <a:stretch>
            <a:fillRect/>
          </a:stretch>
        </p:blipFill>
        <p:spPr>
          <a:xfrm>
            <a:off x="8357419" y="3042604"/>
            <a:ext cx="3637936" cy="2340421"/>
          </a:xfrm>
          <a:prstGeom prst="rect">
            <a:avLst/>
          </a:prstGeom>
        </p:spPr>
      </p:pic>
      <p:sp>
        <p:nvSpPr>
          <p:cNvPr id="11" name="TextBox 10"/>
          <p:cNvSpPr txBox="1"/>
          <p:nvPr/>
        </p:nvSpPr>
        <p:spPr>
          <a:xfrm>
            <a:off x="9209131" y="5431033"/>
            <a:ext cx="2598180" cy="784830"/>
          </a:xfrm>
          <a:prstGeom prst="rect">
            <a:avLst/>
          </a:prstGeom>
          <a:noFill/>
        </p:spPr>
        <p:txBody>
          <a:bodyPr wrap="square" rtlCol="0">
            <a:spAutoFit/>
          </a:bodyPr>
          <a:lstStyle/>
          <a:p>
            <a:pPr algn="ctr"/>
            <a:r>
              <a:rPr lang="en-US" sz="1500">
                <a:latin typeface="Cambria" panose="02040503050406030204" pitchFamily="18" charset="0"/>
                <a:ea typeface="Cambria" panose="02040503050406030204" pitchFamily="18" charset="0"/>
              </a:rPr>
              <a:t>The number of new cancer cases in 2020 among women in Vietnam</a:t>
            </a:r>
            <a:endParaRPr lang="en-US" sz="15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22702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Introduction</a:t>
            </a:r>
          </a:p>
        </p:txBody>
      </p:sp>
      <p:sp>
        <p:nvSpPr>
          <p:cNvPr id="4" name="Freeform: Shape 6">
            <a:extLst>
              <a:ext uri="{FF2B5EF4-FFF2-40B4-BE49-F238E27FC236}">
                <a16:creationId xmlns:a16="http://schemas.microsoft.com/office/drawing/2014/main" id="{73376055-55FE-412B-65E9-9C0166160F17}"/>
              </a:ext>
            </a:extLst>
          </p:cNvPr>
          <p:cNvSpPr/>
          <p:nvPr/>
        </p:nvSpPr>
        <p:spPr>
          <a:xfrm>
            <a:off x="3682297" y="2678396"/>
            <a:ext cx="2724470" cy="2359422"/>
          </a:xfrm>
          <a:custGeom>
            <a:avLst/>
            <a:gdLst>
              <a:gd name="connsiteX0" fmla="*/ 2147452 w 2863388"/>
              <a:gd name="connsiteY0" fmla="*/ 0 h 2479727"/>
              <a:gd name="connsiteX1" fmla="*/ 715817 w 2863388"/>
              <a:gd name="connsiteY1" fmla="*/ 0 h 2479727"/>
              <a:gd name="connsiteX2" fmla="*/ 0 w 2863388"/>
              <a:gd name="connsiteY2" fmla="*/ 1239804 h 2479727"/>
              <a:gd name="connsiteX3" fmla="*/ 715817 w 2863388"/>
              <a:gd name="connsiteY3" fmla="*/ 2479728 h 2479727"/>
              <a:gd name="connsiteX4" fmla="*/ 2147452 w 2863388"/>
              <a:gd name="connsiteY4" fmla="*/ 2479728 h 2479727"/>
              <a:gd name="connsiteX5" fmla="*/ 2863389 w 2863388"/>
              <a:gd name="connsiteY5" fmla="*/ 1239804 h 2479727"/>
              <a:gd name="connsiteX6" fmla="*/ 2147452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2147452" y="0"/>
                </a:moveTo>
                <a:lnTo>
                  <a:pt x="715817" y="0"/>
                </a:lnTo>
                <a:lnTo>
                  <a:pt x="0" y="1239804"/>
                </a:lnTo>
                <a:lnTo>
                  <a:pt x="715817" y="2479728"/>
                </a:lnTo>
                <a:lnTo>
                  <a:pt x="2147452" y="2479728"/>
                </a:lnTo>
                <a:lnTo>
                  <a:pt x="2863389" y="1239804"/>
                </a:lnTo>
                <a:lnTo>
                  <a:pt x="2147452" y="0"/>
                </a:lnTo>
                <a:close/>
              </a:path>
            </a:pathLst>
          </a:custGeom>
          <a:gradFill>
            <a:gsLst>
              <a:gs pos="0">
                <a:srgbClr val="5FB7A2">
                  <a:lumMod val="75000"/>
                </a:srgbClr>
              </a:gs>
              <a:gs pos="100000">
                <a:srgbClr val="5FB7A2"/>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5" name="Freeform: Shape 8">
            <a:extLst>
              <a:ext uri="{FF2B5EF4-FFF2-40B4-BE49-F238E27FC236}">
                <a16:creationId xmlns:a16="http://schemas.microsoft.com/office/drawing/2014/main" id="{6CBBA946-F3B2-E57F-478F-BBDF0E578D52}"/>
              </a:ext>
            </a:extLst>
          </p:cNvPr>
          <p:cNvSpPr/>
          <p:nvPr/>
        </p:nvSpPr>
        <p:spPr>
          <a:xfrm>
            <a:off x="5782057" y="1462896"/>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924 h 2479727"/>
              <a:gd name="connsiteX3" fmla="*/ 2147572 w 2863388"/>
              <a:gd name="connsiteY3" fmla="*/ 2479728 h 2479727"/>
              <a:gd name="connsiteX4" fmla="*/ 715937 w 2863388"/>
              <a:gd name="connsiteY4" fmla="*/ 2479728 h 2479727"/>
              <a:gd name="connsiteX5" fmla="*/ 0 w 2863388"/>
              <a:gd name="connsiteY5" fmla="*/ 123992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924"/>
                </a:lnTo>
                <a:lnTo>
                  <a:pt x="2147572" y="2479728"/>
                </a:lnTo>
                <a:lnTo>
                  <a:pt x="715937" y="2479728"/>
                </a:lnTo>
                <a:lnTo>
                  <a:pt x="0" y="1239924"/>
                </a:lnTo>
                <a:lnTo>
                  <a:pt x="715937" y="0"/>
                </a:lnTo>
                <a:close/>
              </a:path>
            </a:pathLst>
          </a:custGeom>
          <a:gradFill>
            <a:gsLst>
              <a:gs pos="0">
                <a:srgbClr val="E35A35">
                  <a:lumMod val="75000"/>
                </a:srgbClr>
              </a:gs>
              <a:gs pos="100000">
                <a:srgbClr val="E35A35"/>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6" name="Freeform: Shape 10">
            <a:extLst>
              <a:ext uri="{FF2B5EF4-FFF2-40B4-BE49-F238E27FC236}">
                <a16:creationId xmlns:a16="http://schemas.microsoft.com/office/drawing/2014/main" id="{E194C910-DF3A-D00E-1F01-74BDF1BEBDD1}"/>
              </a:ext>
            </a:extLst>
          </p:cNvPr>
          <p:cNvSpPr/>
          <p:nvPr/>
        </p:nvSpPr>
        <p:spPr>
          <a:xfrm>
            <a:off x="5782057" y="3893784"/>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804 h 2479727"/>
              <a:gd name="connsiteX3" fmla="*/ 2147572 w 2863388"/>
              <a:gd name="connsiteY3" fmla="*/ 2479728 h 2479727"/>
              <a:gd name="connsiteX4" fmla="*/ 715937 w 2863388"/>
              <a:gd name="connsiteY4" fmla="*/ 2479728 h 2479727"/>
              <a:gd name="connsiteX5" fmla="*/ 0 w 2863388"/>
              <a:gd name="connsiteY5" fmla="*/ 123980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804"/>
                </a:lnTo>
                <a:lnTo>
                  <a:pt x="2147572" y="2479728"/>
                </a:lnTo>
                <a:lnTo>
                  <a:pt x="715937" y="2479728"/>
                </a:lnTo>
                <a:lnTo>
                  <a:pt x="0" y="1239804"/>
                </a:lnTo>
                <a:lnTo>
                  <a:pt x="715937" y="0"/>
                </a:lnTo>
                <a:close/>
              </a:path>
            </a:pathLst>
          </a:custGeom>
          <a:gradFill>
            <a:gsLst>
              <a:gs pos="0">
                <a:srgbClr val="3081AC">
                  <a:lumMod val="75000"/>
                </a:srgbClr>
              </a:gs>
              <a:gs pos="100000">
                <a:srgbClr val="3081AC"/>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7" name="Group 6">
            <a:extLst>
              <a:ext uri="{FF2B5EF4-FFF2-40B4-BE49-F238E27FC236}">
                <a16:creationId xmlns:a16="http://schemas.microsoft.com/office/drawing/2014/main" id="{C3C221D3-13F6-F34D-5030-EFA718B22469}"/>
              </a:ext>
            </a:extLst>
          </p:cNvPr>
          <p:cNvGrpSpPr/>
          <p:nvPr/>
        </p:nvGrpSpPr>
        <p:grpSpPr>
          <a:xfrm>
            <a:off x="6102599" y="4279364"/>
            <a:ext cx="5138268" cy="1825667"/>
            <a:chOff x="6102599" y="4279364"/>
            <a:chExt cx="5138268" cy="1825667"/>
          </a:xfrm>
        </p:grpSpPr>
        <p:sp>
          <p:nvSpPr>
            <p:cNvPr id="8" name="Freeform: Shape 15">
              <a:extLst>
                <a:ext uri="{FF2B5EF4-FFF2-40B4-BE49-F238E27FC236}">
                  <a16:creationId xmlns:a16="http://schemas.microsoft.com/office/drawing/2014/main" id="{81BFC488-FF31-32FC-9639-6813421C1427}"/>
                </a:ext>
              </a:extLst>
            </p:cNvPr>
            <p:cNvSpPr/>
            <p:nvPr/>
          </p:nvSpPr>
          <p:spPr>
            <a:xfrm>
              <a:off x="6102599" y="4419615"/>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9" name="Group 8">
              <a:extLst>
                <a:ext uri="{FF2B5EF4-FFF2-40B4-BE49-F238E27FC236}">
                  <a16:creationId xmlns:a16="http://schemas.microsoft.com/office/drawing/2014/main" id="{19AAC97A-D4A1-1041-71D0-067BA3E4BE11}"/>
                </a:ext>
              </a:extLst>
            </p:cNvPr>
            <p:cNvGrpSpPr/>
            <p:nvPr/>
          </p:nvGrpSpPr>
          <p:grpSpPr>
            <a:xfrm>
              <a:off x="6287656" y="4279364"/>
              <a:ext cx="4953211" cy="1588148"/>
              <a:chOff x="6287656" y="4279364"/>
              <a:chExt cx="4953211" cy="1588148"/>
            </a:xfrm>
          </p:grpSpPr>
          <p:sp>
            <p:nvSpPr>
              <p:cNvPr id="10" name="Freeform: Shape 11">
                <a:extLst>
                  <a:ext uri="{FF2B5EF4-FFF2-40B4-BE49-F238E27FC236}">
                    <a16:creationId xmlns:a16="http://schemas.microsoft.com/office/drawing/2014/main" id="{A86169BC-9CB5-466B-4202-BAF205EAA8E4}"/>
                  </a:ext>
                </a:extLst>
              </p:cNvPr>
              <p:cNvSpPr/>
              <p:nvPr/>
            </p:nvSpPr>
            <p:spPr>
              <a:xfrm>
                <a:off x="6287656" y="4279364"/>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3" name="TextBox 12">
                <a:extLst>
                  <a:ext uri="{FF2B5EF4-FFF2-40B4-BE49-F238E27FC236}">
                    <a16:creationId xmlns:a16="http://schemas.microsoft.com/office/drawing/2014/main" id="{6B903497-ED4F-823C-42CB-8EDB73A7BEB0}"/>
                  </a:ext>
                </a:extLst>
              </p:cNvPr>
              <p:cNvSpPr txBox="1"/>
              <p:nvPr/>
            </p:nvSpPr>
            <p:spPr>
              <a:xfrm>
                <a:off x="7716482" y="4512653"/>
                <a:ext cx="3237766" cy="1121570"/>
              </a:xfrm>
              <a:prstGeom prst="rect">
                <a:avLst/>
              </a:prstGeom>
              <a:noFill/>
            </p:spPr>
            <p:txBody>
              <a:bodyPr wrap="square" lIns="0" tIns="0" rIns="0" bIns="0" rtlCol="0" anchor="ctr">
                <a:noAutofit/>
              </a:bodyPr>
              <a:lstStyle/>
              <a:p>
                <a:pPr lvl="0" defTabSz="1218987"/>
                <a:r>
                  <a:rPr lang="en-US" b="1" kern="0" smtClean="0">
                    <a:solidFill>
                      <a:prstClr val="black">
                        <a:lumMod val="95000"/>
                        <a:lumOff val="5000"/>
                      </a:prstClr>
                    </a:solidFill>
                    <a:latin typeface="Segoe UI"/>
                    <a:ea typeface="Segoe UI Black" panose="020B0A02040204020203" pitchFamily="34" charset="0"/>
                  </a:rPr>
                  <a:t>Using FIS and XAI </a:t>
                </a:r>
                <a:r>
                  <a:rPr lang="en-US" b="1" kern="0">
                    <a:solidFill>
                      <a:prstClr val="black">
                        <a:lumMod val="95000"/>
                        <a:lumOff val="5000"/>
                      </a:prstClr>
                    </a:solidFill>
                    <a:latin typeface="Segoe UI"/>
                    <a:ea typeface="Segoe UI Black" panose="020B0A02040204020203" pitchFamily="34" charset="0"/>
                  </a:rPr>
                  <a:t>to enhance classification efficiency and improve the interpretation of outputs from machine learning models</a:t>
                </a:r>
                <a:endParaRPr lang="en-US" b="1" kern="0" dirty="0">
                  <a:solidFill>
                    <a:prstClr val="black">
                      <a:lumMod val="95000"/>
                      <a:lumOff val="5000"/>
                    </a:prstClr>
                  </a:solidFill>
                  <a:latin typeface="Segoe UI"/>
                  <a:ea typeface="Segoe UI Black" panose="020B0A02040204020203" pitchFamily="34" charset="0"/>
                </a:endParaRPr>
              </a:p>
            </p:txBody>
          </p:sp>
        </p:grpSp>
      </p:grpSp>
      <p:grpSp>
        <p:nvGrpSpPr>
          <p:cNvPr id="15" name="Group 14">
            <a:extLst>
              <a:ext uri="{FF2B5EF4-FFF2-40B4-BE49-F238E27FC236}">
                <a16:creationId xmlns:a16="http://schemas.microsoft.com/office/drawing/2014/main" id="{376DF98B-D7F2-56AE-D18B-FAC8E23999CC}"/>
              </a:ext>
            </a:extLst>
          </p:cNvPr>
          <p:cNvGrpSpPr/>
          <p:nvPr/>
        </p:nvGrpSpPr>
        <p:grpSpPr>
          <a:xfrm>
            <a:off x="762900" y="3063977"/>
            <a:ext cx="5138268" cy="1825667"/>
            <a:chOff x="762900" y="3063977"/>
            <a:chExt cx="5138268" cy="1825667"/>
          </a:xfrm>
        </p:grpSpPr>
        <p:sp>
          <p:nvSpPr>
            <p:cNvPr id="16" name="Freeform: Shape 13">
              <a:extLst>
                <a:ext uri="{FF2B5EF4-FFF2-40B4-BE49-F238E27FC236}">
                  <a16:creationId xmlns:a16="http://schemas.microsoft.com/office/drawing/2014/main" id="{C2215B71-9FB4-ABF7-3F21-F43E6B482D18}"/>
                </a:ext>
              </a:extLst>
            </p:cNvPr>
            <p:cNvSpPr/>
            <p:nvPr/>
          </p:nvSpPr>
          <p:spPr>
            <a:xfrm>
              <a:off x="762900" y="3204228"/>
              <a:ext cx="4953211" cy="1685416"/>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7" name="Freeform: Shape 7">
              <a:extLst>
                <a:ext uri="{FF2B5EF4-FFF2-40B4-BE49-F238E27FC236}">
                  <a16:creationId xmlns:a16="http://schemas.microsoft.com/office/drawing/2014/main" id="{A5B488C9-B71E-BF57-F43D-43FB341A9510}"/>
                </a:ext>
              </a:extLst>
            </p:cNvPr>
            <p:cNvSpPr/>
            <p:nvPr/>
          </p:nvSpPr>
          <p:spPr>
            <a:xfrm>
              <a:off x="947957" y="3063977"/>
              <a:ext cx="4953211" cy="1588148"/>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gradFill flip="none" rotWithShape="1">
              <a:gsLst>
                <a:gs pos="0">
                  <a:sysClr val="window" lastClr="FFFFFF"/>
                </a:gs>
                <a:gs pos="100000">
                  <a:sysClr val="window" lastClr="FFFFFF">
                    <a:lumMod val="95000"/>
                  </a:sysClr>
                </a:gs>
              </a:gsLst>
              <a:lin ang="10800000" scaled="1"/>
              <a:tileRect/>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0" name="TextBox 19">
              <a:extLst>
                <a:ext uri="{FF2B5EF4-FFF2-40B4-BE49-F238E27FC236}">
                  <a16:creationId xmlns:a16="http://schemas.microsoft.com/office/drawing/2014/main" id="{A3350A8D-9C8D-6877-F67A-4D92B29B0353}"/>
                </a:ext>
              </a:extLst>
            </p:cNvPr>
            <p:cNvSpPr txBox="1"/>
            <p:nvPr/>
          </p:nvSpPr>
          <p:spPr>
            <a:xfrm>
              <a:off x="1705980" y="3425135"/>
              <a:ext cx="2495908" cy="994479"/>
            </a:xfrm>
            <a:prstGeom prst="rect">
              <a:avLst/>
            </a:prstGeom>
            <a:noFill/>
          </p:spPr>
          <p:txBody>
            <a:bodyPr wrap="square" lIns="0" tIns="0" rIns="0" bIns="0" rtlCol="0" anchor="ctr">
              <a:noAutofit/>
            </a:bodyPr>
            <a:lstStyle/>
            <a:p>
              <a:pPr lvl="0" algn="r" defTabSz="1218987"/>
              <a:r>
                <a:rPr lang="en-US" b="1" kern="0">
                  <a:solidFill>
                    <a:prstClr val="black">
                      <a:lumMod val="95000"/>
                      <a:lumOff val="5000"/>
                    </a:prstClr>
                  </a:solidFill>
                  <a:latin typeface="Segoe UI"/>
                  <a:ea typeface="Segoe UI Black" panose="020B0A02040204020203" pitchFamily="34" charset="0"/>
                </a:rPr>
                <a:t>Install and experiment with the model, test, evaluate and compare the results.</a:t>
              </a:r>
              <a:endParaRPr lang="en-US" b="1" kern="0" dirty="0">
                <a:solidFill>
                  <a:prstClr val="black">
                    <a:lumMod val="95000"/>
                    <a:lumOff val="5000"/>
                  </a:prstClr>
                </a:solidFill>
                <a:latin typeface="Segoe UI"/>
                <a:ea typeface="Segoe UI Black" panose="020B0A02040204020203" pitchFamily="34" charset="0"/>
              </a:endParaRPr>
            </a:p>
          </p:txBody>
        </p:sp>
        <p:pic>
          <p:nvPicPr>
            <p:cNvPr id="19" name="Graphic 28" descr="Gears outline">
              <a:extLst>
                <a:ext uri="{FF2B5EF4-FFF2-40B4-BE49-F238E27FC236}">
                  <a16:creationId xmlns:a16="http://schemas.microsoft.com/office/drawing/2014/main" id="{4B73FE0E-1DF0-11B1-163B-7A80CF32BAF1}"/>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4556650" y="3479617"/>
              <a:ext cx="756868" cy="756868"/>
            </a:xfrm>
            <a:prstGeom prst="rect">
              <a:avLst/>
            </a:prstGeom>
          </p:spPr>
        </p:pic>
      </p:grpSp>
      <p:grpSp>
        <p:nvGrpSpPr>
          <p:cNvPr id="22" name="Group 21">
            <a:extLst>
              <a:ext uri="{FF2B5EF4-FFF2-40B4-BE49-F238E27FC236}">
                <a16:creationId xmlns:a16="http://schemas.microsoft.com/office/drawing/2014/main" id="{27F430EC-ECD2-7C8D-BA48-E521C43BAA8F}"/>
              </a:ext>
            </a:extLst>
          </p:cNvPr>
          <p:cNvGrpSpPr/>
          <p:nvPr/>
        </p:nvGrpSpPr>
        <p:grpSpPr>
          <a:xfrm>
            <a:off x="6102599" y="1848589"/>
            <a:ext cx="5138268" cy="1825667"/>
            <a:chOff x="6102599" y="1848589"/>
            <a:chExt cx="5138268" cy="1825667"/>
          </a:xfrm>
        </p:grpSpPr>
        <p:sp>
          <p:nvSpPr>
            <p:cNvPr id="23" name="Freeform: Shape 14">
              <a:extLst>
                <a:ext uri="{FF2B5EF4-FFF2-40B4-BE49-F238E27FC236}">
                  <a16:creationId xmlns:a16="http://schemas.microsoft.com/office/drawing/2014/main" id="{8C93AB23-A1B5-E974-00AB-47D1331715DD}"/>
                </a:ext>
              </a:extLst>
            </p:cNvPr>
            <p:cNvSpPr/>
            <p:nvPr/>
          </p:nvSpPr>
          <p:spPr>
            <a:xfrm>
              <a:off x="6102599" y="1988840"/>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24" name="Group 23">
              <a:extLst>
                <a:ext uri="{FF2B5EF4-FFF2-40B4-BE49-F238E27FC236}">
                  <a16:creationId xmlns:a16="http://schemas.microsoft.com/office/drawing/2014/main" id="{0710448D-1A34-489D-574C-6BC1C9E258E1}"/>
                </a:ext>
              </a:extLst>
            </p:cNvPr>
            <p:cNvGrpSpPr/>
            <p:nvPr/>
          </p:nvGrpSpPr>
          <p:grpSpPr>
            <a:xfrm>
              <a:off x="6287656" y="1848589"/>
              <a:ext cx="4953211" cy="1588148"/>
              <a:chOff x="6287656" y="1848589"/>
              <a:chExt cx="4953211" cy="1588148"/>
            </a:xfrm>
          </p:grpSpPr>
          <p:sp>
            <p:nvSpPr>
              <p:cNvPr id="25" name="Freeform: Shape 9">
                <a:extLst>
                  <a:ext uri="{FF2B5EF4-FFF2-40B4-BE49-F238E27FC236}">
                    <a16:creationId xmlns:a16="http://schemas.microsoft.com/office/drawing/2014/main" id="{86209F18-D929-9875-9B3D-06B8715E2246}"/>
                  </a:ext>
                </a:extLst>
              </p:cNvPr>
              <p:cNvSpPr/>
              <p:nvPr/>
            </p:nvSpPr>
            <p:spPr>
              <a:xfrm>
                <a:off x="6287656" y="1848589"/>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8" name="TextBox 27">
                <a:extLst>
                  <a:ext uri="{FF2B5EF4-FFF2-40B4-BE49-F238E27FC236}">
                    <a16:creationId xmlns:a16="http://schemas.microsoft.com/office/drawing/2014/main" id="{7511CFC1-9FD2-E407-B865-8E7D095E3ED3}"/>
                  </a:ext>
                </a:extLst>
              </p:cNvPr>
              <p:cNvSpPr txBox="1"/>
              <p:nvPr/>
            </p:nvSpPr>
            <p:spPr>
              <a:xfrm>
                <a:off x="7997921" y="1930409"/>
                <a:ext cx="2495908" cy="1273820"/>
              </a:xfrm>
              <a:prstGeom prst="rect">
                <a:avLst/>
              </a:prstGeom>
              <a:noFill/>
            </p:spPr>
            <p:txBody>
              <a:bodyPr wrap="square" lIns="0" tIns="0" rIns="0" bIns="0" rtlCol="0" anchor="ctr">
                <a:noAutofit/>
              </a:bodyPr>
              <a:lstStyle/>
              <a:p>
                <a:pPr lvl="0" defTabSz="1218987"/>
                <a:r>
                  <a:rPr lang="en-US" b="1" kern="0" smtClean="0">
                    <a:solidFill>
                      <a:prstClr val="black">
                        <a:lumMod val="95000"/>
                        <a:lumOff val="5000"/>
                      </a:prstClr>
                    </a:solidFill>
                    <a:latin typeface="Segoe UI"/>
                    <a:ea typeface="Segoe UI Black" panose="020B0A02040204020203" pitchFamily="34" charset="0"/>
                  </a:rPr>
                  <a:t>Classification and segmentation </a:t>
                </a:r>
                <a:r>
                  <a:rPr lang="en-US" b="1" kern="0" smtClean="0">
                    <a:solidFill>
                      <a:prstClr val="black">
                        <a:lumMod val="95000"/>
                        <a:lumOff val="5000"/>
                      </a:prstClr>
                    </a:solidFill>
                    <a:latin typeface="Segoe UI"/>
                    <a:ea typeface="Segoe UI Black" panose="020B0A02040204020203" pitchFamily="34" charset="0"/>
                  </a:rPr>
                  <a:t>on </a:t>
                </a:r>
                <a:r>
                  <a:rPr lang="en-US" b="1" kern="0">
                    <a:solidFill>
                      <a:prstClr val="black">
                        <a:lumMod val="95000"/>
                        <a:lumOff val="5000"/>
                      </a:prstClr>
                    </a:solidFill>
                    <a:latin typeface="Segoe UI"/>
                    <a:ea typeface="Segoe UI Black" panose="020B0A02040204020203" pitchFamily="34" charset="0"/>
                  </a:rPr>
                  <a:t>mammograms based on deep learning techniques</a:t>
                </a:r>
                <a:endParaRPr lang="en-US" b="1" kern="0" dirty="0">
                  <a:solidFill>
                    <a:prstClr val="black">
                      <a:lumMod val="95000"/>
                      <a:lumOff val="5000"/>
                    </a:prstClr>
                  </a:solidFill>
                  <a:latin typeface="Segoe UI"/>
                  <a:ea typeface="Segoe UI Black" panose="020B0A02040204020203" pitchFamily="34" charset="0"/>
                </a:endParaRPr>
              </a:p>
            </p:txBody>
          </p:sp>
        </p:grpSp>
      </p:grpSp>
      <p:sp>
        <p:nvSpPr>
          <p:cNvPr id="30" name="Content Placeholder 1"/>
          <p:cNvSpPr>
            <a:spLocks noGrp="1"/>
          </p:cNvSpPr>
          <p:nvPr>
            <p:ph sz="quarter" idx="10"/>
          </p:nvPr>
        </p:nvSpPr>
        <p:spPr>
          <a:xfrm>
            <a:off x="347665" y="911419"/>
            <a:ext cx="11234737" cy="633409"/>
          </a:xfrm>
        </p:spPr>
        <p:txBody>
          <a:bodyPr/>
          <a:lstStyle/>
          <a:p>
            <a:pPr marL="0" lvl="0" indent="0" algn="just">
              <a:lnSpc>
                <a:spcPct val="120000"/>
              </a:lnSpc>
              <a:spcBef>
                <a:spcPts val="600"/>
              </a:spcBef>
              <a:buNone/>
            </a:pPr>
            <a:r>
              <a:rPr lang="en" b="1" smtClean="0">
                <a:solidFill>
                  <a:srgbClr val="C00000"/>
                </a:solidFill>
              </a:rPr>
              <a:t>Targets:</a:t>
            </a:r>
          </a:p>
        </p:txBody>
      </p:sp>
      <p:pic>
        <p:nvPicPr>
          <p:cNvPr id="31" name="Picture 30"/>
          <p:cNvPicPr>
            <a:picLocks noChangeAspect="1"/>
          </p:cNvPicPr>
          <p:nvPr/>
        </p:nvPicPr>
        <p:blipFill>
          <a:blip r:embed="rId6"/>
          <a:stretch>
            <a:fillRect/>
          </a:stretch>
        </p:blipFill>
        <p:spPr>
          <a:xfrm>
            <a:off x="6658313" y="2349225"/>
            <a:ext cx="1115623" cy="658891"/>
          </a:xfrm>
          <a:prstGeom prst="rect">
            <a:avLst/>
          </a:prstGeom>
        </p:spPr>
      </p:pic>
      <p:pic>
        <p:nvPicPr>
          <p:cNvPr id="32" name="Picture 31"/>
          <p:cNvPicPr>
            <a:picLocks noChangeAspect="1"/>
          </p:cNvPicPr>
          <p:nvPr/>
        </p:nvPicPr>
        <p:blipFill>
          <a:blip r:embed="rId7"/>
          <a:stretch>
            <a:fillRect/>
          </a:stretch>
        </p:blipFill>
        <p:spPr>
          <a:xfrm>
            <a:off x="6727309" y="4440378"/>
            <a:ext cx="989173" cy="898531"/>
          </a:xfrm>
          <a:prstGeom prst="rect">
            <a:avLst/>
          </a:prstGeom>
        </p:spPr>
      </p:pic>
    </p:spTree>
    <p:extLst>
      <p:ext uri="{BB962C8B-B14F-4D97-AF65-F5344CB8AC3E}">
        <p14:creationId xmlns:p14="http://schemas.microsoft.com/office/powerpoint/2010/main" val="5340799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7" name="Picture 6"/>
          <p:cNvPicPr>
            <a:picLocks noChangeAspect="1"/>
          </p:cNvPicPr>
          <p:nvPr/>
        </p:nvPicPr>
        <p:blipFill>
          <a:blip r:embed="rId3"/>
          <a:stretch>
            <a:fillRect/>
          </a:stretch>
        </p:blipFill>
        <p:spPr>
          <a:xfrm>
            <a:off x="696367" y="1064481"/>
            <a:ext cx="8328708" cy="3696926"/>
          </a:xfrm>
          <a:prstGeom prst="rect">
            <a:avLst/>
          </a:prstGeom>
        </p:spPr>
      </p:pic>
      <p:sp>
        <p:nvSpPr>
          <p:cNvPr id="8" name="Rectangle 7"/>
          <p:cNvSpPr/>
          <p:nvPr/>
        </p:nvSpPr>
        <p:spPr>
          <a:xfrm>
            <a:off x="696368" y="4774048"/>
            <a:ext cx="9476092" cy="923330"/>
          </a:xfrm>
          <a:prstGeom prst="rect">
            <a:avLst/>
          </a:prstGeom>
        </p:spPr>
        <p:txBody>
          <a:bodyPr wrap="square">
            <a:spAutoFit/>
          </a:bodyPr>
          <a:lstStyle/>
          <a:p>
            <a:r>
              <a:rPr lang="en-US" smtClean="0">
                <a:latin typeface="Cambria" panose="02040503050406030204" pitchFamily="18" charset="0"/>
                <a:ea typeface="Cambria" panose="02040503050406030204" pitchFamily="18" charset="0"/>
              </a:rPr>
              <a:t>- Architecture network: AlexNet, VGG, SquezzeNet, ResNet, DenseNet</a:t>
            </a:r>
          </a:p>
          <a:p>
            <a:r>
              <a:rPr lang="en-US" smtClean="0">
                <a:latin typeface="Cambria" panose="02040503050406030204" pitchFamily="18" charset="0"/>
                <a:ea typeface="Cambria" panose="02040503050406030204" pitchFamily="18" charset="0"/>
              </a:rPr>
              <a:t>- Dataset: CBIS-DDSM</a:t>
            </a:r>
          </a:p>
          <a:p>
            <a:r>
              <a:rPr lang="en-US" smtClean="0">
                <a:latin typeface="Cambria" panose="02040503050406030204" pitchFamily="18" charset="0"/>
                <a:ea typeface="Cambria" panose="02040503050406030204" pitchFamily="18" charset="0"/>
              </a:rPr>
              <a:t>- Accuracy: 99.8% </a:t>
            </a:r>
            <a:endParaRPr lang="en-US">
              <a:latin typeface="Cambria" panose="02040503050406030204" pitchFamily="18" charset="0"/>
              <a:ea typeface="Cambria" panose="02040503050406030204" pitchFamily="18" charset="0"/>
            </a:endParaRPr>
          </a:p>
        </p:txBody>
      </p:sp>
      <p:sp>
        <p:nvSpPr>
          <p:cNvPr id="9" name="Rectangle 8"/>
          <p:cNvSpPr/>
          <p:nvPr/>
        </p:nvSpPr>
        <p:spPr>
          <a:xfrm>
            <a:off x="486137" y="5987018"/>
            <a:ext cx="11354764"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Fig 3. </a:t>
            </a:r>
            <a:r>
              <a:rPr lang="en-US">
                <a:latin typeface="Cambria" panose="02040503050406030204" pitchFamily="18" charset="0"/>
                <a:ea typeface="Cambria" panose="02040503050406030204" pitchFamily="18" charset="0"/>
              </a:rPr>
              <a:t>Performance Evaluation of Deep Learning Models </a:t>
            </a:r>
            <a:r>
              <a:rPr lang="en-US" smtClean="0">
                <a:latin typeface="Cambria" panose="02040503050406030204" pitchFamily="18" charset="0"/>
                <a:ea typeface="Cambria" panose="02040503050406030204" pitchFamily="18" charset="0"/>
              </a:rPr>
              <a:t>on Mammogram </a:t>
            </a:r>
            <a:r>
              <a:rPr lang="en-US">
                <a:latin typeface="Cambria" panose="02040503050406030204" pitchFamily="18" charset="0"/>
                <a:ea typeface="Cambria" panose="02040503050406030204" pitchFamily="18" charset="0"/>
              </a:rPr>
              <a:t>Classification Using Small </a:t>
            </a:r>
            <a:r>
              <a:rPr lang="en-US" smtClean="0">
                <a:latin typeface="Cambria" panose="02040503050406030204" pitchFamily="18" charset="0"/>
                <a:ea typeface="Cambria" panose="02040503050406030204" pitchFamily="18" charset="0"/>
              </a:rPr>
              <a:t>Dataset [3]</a:t>
            </a:r>
            <a:endParaRPr lang="en-US">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4"/>
          <a:stretch>
            <a:fillRect/>
          </a:stretch>
        </p:blipFill>
        <p:spPr>
          <a:xfrm>
            <a:off x="9439836" y="1129478"/>
            <a:ext cx="1913964" cy="3566932"/>
          </a:xfrm>
          <a:prstGeom prst="rect">
            <a:avLst/>
          </a:prstGeom>
        </p:spPr>
      </p:pic>
    </p:spTree>
    <p:extLst>
      <p:ext uri="{BB962C8B-B14F-4D97-AF65-F5344CB8AC3E}">
        <p14:creationId xmlns:p14="http://schemas.microsoft.com/office/powerpoint/2010/main" val="11909961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10" name="Rectangle 9"/>
          <p:cNvSpPr/>
          <p:nvPr/>
        </p:nvSpPr>
        <p:spPr>
          <a:xfrm>
            <a:off x="5023231" y="3201877"/>
            <a:ext cx="6330569" cy="1631216"/>
          </a:xfrm>
          <a:prstGeom prst="rect">
            <a:avLst/>
          </a:prstGeom>
        </p:spPr>
        <p:txBody>
          <a:bodyPr wrap="square">
            <a:spAutoFit/>
          </a:bodyPr>
          <a:lstStyle/>
          <a:p>
            <a:pPr algn="just"/>
            <a:r>
              <a:rPr lang="en-US" sz="2000" smtClean="0">
                <a:latin typeface="Cambria" panose="02040503050406030204" pitchFamily="18" charset="0"/>
                <a:ea typeface="Cambria" panose="02040503050406030204" pitchFamily="18" charset="0"/>
              </a:rPr>
              <a:t>- </a:t>
            </a:r>
            <a:r>
              <a:rPr lang="en-US" sz="2000">
                <a:latin typeface="Cambria" panose="02040503050406030204" pitchFamily="18" charset="0"/>
                <a:ea typeface="Cambria" panose="02040503050406030204" pitchFamily="18" charset="0"/>
              </a:rPr>
              <a:t>Mammographic density classification (A, B, C, D) using a combined model (ResNet18, ResNet50, EfficientNet-B0</a:t>
            </a:r>
            <a:r>
              <a:rPr lang="en-US" sz="2000" smtClean="0">
                <a:latin typeface="Cambria" panose="02040503050406030204" pitchFamily="18" charset="0"/>
                <a:ea typeface="Cambria" panose="02040503050406030204" pitchFamily="18" charset="0"/>
              </a:rPr>
              <a:t>, </a:t>
            </a:r>
            <a:r>
              <a:rPr lang="en-US" sz="2000">
                <a:latin typeface="Cambria" panose="02040503050406030204" pitchFamily="18" charset="0"/>
                <a:ea typeface="Cambria" panose="02040503050406030204" pitchFamily="18" charset="0"/>
              </a:rPr>
              <a:t>DenseNet121</a:t>
            </a:r>
            <a:r>
              <a:rPr lang="en-US" sz="2000" smtClean="0">
                <a:latin typeface="Cambria" panose="02040503050406030204" pitchFamily="18" charset="0"/>
                <a:ea typeface="Cambria" panose="02040503050406030204" pitchFamily="18" charset="0"/>
              </a:rPr>
              <a:t>)</a:t>
            </a:r>
          </a:p>
          <a:p>
            <a:pPr algn="just"/>
            <a:r>
              <a:rPr lang="en-US" sz="2000" smtClean="0">
                <a:latin typeface="Cambria" panose="02040503050406030204" pitchFamily="18" charset="0"/>
                <a:ea typeface="Cambria" panose="02040503050406030204" pitchFamily="18" charset="0"/>
              </a:rPr>
              <a:t>- Dataset: VinDr-Mammo</a:t>
            </a:r>
          </a:p>
          <a:p>
            <a:pPr algn="just"/>
            <a:r>
              <a:rPr lang="en-US" sz="2000" smtClean="0">
                <a:latin typeface="Cambria" panose="02040503050406030204" pitchFamily="18" charset="0"/>
                <a:ea typeface="Cambria" panose="02040503050406030204" pitchFamily="18" charset="0"/>
              </a:rPr>
              <a:t>- Accuracy: </a:t>
            </a:r>
            <a:r>
              <a:rPr lang="en-US" sz="2000">
                <a:latin typeface="Cambria" panose="02040503050406030204" pitchFamily="18" charset="0"/>
                <a:ea typeface="Cambria" panose="02040503050406030204" pitchFamily="18" charset="0"/>
              </a:rPr>
              <a:t>AUC: 0.963, F1-score: </a:t>
            </a:r>
            <a:r>
              <a:rPr lang="en-US" sz="2000" smtClean="0">
                <a:latin typeface="Cambria" panose="02040503050406030204" pitchFamily="18" charset="0"/>
                <a:ea typeface="Cambria" panose="02040503050406030204" pitchFamily="18" charset="0"/>
              </a:rPr>
              <a:t>0.952 (Soft voting)</a:t>
            </a:r>
            <a:endParaRPr lang="en-US" sz="2000">
              <a:latin typeface="Cambria" panose="02040503050406030204" pitchFamily="18" charset="0"/>
              <a:ea typeface="Cambria" panose="02040503050406030204" pitchFamily="18" charset="0"/>
            </a:endParaRPr>
          </a:p>
        </p:txBody>
      </p:sp>
      <p:pic>
        <p:nvPicPr>
          <p:cNvPr id="11" name="Picture 10"/>
          <p:cNvPicPr>
            <a:picLocks noChangeAspect="1"/>
          </p:cNvPicPr>
          <p:nvPr/>
        </p:nvPicPr>
        <p:blipFill>
          <a:blip r:embed="rId3"/>
          <a:stretch>
            <a:fillRect/>
          </a:stretch>
        </p:blipFill>
        <p:spPr>
          <a:xfrm>
            <a:off x="5023231" y="871567"/>
            <a:ext cx="6219825" cy="1971675"/>
          </a:xfrm>
          <a:prstGeom prst="rect">
            <a:avLst/>
          </a:prstGeom>
        </p:spPr>
      </p:pic>
      <p:pic>
        <p:nvPicPr>
          <p:cNvPr id="12" name="Picture 11"/>
          <p:cNvPicPr>
            <a:picLocks noChangeAspect="1"/>
          </p:cNvPicPr>
          <p:nvPr/>
        </p:nvPicPr>
        <p:blipFill>
          <a:blip r:embed="rId4"/>
          <a:stretch>
            <a:fillRect/>
          </a:stretch>
        </p:blipFill>
        <p:spPr>
          <a:xfrm>
            <a:off x="356404" y="871567"/>
            <a:ext cx="4227171" cy="5368507"/>
          </a:xfrm>
          <a:prstGeom prst="rect">
            <a:avLst/>
          </a:prstGeom>
        </p:spPr>
      </p:pic>
      <p:sp>
        <p:nvSpPr>
          <p:cNvPr id="13" name="Rectangle 12"/>
          <p:cNvSpPr/>
          <p:nvPr/>
        </p:nvSpPr>
        <p:spPr>
          <a:xfrm>
            <a:off x="5023231" y="5593743"/>
            <a:ext cx="6481299" cy="646331"/>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Fig </a:t>
            </a:r>
            <a:r>
              <a:rPr lang="en-US" smtClean="0">
                <a:latin typeface="Cambria" panose="02040503050406030204" pitchFamily="18" charset="0"/>
                <a:ea typeface="Cambria" panose="02040503050406030204" pitchFamily="18" charset="0"/>
              </a:rPr>
              <a:t>4. </a:t>
            </a:r>
            <a:r>
              <a:rPr lang="en-US">
                <a:latin typeface="Cambria" panose="02040503050406030204" pitchFamily="18" charset="0"/>
                <a:ea typeface="Cambria" panose="02040503050406030204" pitchFamily="18" charset="0"/>
              </a:rPr>
              <a:t>Attention-Enhanced Deep Learning Ensemble for Breast Density Classification in </a:t>
            </a:r>
            <a:r>
              <a:rPr lang="en-US" smtClean="0">
                <a:latin typeface="Cambria" panose="02040503050406030204" pitchFamily="18" charset="0"/>
                <a:ea typeface="Cambria" panose="02040503050406030204" pitchFamily="18" charset="0"/>
              </a:rPr>
              <a:t>Mammography</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523535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4" name="Picture 3"/>
          <p:cNvPicPr>
            <a:picLocks noChangeAspect="1"/>
          </p:cNvPicPr>
          <p:nvPr/>
        </p:nvPicPr>
        <p:blipFill>
          <a:blip r:embed="rId3"/>
          <a:stretch>
            <a:fillRect/>
          </a:stretch>
        </p:blipFill>
        <p:spPr>
          <a:xfrm>
            <a:off x="1228233" y="1051032"/>
            <a:ext cx="3505402" cy="3573519"/>
          </a:xfrm>
          <a:prstGeom prst="rect">
            <a:avLst/>
          </a:prstGeom>
        </p:spPr>
      </p:pic>
      <p:pic>
        <p:nvPicPr>
          <p:cNvPr id="5" name="Picture 4"/>
          <p:cNvPicPr>
            <a:picLocks noChangeAspect="1"/>
          </p:cNvPicPr>
          <p:nvPr/>
        </p:nvPicPr>
        <p:blipFill>
          <a:blip r:embed="rId4"/>
          <a:stretch>
            <a:fillRect/>
          </a:stretch>
        </p:blipFill>
        <p:spPr>
          <a:xfrm>
            <a:off x="4733635" y="1051032"/>
            <a:ext cx="3441557" cy="3573519"/>
          </a:xfrm>
          <a:prstGeom prst="rect">
            <a:avLst/>
          </a:prstGeom>
        </p:spPr>
      </p:pic>
      <p:pic>
        <p:nvPicPr>
          <p:cNvPr id="6" name="Picture 5"/>
          <p:cNvPicPr>
            <a:picLocks noChangeAspect="1"/>
          </p:cNvPicPr>
          <p:nvPr/>
        </p:nvPicPr>
        <p:blipFill>
          <a:blip r:embed="rId5"/>
          <a:stretch>
            <a:fillRect/>
          </a:stretch>
        </p:blipFill>
        <p:spPr>
          <a:xfrm>
            <a:off x="8380358" y="1051032"/>
            <a:ext cx="2366796" cy="3668112"/>
          </a:xfrm>
          <a:prstGeom prst="rect">
            <a:avLst/>
          </a:prstGeom>
        </p:spPr>
      </p:pic>
      <p:sp>
        <p:nvSpPr>
          <p:cNvPr id="7" name="Rectangle 6"/>
          <p:cNvSpPr/>
          <p:nvPr/>
        </p:nvSpPr>
        <p:spPr>
          <a:xfrm>
            <a:off x="1162772" y="4644781"/>
            <a:ext cx="4304705" cy="923330"/>
          </a:xfrm>
          <a:prstGeom prst="rect">
            <a:avLst/>
          </a:prstGeom>
        </p:spPr>
        <p:txBody>
          <a:bodyPr wrap="none">
            <a:spAutoFit/>
          </a:bodyPr>
          <a:lstStyle/>
          <a:p>
            <a:pPr marL="285750" indent="-285750">
              <a:buFontTx/>
              <a:buChar char="-"/>
            </a:pPr>
            <a:r>
              <a:rPr lang="en-US" smtClean="0">
                <a:latin typeface="Cambria" panose="02040503050406030204" pitchFamily="18" charset="0"/>
                <a:ea typeface="Cambria" panose="02040503050406030204" pitchFamily="18" charset="0"/>
              </a:rPr>
              <a:t>Model: VGG16, InceptionV3, Res-Net18</a:t>
            </a:r>
          </a:p>
          <a:p>
            <a:pPr marL="285750" indent="-285750">
              <a:buFontTx/>
              <a:buChar char="-"/>
            </a:pPr>
            <a:r>
              <a:rPr lang="en-US" smtClean="0">
                <a:latin typeface="Cambria" panose="02040503050406030204" pitchFamily="18" charset="0"/>
                <a:ea typeface="Cambria" panose="02040503050406030204" pitchFamily="18" charset="0"/>
              </a:rPr>
              <a:t>Dataset: CIBS-DDSM</a:t>
            </a:r>
          </a:p>
          <a:p>
            <a:pPr marL="285750" indent="-285750">
              <a:buFontTx/>
              <a:buChar char="-"/>
            </a:pPr>
            <a:r>
              <a:rPr lang="en-US" smtClean="0">
                <a:latin typeface="Cambria" panose="02040503050406030204" pitchFamily="18" charset="0"/>
                <a:ea typeface="Cambria" panose="02040503050406030204" pitchFamily="18" charset="0"/>
              </a:rPr>
              <a:t>Accuracy: 76%</a:t>
            </a:r>
            <a:endParaRPr lang="en-US">
              <a:latin typeface="Cambria" panose="02040503050406030204" pitchFamily="18" charset="0"/>
              <a:ea typeface="Cambria" panose="02040503050406030204" pitchFamily="18" charset="0"/>
            </a:endParaRPr>
          </a:p>
        </p:txBody>
      </p:sp>
      <p:sp>
        <p:nvSpPr>
          <p:cNvPr id="8" name="Rectangle 7"/>
          <p:cNvSpPr/>
          <p:nvPr/>
        </p:nvSpPr>
        <p:spPr>
          <a:xfrm>
            <a:off x="735550" y="5662769"/>
            <a:ext cx="11119753" cy="646331"/>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Fig </a:t>
            </a:r>
            <a:r>
              <a:rPr lang="en-US" smtClean="0">
                <a:latin typeface="Cambria" panose="02040503050406030204" pitchFamily="18" charset="0"/>
                <a:ea typeface="Cambria" panose="02040503050406030204" pitchFamily="18" charset="0"/>
              </a:rPr>
              <a:t>5. </a:t>
            </a:r>
            <a:r>
              <a:rPr lang="en-US" smtClean="0">
                <a:latin typeface="Cambria" panose="02040503050406030204" pitchFamily="18" charset="0"/>
                <a:ea typeface="Cambria" panose="02040503050406030204" pitchFamily="18" charset="0"/>
              </a:rPr>
              <a:t>Enhancing </a:t>
            </a:r>
            <a:r>
              <a:rPr lang="en-US">
                <a:latin typeface="Cambria" panose="02040503050406030204" pitchFamily="18" charset="0"/>
                <a:ea typeface="Cambria" panose="02040503050406030204" pitchFamily="18" charset="0"/>
              </a:rPr>
              <a:t>Breast Cancer Diagnosis in </a:t>
            </a:r>
            <a:r>
              <a:rPr lang="en-US" smtClean="0">
                <a:latin typeface="Cambria" panose="02040503050406030204" pitchFamily="18" charset="0"/>
                <a:ea typeface="Cambria" panose="02040503050406030204" pitchFamily="18" charset="0"/>
              </a:rPr>
              <a:t>Mammography: Evaluation </a:t>
            </a:r>
            <a:r>
              <a:rPr lang="en-US">
                <a:latin typeface="Cambria" panose="02040503050406030204" pitchFamily="18" charset="0"/>
                <a:ea typeface="Cambria" panose="02040503050406030204" pitchFamily="18" charset="0"/>
              </a:rPr>
              <a:t>and Integration of Convolutional Neural </a:t>
            </a:r>
            <a:r>
              <a:rPr lang="en-US" smtClean="0">
                <a:latin typeface="Cambria" panose="02040503050406030204" pitchFamily="18" charset="0"/>
                <a:ea typeface="Cambria" panose="02040503050406030204" pitchFamily="18" charset="0"/>
              </a:rPr>
              <a:t>Networks and </a:t>
            </a:r>
            <a:r>
              <a:rPr lang="en-US">
                <a:latin typeface="Cambria" panose="02040503050406030204" pitchFamily="18" charset="0"/>
                <a:ea typeface="Cambria" panose="02040503050406030204" pitchFamily="18" charset="0"/>
              </a:rPr>
              <a:t>Explainable AI (</a:t>
            </a:r>
            <a:r>
              <a:rPr lang="en-US" smtClean="0">
                <a:latin typeface="Cambria" panose="02040503050406030204" pitchFamily="18" charset="0"/>
                <a:ea typeface="Cambria" panose="02040503050406030204" pitchFamily="18" charset="0"/>
              </a:rPr>
              <a:t>Ahmed et al. 2024)</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29876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8" name="Picture 7"/>
          <p:cNvPicPr>
            <a:picLocks noChangeAspect="1"/>
          </p:cNvPicPr>
          <p:nvPr/>
        </p:nvPicPr>
        <p:blipFill>
          <a:blip r:embed="rId3"/>
          <a:stretch>
            <a:fillRect/>
          </a:stretch>
        </p:blipFill>
        <p:spPr>
          <a:xfrm>
            <a:off x="1836946" y="863424"/>
            <a:ext cx="9246048" cy="5650738"/>
          </a:xfrm>
          <a:prstGeom prst="rect">
            <a:avLst/>
          </a:prstGeom>
        </p:spPr>
      </p:pic>
      <p:sp>
        <p:nvSpPr>
          <p:cNvPr id="9" name="Rectangle 8"/>
          <p:cNvSpPr/>
          <p:nvPr/>
        </p:nvSpPr>
        <p:spPr>
          <a:xfrm>
            <a:off x="266322" y="492390"/>
            <a:ext cx="10816672" cy="461665"/>
          </a:xfrm>
          <a:prstGeom prst="rect">
            <a:avLst/>
          </a:prstGeom>
        </p:spPr>
        <p:txBody>
          <a:bodyPr wrap="square">
            <a:spAutoFit/>
          </a:bodyPr>
          <a:lstStyle/>
          <a:p>
            <a:pPr algn="ctr"/>
            <a:r>
              <a:rPr lang="en-US" sz="2400"/>
              <a:t>Explainable AI – </a:t>
            </a:r>
            <a:r>
              <a:rPr lang="en-US" sz="2400" b="1" smtClean="0">
                <a:solidFill>
                  <a:srgbClr val="0070C0"/>
                </a:solidFill>
              </a:rPr>
              <a:t>What Are We Trying To Do?</a:t>
            </a:r>
            <a:endParaRPr lang="en-US" sz="2400" b="1">
              <a:solidFill>
                <a:srgbClr val="0070C0"/>
              </a:solidFill>
            </a:endParaRPr>
          </a:p>
        </p:txBody>
      </p:sp>
      <p:sp>
        <p:nvSpPr>
          <p:cNvPr id="14" name="Rectangle 13"/>
          <p:cNvSpPr/>
          <p:nvPr/>
        </p:nvSpPr>
        <p:spPr>
          <a:xfrm>
            <a:off x="2000184" y="6488668"/>
            <a:ext cx="8932274" cy="338554"/>
          </a:xfrm>
          <a:prstGeom prst="rect">
            <a:avLst/>
          </a:prstGeom>
        </p:spPr>
        <p:txBody>
          <a:bodyPr wrap="square">
            <a:spAutoFit/>
          </a:bodyPr>
          <a:lstStyle/>
          <a:p>
            <a:pPr algn="ctr"/>
            <a:r>
              <a:rPr lang="en-US" sz="1600" i="1" smtClean="0"/>
              <a:t>Fig 6a. Explainable </a:t>
            </a:r>
            <a:r>
              <a:rPr lang="en-US" sz="1600" i="1"/>
              <a:t>Artificial Intelligence (XAI) - David Gunning</a:t>
            </a:r>
          </a:p>
        </p:txBody>
      </p:sp>
    </p:spTree>
    <p:extLst>
      <p:ext uri="{BB962C8B-B14F-4D97-AF65-F5344CB8AC3E}">
        <p14:creationId xmlns:p14="http://schemas.microsoft.com/office/powerpoint/2010/main" val="34398314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7" name="Picture 6"/>
          <p:cNvPicPr>
            <a:picLocks noChangeAspect="1"/>
          </p:cNvPicPr>
          <p:nvPr/>
        </p:nvPicPr>
        <p:blipFill>
          <a:blip r:embed="rId3"/>
          <a:stretch>
            <a:fillRect/>
          </a:stretch>
        </p:blipFill>
        <p:spPr>
          <a:xfrm>
            <a:off x="1405429" y="545598"/>
            <a:ext cx="9383365" cy="5943070"/>
          </a:xfrm>
          <a:prstGeom prst="rect">
            <a:avLst/>
          </a:prstGeom>
        </p:spPr>
      </p:pic>
      <p:sp>
        <p:nvSpPr>
          <p:cNvPr id="4" name="Rectangle 3"/>
          <p:cNvSpPr/>
          <p:nvPr/>
        </p:nvSpPr>
        <p:spPr>
          <a:xfrm>
            <a:off x="1589435" y="6488668"/>
            <a:ext cx="9343023" cy="338554"/>
          </a:xfrm>
          <a:prstGeom prst="rect">
            <a:avLst/>
          </a:prstGeom>
        </p:spPr>
        <p:txBody>
          <a:bodyPr wrap="square">
            <a:spAutoFit/>
          </a:bodyPr>
          <a:lstStyle/>
          <a:p>
            <a:pPr algn="ctr"/>
            <a:r>
              <a:rPr lang="en-US" sz="1600" i="1" smtClean="0"/>
              <a:t>Fig 6b. Explainable </a:t>
            </a:r>
            <a:r>
              <a:rPr lang="en-US" sz="1600" i="1"/>
              <a:t>Artificial Intelligence (XAI) - David Gunning</a:t>
            </a:r>
          </a:p>
        </p:txBody>
      </p:sp>
    </p:spTree>
    <p:extLst>
      <p:ext uri="{BB962C8B-B14F-4D97-AF65-F5344CB8AC3E}">
        <p14:creationId xmlns:p14="http://schemas.microsoft.com/office/powerpoint/2010/main" val="14610687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5" name="Rectangle 4"/>
          <p:cNvSpPr/>
          <p:nvPr/>
        </p:nvSpPr>
        <p:spPr>
          <a:xfrm>
            <a:off x="466725" y="4684632"/>
            <a:ext cx="4610582" cy="400110"/>
          </a:xfrm>
          <a:prstGeom prst="rect">
            <a:avLst/>
          </a:prstGeom>
        </p:spPr>
        <p:txBody>
          <a:bodyPr wrap="square">
            <a:spAutoFit/>
          </a:bodyPr>
          <a:lstStyle/>
          <a:p>
            <a:pPr algn="ctr"/>
            <a:r>
              <a:rPr lang="en-US" sz="2000" smtClean="0">
                <a:latin typeface="Cambria" panose="02040503050406030204" pitchFamily="18" charset="0"/>
                <a:ea typeface="Cambria" panose="02040503050406030204" pitchFamily="18" charset="0"/>
              </a:rPr>
              <a:t>Fig 7. U-Net architecture</a:t>
            </a:r>
            <a:endParaRPr lang="en-US" sz="2000">
              <a:latin typeface="Cambria" panose="02040503050406030204" pitchFamily="18" charset="0"/>
              <a:ea typeface="Cambria" panose="02040503050406030204" pitchFamily="18" charset="0"/>
            </a:endParaRPr>
          </a:p>
        </p:txBody>
      </p:sp>
      <p:sp>
        <p:nvSpPr>
          <p:cNvPr id="6"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Deep</a:t>
            </a:r>
            <a:r>
              <a:rPr kumimoji="0" lang="en-US" sz="2400" b="1" i="0" u="none" strike="noStrike" kern="1200" cap="none" spc="0" normalizeH="0" noProof="0" smtClean="0">
                <a:ln>
                  <a:noFill/>
                </a:ln>
                <a:solidFill>
                  <a:srgbClr val="C00000"/>
                </a:solidFill>
                <a:effectLst/>
                <a:uLnTx/>
                <a:uFillTx/>
                <a:latin typeface="Cambria" panose="02040503050406030204" pitchFamily="18" charset="0"/>
                <a:ea typeface="Cambria" panose="02040503050406030204" pitchFamily="18" charset="0"/>
                <a:cs typeface="+mn-cs"/>
              </a:rPr>
              <a:t> learning</a:t>
            </a: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62" y="1452880"/>
            <a:ext cx="6061259" cy="303063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8700" y="1452880"/>
            <a:ext cx="5937239" cy="3131432"/>
          </a:xfrm>
          <a:prstGeom prst="rect">
            <a:avLst/>
          </a:prstGeom>
        </p:spPr>
      </p:pic>
      <p:sp>
        <p:nvSpPr>
          <p:cNvPr id="8" name="Rectangle 7"/>
          <p:cNvSpPr/>
          <p:nvPr/>
        </p:nvSpPr>
        <p:spPr>
          <a:xfrm>
            <a:off x="6371599" y="4684632"/>
            <a:ext cx="5674340" cy="400110"/>
          </a:xfrm>
          <a:prstGeom prst="rect">
            <a:avLst/>
          </a:prstGeom>
        </p:spPr>
        <p:txBody>
          <a:bodyPr wrap="square">
            <a:spAutoFit/>
          </a:bodyPr>
          <a:lstStyle/>
          <a:p>
            <a:pPr algn="ctr"/>
            <a:r>
              <a:rPr lang="en-US" sz="2000" smtClean="0">
                <a:latin typeface="Cambria" panose="02040503050406030204" pitchFamily="18" charset="0"/>
                <a:ea typeface="Cambria" panose="02040503050406030204" pitchFamily="18" charset="0"/>
              </a:rPr>
              <a:t>Fig 8. DeepLabV3+ architecture</a:t>
            </a:r>
            <a:endParaRPr lang="en-US" sz="20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79608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5" name="Rectangle 4"/>
          <p:cNvSpPr/>
          <p:nvPr/>
        </p:nvSpPr>
        <p:spPr>
          <a:xfrm>
            <a:off x="1306285" y="851648"/>
            <a:ext cx="8022771" cy="5104987"/>
          </a:xfrm>
          <a:prstGeom prst="rect">
            <a:avLst/>
          </a:prstGeom>
        </p:spPr>
        <p:txBody>
          <a:bodyPr wrap="square">
            <a:spAutoFit/>
          </a:bodyPr>
          <a:lstStyle/>
          <a:p>
            <a:pPr>
              <a:lnSpc>
                <a:spcPct val="115000"/>
              </a:lnSpc>
              <a:spcBef>
                <a:spcPts val="1000"/>
              </a:spcBef>
            </a:pPr>
            <a:r>
              <a:rPr lang="en-US" sz="2400" b="1">
                <a:solidFill>
                  <a:srgbClr val="4F81BD"/>
                </a:solidFill>
                <a:latin typeface="Calibri" panose="020F0502020204030204" pitchFamily="34" charset="0"/>
                <a:ea typeface="MS Gothic" panose="020B0609070205080204" pitchFamily="49" charset="-128"/>
                <a:cs typeface="Times New Roman" panose="02020603050405020304" pitchFamily="18" charset="0"/>
              </a:rPr>
              <a:t>Algorithm 1  JRIP Algorithm</a:t>
            </a:r>
          </a:p>
          <a:p>
            <a:pPr>
              <a:lnSpc>
                <a:spcPct val="115000"/>
              </a:lnSpc>
              <a:spcAft>
                <a:spcPts val="1000"/>
              </a:spcAft>
            </a:pPr>
            <a:r>
              <a:rPr lang="en-US" b="1">
                <a:latin typeface="Cambria" panose="02040503050406030204" pitchFamily="18" charset="0"/>
                <a:ea typeface="MS Mincho"/>
                <a:cs typeface="Times New Roman" panose="02020603050405020304" pitchFamily="18" charset="0"/>
              </a:rPr>
              <a:t>Require: </a:t>
            </a:r>
            <a:r>
              <a:rPr lang="en-US">
                <a:latin typeface="Cambria" panose="02040503050406030204" pitchFamily="18" charset="0"/>
                <a:ea typeface="MS Mincho"/>
                <a:cs typeface="Times New Roman" panose="02020603050405020304" pitchFamily="18" charset="0"/>
              </a:rPr>
              <a:t>Training dataset D with categories {C₁, C₂, …, Cₘ}</a:t>
            </a:r>
            <a:br>
              <a:rPr lang="en-US">
                <a:latin typeface="Cambria" panose="02040503050406030204" pitchFamily="18" charset="0"/>
                <a:ea typeface="MS Mincho"/>
                <a:cs typeface="Times New Roman" panose="02020603050405020304" pitchFamily="18" charset="0"/>
              </a:rPr>
            </a:br>
            <a:r>
              <a:rPr lang="en-US" b="1">
                <a:latin typeface="Cambria" panose="02040503050406030204" pitchFamily="18" charset="0"/>
                <a:ea typeface="MS Mincho"/>
                <a:cs typeface="Times New Roman" panose="02020603050405020304" pitchFamily="18" charset="0"/>
              </a:rPr>
              <a:t>Ensure: </a:t>
            </a:r>
            <a:r>
              <a:rPr lang="en-US">
                <a:latin typeface="Cambria" panose="02040503050406030204" pitchFamily="18" charset="0"/>
                <a:ea typeface="MS Mincho"/>
                <a:cs typeface="Times New Roman" panose="02020603050405020304" pitchFamily="18" charset="0"/>
              </a:rPr>
              <a:t>Learned rule </a:t>
            </a:r>
            <a:r>
              <a:rPr lang="en-US">
                <a:latin typeface="Cambria" panose="02040503050406030204" pitchFamily="18" charset="0"/>
                <a:ea typeface="MS Mincho"/>
                <a:cs typeface="Times New Roman" panose="02020603050405020304" pitchFamily="18" charset="0"/>
              </a:rPr>
              <a:t>collection </a:t>
            </a:r>
            <a:r>
              <a:rPr lang="en-US" smtClean="0">
                <a:latin typeface="Cambria" panose="02040503050406030204" pitchFamily="18" charset="0"/>
                <a:ea typeface="MS Mincho"/>
                <a:cs typeface="Times New Roman" panose="02020603050405020304" pitchFamily="18" charset="0"/>
              </a:rPr>
              <a:t>ℛ</a:t>
            </a:r>
            <a:endParaRPr lang="en-US">
              <a:latin typeface="Cambria" panose="02040503050406030204" pitchFamily="18" charset="0"/>
              <a:ea typeface="MS Mincho"/>
              <a:cs typeface="Times New Roman" panose="02020603050405020304" pitchFamily="18" charset="0"/>
            </a:endParaRP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1: Order the categories {C₁, C₂, …, Cₘ} in ascending order of sample counts.</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2: Initialize ℛ ← ∅.</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3: </a:t>
            </a:r>
            <a:r>
              <a:rPr lang="en-US" b="1">
                <a:latin typeface="Cambria" panose="02040503050406030204" pitchFamily="18" charset="0"/>
                <a:ea typeface="MS Mincho"/>
                <a:cs typeface="Times New Roman" panose="02020603050405020304" pitchFamily="18" charset="0"/>
              </a:rPr>
              <a:t>for</a:t>
            </a:r>
            <a:r>
              <a:rPr lang="en-US">
                <a:latin typeface="Cambria" panose="02040503050406030204" pitchFamily="18" charset="0"/>
                <a:ea typeface="MS Mincho"/>
                <a:cs typeface="Times New Roman" panose="02020603050405020304" pitchFamily="18" charset="0"/>
              </a:rPr>
              <a:t> each category Cⱼ in the ordered list </a:t>
            </a:r>
            <a:r>
              <a:rPr lang="en-US" b="1">
                <a:latin typeface="Cambria" panose="02040503050406030204" pitchFamily="18" charset="0"/>
                <a:ea typeface="MS Mincho"/>
                <a:cs typeface="Times New Roman" panose="02020603050405020304" pitchFamily="18" charset="0"/>
              </a:rPr>
              <a:t>do</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4</a:t>
            </a:r>
            <a:r>
              <a:rPr lang="en-US" b="1">
                <a:latin typeface="Cambria" panose="02040503050406030204" pitchFamily="18" charset="0"/>
                <a:ea typeface="MS Mincho"/>
                <a:cs typeface="Times New Roman" panose="02020603050405020304" pitchFamily="18" charset="0"/>
              </a:rPr>
              <a:t>:     repeat</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5:         Construct a provisional rule ρⱼ that maximally fits the samples of Cⱼ.</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6:         Refine ρⱼ through pruning and optimization steps.</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7:         Insert ρⱼ into ℛ.</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8:         Eliminate all instances of D that are covered by ρⱼ.</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9: </a:t>
            </a:r>
            <a:r>
              <a:rPr lang="en-US" b="1">
                <a:latin typeface="Cambria" panose="02040503050406030204" pitchFamily="18" charset="0"/>
                <a:ea typeface="MS Mincho"/>
                <a:cs typeface="Times New Roman" panose="02020603050405020304" pitchFamily="18" charset="0"/>
              </a:rPr>
              <a:t>    until </a:t>
            </a:r>
            <a:r>
              <a:rPr lang="en-US">
                <a:latin typeface="Cambria" panose="02040503050406030204" pitchFamily="18" charset="0"/>
                <a:ea typeface="MS Mincho"/>
                <a:cs typeface="Times New Roman" panose="02020603050405020304" pitchFamily="18" charset="0"/>
              </a:rPr>
              <a:t>no instances of Cⱼ remain uncovered</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10: </a:t>
            </a:r>
            <a:r>
              <a:rPr lang="en-US" b="1">
                <a:latin typeface="Cambria" panose="02040503050406030204" pitchFamily="18" charset="0"/>
                <a:ea typeface="MS Mincho"/>
                <a:cs typeface="Times New Roman" panose="02020603050405020304" pitchFamily="18" charset="0"/>
              </a:rPr>
              <a:t>end for</a:t>
            </a:r>
          </a:p>
          <a:p>
            <a:pPr marL="304800">
              <a:lnSpc>
                <a:spcPct val="115000"/>
              </a:lnSpc>
              <a:spcAft>
                <a:spcPts val="0"/>
              </a:spcAft>
            </a:pPr>
            <a:r>
              <a:rPr lang="en-US">
                <a:latin typeface="Cambria" panose="02040503050406030204" pitchFamily="18" charset="0"/>
                <a:ea typeface="MS Mincho"/>
                <a:cs typeface="Times New Roman" panose="02020603050405020304" pitchFamily="18" charset="0"/>
              </a:rPr>
              <a:t>11: Define a default rule to assign labels for any instances not captured by ℛ.</a:t>
            </a:r>
          </a:p>
          <a:p>
            <a:pPr marL="304800">
              <a:lnSpc>
                <a:spcPct val="115000"/>
              </a:lnSpc>
              <a:spcAft>
                <a:spcPts val="1000"/>
              </a:spcAft>
            </a:pPr>
            <a:r>
              <a:rPr lang="en-US">
                <a:latin typeface="Cambria" panose="02040503050406030204" pitchFamily="18" charset="0"/>
                <a:ea typeface="MS Mincho"/>
                <a:cs typeface="Times New Roman" panose="02020603050405020304" pitchFamily="18" charset="0"/>
              </a:rPr>
              <a:t>12: </a:t>
            </a:r>
            <a:r>
              <a:rPr lang="en-US" b="1">
                <a:latin typeface="Cambria" panose="02040503050406030204" pitchFamily="18" charset="0"/>
                <a:ea typeface="MS Mincho"/>
                <a:cs typeface="Times New Roman" panose="02020603050405020304" pitchFamily="18" charset="0"/>
              </a:rPr>
              <a:t>return</a:t>
            </a:r>
            <a:r>
              <a:rPr lang="en-US">
                <a:latin typeface="Cambria" panose="02040503050406030204" pitchFamily="18" charset="0"/>
                <a:ea typeface="MS Mincho"/>
                <a:cs typeface="Times New Roman" panose="02020603050405020304" pitchFamily="18" charset="0"/>
              </a:rPr>
              <a:t> ℛ as the final induced rule base.</a:t>
            </a:r>
          </a:p>
        </p:txBody>
      </p:sp>
      <p:cxnSp>
        <p:nvCxnSpPr>
          <p:cNvPr id="8" name="Straight Connector 7"/>
          <p:cNvCxnSpPr/>
          <p:nvPr/>
        </p:nvCxnSpPr>
        <p:spPr>
          <a:xfrm>
            <a:off x="1404257" y="1295401"/>
            <a:ext cx="7837714"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5512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cxnSp>
        <p:nvCxnSpPr>
          <p:cNvPr id="8" name="Straight Connector 7"/>
          <p:cNvCxnSpPr/>
          <p:nvPr/>
        </p:nvCxnSpPr>
        <p:spPr>
          <a:xfrm>
            <a:off x="1404257" y="1295401"/>
            <a:ext cx="783771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310789" y="860016"/>
            <a:ext cx="8727738" cy="5379934"/>
          </a:xfrm>
          <a:prstGeom prst="rect">
            <a:avLst/>
          </a:prstGeom>
        </p:spPr>
        <p:txBody>
          <a:bodyPr wrap="square">
            <a:spAutoFit/>
          </a:bodyPr>
          <a:lstStyle/>
          <a:p>
            <a:pPr>
              <a:lnSpc>
                <a:spcPct val="115000"/>
              </a:lnSpc>
              <a:spcBef>
                <a:spcPts val="1000"/>
              </a:spcBef>
              <a:spcAft>
                <a:spcPts val="1000"/>
              </a:spcAft>
            </a:pPr>
            <a:r>
              <a:rPr lang="en-US" sz="2400" b="1">
                <a:solidFill>
                  <a:srgbClr val="4F81BD"/>
                </a:solidFill>
                <a:latin typeface="Calibri" panose="020F0502020204030204" pitchFamily="34" charset="0"/>
                <a:ea typeface="MS Gothic" panose="020B0609070205080204" pitchFamily="49" charset="-128"/>
                <a:cs typeface="Times New Roman" panose="02020603050405020304" pitchFamily="18" charset="0"/>
              </a:rPr>
              <a:t>Algorithm 2 </a:t>
            </a:r>
            <a:r>
              <a:rPr lang="en-US" sz="2400" b="1">
                <a:solidFill>
                  <a:srgbClr val="4F81BD"/>
                </a:solidFill>
                <a:latin typeface="Calibri" panose="020F0502020204030204" pitchFamily="34" charset="0"/>
                <a:ea typeface="MS Gothic" panose="020B0609070205080204" pitchFamily="49" charset="-128"/>
                <a:cs typeface="Times New Roman" panose="02020603050405020304" pitchFamily="18" charset="0"/>
              </a:rPr>
              <a:t>PART </a:t>
            </a:r>
            <a:r>
              <a:rPr lang="en-US" sz="2400" b="1" smtClean="0">
                <a:solidFill>
                  <a:srgbClr val="4F81BD"/>
                </a:solidFill>
                <a:latin typeface="Calibri" panose="020F0502020204030204" pitchFamily="34" charset="0"/>
                <a:ea typeface="MS Gothic" panose="020B0609070205080204" pitchFamily="49" charset="-128"/>
                <a:cs typeface="Times New Roman" panose="02020603050405020304" pitchFamily="18" charset="0"/>
              </a:rPr>
              <a:t>Algorithm</a:t>
            </a:r>
            <a:endParaRPr lang="en-US" sz="2400" b="1">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a:p>
            <a:pPr>
              <a:spcAft>
                <a:spcPts val="1000"/>
              </a:spcAft>
            </a:pPr>
            <a:r>
              <a:rPr lang="en-US" b="1">
                <a:latin typeface="Cambria" panose="02040503050406030204" pitchFamily="18" charset="0"/>
                <a:ea typeface="MS Mincho"/>
                <a:cs typeface="Times New Roman" panose="02020603050405020304" pitchFamily="18" charset="0"/>
              </a:rPr>
              <a:t>Require: </a:t>
            </a:r>
            <a:r>
              <a:rPr lang="en-US">
                <a:latin typeface="Cambria" panose="02040503050406030204" pitchFamily="18" charset="0"/>
                <a:ea typeface="MS Mincho"/>
                <a:cs typeface="Times New Roman" panose="02020603050405020304" pitchFamily="18" charset="0"/>
              </a:rPr>
              <a:t>Training dataset 𝒟</a:t>
            </a:r>
          </a:p>
          <a:p>
            <a:pPr>
              <a:spcAft>
                <a:spcPts val="1000"/>
              </a:spcAft>
            </a:pPr>
            <a:r>
              <a:rPr lang="en-US" b="1">
                <a:latin typeface="Cambria" panose="02040503050406030204" pitchFamily="18" charset="0"/>
                <a:ea typeface="MS Mincho"/>
                <a:cs typeface="Times New Roman" panose="02020603050405020304" pitchFamily="18" charset="0"/>
              </a:rPr>
              <a:t>Ensure: </a:t>
            </a:r>
            <a:r>
              <a:rPr lang="en-US">
                <a:latin typeface="Cambria" panose="02040503050406030204" pitchFamily="18" charset="0"/>
                <a:ea typeface="MS Mincho"/>
                <a:cs typeface="Times New Roman" panose="02020603050405020304" pitchFamily="18" charset="0"/>
              </a:rPr>
              <a:t>Derived rule base ℛ</a:t>
            </a:r>
          </a:p>
          <a:p>
            <a:pPr indent="355600">
              <a:spcAft>
                <a:spcPts val="1000"/>
              </a:spcAft>
            </a:pPr>
            <a:r>
              <a:rPr lang="en-US">
                <a:latin typeface="Cambria" panose="02040503050406030204" pitchFamily="18" charset="0"/>
                <a:ea typeface="MS Mincho"/>
                <a:cs typeface="Times New Roman" panose="02020603050405020304" pitchFamily="18" charset="0"/>
              </a:rPr>
              <a:t>1: Start with an empty rule collection: ℛ ← ∅</a:t>
            </a:r>
          </a:p>
          <a:p>
            <a:pPr indent="355600">
              <a:spcAft>
                <a:spcPts val="1000"/>
              </a:spcAft>
            </a:pPr>
            <a:r>
              <a:rPr lang="en-US">
                <a:latin typeface="Cambria" panose="02040503050406030204" pitchFamily="18" charset="0"/>
                <a:ea typeface="MS Mincho"/>
                <a:cs typeface="Times New Roman" panose="02020603050405020304" pitchFamily="18" charset="0"/>
              </a:rPr>
              <a:t>2: </a:t>
            </a:r>
            <a:r>
              <a:rPr lang="en-US">
                <a:latin typeface="Cambria" panose="02040503050406030204" pitchFamily="18" charset="0"/>
                <a:ea typeface="MS Mincho"/>
                <a:cs typeface="Times New Roman" panose="02020603050405020304" pitchFamily="18" charset="0"/>
              </a:rPr>
              <a:t>Define </a:t>
            </a:r>
            <a:r>
              <a:rPr lang="en-US" smtClean="0">
                <a:latin typeface="Cambria" panose="02040503050406030204" pitchFamily="18" charset="0"/>
                <a:ea typeface="MS Mincho"/>
                <a:cs typeface="Times New Roman" panose="02020603050405020304" pitchFamily="18" charset="0"/>
              </a:rPr>
              <a:t>𝒟</a:t>
            </a:r>
            <a:r>
              <a:rPr lang="en-US" baseline="-25000" smtClean="0">
                <a:latin typeface="Cambria" panose="02040503050406030204" pitchFamily="18" charset="0"/>
                <a:ea typeface="MS Mincho"/>
                <a:cs typeface="Times New Roman" panose="02020603050405020304" pitchFamily="18" charset="0"/>
              </a:rPr>
              <a:t>uncovered</a:t>
            </a:r>
            <a:r>
              <a:rPr lang="en-US" smtClean="0">
                <a:latin typeface="Cambria" panose="02040503050406030204" pitchFamily="18" charset="0"/>
                <a:ea typeface="MS Mincho"/>
                <a:cs typeface="Times New Roman" panose="02020603050405020304" pitchFamily="18" charset="0"/>
              </a:rPr>
              <a:t> </a:t>
            </a:r>
            <a:r>
              <a:rPr lang="en-US">
                <a:latin typeface="Cambria" panose="02040503050406030204" pitchFamily="18" charset="0"/>
                <a:ea typeface="MS Mincho"/>
                <a:cs typeface="Times New Roman" panose="02020603050405020304" pitchFamily="18" charset="0"/>
              </a:rPr>
              <a:t>← 𝒟 to represent instances not yet explained</a:t>
            </a:r>
          </a:p>
          <a:p>
            <a:pPr indent="355600">
              <a:spcAft>
                <a:spcPts val="1000"/>
              </a:spcAft>
            </a:pPr>
            <a:r>
              <a:rPr lang="en-US">
                <a:latin typeface="Cambria" panose="02040503050406030204" pitchFamily="18" charset="0"/>
                <a:ea typeface="MS Mincho"/>
                <a:cs typeface="Times New Roman" panose="02020603050405020304" pitchFamily="18" charset="0"/>
              </a:rPr>
              <a:t>3: </a:t>
            </a:r>
            <a:r>
              <a:rPr lang="en-US" b="1">
                <a:latin typeface="Cambria" panose="02040503050406030204" pitchFamily="18" charset="0"/>
                <a:ea typeface="MS Mincho"/>
                <a:cs typeface="Times New Roman" panose="02020603050405020304" pitchFamily="18" charset="0"/>
              </a:rPr>
              <a:t>while</a:t>
            </a:r>
            <a:r>
              <a:rPr lang="en-US">
                <a:latin typeface="Cambria" panose="02040503050406030204" pitchFamily="18" charset="0"/>
                <a:ea typeface="MS Mincho"/>
                <a:cs typeface="Times New Roman" panose="02020603050405020304" pitchFamily="18" charset="0"/>
              </a:rPr>
              <a:t> </a:t>
            </a:r>
            <a:r>
              <a:rPr lang="en-US" smtClean="0">
                <a:latin typeface="Cambria" panose="02040503050406030204" pitchFamily="18" charset="0"/>
                <a:ea typeface="MS Mincho"/>
                <a:cs typeface="Times New Roman" panose="02020603050405020304" pitchFamily="18" charset="0"/>
              </a:rPr>
              <a:t>𝒟</a:t>
            </a:r>
            <a:r>
              <a:rPr lang="en-US" baseline="-25000" smtClean="0">
                <a:latin typeface="Cambria" panose="02040503050406030204" pitchFamily="18" charset="0"/>
                <a:ea typeface="MS Mincho"/>
                <a:cs typeface="Times New Roman" panose="02020603050405020304" pitchFamily="18" charset="0"/>
              </a:rPr>
              <a:t>uncovered</a:t>
            </a:r>
            <a:r>
              <a:rPr lang="en-US" smtClean="0">
                <a:latin typeface="Cambria" panose="02040503050406030204" pitchFamily="18" charset="0"/>
                <a:ea typeface="MS Mincho"/>
                <a:cs typeface="Times New Roman" panose="02020603050405020304" pitchFamily="18" charset="0"/>
              </a:rPr>
              <a:t> </a:t>
            </a:r>
            <a:r>
              <a:rPr lang="en-US">
                <a:latin typeface="Cambria" panose="02040503050406030204" pitchFamily="18" charset="0"/>
                <a:ea typeface="MS Mincho"/>
                <a:cs typeface="Times New Roman" panose="02020603050405020304" pitchFamily="18" charset="0"/>
              </a:rPr>
              <a:t>≠ ∅ </a:t>
            </a:r>
            <a:r>
              <a:rPr lang="en-US" b="1">
                <a:latin typeface="Cambria" panose="02040503050406030204" pitchFamily="18" charset="0"/>
                <a:ea typeface="MS Mincho"/>
                <a:cs typeface="Times New Roman" panose="02020603050405020304" pitchFamily="18" charset="0"/>
              </a:rPr>
              <a:t>do</a:t>
            </a:r>
          </a:p>
          <a:p>
            <a:pPr indent="355600">
              <a:spcAft>
                <a:spcPts val="1000"/>
              </a:spcAft>
            </a:pPr>
            <a:r>
              <a:rPr lang="en-US">
                <a:latin typeface="Cambria" panose="02040503050406030204" pitchFamily="18" charset="0"/>
                <a:ea typeface="MS Mincho"/>
                <a:cs typeface="Times New Roman" panose="02020603050405020304" pitchFamily="18" charset="0"/>
              </a:rPr>
              <a:t>4</a:t>
            </a:r>
            <a:r>
              <a:rPr lang="en-US">
                <a:latin typeface="Cambria" panose="02040503050406030204" pitchFamily="18" charset="0"/>
                <a:ea typeface="MS Mincho"/>
                <a:cs typeface="Times New Roman" panose="02020603050405020304" pitchFamily="18" charset="0"/>
              </a:rPr>
              <a:t>: </a:t>
            </a:r>
            <a:r>
              <a:rPr lang="en-US" smtClean="0">
                <a:latin typeface="Cambria" panose="02040503050406030204" pitchFamily="18" charset="0"/>
                <a:ea typeface="MS Mincho"/>
                <a:cs typeface="Times New Roman" panose="02020603050405020304" pitchFamily="18" charset="0"/>
              </a:rPr>
              <a:t>     Induce </a:t>
            </a:r>
            <a:r>
              <a:rPr lang="en-US">
                <a:latin typeface="Cambria" panose="02040503050406030204" pitchFamily="18" charset="0"/>
                <a:ea typeface="MS Mincho"/>
                <a:cs typeface="Times New Roman" panose="02020603050405020304" pitchFamily="18" charset="0"/>
              </a:rPr>
              <a:t>a partial decision tree </a:t>
            </a:r>
            <a:r>
              <a:rPr lang="en-US">
                <a:latin typeface="Cambria" panose="02040503050406030204" pitchFamily="18" charset="0"/>
                <a:ea typeface="MS Mincho"/>
                <a:cs typeface="Times New Roman" panose="02020603050405020304" pitchFamily="18" charset="0"/>
              </a:rPr>
              <a:t>using </a:t>
            </a:r>
            <a:r>
              <a:rPr lang="en-US">
                <a:latin typeface="Cambria" panose="02040503050406030204" pitchFamily="18" charset="0"/>
                <a:ea typeface="MS Mincho"/>
                <a:cs typeface="Times New Roman" panose="02020603050405020304" pitchFamily="18" charset="0"/>
              </a:rPr>
              <a:t>𝒟</a:t>
            </a:r>
            <a:r>
              <a:rPr lang="en-US" baseline="-25000">
                <a:latin typeface="Cambria" panose="02040503050406030204" pitchFamily="18" charset="0"/>
                <a:ea typeface="MS Mincho"/>
                <a:cs typeface="Times New Roman" panose="02020603050405020304" pitchFamily="18" charset="0"/>
              </a:rPr>
              <a:t>uncovered</a:t>
            </a:r>
            <a:r>
              <a:rPr lang="en-US">
                <a:latin typeface="Cambria" panose="02040503050406030204" pitchFamily="18" charset="0"/>
                <a:ea typeface="MS Mincho"/>
                <a:cs typeface="Times New Roman" panose="02020603050405020304" pitchFamily="18" charset="0"/>
              </a:rPr>
              <a:t> </a:t>
            </a:r>
          </a:p>
          <a:p>
            <a:pPr indent="355600">
              <a:spcAft>
                <a:spcPts val="1000"/>
              </a:spcAft>
            </a:pPr>
            <a:r>
              <a:rPr lang="en-US">
                <a:latin typeface="Cambria" panose="02040503050406030204" pitchFamily="18" charset="0"/>
                <a:ea typeface="MS Mincho"/>
                <a:cs typeface="Times New Roman" panose="02020603050405020304" pitchFamily="18" charset="0"/>
              </a:rPr>
              <a:t>5</a:t>
            </a:r>
            <a:r>
              <a:rPr lang="en-US" smtClean="0">
                <a:latin typeface="Cambria" panose="02040503050406030204" pitchFamily="18" charset="0"/>
                <a:ea typeface="MS Mincho"/>
                <a:cs typeface="Times New Roman" panose="02020603050405020304" pitchFamily="18" charset="0"/>
              </a:rPr>
              <a:t>:</a:t>
            </a:r>
            <a:r>
              <a:rPr lang="en-US">
                <a:latin typeface="Cambria" panose="02040503050406030204" pitchFamily="18" charset="0"/>
                <a:ea typeface="MS Mincho"/>
                <a:cs typeface="Times New Roman" panose="02020603050405020304" pitchFamily="18" charset="0"/>
              </a:rPr>
              <a:t>  </a:t>
            </a:r>
            <a:r>
              <a:rPr lang="en-US" smtClean="0">
                <a:latin typeface="Cambria" panose="02040503050406030204" pitchFamily="18" charset="0"/>
                <a:ea typeface="MS Mincho"/>
                <a:cs typeface="Times New Roman" panose="02020603050405020304" pitchFamily="18" charset="0"/>
              </a:rPr>
              <a:t>    </a:t>
            </a:r>
            <a:r>
              <a:rPr lang="en-US">
                <a:latin typeface="Cambria" panose="02040503050406030204" pitchFamily="18" charset="0"/>
                <a:ea typeface="MS Mincho"/>
                <a:cs typeface="Times New Roman" panose="02020603050405020304" pitchFamily="18" charset="0"/>
              </a:rPr>
              <a:t>Select the most discriminative branch to form a provisional rule φ</a:t>
            </a:r>
          </a:p>
          <a:p>
            <a:pPr indent="355600">
              <a:spcAft>
                <a:spcPts val="1000"/>
              </a:spcAft>
            </a:pPr>
            <a:r>
              <a:rPr lang="en-US">
                <a:latin typeface="Cambria" panose="02040503050406030204" pitchFamily="18" charset="0"/>
                <a:ea typeface="MS Mincho"/>
                <a:cs typeface="Times New Roman" panose="02020603050405020304" pitchFamily="18" charset="0"/>
              </a:rPr>
              <a:t>6</a:t>
            </a:r>
            <a:r>
              <a:rPr lang="en-US">
                <a:latin typeface="Cambria" panose="02040503050406030204" pitchFamily="18" charset="0"/>
                <a:ea typeface="MS Mincho"/>
                <a:cs typeface="Times New Roman" panose="02020603050405020304" pitchFamily="18" charset="0"/>
              </a:rPr>
              <a:t>: </a:t>
            </a:r>
            <a:r>
              <a:rPr lang="en-US" smtClean="0">
                <a:latin typeface="Cambria" panose="02040503050406030204" pitchFamily="18" charset="0"/>
                <a:ea typeface="MS Mincho"/>
                <a:cs typeface="Times New Roman" panose="02020603050405020304" pitchFamily="18" charset="0"/>
              </a:rPr>
              <a:t>     Append </a:t>
            </a:r>
            <a:r>
              <a:rPr lang="en-US">
                <a:latin typeface="Cambria" panose="02040503050406030204" pitchFamily="18" charset="0"/>
                <a:ea typeface="MS Mincho"/>
                <a:cs typeface="Times New Roman" panose="02020603050405020304" pitchFamily="18" charset="0"/>
              </a:rPr>
              <a:t>φ into ℛ</a:t>
            </a:r>
          </a:p>
          <a:p>
            <a:pPr indent="355600">
              <a:spcAft>
                <a:spcPts val="1000"/>
              </a:spcAft>
            </a:pPr>
            <a:r>
              <a:rPr lang="en-US">
                <a:latin typeface="Cambria" panose="02040503050406030204" pitchFamily="18" charset="0"/>
                <a:ea typeface="MS Mincho"/>
                <a:cs typeface="Times New Roman" panose="02020603050405020304" pitchFamily="18" charset="0"/>
              </a:rPr>
              <a:t>7</a:t>
            </a:r>
            <a:r>
              <a:rPr lang="en-US">
                <a:latin typeface="Cambria" panose="02040503050406030204" pitchFamily="18" charset="0"/>
                <a:ea typeface="MS Mincho"/>
                <a:cs typeface="Times New Roman" panose="02020603050405020304" pitchFamily="18" charset="0"/>
              </a:rPr>
              <a:t>: </a:t>
            </a:r>
            <a:r>
              <a:rPr lang="en-US" smtClean="0">
                <a:latin typeface="Cambria" panose="02040503050406030204" pitchFamily="18" charset="0"/>
                <a:ea typeface="MS Mincho"/>
                <a:cs typeface="Times New Roman" panose="02020603050405020304" pitchFamily="18" charset="0"/>
              </a:rPr>
              <a:t>     Remove </a:t>
            </a:r>
            <a:r>
              <a:rPr lang="en-US">
                <a:latin typeface="Cambria" panose="02040503050406030204" pitchFamily="18" charset="0"/>
                <a:ea typeface="MS Mincho"/>
                <a:cs typeface="Times New Roman" panose="02020603050405020304" pitchFamily="18" charset="0"/>
              </a:rPr>
              <a:t>from </a:t>
            </a:r>
            <a:r>
              <a:rPr lang="en-US" smtClean="0">
                <a:latin typeface="Cambria" panose="02040503050406030204" pitchFamily="18" charset="0"/>
                <a:ea typeface="MS Mincho"/>
                <a:cs typeface="Times New Roman" panose="02020603050405020304" pitchFamily="18" charset="0"/>
              </a:rPr>
              <a:t>𝒟</a:t>
            </a:r>
            <a:r>
              <a:rPr lang="en-US" baseline="-25000" smtClean="0">
                <a:latin typeface="Cambria" panose="02040503050406030204" pitchFamily="18" charset="0"/>
                <a:ea typeface="MS Mincho"/>
                <a:cs typeface="Times New Roman" panose="02020603050405020304" pitchFamily="18" charset="0"/>
              </a:rPr>
              <a:t>uncovered</a:t>
            </a:r>
            <a:r>
              <a:rPr lang="en-US" smtClean="0">
                <a:latin typeface="Cambria" panose="02040503050406030204" pitchFamily="18" charset="0"/>
                <a:ea typeface="MS Mincho"/>
                <a:cs typeface="Times New Roman" panose="02020603050405020304" pitchFamily="18" charset="0"/>
              </a:rPr>
              <a:t> </a:t>
            </a:r>
            <a:r>
              <a:rPr lang="en-US">
                <a:latin typeface="Cambria" panose="02040503050406030204" pitchFamily="18" charset="0"/>
                <a:ea typeface="MS Mincho"/>
                <a:cs typeface="Times New Roman" panose="02020603050405020304" pitchFamily="18" charset="0"/>
              </a:rPr>
              <a:t>all samples covered by φ</a:t>
            </a:r>
          </a:p>
          <a:p>
            <a:pPr indent="355600">
              <a:spcAft>
                <a:spcPts val="1000"/>
              </a:spcAft>
            </a:pPr>
            <a:r>
              <a:rPr lang="en-US">
                <a:latin typeface="Cambria" panose="02040503050406030204" pitchFamily="18" charset="0"/>
                <a:ea typeface="MS Mincho"/>
                <a:cs typeface="Times New Roman" panose="02020603050405020304" pitchFamily="18" charset="0"/>
              </a:rPr>
              <a:t>8</a:t>
            </a:r>
            <a:r>
              <a:rPr lang="en-US">
                <a:latin typeface="Cambria" panose="02040503050406030204" pitchFamily="18" charset="0"/>
                <a:ea typeface="MS Mincho"/>
                <a:cs typeface="Times New Roman" panose="02020603050405020304" pitchFamily="18" charset="0"/>
              </a:rPr>
              <a:t>: </a:t>
            </a:r>
            <a:r>
              <a:rPr lang="en-US" smtClean="0">
                <a:latin typeface="Cambria" panose="02040503050406030204" pitchFamily="18" charset="0"/>
                <a:ea typeface="MS Mincho"/>
                <a:cs typeface="Times New Roman" panose="02020603050405020304" pitchFamily="18" charset="0"/>
              </a:rPr>
              <a:t>     Discard </a:t>
            </a:r>
            <a:r>
              <a:rPr lang="en-US">
                <a:latin typeface="Cambria" panose="02040503050406030204" pitchFamily="18" charset="0"/>
                <a:ea typeface="MS Mincho"/>
                <a:cs typeface="Times New Roman" panose="02020603050405020304" pitchFamily="18" charset="0"/>
              </a:rPr>
              <a:t>the remainder of the partial tree</a:t>
            </a:r>
          </a:p>
          <a:p>
            <a:pPr indent="355600">
              <a:spcAft>
                <a:spcPts val="1000"/>
              </a:spcAft>
            </a:pPr>
            <a:r>
              <a:rPr lang="en-US">
                <a:latin typeface="Cambria" panose="02040503050406030204" pitchFamily="18" charset="0"/>
                <a:ea typeface="MS Mincho"/>
                <a:cs typeface="Times New Roman" panose="02020603050405020304" pitchFamily="18" charset="0"/>
              </a:rPr>
              <a:t>9: </a:t>
            </a:r>
            <a:r>
              <a:rPr lang="en-US" b="1">
                <a:latin typeface="Cambria" panose="02040503050406030204" pitchFamily="18" charset="0"/>
                <a:ea typeface="MS Mincho"/>
                <a:cs typeface="Times New Roman" panose="02020603050405020304" pitchFamily="18" charset="0"/>
              </a:rPr>
              <a:t>end while</a:t>
            </a:r>
          </a:p>
          <a:p>
            <a:pPr indent="355600"/>
            <a:r>
              <a:rPr lang="en-US">
                <a:latin typeface="Cambria" panose="02040503050406030204" pitchFamily="18" charset="0"/>
                <a:ea typeface="MS Mincho"/>
                <a:cs typeface="Times New Roman" panose="02020603050405020304" pitchFamily="18" charset="0"/>
              </a:rPr>
              <a:t>10: </a:t>
            </a:r>
            <a:r>
              <a:rPr lang="en-US" b="1">
                <a:latin typeface="Cambria" panose="02040503050406030204" pitchFamily="18" charset="0"/>
                <a:ea typeface="MS Mincho"/>
                <a:cs typeface="Times New Roman" panose="02020603050405020304" pitchFamily="18" charset="0"/>
              </a:rPr>
              <a:t>return</a:t>
            </a:r>
            <a:r>
              <a:rPr lang="en-US">
                <a:latin typeface="Cambria" panose="02040503050406030204" pitchFamily="18" charset="0"/>
                <a:ea typeface="MS Mincho"/>
                <a:cs typeface="Times New Roman" panose="02020603050405020304" pitchFamily="18" charset="0"/>
              </a:rPr>
              <a:t> ℛ as the final constructed rule base</a:t>
            </a:r>
            <a:endParaRPr lang="en-US"/>
          </a:p>
        </p:txBody>
      </p:sp>
    </p:spTree>
    <p:extLst>
      <p:ext uri="{BB962C8B-B14F-4D97-AF65-F5344CB8AC3E}">
        <p14:creationId xmlns:p14="http://schemas.microsoft.com/office/powerpoint/2010/main" val="16372662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7" name="Picture 6">
            <a:extLst>
              <a:ext uri="{FF2B5EF4-FFF2-40B4-BE49-F238E27FC236}">
                <a16:creationId xmlns:a16="http://schemas.microsoft.com/office/drawing/2014/main" id="{99984626-8595-058C-A931-32F485D58EC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39373" y="873828"/>
            <a:ext cx="8510398" cy="3131184"/>
          </a:xfrm>
          <a:prstGeom prst="rect">
            <a:avLst/>
          </a:prstGeom>
        </p:spPr>
      </p:pic>
      <p:sp>
        <p:nvSpPr>
          <p:cNvPr id="8" name="TextBox 7">
            <a:extLst>
              <a:ext uri="{FF2B5EF4-FFF2-40B4-BE49-F238E27FC236}">
                <a16:creationId xmlns:a16="http://schemas.microsoft.com/office/drawing/2014/main" id="{8F7D32E5-2590-0108-44F1-78CDA336893B}"/>
              </a:ext>
            </a:extLst>
          </p:cNvPr>
          <p:cNvSpPr txBox="1"/>
          <p:nvPr/>
        </p:nvSpPr>
        <p:spPr>
          <a:xfrm>
            <a:off x="3560702" y="4005012"/>
            <a:ext cx="6098240" cy="369332"/>
          </a:xfrm>
          <a:prstGeom prst="rect">
            <a:avLst/>
          </a:prstGeom>
          <a:noFill/>
        </p:spPr>
        <p:txBody>
          <a:bodyPr wrap="square">
            <a:spAutoFit/>
          </a:bodyPr>
          <a:lstStyle/>
          <a:p>
            <a:pPr algn="ctr"/>
            <a:r>
              <a:rPr lang="en-US" i="1">
                <a:latin typeface="Cambria" panose="02040503050406030204" pitchFamily="18" charset="0"/>
                <a:ea typeface="Cambria" panose="02040503050406030204" pitchFamily="18" charset="0"/>
              </a:rPr>
              <a:t>Fig </a:t>
            </a:r>
            <a:r>
              <a:rPr lang="en-US" i="1" smtClean="0">
                <a:latin typeface="Cambria" panose="02040503050406030204" pitchFamily="18" charset="0"/>
                <a:ea typeface="Cambria" panose="02040503050406030204" pitchFamily="18" charset="0"/>
              </a:rPr>
              <a:t>9. </a:t>
            </a:r>
            <a:r>
              <a:rPr lang="en-US" i="1">
                <a:latin typeface="Cambria" panose="02040503050406030204" pitchFamily="18" charset="0"/>
                <a:ea typeface="Cambria" panose="02040503050406030204" pitchFamily="18" charset="0"/>
              </a:rPr>
              <a:t>Fuzzy inference system (FIS)[12]</a:t>
            </a:r>
          </a:p>
        </p:txBody>
      </p:sp>
      <mc:AlternateContent xmlns:mc="http://schemas.openxmlformats.org/markup-compatibility/2006">
        <mc:Choice xmlns:a14="http://schemas.microsoft.com/office/drawing/2010/main" Requires="a14">
          <p:sp>
            <p:nvSpPr>
              <p:cNvPr id="9" name="Rectangle 8"/>
              <p:cNvSpPr/>
              <p:nvPr/>
            </p:nvSpPr>
            <p:spPr>
              <a:xfrm>
                <a:off x="1073657" y="4405122"/>
                <a:ext cx="3332194" cy="17100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𝑀</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e>
                              <m:f>
                                <m:fPr>
                                  <m:ctrlPr>
                                    <a:rPr lang="en-US"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num>
                                <m:den>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den>
                              </m:f>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𝑏</m:t>
                              </m:r>
                            </m:e>
                            <m:e>
                              <m:f>
                                <m:fPr>
                                  <m:ctrlPr>
                                    <a:rPr lang="en-US" i="1" smtClean="0">
                                      <a:latin typeface="Cambria Math" panose="02040503050406030204" pitchFamily="18" charset="0"/>
                                    </a:rPr>
                                  </m:ctrlPr>
                                </m:fPr>
                                <m:num>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𝑥</m:t>
                                  </m:r>
                                </m:num>
                                <m:den>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𝑏</m:t>
                                  </m:r>
                                </m:den>
                              </m:f>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𝑏</m:t>
                              </m:r>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m:t>
                              </m:r>
                            </m:e>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𝑐</m:t>
                              </m:r>
                            </m:e>
                          </m:eqArr>
                        </m:e>
                      </m:d>
                    </m:oMath>
                  </m:oMathPara>
                </a14:m>
                <a:endParaRPr lang="en-US"/>
              </a:p>
            </p:txBody>
          </p:sp>
        </mc:Choice>
        <mc:Fallback>
          <p:sp>
            <p:nvSpPr>
              <p:cNvPr id="9" name="Rectangle 8"/>
              <p:cNvSpPr>
                <a:spLocks noRot="1" noChangeAspect="1" noMove="1" noResize="1" noEditPoints="1" noAdjustHandles="1" noChangeArrowheads="1" noChangeShapeType="1" noTextEdit="1"/>
              </p:cNvSpPr>
              <p:nvPr/>
            </p:nvSpPr>
            <p:spPr>
              <a:xfrm>
                <a:off x="1073657" y="4405122"/>
                <a:ext cx="3332194" cy="17100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958288" y="5121632"/>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(1)</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958288" y="5121632"/>
                <a:ext cx="424796" cy="276999"/>
              </a:xfrm>
              <a:prstGeom prst="rect">
                <a:avLst/>
              </a:prstGeom>
              <a:blipFill>
                <a:blip r:embed="rId5"/>
                <a:stretch>
                  <a:fillRect l="-7143" t="-2174" r="-20000" b="-32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6993611" y="4920390"/>
                <a:ext cx="1692258" cy="6794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atin typeface="Cambria" panose="02040503050406030204" pitchFamily="18" charset="0"/>
                          <a:ea typeface="MS Mincho"/>
                          <a:cs typeface="Times New Roman" panose="02020603050405020304" pitchFamily="18" charset="0"/>
                        </a:rPr>
                        <m:t>⊙</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𝑑𝑥</m:t>
                              </m:r>
                            </m:e>
                          </m:nary>
                        </m:num>
                        <m:den>
                          <m:nary>
                            <m:naryPr>
                              <m:limLoc m:val="undOvr"/>
                              <m:subHide m:val="on"/>
                              <m:supHide m:val="on"/>
                              <m:ctrlPr>
                                <a:rPr lang="en-US" i="1">
                                  <a:latin typeface="Cambria Math" panose="02040503050406030204" pitchFamily="18" charset="0"/>
                                </a:rPr>
                              </m:ctrlPr>
                            </m:naryPr>
                            <m:sub/>
                            <m:sup/>
                            <m:e>
                              <m:r>
                                <a:rPr lang="en-US" i="1" smtClean="0">
                                  <a:latin typeface="Cambria Math" panose="02040503050406030204" pitchFamily="18" charset="0"/>
                                  <a:ea typeface="Cambria Math" panose="02040503050406030204" pitchFamily="18" charset="0"/>
                                </a:rPr>
                                <m:t>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𝑑𝑥</m:t>
                              </m:r>
                            </m:e>
                          </m:nary>
                        </m:den>
                      </m:f>
                    </m:oMath>
                  </m:oMathPara>
                </a14:m>
                <a:endParaRPr lang="en-US"/>
              </a:p>
            </p:txBody>
          </p:sp>
        </mc:Choice>
        <mc:Fallback>
          <p:sp>
            <p:nvSpPr>
              <p:cNvPr id="11" name="TextBox 10"/>
              <p:cNvSpPr txBox="1">
                <a:spLocks noRot="1" noChangeAspect="1" noMove="1" noResize="1" noEditPoints="1" noAdjustHandles="1" noChangeArrowheads="1" noChangeShapeType="1" noTextEdit="1"/>
              </p:cNvSpPr>
              <p:nvPr/>
            </p:nvSpPr>
            <p:spPr>
              <a:xfrm>
                <a:off x="6993611" y="4920390"/>
                <a:ext cx="1692258" cy="67948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229536" y="5121632"/>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(2)</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0229536" y="5121632"/>
                <a:ext cx="424796" cy="276999"/>
              </a:xfrm>
              <a:prstGeom prst="rect">
                <a:avLst/>
              </a:prstGeom>
              <a:blipFill>
                <a:blip r:embed="rId7"/>
                <a:stretch>
                  <a:fillRect l="-7143" t="-2174" r="-20000" b="-32609"/>
                </a:stretch>
              </a:blipFill>
            </p:spPr>
            <p:txBody>
              <a:bodyPr/>
              <a:lstStyle/>
              <a:p>
                <a:r>
                  <a:rPr lang="en-US">
                    <a:noFill/>
                  </a:rPr>
                  <a:t> </a:t>
                </a:r>
              </a:p>
            </p:txBody>
          </p:sp>
        </mc:Fallback>
      </mc:AlternateContent>
    </p:spTree>
    <p:extLst>
      <p:ext uri="{BB962C8B-B14F-4D97-AF65-F5344CB8AC3E}">
        <p14:creationId xmlns:p14="http://schemas.microsoft.com/office/powerpoint/2010/main" val="9220527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4"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Evaluation metrics:</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mc:AlternateContent xmlns:mc="http://schemas.openxmlformats.org/markup-compatibility/2006" xmlns:a14="http://schemas.microsoft.com/office/drawing/2010/main">
        <mc:Choice Requires="a14">
          <p:sp>
            <p:nvSpPr>
              <p:cNvPr id="16" name="TextBox 15"/>
              <p:cNvSpPr txBox="1"/>
              <p:nvPr/>
            </p:nvSpPr>
            <p:spPr>
              <a:xfrm>
                <a:off x="950503" y="2972171"/>
                <a:ext cx="3357009"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𝐴</m:t>
                      </m:r>
                      <m:r>
                        <a:rPr lang="en-US" sz="2200" b="0" i="1" smtClean="0">
                          <a:latin typeface="Cambria Math" panose="02040503050406030204" pitchFamily="18" charset="0"/>
                        </a:rPr>
                        <m:t>𝑐𝑐</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r>
                            <a:rPr lang="en-US" sz="2200" b="0" i="1" smtClean="0">
                              <a:latin typeface="Cambria Math" panose="02040503050406030204" pitchFamily="18" charset="0"/>
                            </a:rPr>
                            <m:t>+</m:t>
                          </m:r>
                          <m:r>
                            <a:rPr lang="en-US" sz="2200" b="0" i="1" smtClean="0">
                              <a:latin typeface="Cambria Math" panose="02040503050406030204" pitchFamily="18" charset="0"/>
                            </a:rPr>
                            <m:t>𝐹𝑃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16" name="TextBox 15"/>
              <p:cNvSpPr txBox="1">
                <a:spLocks noRot="1" noChangeAspect="1" noMove="1" noResize="1" noEditPoints="1" noAdjustHandles="1" noChangeArrowheads="1" noChangeShapeType="1" noTextEdit="1"/>
              </p:cNvSpPr>
              <p:nvPr/>
            </p:nvSpPr>
            <p:spPr>
              <a:xfrm>
                <a:off x="950503" y="2972171"/>
                <a:ext cx="3357009" cy="6395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902612" y="1952716"/>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(3)</m:t>
                      </m:r>
                    </m:oMath>
                  </m:oMathPara>
                </a14:m>
                <a:endParaRPr lang="en-US"/>
              </a:p>
            </p:txBody>
          </p:sp>
        </mc:Choice>
        <mc:Fallback xmlns="">
          <p:sp>
            <p:nvSpPr>
              <p:cNvPr id="18" name="TextBox 17"/>
              <p:cNvSpPr txBox="1">
                <a:spLocks noRot="1" noChangeAspect="1" noMove="1" noResize="1" noEditPoints="1" noAdjustHandles="1" noChangeArrowheads="1" noChangeShapeType="1" noTextEdit="1"/>
              </p:cNvSpPr>
              <p:nvPr/>
            </p:nvSpPr>
            <p:spPr>
              <a:xfrm>
                <a:off x="4902612" y="1952716"/>
                <a:ext cx="424796" cy="276999"/>
              </a:xfrm>
              <a:prstGeom prst="rect">
                <a:avLst/>
              </a:prstGeom>
              <a:blipFill>
                <a:blip r:embed="rId4"/>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902612" y="3323150"/>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(5)</m:t>
                      </m:r>
                    </m:oMath>
                  </m:oMathPara>
                </a14:m>
                <a:endParaRPr lang="en-US"/>
              </a:p>
            </p:txBody>
          </p:sp>
        </mc:Choice>
        <mc:Fallback xmlns="">
          <p:sp>
            <p:nvSpPr>
              <p:cNvPr id="19" name="TextBox 18"/>
              <p:cNvSpPr txBox="1">
                <a:spLocks noRot="1" noChangeAspect="1" noMove="1" noResize="1" noEditPoints="1" noAdjustHandles="1" noChangeArrowheads="1" noChangeShapeType="1" noTextEdit="1"/>
              </p:cNvSpPr>
              <p:nvPr/>
            </p:nvSpPr>
            <p:spPr>
              <a:xfrm>
                <a:off x="4902612" y="3323150"/>
                <a:ext cx="424796" cy="276999"/>
              </a:xfrm>
              <a:prstGeom prst="rect">
                <a:avLst/>
              </a:prstGeom>
              <a:blipFill>
                <a:blip r:embed="rId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902612" y="4383732"/>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(7)</m:t>
                      </m:r>
                    </m:oMath>
                  </m:oMathPara>
                </a14:m>
                <a:endParaRPr lang="en-US"/>
              </a:p>
            </p:txBody>
          </p:sp>
        </mc:Choice>
        <mc:Fallback xmlns="">
          <p:sp>
            <p:nvSpPr>
              <p:cNvPr id="20" name="TextBox 19"/>
              <p:cNvSpPr txBox="1">
                <a:spLocks noRot="1" noChangeAspect="1" noMove="1" noResize="1" noEditPoints="1" noAdjustHandles="1" noChangeArrowheads="1" noChangeShapeType="1" noTextEdit="1"/>
              </p:cNvSpPr>
              <p:nvPr/>
            </p:nvSpPr>
            <p:spPr>
              <a:xfrm>
                <a:off x="4902612" y="4383732"/>
                <a:ext cx="424796" cy="276999"/>
              </a:xfrm>
              <a:prstGeom prst="rect">
                <a:avLst/>
              </a:prstGeom>
              <a:blipFill>
                <a:blip r:embed="rId6"/>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290852" y="1771448"/>
                <a:ext cx="267631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𝐹𝑃</m:t>
                          </m:r>
                        </m:den>
                      </m:f>
                    </m:oMath>
                  </m:oMathPara>
                </a14:m>
                <a:endParaRPr lang="en-US" sz="2200"/>
              </a:p>
            </p:txBody>
          </p:sp>
        </mc:Choice>
        <mc:Fallback xmlns="">
          <p:sp>
            <p:nvSpPr>
              <p:cNvPr id="21" name="TextBox 20"/>
              <p:cNvSpPr txBox="1">
                <a:spLocks noRot="1" noChangeAspect="1" noMove="1" noResize="1" noEditPoints="1" noAdjustHandles="1" noChangeArrowheads="1" noChangeShapeType="1" noTextEdit="1"/>
              </p:cNvSpPr>
              <p:nvPr/>
            </p:nvSpPr>
            <p:spPr>
              <a:xfrm>
                <a:off x="1290852" y="1771448"/>
                <a:ext cx="2676310" cy="63953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1165145" y="3206660"/>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(6)</m:t>
                      </m:r>
                    </m:oMath>
                  </m:oMathPara>
                </a14:m>
                <a:endParaRPr lang="en-US"/>
              </a:p>
            </p:txBody>
          </p:sp>
        </mc:Choice>
        <mc:Fallback xmlns="">
          <p:sp>
            <p:nvSpPr>
              <p:cNvPr id="22" name="TextBox 21"/>
              <p:cNvSpPr txBox="1">
                <a:spLocks noRot="1" noChangeAspect="1" noMove="1" noResize="1" noEditPoints="1" noAdjustHandles="1" noChangeArrowheads="1" noChangeShapeType="1" noTextEdit="1"/>
              </p:cNvSpPr>
              <p:nvPr/>
            </p:nvSpPr>
            <p:spPr>
              <a:xfrm>
                <a:off x="11165145" y="3206660"/>
                <a:ext cx="424796" cy="276999"/>
              </a:xfrm>
              <a:prstGeom prst="rect">
                <a:avLst/>
              </a:prstGeom>
              <a:blipFill>
                <a:blip r:embed="rId8"/>
                <a:stretch>
                  <a:fillRect l="-7246" t="-2222"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11165394" y="4417122"/>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(8)</m:t>
                      </m:r>
                    </m:oMath>
                  </m:oMathPara>
                </a14:m>
                <a:endParaRPr lang="en-US"/>
              </a:p>
            </p:txBody>
          </p:sp>
        </mc:Choice>
        <mc:Fallback xmlns="">
          <p:sp>
            <p:nvSpPr>
              <p:cNvPr id="24" name="TextBox 23"/>
              <p:cNvSpPr txBox="1">
                <a:spLocks noRot="1" noChangeAspect="1" noMove="1" noResize="1" noEditPoints="1" noAdjustHandles="1" noChangeArrowheads="1" noChangeShapeType="1" noTextEdit="1"/>
              </p:cNvSpPr>
              <p:nvPr/>
            </p:nvSpPr>
            <p:spPr>
              <a:xfrm>
                <a:off x="11165394" y="4417122"/>
                <a:ext cx="424796" cy="276999"/>
              </a:xfrm>
              <a:prstGeom prst="rect">
                <a:avLst/>
              </a:prstGeom>
              <a:blipFill>
                <a:blip r:embed="rId9"/>
                <a:stretch>
                  <a:fillRect l="-7246" t="-4444"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6121957" y="1750314"/>
                <a:ext cx="4482574" cy="648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𝐹</m:t>
                      </m:r>
                      <m:r>
                        <a:rPr lang="en-US" sz="2200" b="0" i="1" smtClean="0">
                          <a:latin typeface="Cambria Math" panose="02040503050406030204" pitchFamily="18" charset="0"/>
                        </a:rPr>
                        <m:t>1−</m:t>
                      </m:r>
                      <m:r>
                        <a:rPr lang="en-US" sz="2200" b="0" i="1" smtClean="0">
                          <a:latin typeface="Cambria Math" panose="02040503050406030204" pitchFamily="18" charset="0"/>
                        </a:rPr>
                        <m:t>𝑠𝑐𝑜𝑟𝑒</m:t>
                      </m:r>
                      <m:r>
                        <a:rPr lang="en-US" sz="2200" b="0" i="1" smtClean="0">
                          <a:latin typeface="Cambria Math" panose="02040503050406030204" pitchFamily="18" charset="0"/>
                        </a:rPr>
                        <m:t>=2</m:t>
                      </m:r>
                      <m:r>
                        <a:rPr lang="en-US" sz="2200" b="0" i="1" smtClean="0">
                          <a:latin typeface="Cambria Math" panose="02040503050406030204" pitchFamily="18" charset="0"/>
                        </a:rPr>
                        <m:t>𝑥</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𝑅𝑒𝑐𝑎𝑙𝑙</m:t>
                          </m:r>
                        </m:num>
                        <m:den>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𝑅𝑒𝑐𝑎𝑙𝑙</m:t>
                          </m:r>
                        </m:den>
                      </m:f>
                    </m:oMath>
                  </m:oMathPara>
                </a14:m>
                <a:endParaRPr lang="en-US" sz="2200"/>
              </a:p>
            </p:txBody>
          </p:sp>
        </mc:Choice>
        <mc:Fallback xmlns="">
          <p:sp>
            <p:nvSpPr>
              <p:cNvPr id="25" name="TextBox 24"/>
              <p:cNvSpPr txBox="1">
                <a:spLocks noRot="1" noChangeAspect="1" noMove="1" noResize="1" noEditPoints="1" noAdjustHandles="1" noChangeArrowheads="1" noChangeShapeType="1" noTextEdit="1"/>
              </p:cNvSpPr>
              <p:nvPr/>
            </p:nvSpPr>
            <p:spPr>
              <a:xfrm>
                <a:off x="6121957" y="1750314"/>
                <a:ext cx="4482574" cy="64844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11159543" y="1985758"/>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(4)</m:t>
                      </m:r>
                    </m:oMath>
                  </m:oMathPara>
                </a14:m>
                <a:endParaRPr lang="en-US"/>
              </a:p>
            </p:txBody>
          </p:sp>
        </mc:Choice>
        <mc:Fallback xmlns="">
          <p:sp>
            <p:nvSpPr>
              <p:cNvPr id="26" name="TextBox 25"/>
              <p:cNvSpPr txBox="1">
                <a:spLocks noRot="1" noChangeAspect="1" noMove="1" noResize="1" noEditPoints="1" noAdjustHandles="1" noChangeArrowheads="1" noChangeShapeType="1" noTextEdit="1"/>
              </p:cNvSpPr>
              <p:nvPr/>
            </p:nvSpPr>
            <p:spPr>
              <a:xfrm>
                <a:off x="11159543" y="1985758"/>
                <a:ext cx="424796" cy="276999"/>
              </a:xfrm>
              <a:prstGeom prst="rect">
                <a:avLst/>
              </a:prstGeom>
              <a:blipFill>
                <a:blip r:embed="rId11"/>
                <a:stretch>
                  <a:fillRect l="-7246" t="-4444"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1159543" y="5350585"/>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(9)</m:t>
                      </m:r>
                    </m:oMath>
                  </m:oMathPara>
                </a14:m>
                <a:endParaRPr lang="en-US"/>
              </a:p>
            </p:txBody>
          </p:sp>
        </mc:Choice>
        <mc:Fallback xmlns="">
          <p:sp>
            <p:nvSpPr>
              <p:cNvPr id="27" name="TextBox 26"/>
              <p:cNvSpPr txBox="1">
                <a:spLocks noRot="1" noChangeAspect="1" noMove="1" noResize="1" noEditPoints="1" noAdjustHandles="1" noChangeArrowheads="1" noChangeShapeType="1" noTextEdit="1"/>
              </p:cNvSpPr>
              <p:nvPr/>
            </p:nvSpPr>
            <p:spPr>
              <a:xfrm>
                <a:off x="11159543" y="5350585"/>
                <a:ext cx="424796" cy="276999"/>
              </a:xfrm>
              <a:prstGeom prst="rect">
                <a:avLst/>
              </a:prstGeom>
              <a:blipFill>
                <a:blip r:embed="rId12"/>
                <a:stretch>
                  <a:fillRect l="-7246" t="-4444" r="-21739" b="-35556"/>
                </a:stretch>
              </a:blipFill>
            </p:spPr>
            <p:txBody>
              <a:bodyPr/>
              <a:lstStyle/>
              <a:p>
                <a:r>
                  <a:rPr lang="en-US">
                    <a:noFill/>
                  </a:rPr>
                  <a:t> </a:t>
                </a:r>
              </a:p>
            </p:txBody>
          </p:sp>
        </mc:Fallback>
      </mc:AlternateContent>
      <p:pic>
        <p:nvPicPr>
          <p:cNvPr id="2" name="Picture 1"/>
          <p:cNvPicPr>
            <a:picLocks noChangeAspect="1"/>
          </p:cNvPicPr>
          <p:nvPr/>
        </p:nvPicPr>
        <p:blipFill>
          <a:blip r:embed="rId13"/>
          <a:stretch>
            <a:fillRect/>
          </a:stretch>
        </p:blipFill>
        <p:spPr>
          <a:xfrm>
            <a:off x="1026242" y="3864693"/>
            <a:ext cx="2572449" cy="2006510"/>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6991907" y="4096265"/>
                <a:ext cx="3839897" cy="6417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𝐷𝑖𝑐𝑒</m:t>
                      </m:r>
                      <m:r>
                        <a:rPr lang="en-US" sz="2200" b="0" i="1" smtClean="0">
                          <a:latin typeface="Cambria Math" panose="02040503050406030204" pitchFamily="18" charset="0"/>
                        </a:rPr>
                        <m:t> </m:t>
                      </m:r>
                      <m:r>
                        <a:rPr lang="en-US" sz="2200" b="0" i="1" smtClean="0">
                          <a:latin typeface="Cambria Math" panose="02040503050406030204" pitchFamily="18" charset="0"/>
                        </a:rPr>
                        <m:t>𝑐𝑜𝑒𝑓</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2 </m:t>
                          </m:r>
                          <m:r>
                            <a:rPr lang="en-US" sz="2200" b="0" i="1" smtClean="0">
                              <a:latin typeface="Cambria Math" panose="02040503050406030204" pitchFamily="18" charset="0"/>
                            </a:rPr>
                            <m:t>𝑥</m:t>
                          </m:r>
                          <m:r>
                            <a:rPr lang="en-US" sz="2200" b="0" i="1" smtClean="0">
                              <a:latin typeface="Cambria Math" panose="02040503050406030204" pitchFamily="18" charset="0"/>
                            </a:rPr>
                            <m:t> </m:t>
                          </m:r>
                          <m:r>
                            <a:rPr lang="en-US" sz="2200" b="0" i="1" smtClean="0">
                              <a:latin typeface="Cambria Math" panose="02040503050406030204" pitchFamily="18" charset="0"/>
                            </a:rPr>
                            <m:t>𝑇𝑃</m:t>
                          </m:r>
                        </m:num>
                        <m:den>
                          <m:r>
                            <a:rPr lang="en-US" sz="2200" b="0" i="1" smtClean="0">
                              <a:latin typeface="Cambria Math" panose="02040503050406030204" pitchFamily="18" charset="0"/>
                            </a:rPr>
                            <m:t>2 </m:t>
                          </m:r>
                          <m:r>
                            <a:rPr lang="en-US" sz="2200" b="0" i="1" smtClean="0">
                              <a:latin typeface="Cambria Math" panose="02040503050406030204" pitchFamily="18" charset="0"/>
                            </a:rPr>
                            <m:t>𝑥</m:t>
                          </m:r>
                          <m:r>
                            <a:rPr lang="en-US" sz="2200" b="0" i="1" smtClean="0">
                              <a:latin typeface="Cambria Math" panose="02040503050406030204" pitchFamily="18" charset="0"/>
                            </a:rPr>
                            <m:t> </m:t>
                          </m:r>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6" name="TextBox 5"/>
              <p:cNvSpPr txBox="1">
                <a:spLocks noRot="1" noChangeAspect="1" noMove="1" noResize="1" noEditPoints="1" noAdjustHandles="1" noChangeArrowheads="1" noChangeShapeType="1" noTextEdit="1"/>
              </p:cNvSpPr>
              <p:nvPr/>
            </p:nvSpPr>
            <p:spPr>
              <a:xfrm>
                <a:off x="6991907" y="4096265"/>
                <a:ext cx="3839897" cy="64171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450237" y="5289030"/>
                <a:ext cx="3381567"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𝐷𝑖𝑐𝑒</m:t>
                      </m:r>
                      <m:r>
                        <a:rPr lang="en-US" sz="2200" b="0" i="1" smtClean="0">
                          <a:latin typeface="Cambria Math" panose="02040503050406030204" pitchFamily="18" charset="0"/>
                        </a:rPr>
                        <m:t> </m:t>
                      </m:r>
                      <m:r>
                        <a:rPr lang="en-US" sz="2200" b="0" i="1" smtClean="0">
                          <a:latin typeface="Cambria Math" panose="02040503050406030204" pitchFamily="18" charset="0"/>
                        </a:rPr>
                        <m:t>𝐿𝑜𝑠𝑠</m:t>
                      </m:r>
                      <m:r>
                        <a:rPr lang="en-US" sz="2200" b="0" i="1" smtClean="0">
                          <a:latin typeface="Cambria Math" panose="02040503050406030204" pitchFamily="18" charset="0"/>
                        </a:rPr>
                        <m:t>=1 −</m:t>
                      </m:r>
                      <m:r>
                        <a:rPr lang="en-US" sz="2200" b="0" i="1" smtClean="0">
                          <a:latin typeface="Cambria Math" panose="02040503050406030204" pitchFamily="18" charset="0"/>
                        </a:rPr>
                        <m:t>𝐷𝑖𝑐𝑒</m:t>
                      </m:r>
                      <m:r>
                        <a:rPr lang="en-US" sz="2200" b="0" i="1" smtClean="0">
                          <a:latin typeface="Cambria Math" panose="02040503050406030204" pitchFamily="18" charset="0"/>
                        </a:rPr>
                        <m:t> </m:t>
                      </m:r>
                      <m:r>
                        <a:rPr lang="en-US" sz="2200" b="0" i="1" smtClean="0">
                          <a:latin typeface="Cambria Math" panose="02040503050406030204" pitchFamily="18" charset="0"/>
                        </a:rPr>
                        <m:t>𝑐𝑜𝑒𝑓</m:t>
                      </m:r>
                    </m:oMath>
                  </m:oMathPara>
                </a14:m>
                <a:endParaRPr lang="en-US" sz="2200"/>
              </a:p>
            </p:txBody>
          </p:sp>
        </mc:Choice>
        <mc:Fallback xmlns="">
          <p:sp>
            <p:nvSpPr>
              <p:cNvPr id="7" name="TextBox 6"/>
              <p:cNvSpPr txBox="1">
                <a:spLocks noRot="1" noChangeAspect="1" noMove="1" noResize="1" noEditPoints="1" noAdjustHandles="1" noChangeArrowheads="1" noChangeShapeType="1" noTextEdit="1"/>
              </p:cNvSpPr>
              <p:nvPr/>
            </p:nvSpPr>
            <p:spPr>
              <a:xfrm>
                <a:off x="7450237" y="5289030"/>
                <a:ext cx="3381567" cy="338554"/>
              </a:xfrm>
              <a:prstGeom prst="rect">
                <a:avLst/>
              </a:prstGeom>
              <a:blipFill>
                <a:blip r:embed="rId15"/>
                <a:stretch>
                  <a:fillRect l="-1441" r="-2342" b="-3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592086" y="2868812"/>
                <a:ext cx="2125262" cy="9519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𝑚𝐴𝑃</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1</m:t>
                          </m:r>
                        </m:num>
                        <m:den>
                          <m:r>
                            <a:rPr lang="en-US" sz="2200" b="0" i="1" smtClean="0">
                              <a:latin typeface="Cambria Math" panose="02040503050406030204" pitchFamily="18" charset="0"/>
                            </a:rPr>
                            <m:t>𝑁</m:t>
                          </m:r>
                        </m:den>
                      </m:f>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𝑁</m:t>
                          </m:r>
                        </m:sup>
                        <m:e>
                          <m:r>
                            <a:rPr lang="en-US" sz="2200" b="0" i="1" smtClean="0">
                              <a:latin typeface="Cambria Math" panose="02040503050406030204" pitchFamily="18" charset="0"/>
                            </a:rPr>
                            <m:t>𝐴</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𝑃</m:t>
                              </m:r>
                            </m:e>
                            <m:sub>
                              <m:r>
                                <a:rPr lang="en-US" sz="2200" b="0" i="1" smtClean="0">
                                  <a:latin typeface="Cambria Math" panose="02040503050406030204" pitchFamily="18" charset="0"/>
                                </a:rPr>
                                <m:t>𝑖</m:t>
                              </m:r>
                            </m:sub>
                          </m:sSub>
                        </m:e>
                      </m:nary>
                    </m:oMath>
                  </m:oMathPara>
                </a14:m>
                <a:endParaRPr lang="en-US" sz="2200"/>
              </a:p>
            </p:txBody>
          </p:sp>
        </mc:Choice>
        <mc:Fallback xmlns="">
          <p:sp>
            <p:nvSpPr>
              <p:cNvPr id="8" name="TextBox 7"/>
              <p:cNvSpPr txBox="1">
                <a:spLocks noRot="1" noChangeAspect="1" noMove="1" noResize="1" noEditPoints="1" noAdjustHandles="1" noChangeArrowheads="1" noChangeShapeType="1" noTextEdit="1"/>
              </p:cNvSpPr>
              <p:nvPr/>
            </p:nvSpPr>
            <p:spPr>
              <a:xfrm>
                <a:off x="7592086" y="2868812"/>
                <a:ext cx="2125262" cy="951927"/>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246826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6129868"/>
            <a:ext cx="11596466" cy="399115"/>
          </a:xfrm>
        </p:spPr>
        <p:txBody>
          <a:bodyPr>
            <a:noAutofit/>
          </a:bodyPr>
          <a:lstStyle/>
          <a:p>
            <a:pPr marL="0" indent="0" algn="ctr">
              <a:buNone/>
            </a:pPr>
            <a:r>
              <a:rPr lang="en-US" sz="1800" i="1"/>
              <a:t>Fig </a:t>
            </a:r>
            <a:r>
              <a:rPr lang="en-US" sz="1800" i="1" smtClean="0"/>
              <a:t>10. </a:t>
            </a:r>
            <a:r>
              <a:rPr lang="en-US" sz="1800" i="1"/>
              <a:t>The proposed model for breast cancer segmentation and classification</a:t>
            </a:r>
            <a:endParaRPr lang="en-US" sz="1800" i="1" smtClean="0"/>
          </a:p>
        </p:txBody>
      </p:sp>
      <p:sp>
        <p:nvSpPr>
          <p:cNvPr id="3" name="Title 2"/>
          <p:cNvSpPr>
            <a:spLocks noGrp="1"/>
          </p:cNvSpPr>
          <p:nvPr>
            <p:ph type="title"/>
          </p:nvPr>
        </p:nvSpPr>
        <p:spPr/>
        <p:txBody>
          <a:bodyPr/>
          <a:lstStyle/>
          <a:p>
            <a:r>
              <a:rPr lang="en-US" smtClean="0"/>
              <a:t>3. Proposed Method</a:t>
            </a:r>
            <a:endParaRPr lang="en-US"/>
          </a:p>
        </p:txBody>
      </p:sp>
      <p:pic>
        <p:nvPicPr>
          <p:cNvPr id="5" name="Picture 4"/>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82824" y="851648"/>
            <a:ext cx="11604377" cy="5298755"/>
          </a:xfrm>
          <a:prstGeom prst="rect">
            <a:avLst/>
          </a:prstGeom>
        </p:spPr>
      </p:pic>
    </p:spTree>
    <p:extLst>
      <p:ext uri="{BB962C8B-B14F-4D97-AF65-F5344CB8AC3E}">
        <p14:creationId xmlns:p14="http://schemas.microsoft.com/office/powerpoint/2010/main" val="7078088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3. Proposed Method</a:t>
            </a:r>
            <a:endParaRPr lang="en-US"/>
          </a:p>
        </p:txBody>
      </p:sp>
      <p:sp>
        <p:nvSpPr>
          <p:cNvPr id="5" name="Content Placeholder 1"/>
          <p:cNvSpPr txBox="1">
            <a:spLocks/>
          </p:cNvSpPr>
          <p:nvPr/>
        </p:nvSpPr>
        <p:spPr>
          <a:xfrm>
            <a:off x="235993" y="1046210"/>
            <a:ext cx="11596466" cy="52362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Tx/>
              <a:buChar char="-"/>
            </a:pPr>
            <a:r>
              <a:rPr lang="en-US" sz="2000" b="1" smtClean="0"/>
              <a:t>Data </a:t>
            </a:r>
            <a:r>
              <a:rPr lang="en-US" sz="2000" b="1"/>
              <a:t>preprocessing:</a:t>
            </a:r>
            <a:r>
              <a:rPr lang="en-US" sz="2000"/>
              <a:t> Each input image is resized to </a:t>
            </a:r>
            <a:r>
              <a:rPr lang="en-US" sz="2000" smtClean="0"/>
              <a:t>224x224 pixels, saved </a:t>
            </a:r>
            <a:r>
              <a:rPr lang="en-US" sz="2000"/>
              <a:t>in .jpg format, and normalized prior to training. </a:t>
            </a:r>
            <a:r>
              <a:rPr lang="en-US" sz="2000" smtClean="0"/>
              <a:t>The </a:t>
            </a:r>
            <a:r>
              <a:rPr lang="en-US" sz="2000"/>
              <a:t>input data is preprocessed using a number of techniques such as cropping, image enhancement, and data augmentation (flip, rotate, zoom, etc</a:t>
            </a:r>
            <a:r>
              <a:rPr lang="en-US" sz="2000" smtClean="0"/>
              <a:t>.).</a:t>
            </a:r>
          </a:p>
          <a:p>
            <a:pPr algn="just">
              <a:buFontTx/>
              <a:buChar char="-"/>
            </a:pPr>
            <a:r>
              <a:rPr lang="en-US" sz="2000" b="1"/>
              <a:t>Feature Extraction and Rule Generation</a:t>
            </a:r>
            <a:r>
              <a:rPr lang="en-US" sz="2000"/>
              <a:t>: After pre-processing, </a:t>
            </a:r>
            <a:r>
              <a:rPr lang="en-US" sz="2000" smtClean="0"/>
              <a:t>the images </a:t>
            </a:r>
            <a:r>
              <a:rPr lang="en-US" sz="2000"/>
              <a:t>are fed into deep learning models to extract relevant features. </a:t>
            </a:r>
            <a:r>
              <a:rPr lang="en-US" sz="2000" smtClean="0"/>
              <a:t>These features </a:t>
            </a:r>
            <a:r>
              <a:rPr lang="en-US" sz="2000"/>
              <a:t>are then transformed into rule sets through the application of the </a:t>
            </a:r>
            <a:r>
              <a:rPr lang="en-US" sz="2000" smtClean="0"/>
              <a:t>JRIP and </a:t>
            </a:r>
            <a:r>
              <a:rPr lang="en-US" sz="2000"/>
              <a:t>PART algorithms</a:t>
            </a:r>
            <a:endParaRPr lang="en-US" sz="2000" smtClean="0"/>
          </a:p>
          <a:p>
            <a:pPr marL="0" indent="0" algn="just">
              <a:buNone/>
            </a:pPr>
            <a:r>
              <a:rPr lang="en-US" sz="2000" b="1" smtClean="0"/>
              <a:t>- </a:t>
            </a:r>
            <a:r>
              <a:rPr lang="en-US" sz="2000" b="1"/>
              <a:t>Classification and Interpretation with </a:t>
            </a:r>
            <a:r>
              <a:rPr lang="en-US" sz="2000" b="1"/>
              <a:t>FIS: </a:t>
            </a:r>
            <a:r>
              <a:rPr lang="en-US" sz="2000"/>
              <a:t>The system is trained using features obtained from U-Net and DeepLabv3+ models, which are converted into fuzzy </a:t>
            </a:r>
            <a:r>
              <a:rPr lang="en-US" sz="2000"/>
              <a:t>rules</a:t>
            </a:r>
            <a:r>
              <a:rPr lang="en-US" sz="2000"/>
              <a:t>. These rules associate fuzzy inputs with their corresponding class labels and define the membership functions for each feature. During inference, features from unseen images are fuzzified and processed through the FIS to generate fuzzy outputs. A defuzzification step is then performed using the weighted average method, producing crisp classification results.</a:t>
            </a:r>
            <a:endParaRPr lang="en-US" sz="2000" smtClean="0"/>
          </a:p>
          <a:p>
            <a:pPr marL="0" indent="0" algn="just">
              <a:buNone/>
            </a:pPr>
            <a:r>
              <a:rPr lang="en-US" sz="2000" b="1" smtClean="0"/>
              <a:t>- </a:t>
            </a:r>
            <a:r>
              <a:rPr lang="en-US" sz="2000" b="1"/>
              <a:t>Explanation of Grad-CAM </a:t>
            </a:r>
            <a:r>
              <a:rPr lang="en-US" sz="2000" b="1"/>
              <a:t>Heatmap: </a:t>
            </a:r>
            <a:r>
              <a:rPr lang="en-US" sz="2000"/>
              <a:t>The heatmap intensity ranges from 0.0 (Blue regions) to 1.0 (Red regions). Intermediate values from 0.0 to 1.0 (shades of green to yellow) represent varying levels of attention or suspicion for potential abnormalities.</a:t>
            </a:r>
            <a:endParaRPr lang="en-US" sz="2000"/>
          </a:p>
        </p:txBody>
      </p:sp>
    </p:spTree>
    <p:extLst>
      <p:ext uri="{BB962C8B-B14F-4D97-AF65-F5344CB8AC3E}">
        <p14:creationId xmlns:p14="http://schemas.microsoft.com/office/powerpoint/2010/main" val="12015152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3. Proposed Method</a:t>
            </a:r>
            <a:endParaRPr lang="en-US"/>
          </a:p>
        </p:txBody>
      </p:sp>
      <p:sp>
        <p:nvSpPr>
          <p:cNvPr id="2" name="Rectangle 1"/>
          <p:cNvSpPr/>
          <p:nvPr/>
        </p:nvSpPr>
        <p:spPr>
          <a:xfrm>
            <a:off x="1304483" y="628128"/>
            <a:ext cx="8408477" cy="5423536"/>
          </a:xfrm>
          <a:prstGeom prst="rect">
            <a:avLst/>
          </a:prstGeom>
        </p:spPr>
        <p:txBody>
          <a:bodyPr wrap="square">
            <a:spAutoFit/>
          </a:bodyPr>
          <a:lstStyle/>
          <a:p>
            <a:pPr>
              <a:lnSpc>
                <a:spcPct val="115000"/>
              </a:lnSpc>
              <a:spcBef>
                <a:spcPts val="1000"/>
              </a:spcBef>
              <a:spcAft>
                <a:spcPts val="0"/>
              </a:spcAft>
            </a:pPr>
            <a:r>
              <a:rPr lang="en-US" sz="1400" b="1">
                <a:solidFill>
                  <a:srgbClr val="4F81BD"/>
                </a:solidFill>
                <a:latin typeface="Calibri" panose="020F0502020204030204" pitchFamily="34" charset="0"/>
                <a:ea typeface="MS Gothic" panose="020B0609070205080204" pitchFamily="49" charset="-128"/>
                <a:cs typeface="Times New Roman" panose="02020603050405020304" pitchFamily="18" charset="0"/>
              </a:rPr>
              <a:t>Algorithm 3  Classification using Fuzzy Inference System (FIS) with Grad-CAM Integration</a:t>
            </a:r>
          </a:p>
          <a:p>
            <a:pPr>
              <a:lnSpc>
                <a:spcPct val="115000"/>
              </a:lnSpc>
              <a:spcAft>
                <a:spcPts val="1000"/>
              </a:spcAft>
            </a:pPr>
            <a:r>
              <a:rPr lang="en-US" sz="1400" b="1">
                <a:latin typeface="Cambria" panose="02040503050406030204" pitchFamily="18" charset="0"/>
                <a:ea typeface="MS Mincho"/>
                <a:cs typeface="Times New Roman" panose="02020603050405020304" pitchFamily="18" charset="0"/>
              </a:rPr>
              <a:t>Input: </a:t>
            </a:r>
            <a:r>
              <a:rPr lang="en-US" sz="1400">
                <a:latin typeface="Cambria" panose="02040503050406030204" pitchFamily="18" charset="0"/>
                <a:ea typeface="MS Mincho"/>
                <a:cs typeface="Times New Roman" panose="02020603050405020304" pitchFamily="18" charset="0"/>
              </a:rPr>
              <a:t>Trained model </a:t>
            </a:r>
            <a:r>
              <a:rPr lang="en-US" sz="1400" b="1" i="1">
                <a:latin typeface="Cambria" panose="02040503050406030204" pitchFamily="18" charset="0"/>
                <a:ea typeface="MS Mincho"/>
                <a:cs typeface="Times New Roman" panose="02020603050405020304" pitchFamily="18" charset="0"/>
              </a:rPr>
              <a:t>T</a:t>
            </a:r>
            <a:r>
              <a:rPr lang="en-US" sz="1400">
                <a:latin typeface="Cambria" panose="02040503050406030204" pitchFamily="18" charset="0"/>
                <a:ea typeface="MS Mincho"/>
                <a:cs typeface="Times New Roman" panose="02020603050405020304" pitchFamily="18" charset="0"/>
              </a:rPr>
              <a:t>, feature vector of the test </a:t>
            </a:r>
            <a:r>
              <a:rPr lang="en-US" sz="1400">
                <a:latin typeface="Cambria" panose="02040503050406030204" pitchFamily="18" charset="0"/>
                <a:ea typeface="MS Mincho"/>
                <a:cs typeface="Times New Roman" panose="02020603050405020304" pitchFamily="18" charset="0"/>
              </a:rPr>
              <a:t>sample </a:t>
            </a:r>
            <a:r>
              <a:rPr lang="en-US" sz="1400" b="1" i="1" smtClean="0">
                <a:latin typeface="Cambria" panose="02040503050406030204" pitchFamily="18" charset="0"/>
                <a:ea typeface="MS Mincho"/>
                <a:cs typeface="Times New Roman" panose="02020603050405020304" pitchFamily="18" charset="0"/>
              </a:rPr>
              <a:t>X</a:t>
            </a:r>
            <a:r>
              <a:rPr lang="en-US" sz="1400" b="1" i="1" baseline="-25000" smtClean="0">
                <a:latin typeface="Cambria" panose="02040503050406030204" pitchFamily="18" charset="0"/>
                <a:ea typeface="MS Mincho"/>
                <a:cs typeface="Times New Roman" panose="02020603050405020304" pitchFamily="18" charset="0"/>
              </a:rPr>
              <a:t>test</a:t>
            </a:r>
            <a:r>
              <a:rPr lang="en-US" sz="1400">
                <a:latin typeface="Cambria" panose="02040503050406030204" pitchFamily="18" charset="0"/>
                <a:ea typeface="MS Mincho"/>
                <a:cs typeface="Times New Roman" panose="02020603050405020304" pitchFamily="18" charset="0"/>
              </a:rPr>
              <a:t>, </a:t>
            </a:r>
            <a:r>
              <a:rPr lang="en-US" sz="1400" b="1" i="1">
                <a:latin typeface="Cambria" panose="02040503050406030204" pitchFamily="18" charset="0"/>
                <a:ea typeface="MS Mincho"/>
                <a:cs typeface="Times New Roman" panose="02020603050405020304" pitchFamily="18" charset="0"/>
              </a:rPr>
              <a:t>FIS</a:t>
            </a:r>
            <a:r>
              <a:rPr lang="en-US" sz="1400">
                <a:latin typeface="Cambria" panose="02040503050406030204" pitchFamily="18" charset="0"/>
                <a:ea typeface="MS Mincho"/>
                <a:cs typeface="Times New Roman" panose="02020603050405020304" pitchFamily="18" charset="0"/>
              </a:rPr>
              <a:t/>
            </a:r>
            <a:br>
              <a:rPr lang="en-US" sz="1400">
                <a:latin typeface="Cambria" panose="02040503050406030204" pitchFamily="18" charset="0"/>
                <a:ea typeface="MS Mincho"/>
                <a:cs typeface="Times New Roman" panose="02020603050405020304" pitchFamily="18" charset="0"/>
              </a:rPr>
            </a:br>
            <a:r>
              <a:rPr lang="en-US" sz="1400" b="1">
                <a:latin typeface="Cambria" panose="02040503050406030204" pitchFamily="18" charset="0"/>
                <a:ea typeface="MS Mincho"/>
                <a:cs typeface="Times New Roman" panose="02020603050405020304" pitchFamily="18" charset="0"/>
              </a:rPr>
              <a:t>Output: </a:t>
            </a:r>
            <a:r>
              <a:rPr lang="en-US" sz="1400">
                <a:latin typeface="Cambria" panose="02040503050406030204" pitchFamily="18" charset="0"/>
                <a:ea typeface="MS Mincho"/>
                <a:cs typeface="Times New Roman" panose="02020603050405020304" pitchFamily="18" charset="0"/>
              </a:rPr>
              <a:t>Predicted </a:t>
            </a:r>
            <a:r>
              <a:rPr lang="en-US" sz="1400">
                <a:latin typeface="Cambria" panose="02040503050406030204" pitchFamily="18" charset="0"/>
                <a:ea typeface="MS Mincho"/>
                <a:cs typeface="Times New Roman" panose="02020603050405020304" pitchFamily="18" charset="0"/>
              </a:rPr>
              <a:t>label </a:t>
            </a:r>
            <a:r>
              <a:rPr lang="en-US" sz="1400" b="1" i="1" smtClean="0">
                <a:latin typeface="Cambria" panose="02040503050406030204" pitchFamily="18" charset="0"/>
                <a:ea typeface="MS Mincho"/>
                <a:cs typeface="Times New Roman" panose="02020603050405020304" pitchFamily="18" charset="0"/>
              </a:rPr>
              <a:t>C</a:t>
            </a:r>
            <a:endParaRPr lang="en-US" sz="1400" b="1" i="1">
              <a:latin typeface="Cambria" panose="02040503050406030204" pitchFamily="18" charset="0"/>
              <a:ea typeface="MS Mincho"/>
              <a:cs typeface="Times New Roman" panose="02020603050405020304" pitchFamily="18" charset="0"/>
            </a:endParaRP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 </a:t>
            </a:r>
            <a:r>
              <a:rPr lang="en-US" sz="1400">
                <a:latin typeface="Cambria" panose="02040503050406030204" pitchFamily="18" charset="0"/>
                <a:ea typeface="MS Mincho"/>
                <a:cs typeface="Times New Roman" panose="02020603050405020304" pitchFamily="18" charset="0"/>
              </a:rPr>
              <a:t>Standardize </a:t>
            </a:r>
            <a:r>
              <a:rPr lang="en-US" sz="1400" b="1" i="1" smtClean="0">
                <a:latin typeface="Cambria" panose="02040503050406030204" pitchFamily="18" charset="0"/>
                <a:ea typeface="MS Mincho"/>
                <a:cs typeface="Times New Roman" panose="02020603050405020304" pitchFamily="18" charset="0"/>
              </a:rPr>
              <a:t>X</a:t>
            </a:r>
            <a:r>
              <a:rPr lang="en-US" sz="1400" b="1" i="1" baseline="-25000" smtClean="0">
                <a:latin typeface="Cambria" panose="02040503050406030204" pitchFamily="18" charset="0"/>
                <a:ea typeface="MS Mincho"/>
                <a:cs typeface="Times New Roman" panose="02020603050405020304" pitchFamily="18" charset="0"/>
              </a:rPr>
              <a:t>test</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so that all attributes are comparable in scale.</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2: Create an empty container </a:t>
            </a:r>
            <a:r>
              <a:rPr lang="en-US" sz="1400" b="1" i="1">
                <a:latin typeface="Cambria" panose="02040503050406030204" pitchFamily="18" charset="0"/>
                <a:ea typeface="MS Mincho"/>
                <a:cs typeface="Times New Roman" panose="02020603050405020304" pitchFamily="18" charset="0"/>
              </a:rPr>
              <a:t>Fuzzy_values</a:t>
            </a:r>
            <a:r>
              <a:rPr lang="en-US" sz="1400">
                <a:latin typeface="Cambria" panose="02040503050406030204" pitchFamily="18" charset="0"/>
                <a:ea typeface="MS Mincho"/>
                <a:cs typeface="Times New Roman" panose="02020603050405020304" pitchFamily="18" charset="0"/>
              </a:rPr>
              <a:t> to store membership responses.</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3: </a:t>
            </a:r>
            <a:r>
              <a:rPr lang="en-US" sz="1400" b="1">
                <a:latin typeface="Cambria" panose="02040503050406030204" pitchFamily="18" charset="0"/>
                <a:ea typeface="MS Mincho"/>
                <a:cs typeface="Times New Roman" panose="02020603050405020304" pitchFamily="18" charset="0"/>
              </a:rPr>
              <a:t>for</a:t>
            </a:r>
            <a:r>
              <a:rPr lang="en-US" sz="1400">
                <a:latin typeface="Cambria" panose="02040503050406030204" pitchFamily="18" charset="0"/>
                <a:ea typeface="MS Mincho"/>
                <a:cs typeface="Times New Roman" panose="02020603050405020304" pitchFamily="18" charset="0"/>
              </a:rPr>
              <a:t> each </a:t>
            </a:r>
            <a:r>
              <a:rPr lang="en-US" sz="1400">
                <a:latin typeface="Cambria" panose="02040503050406030204" pitchFamily="18" charset="0"/>
                <a:ea typeface="MS Mincho"/>
                <a:cs typeface="Times New Roman" panose="02020603050405020304" pitchFamily="18" charset="0"/>
              </a:rPr>
              <a:t>component </a:t>
            </a:r>
            <a:r>
              <a:rPr lang="en-US" sz="1400" b="1" i="1" smtClean="0">
                <a:latin typeface="Cambria" panose="02040503050406030204" pitchFamily="18" charset="0"/>
                <a:ea typeface="MS Mincho"/>
                <a:cs typeface="Times New Roman" panose="02020603050405020304" pitchFamily="18" charset="0"/>
              </a:rPr>
              <a:t>x</a:t>
            </a:r>
            <a:r>
              <a:rPr lang="en-US" sz="1400" b="1" i="1" baseline="-25000" smtClean="0">
                <a:latin typeface="Cambria" panose="02040503050406030204" pitchFamily="18" charset="0"/>
                <a:ea typeface="MS Mincho"/>
                <a:cs typeface="Times New Roman" panose="02020603050405020304" pitchFamily="18" charset="0"/>
              </a:rPr>
              <a:t>i</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in </a:t>
            </a:r>
            <a:r>
              <a:rPr lang="en-US" sz="1400" b="1" i="1" smtClean="0">
                <a:latin typeface="Cambria" panose="02040503050406030204" pitchFamily="18" charset="0"/>
                <a:ea typeface="MS Mincho"/>
                <a:cs typeface="Times New Roman" panose="02020603050405020304" pitchFamily="18" charset="0"/>
              </a:rPr>
              <a:t>X</a:t>
            </a:r>
            <a:r>
              <a:rPr lang="en-US" sz="1400" b="1" i="1" baseline="-25000" smtClean="0">
                <a:latin typeface="Cambria" panose="02040503050406030204" pitchFamily="18" charset="0"/>
                <a:ea typeface="MS Mincho"/>
                <a:cs typeface="Times New Roman" panose="02020603050405020304" pitchFamily="18" charset="0"/>
              </a:rPr>
              <a:t>test</a:t>
            </a:r>
            <a:r>
              <a:rPr lang="en-US" sz="1400" smtClean="0">
                <a:latin typeface="Cambria" panose="02040503050406030204" pitchFamily="18" charset="0"/>
                <a:ea typeface="MS Mincho"/>
                <a:cs typeface="Times New Roman" panose="02020603050405020304" pitchFamily="18" charset="0"/>
              </a:rPr>
              <a:t> </a:t>
            </a:r>
            <a:r>
              <a:rPr lang="en-US" sz="1400" b="1">
                <a:latin typeface="Cambria" panose="02040503050406030204" pitchFamily="18" charset="0"/>
                <a:ea typeface="MS Mincho"/>
                <a:cs typeface="Times New Roman" panose="02020603050405020304" pitchFamily="18" charset="0"/>
              </a:rPr>
              <a:t>do</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4:     </a:t>
            </a:r>
            <a:r>
              <a:rPr lang="en-US" sz="1400" b="1">
                <a:latin typeface="Cambria" panose="02040503050406030204" pitchFamily="18" charset="0"/>
                <a:ea typeface="MS Mincho"/>
                <a:cs typeface="Times New Roman" panose="02020603050405020304" pitchFamily="18" charset="0"/>
              </a:rPr>
              <a:t>for</a:t>
            </a:r>
            <a:r>
              <a:rPr lang="en-US" sz="1400">
                <a:latin typeface="Cambria" panose="02040503050406030204" pitchFamily="18" charset="0"/>
                <a:ea typeface="MS Mincho"/>
                <a:cs typeface="Times New Roman" panose="02020603050405020304" pitchFamily="18" charset="0"/>
              </a:rPr>
              <a:t> each fuzzy </a:t>
            </a:r>
            <a:r>
              <a:rPr lang="en-US" sz="1400">
                <a:latin typeface="Cambria" panose="02040503050406030204" pitchFamily="18" charset="0"/>
                <a:ea typeface="MS Mincho"/>
                <a:cs typeface="Times New Roman" panose="02020603050405020304" pitchFamily="18" charset="0"/>
              </a:rPr>
              <a:t>set </a:t>
            </a:r>
            <a:r>
              <a:rPr lang="en-US" sz="1400" b="1" i="1" smtClean="0">
                <a:latin typeface="Cambria" panose="02040503050406030204" pitchFamily="18" charset="0"/>
                <a:ea typeface="MS Mincho"/>
                <a:cs typeface="Times New Roman" panose="02020603050405020304" pitchFamily="18" charset="0"/>
              </a:rPr>
              <a:t>A</a:t>
            </a:r>
            <a:r>
              <a:rPr lang="en-US" sz="1400" b="1" i="1" baseline="-25000" smtClean="0">
                <a:latin typeface="Cambria" panose="02040503050406030204" pitchFamily="18" charset="0"/>
                <a:ea typeface="MS Mincho"/>
                <a:cs typeface="Times New Roman" panose="02020603050405020304" pitchFamily="18" charset="0"/>
              </a:rPr>
              <a:t>k</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defined in FIS </a:t>
            </a:r>
            <a:r>
              <a:rPr lang="en-US" sz="1400" b="1">
                <a:latin typeface="Cambria" panose="02040503050406030204" pitchFamily="18" charset="0"/>
                <a:ea typeface="MS Mincho"/>
                <a:cs typeface="Times New Roman" panose="02020603050405020304" pitchFamily="18" charset="0"/>
              </a:rPr>
              <a:t>do</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5:         Evaluate the degree of </a:t>
            </a:r>
            <a:r>
              <a:rPr lang="en-US" sz="1400">
                <a:latin typeface="Cambria" panose="02040503050406030204" pitchFamily="18" charset="0"/>
                <a:ea typeface="MS Mincho"/>
                <a:cs typeface="Times New Roman" panose="02020603050405020304" pitchFamily="18" charset="0"/>
              </a:rPr>
              <a:t>membership </a:t>
            </a:r>
            <a:r>
              <a:rPr lang="en-US" sz="1400" b="1" i="1" smtClean="0">
                <a:latin typeface="Cambria" panose="02040503050406030204" pitchFamily="18" charset="0"/>
                <a:ea typeface="MS Mincho"/>
                <a:cs typeface="Times New Roman" panose="02020603050405020304" pitchFamily="18" charset="0"/>
              </a:rPr>
              <a:t>θ</a:t>
            </a:r>
            <a:r>
              <a:rPr lang="en-US" sz="1400" b="1" i="1" baseline="-25000" smtClean="0">
                <a:latin typeface="Cambria" panose="02040503050406030204" pitchFamily="18" charset="0"/>
                <a:ea typeface="MS Mincho"/>
                <a:cs typeface="Times New Roman" panose="02020603050405020304" pitchFamily="18" charset="0"/>
              </a:rPr>
              <a:t>Mk</a:t>
            </a:r>
            <a:r>
              <a:rPr lang="en-US" sz="1400" b="1" i="1" smtClean="0">
                <a:latin typeface="Cambria" panose="02040503050406030204" pitchFamily="18" charset="0"/>
                <a:ea typeface="MS Mincho"/>
                <a:cs typeface="Times New Roman" panose="02020603050405020304" pitchFamily="18" charset="0"/>
              </a:rPr>
              <a:t>(x</a:t>
            </a:r>
            <a:r>
              <a:rPr lang="en-US" sz="1400" b="1" i="1" baseline="-25000" smtClean="0">
                <a:latin typeface="Cambria" panose="02040503050406030204" pitchFamily="18" charset="0"/>
                <a:ea typeface="MS Mincho"/>
                <a:cs typeface="Times New Roman" panose="02020603050405020304" pitchFamily="18" charset="0"/>
              </a:rPr>
              <a:t>i</a:t>
            </a:r>
            <a:r>
              <a:rPr lang="en-US" sz="1400" b="1" i="1">
                <a:latin typeface="Cambria" panose="02040503050406030204" pitchFamily="18" charset="0"/>
                <a:ea typeface="MS Mincho"/>
                <a:cs typeface="Times New Roman" panose="02020603050405020304" pitchFamily="18" charset="0"/>
              </a:rPr>
              <a:t>)</a:t>
            </a:r>
            <a:r>
              <a:rPr lang="en-US" sz="1400">
                <a:latin typeface="Cambria" panose="02040503050406030204" pitchFamily="18" charset="0"/>
                <a:ea typeface="MS Mincho"/>
                <a:cs typeface="Times New Roman" panose="02020603050405020304" pitchFamily="18" charset="0"/>
              </a:rPr>
              <a:t> via the membership function </a:t>
            </a:r>
            <a:r>
              <a:rPr lang="en-US" sz="1400" b="1" i="1">
                <a:latin typeface="Cambria" panose="02040503050406030204" pitchFamily="18" charset="0"/>
                <a:ea typeface="MS Mincho"/>
                <a:cs typeface="Times New Roman" panose="02020603050405020304" pitchFamily="18" charset="0"/>
              </a:rPr>
              <a:t>(Eq. 1)</a:t>
            </a:r>
            <a:r>
              <a:rPr lang="en-US" sz="1400">
                <a:latin typeface="Cambria" panose="02040503050406030204" pitchFamily="18" charset="0"/>
                <a:ea typeface="MS Mincho"/>
                <a:cs typeface="Times New Roman" panose="02020603050405020304" pitchFamily="18" charset="0"/>
              </a:rPr>
              <a:t>.</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6:         </a:t>
            </a:r>
            <a:r>
              <a:rPr lang="en-US" sz="1400">
                <a:latin typeface="Cambria" panose="02040503050406030204" pitchFamily="18" charset="0"/>
                <a:ea typeface="MS Mincho"/>
                <a:cs typeface="Times New Roman" panose="02020603050405020304" pitchFamily="18" charset="0"/>
              </a:rPr>
              <a:t>Store </a:t>
            </a:r>
            <a:r>
              <a:rPr lang="en-US" sz="1400" b="1" i="1">
                <a:latin typeface="Cambria" panose="02040503050406030204" pitchFamily="18" charset="0"/>
                <a:ea typeface="MS Mincho"/>
                <a:cs typeface="Times New Roman" panose="02020603050405020304" pitchFamily="18" charset="0"/>
              </a:rPr>
              <a:t>θ</a:t>
            </a:r>
            <a:r>
              <a:rPr lang="en-US" sz="1400" b="1" i="1" baseline="-25000">
                <a:latin typeface="Cambria" panose="02040503050406030204" pitchFamily="18" charset="0"/>
                <a:ea typeface="MS Mincho"/>
                <a:cs typeface="Times New Roman" panose="02020603050405020304" pitchFamily="18" charset="0"/>
              </a:rPr>
              <a:t>Mk</a:t>
            </a:r>
            <a:r>
              <a:rPr lang="en-US" sz="1400" b="1" i="1">
                <a:latin typeface="Cambria" panose="02040503050406030204" pitchFamily="18" charset="0"/>
                <a:ea typeface="MS Mincho"/>
                <a:cs typeface="Times New Roman" panose="02020603050405020304" pitchFamily="18" charset="0"/>
              </a:rPr>
              <a:t>(x</a:t>
            </a:r>
            <a:r>
              <a:rPr lang="en-US" sz="1400" b="1" i="1" baseline="-25000">
                <a:latin typeface="Cambria" panose="02040503050406030204" pitchFamily="18" charset="0"/>
                <a:ea typeface="MS Mincho"/>
                <a:cs typeface="Times New Roman" panose="02020603050405020304" pitchFamily="18" charset="0"/>
              </a:rPr>
              <a:t>i</a:t>
            </a:r>
            <a:r>
              <a:rPr lang="en-US" sz="1400" b="1" i="1">
                <a:latin typeface="Cambria" panose="02040503050406030204" pitchFamily="18" charset="0"/>
                <a:ea typeface="MS Mincho"/>
                <a:cs typeface="Times New Roman" panose="02020603050405020304" pitchFamily="18" charset="0"/>
              </a:rPr>
              <a:t>)</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into </a:t>
            </a:r>
            <a:r>
              <a:rPr lang="en-US" sz="1400" b="1" i="1">
                <a:latin typeface="Cambria" panose="02040503050406030204" pitchFamily="18" charset="0"/>
                <a:ea typeface="MS Mincho"/>
                <a:cs typeface="Times New Roman" panose="02020603050405020304" pitchFamily="18" charset="0"/>
              </a:rPr>
              <a:t>Fuzzy_values</a:t>
            </a:r>
            <a:r>
              <a:rPr lang="en-US" sz="1400">
                <a:latin typeface="Cambria" panose="02040503050406030204" pitchFamily="18" charset="0"/>
                <a:ea typeface="MS Mincho"/>
                <a:cs typeface="Times New Roman" panose="02020603050405020304" pitchFamily="18" charset="0"/>
              </a:rPr>
              <a:t>.</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7:     </a:t>
            </a:r>
            <a:r>
              <a:rPr lang="en-US" sz="1400" b="1">
                <a:latin typeface="Cambria" panose="02040503050406030204" pitchFamily="18" charset="0"/>
                <a:ea typeface="MS Mincho"/>
                <a:cs typeface="Times New Roman" panose="02020603050405020304" pitchFamily="18" charset="0"/>
              </a:rPr>
              <a:t>end for</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8: </a:t>
            </a:r>
            <a:r>
              <a:rPr lang="en-US" sz="1400" b="1">
                <a:latin typeface="Cambria" panose="02040503050406030204" pitchFamily="18" charset="0"/>
                <a:ea typeface="MS Mincho"/>
                <a:cs typeface="Times New Roman" panose="02020603050405020304" pitchFamily="18" charset="0"/>
              </a:rPr>
              <a:t>end for</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9: </a:t>
            </a:r>
            <a:r>
              <a:rPr lang="en-US" sz="1400">
                <a:latin typeface="Cambria" panose="02040503050406030204" pitchFamily="18" charset="0"/>
                <a:ea typeface="MS Mincho"/>
                <a:cs typeface="Times New Roman" panose="02020603050405020304" pitchFamily="18" charset="0"/>
              </a:rPr>
              <a:t>Initialize </a:t>
            </a:r>
            <a:r>
              <a:rPr lang="en-US" sz="1400" b="1" i="1" smtClean="0">
                <a:latin typeface="Cambria" panose="02040503050406030204" pitchFamily="18" charset="0"/>
                <a:ea typeface="MS Mincho"/>
                <a:cs typeface="Times New Roman" panose="02020603050405020304" pitchFamily="18" charset="0"/>
              </a:rPr>
              <a:t>Rule</a:t>
            </a:r>
            <a:r>
              <a:rPr lang="en-US" sz="1400" b="1" i="1" baseline="-25000" smtClean="0">
                <a:latin typeface="Cambria" panose="02040503050406030204" pitchFamily="18" charset="0"/>
                <a:ea typeface="MS Mincho"/>
                <a:cs typeface="Times New Roman" panose="02020603050405020304" pitchFamily="18" charset="0"/>
              </a:rPr>
              <a:t>activations</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as an empty list.</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10: </a:t>
            </a:r>
            <a:r>
              <a:rPr lang="en-US" sz="1400" b="1">
                <a:latin typeface="Cambria" panose="02040503050406030204" pitchFamily="18" charset="0"/>
                <a:ea typeface="MS Mincho"/>
                <a:cs typeface="Times New Roman" panose="02020603050405020304" pitchFamily="18" charset="0"/>
              </a:rPr>
              <a:t>for</a:t>
            </a:r>
            <a:r>
              <a:rPr lang="en-US" sz="1400">
                <a:latin typeface="Cambria" panose="02040503050406030204" pitchFamily="18" charset="0"/>
                <a:ea typeface="MS Mincho"/>
                <a:cs typeface="Times New Roman" panose="02020603050405020304" pitchFamily="18" charset="0"/>
              </a:rPr>
              <a:t> every rule </a:t>
            </a:r>
            <a:r>
              <a:rPr lang="en-US" sz="1400" b="1" i="1">
                <a:latin typeface="Cambria" panose="02040503050406030204" pitchFamily="18" charset="0"/>
                <a:ea typeface="MS Mincho"/>
                <a:cs typeface="Times New Roman" panose="02020603050405020304" pitchFamily="18" charset="0"/>
              </a:rPr>
              <a:t>R</a:t>
            </a:r>
            <a:r>
              <a:rPr lang="en-US" sz="1400">
                <a:latin typeface="Cambria" panose="02040503050406030204" pitchFamily="18" charset="0"/>
                <a:ea typeface="MS Mincho"/>
                <a:cs typeface="Times New Roman" panose="02020603050405020304" pitchFamily="18" charset="0"/>
              </a:rPr>
              <a:t> encoded in </a:t>
            </a:r>
            <a:r>
              <a:rPr lang="en-US" sz="1400" b="1" i="1">
                <a:latin typeface="Cambria" panose="02040503050406030204" pitchFamily="18" charset="0"/>
                <a:ea typeface="MS Mincho"/>
                <a:cs typeface="Times New Roman" panose="02020603050405020304" pitchFamily="18" charset="0"/>
              </a:rPr>
              <a:t>FIS</a:t>
            </a:r>
            <a:r>
              <a:rPr lang="en-US" sz="1400">
                <a:latin typeface="Cambria" panose="02040503050406030204" pitchFamily="18" charset="0"/>
                <a:ea typeface="MS Mincho"/>
                <a:cs typeface="Times New Roman" panose="02020603050405020304" pitchFamily="18" charset="0"/>
              </a:rPr>
              <a:t> </a:t>
            </a:r>
            <a:r>
              <a:rPr lang="en-US" sz="1400" b="1">
                <a:latin typeface="Cambria" panose="02040503050406030204" pitchFamily="18" charset="0"/>
                <a:ea typeface="MS Mincho"/>
                <a:cs typeface="Times New Roman" panose="02020603050405020304" pitchFamily="18" charset="0"/>
              </a:rPr>
              <a:t>do</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11:     Derive the firing strength of </a:t>
            </a:r>
            <a:r>
              <a:rPr lang="en-US" sz="1400" b="1" i="1">
                <a:latin typeface="Cambria" panose="02040503050406030204" pitchFamily="18" charset="0"/>
                <a:ea typeface="MS Mincho"/>
                <a:cs typeface="Times New Roman" panose="02020603050405020304" pitchFamily="18" charset="0"/>
              </a:rPr>
              <a:t>R</a:t>
            </a:r>
            <a:r>
              <a:rPr lang="en-US" sz="1400">
                <a:latin typeface="Cambria" panose="02040503050406030204" pitchFamily="18" charset="0"/>
                <a:ea typeface="MS Mincho"/>
                <a:cs typeface="Times New Roman" panose="02020603050405020304" pitchFamily="18" charset="0"/>
              </a:rPr>
              <a:t> using </a:t>
            </a:r>
            <a:r>
              <a:rPr lang="en-US" sz="1400" b="1" i="1">
                <a:latin typeface="Cambria" panose="02040503050406030204" pitchFamily="18" charset="0"/>
                <a:ea typeface="MS Mincho"/>
                <a:cs typeface="Times New Roman" panose="02020603050405020304" pitchFamily="18" charset="0"/>
              </a:rPr>
              <a:t>Fuzzy_values</a:t>
            </a:r>
            <a:r>
              <a:rPr lang="en-US" sz="1400">
                <a:latin typeface="Cambria" panose="02040503050406030204" pitchFamily="18" charset="0"/>
                <a:ea typeface="MS Mincho"/>
                <a:cs typeface="Times New Roman" panose="02020603050405020304" pitchFamily="18" charset="0"/>
              </a:rPr>
              <a:t> with fuzzy operators.</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12:     Record this strength </a:t>
            </a:r>
            <a:r>
              <a:rPr lang="en-US" sz="1400">
                <a:latin typeface="Cambria" panose="02040503050406030204" pitchFamily="18" charset="0"/>
                <a:ea typeface="MS Mincho"/>
                <a:cs typeface="Times New Roman" panose="02020603050405020304" pitchFamily="18" charset="0"/>
              </a:rPr>
              <a:t>into </a:t>
            </a:r>
            <a:r>
              <a:rPr lang="en-US" sz="1400" b="1" i="1" smtClean="0">
                <a:latin typeface="Cambria" panose="02040503050406030204" pitchFamily="18" charset="0"/>
                <a:ea typeface="MS Mincho"/>
                <a:cs typeface="Times New Roman" panose="02020603050405020304" pitchFamily="18" charset="0"/>
              </a:rPr>
              <a:t>Rule</a:t>
            </a:r>
            <a:r>
              <a:rPr lang="en-US" sz="1400" b="1" i="1" baseline="-25000" smtClean="0">
                <a:latin typeface="Cambria" panose="02040503050406030204" pitchFamily="18" charset="0"/>
                <a:ea typeface="MS Mincho"/>
                <a:cs typeface="Times New Roman" panose="02020603050405020304" pitchFamily="18" charset="0"/>
              </a:rPr>
              <a:t>activations</a:t>
            </a:r>
            <a:endParaRPr lang="en-US" sz="1400" b="1">
              <a:latin typeface="Cambria" panose="02040503050406030204" pitchFamily="18" charset="0"/>
              <a:ea typeface="MS Mincho"/>
              <a:cs typeface="Times New Roman" panose="02020603050405020304" pitchFamily="18" charset="0"/>
            </a:endParaRP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13: </a:t>
            </a:r>
            <a:r>
              <a:rPr lang="en-US" sz="1400" b="1">
                <a:latin typeface="Cambria" panose="02040503050406030204" pitchFamily="18" charset="0"/>
                <a:ea typeface="MS Mincho"/>
                <a:cs typeface="Times New Roman" panose="02020603050405020304" pitchFamily="18" charset="0"/>
              </a:rPr>
              <a:t>end for</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14: Combine the elements </a:t>
            </a:r>
            <a:r>
              <a:rPr lang="en-US" sz="1400">
                <a:latin typeface="Cambria" panose="02040503050406030204" pitchFamily="18" charset="0"/>
                <a:ea typeface="MS Mincho"/>
                <a:cs typeface="Times New Roman" panose="02020603050405020304" pitchFamily="18" charset="0"/>
              </a:rPr>
              <a:t>in </a:t>
            </a:r>
            <a:r>
              <a:rPr lang="en-US" sz="1400" b="1" i="1" smtClean="0">
                <a:latin typeface="Cambria" panose="02040503050406030204" pitchFamily="18" charset="0"/>
                <a:ea typeface="MS Mincho"/>
                <a:cs typeface="Times New Roman" panose="02020603050405020304" pitchFamily="18" charset="0"/>
              </a:rPr>
              <a:t>Rule</a:t>
            </a:r>
            <a:r>
              <a:rPr lang="en-US" sz="1400" b="1" i="1" baseline="-25000" smtClean="0">
                <a:latin typeface="Cambria" panose="02040503050406030204" pitchFamily="18" charset="0"/>
                <a:ea typeface="MS Mincho"/>
                <a:cs typeface="Times New Roman" panose="02020603050405020304" pitchFamily="18" charset="0"/>
              </a:rPr>
              <a:t>activations</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to obtain crisp decision </a:t>
            </a:r>
            <a:r>
              <a:rPr lang="en-US" sz="1400">
                <a:latin typeface="Cambria" panose="02040503050406030204" pitchFamily="18" charset="0"/>
                <a:ea typeface="MS Mincho"/>
                <a:cs typeface="Times New Roman" panose="02020603050405020304" pitchFamily="18" charset="0"/>
              </a:rPr>
              <a:t>scores </a:t>
            </a:r>
            <a:r>
              <a:rPr lang="en-US" sz="1400" b="1" i="1" smtClean="0">
                <a:latin typeface="Cambria" panose="02040503050406030204" pitchFamily="18" charset="0"/>
                <a:ea typeface="MS Mincho"/>
                <a:cs typeface="Times New Roman" panose="02020603050405020304" pitchFamily="18" charset="0"/>
              </a:rPr>
              <a:t>Sc</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for all classes.</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15: </a:t>
            </a:r>
            <a:r>
              <a:rPr lang="en-US" sz="1400">
                <a:latin typeface="Cambria" panose="02040503050406030204" pitchFamily="18" charset="0"/>
                <a:ea typeface="MS Mincho"/>
                <a:cs typeface="Times New Roman" panose="02020603050405020304" pitchFamily="18" charset="0"/>
              </a:rPr>
              <a:t>Translate </a:t>
            </a:r>
            <a:r>
              <a:rPr lang="en-US" sz="1400" b="1" i="1">
                <a:latin typeface="Cambria" panose="02040503050406030204" pitchFamily="18" charset="0"/>
                <a:ea typeface="MS Mincho"/>
                <a:cs typeface="Times New Roman" panose="02020603050405020304" pitchFamily="18" charset="0"/>
              </a:rPr>
              <a:t>Sc</a:t>
            </a:r>
            <a:r>
              <a:rPr lang="en-US" sz="1400" smtClean="0">
                <a:latin typeface="Cambria" panose="02040503050406030204" pitchFamily="18" charset="0"/>
                <a:ea typeface="MS Mincho"/>
                <a:cs typeface="Times New Roman" panose="02020603050405020304" pitchFamily="18" charset="0"/>
              </a:rPr>
              <a:t> </a:t>
            </a:r>
            <a:r>
              <a:rPr lang="en-US" sz="1400">
                <a:latin typeface="Cambria" panose="02040503050406030204" pitchFamily="18" charset="0"/>
                <a:ea typeface="MS Mincho"/>
                <a:cs typeface="Times New Roman" panose="02020603050405020304" pitchFamily="18" charset="0"/>
              </a:rPr>
              <a:t>into final numerical outputs using ⊙ defuzzification method </a:t>
            </a:r>
            <a:r>
              <a:rPr lang="en-US" sz="1400" b="1" i="1">
                <a:latin typeface="Cambria" panose="02040503050406030204" pitchFamily="18" charset="0"/>
                <a:ea typeface="MS Mincho"/>
                <a:cs typeface="Times New Roman" panose="02020603050405020304" pitchFamily="18" charset="0"/>
              </a:rPr>
              <a:t>(Eq. 2)</a:t>
            </a:r>
            <a:r>
              <a:rPr lang="en-US" sz="1400">
                <a:latin typeface="Cambria" panose="02040503050406030204" pitchFamily="18" charset="0"/>
                <a:ea typeface="MS Mincho"/>
                <a:cs typeface="Times New Roman" panose="02020603050405020304" pitchFamily="18" charset="0"/>
              </a:rPr>
              <a:t>.</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16: Execute Grad-CAM on </a:t>
            </a:r>
            <a:r>
              <a:rPr lang="en-US" sz="1400" b="1" i="1">
                <a:latin typeface="Cambria" panose="02040503050406030204" pitchFamily="18" charset="0"/>
                <a:ea typeface="MS Mincho"/>
                <a:cs typeface="Times New Roman" panose="02020603050405020304" pitchFamily="18" charset="0"/>
              </a:rPr>
              <a:t>T</a:t>
            </a:r>
            <a:r>
              <a:rPr lang="en-US" sz="1400">
                <a:latin typeface="Cambria" panose="02040503050406030204" pitchFamily="18" charset="0"/>
                <a:ea typeface="MS Mincho"/>
                <a:cs typeface="Times New Roman" panose="02020603050405020304" pitchFamily="18" charset="0"/>
              </a:rPr>
              <a:t> to generate heatmaps highlighting regions that influenced the prediction.</a:t>
            </a:r>
          </a:p>
          <a:p>
            <a:pPr marL="304800">
              <a:lnSpc>
                <a:spcPct val="115000"/>
              </a:lnSpc>
              <a:spcAft>
                <a:spcPts val="0"/>
              </a:spcAft>
            </a:pPr>
            <a:r>
              <a:rPr lang="en-US" sz="1400">
                <a:latin typeface="Cambria" panose="02040503050406030204" pitchFamily="18" charset="0"/>
                <a:ea typeface="MS Mincho"/>
                <a:cs typeface="Times New Roman" panose="02020603050405020304" pitchFamily="18" charset="0"/>
              </a:rPr>
              <a:t>17: Assign the output label as </a:t>
            </a:r>
            <a:r>
              <a:rPr lang="en-US" sz="1400" b="1" i="1">
                <a:latin typeface="Cambria" panose="02040503050406030204" pitchFamily="18" charset="0"/>
                <a:ea typeface="MS Mincho"/>
                <a:cs typeface="Times New Roman" panose="02020603050405020304" pitchFamily="18" charset="0"/>
              </a:rPr>
              <a:t>C</a:t>
            </a:r>
            <a:r>
              <a:rPr lang="en-US" sz="1400">
                <a:latin typeface="Cambria" panose="02040503050406030204" pitchFamily="18" charset="0"/>
                <a:ea typeface="MS Mincho"/>
                <a:cs typeface="Times New Roman" panose="02020603050405020304" pitchFamily="18" charset="0"/>
              </a:rPr>
              <a:t> ← arg </a:t>
            </a:r>
            <a:r>
              <a:rPr lang="en-US" sz="1400">
                <a:latin typeface="Cambria" panose="02040503050406030204" pitchFamily="18" charset="0"/>
                <a:ea typeface="MS Mincho"/>
                <a:cs typeface="Times New Roman" panose="02020603050405020304" pitchFamily="18" charset="0"/>
              </a:rPr>
              <a:t>max </a:t>
            </a:r>
            <a:r>
              <a:rPr lang="en-US" sz="1400" b="1" i="1">
                <a:latin typeface="Cambria" panose="02040503050406030204" pitchFamily="18" charset="0"/>
                <a:ea typeface="MS Mincho"/>
                <a:cs typeface="Times New Roman" panose="02020603050405020304" pitchFamily="18" charset="0"/>
              </a:rPr>
              <a:t>Sc</a:t>
            </a:r>
            <a:r>
              <a:rPr lang="en-US" sz="1400" smtClean="0">
                <a:latin typeface="Cambria" panose="02040503050406030204" pitchFamily="18" charset="0"/>
                <a:ea typeface="MS Mincho"/>
                <a:cs typeface="Times New Roman" panose="02020603050405020304" pitchFamily="18" charset="0"/>
              </a:rPr>
              <a:t>.</a:t>
            </a:r>
            <a:endParaRPr lang="en-US" sz="1400">
              <a:latin typeface="Cambria" panose="02040503050406030204" pitchFamily="18" charset="0"/>
              <a:ea typeface="MS Mincho"/>
              <a:cs typeface="Times New Roman" panose="02020603050405020304" pitchFamily="18" charset="0"/>
            </a:endParaRPr>
          </a:p>
          <a:p>
            <a:pPr marL="304800">
              <a:lnSpc>
                <a:spcPct val="115000"/>
              </a:lnSpc>
              <a:spcAft>
                <a:spcPts val="1000"/>
              </a:spcAft>
            </a:pPr>
            <a:r>
              <a:rPr lang="en-US" sz="1400">
                <a:latin typeface="Cambria" panose="02040503050406030204" pitchFamily="18" charset="0"/>
                <a:ea typeface="MS Mincho"/>
                <a:cs typeface="Times New Roman" panose="02020603050405020304" pitchFamily="18" charset="0"/>
              </a:rPr>
              <a:t>18: return </a:t>
            </a:r>
            <a:r>
              <a:rPr lang="en-US" sz="1400" b="1" i="1">
                <a:latin typeface="Cambria" panose="02040503050406030204" pitchFamily="18" charset="0"/>
                <a:ea typeface="MS Mincho"/>
                <a:cs typeface="Times New Roman" panose="02020603050405020304" pitchFamily="18" charset="0"/>
              </a:rPr>
              <a:t>C</a:t>
            </a:r>
          </a:p>
        </p:txBody>
      </p:sp>
      <p:cxnSp>
        <p:nvCxnSpPr>
          <p:cNvPr id="6" name="Straight Connector 5"/>
          <p:cNvCxnSpPr/>
          <p:nvPr/>
        </p:nvCxnSpPr>
        <p:spPr>
          <a:xfrm>
            <a:off x="1390650" y="914400"/>
            <a:ext cx="7991475"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87862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96865" y="851648"/>
            <a:ext cx="11234737" cy="2375985"/>
          </a:xfrm>
        </p:spPr>
        <p:txBody>
          <a:bodyPr>
            <a:normAutofit fontScale="62500" lnSpcReduction="20000"/>
          </a:bodyPr>
          <a:lstStyle/>
          <a:p>
            <a:pPr algn="just">
              <a:lnSpc>
                <a:spcPct val="140000"/>
              </a:lnSpc>
            </a:pPr>
            <a:r>
              <a:rPr lang="en-US" b="1" smtClean="0">
                <a:solidFill>
                  <a:srgbClr val="C00000"/>
                </a:solidFill>
              </a:rPr>
              <a:t>Environment</a:t>
            </a:r>
            <a:r>
              <a:rPr lang="en-US" b="1">
                <a:solidFill>
                  <a:srgbClr val="C00000"/>
                </a:solidFill>
              </a:rPr>
              <a:t>:</a:t>
            </a:r>
            <a:r>
              <a:rPr lang="en-US" b="1"/>
              <a:t> </a:t>
            </a:r>
            <a:r>
              <a:rPr lang="en-US"/>
              <a:t>The system runs in a Python environment </a:t>
            </a:r>
            <a:r>
              <a:rPr lang="en-US" smtClean="0"/>
              <a:t>on Kaggle</a:t>
            </a:r>
            <a:r>
              <a:rPr lang="en-US"/>
              <a:t>, using an Intel Xeon 2.00 GHz processor with 30GB RAM. It also </a:t>
            </a:r>
            <a:r>
              <a:rPr lang="en-US" smtClean="0"/>
              <a:t>utilizes a </a:t>
            </a:r>
            <a:r>
              <a:rPr lang="en-US"/>
              <a:t>graphics processor with a 16GB RAM configuration and the Nvidia Tesla </a:t>
            </a:r>
            <a:r>
              <a:rPr lang="en-US" smtClean="0"/>
              <a:t>P100 GPU</a:t>
            </a:r>
            <a:r>
              <a:rPr lang="en-US"/>
              <a:t>. Tensorflow v1.5 is the library used for network model training</a:t>
            </a:r>
            <a:r>
              <a:rPr lang="en-US" smtClean="0"/>
              <a:t>.</a:t>
            </a:r>
            <a:endParaRPr lang="en-US"/>
          </a:p>
          <a:p>
            <a:pPr algn="just">
              <a:lnSpc>
                <a:spcPct val="140000"/>
              </a:lnSpc>
            </a:pPr>
            <a:r>
              <a:rPr lang="en-US" b="1">
                <a:solidFill>
                  <a:srgbClr val="C00000"/>
                </a:solidFill>
              </a:rPr>
              <a:t>Dataset:  </a:t>
            </a:r>
            <a:r>
              <a:rPr lang="en-US"/>
              <a:t>The dataset is compiled from the VinDr </a:t>
            </a:r>
            <a:r>
              <a:rPr lang="en-US" smtClean="0"/>
              <a:t>dataset, supplemented </a:t>
            </a:r>
            <a:r>
              <a:rPr lang="en-US"/>
              <a:t>with data from several hospitals. The number of images we </a:t>
            </a:r>
            <a:r>
              <a:rPr lang="en-US" smtClean="0"/>
              <a:t>use in </a:t>
            </a:r>
            <a:r>
              <a:rPr lang="en-US"/>
              <a:t>the paper </a:t>
            </a:r>
            <a:r>
              <a:rPr lang="en-US" smtClean="0"/>
              <a:t>includes 6874 for training and the testing dataset include </a:t>
            </a:r>
            <a:r>
              <a:rPr lang="en-US"/>
              <a:t>242 benign, 310 malignant, and 493 normal. </a:t>
            </a:r>
            <a:r>
              <a:rPr lang="en-US" smtClean="0"/>
              <a:t>The </a:t>
            </a:r>
            <a:r>
              <a:rPr lang="en-US"/>
              <a:t>dataset is divided in the ratio of </a:t>
            </a:r>
            <a:r>
              <a:rPr lang="en-US" smtClean="0"/>
              <a:t>70:30</a:t>
            </a:r>
            <a:r>
              <a:rPr lang="en-US"/>
              <a:t>.</a:t>
            </a:r>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5" name="Content Placeholder 1"/>
          <p:cNvSpPr txBox="1">
            <a:spLocks/>
          </p:cNvSpPr>
          <p:nvPr/>
        </p:nvSpPr>
        <p:spPr>
          <a:xfrm>
            <a:off x="296865" y="3082822"/>
            <a:ext cx="11234737" cy="423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i="1" smtClean="0">
                <a:solidFill>
                  <a:srgbClr val="0070C0"/>
                </a:solidFill>
              </a:rPr>
              <a:t>Tab </a:t>
            </a:r>
            <a:r>
              <a:rPr lang="en-US" sz="1800" i="1" smtClean="0">
                <a:solidFill>
                  <a:srgbClr val="0070C0"/>
                </a:solidFill>
              </a:rPr>
              <a:t>1: Proposed scenarios and training parameters</a:t>
            </a:r>
            <a:endParaRPr lang="en-US" sz="1800" i="1">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081818515"/>
              </p:ext>
            </p:extLst>
          </p:nvPr>
        </p:nvGraphicFramePr>
        <p:xfrm>
          <a:off x="1677064" y="3410262"/>
          <a:ext cx="9029517" cy="2515144"/>
        </p:xfrm>
        <a:graphic>
          <a:graphicData uri="http://schemas.openxmlformats.org/drawingml/2006/table">
            <a:tbl>
              <a:tblPr firstRow="1" firstCol="1" bandRow="1">
                <a:tableStyleId>{5C22544A-7EE6-4342-B048-85BDC9FD1C3A}</a:tableStyleId>
              </a:tblPr>
              <a:tblGrid>
                <a:gridCol w="773614">
                  <a:extLst>
                    <a:ext uri="{9D8B030D-6E8A-4147-A177-3AD203B41FA5}">
                      <a16:colId xmlns:a16="http://schemas.microsoft.com/office/drawing/2014/main" val="2713728009"/>
                    </a:ext>
                  </a:extLst>
                </a:gridCol>
                <a:gridCol w="2202344">
                  <a:extLst>
                    <a:ext uri="{9D8B030D-6E8A-4147-A177-3AD203B41FA5}">
                      <a16:colId xmlns:a16="http://schemas.microsoft.com/office/drawing/2014/main" val="4187331770"/>
                    </a:ext>
                  </a:extLst>
                </a:gridCol>
                <a:gridCol w="1076446">
                  <a:extLst>
                    <a:ext uri="{9D8B030D-6E8A-4147-A177-3AD203B41FA5}">
                      <a16:colId xmlns:a16="http://schemas.microsoft.com/office/drawing/2014/main" val="4276031540"/>
                    </a:ext>
                  </a:extLst>
                </a:gridCol>
                <a:gridCol w="1458410">
                  <a:extLst>
                    <a:ext uri="{9D8B030D-6E8A-4147-A177-3AD203B41FA5}">
                      <a16:colId xmlns:a16="http://schemas.microsoft.com/office/drawing/2014/main" val="3399763567"/>
                    </a:ext>
                  </a:extLst>
                </a:gridCol>
                <a:gridCol w="1722206">
                  <a:extLst>
                    <a:ext uri="{9D8B030D-6E8A-4147-A177-3AD203B41FA5}">
                      <a16:colId xmlns:a16="http://schemas.microsoft.com/office/drawing/2014/main" val="200730112"/>
                    </a:ext>
                  </a:extLst>
                </a:gridCol>
                <a:gridCol w="1796497">
                  <a:extLst>
                    <a:ext uri="{9D8B030D-6E8A-4147-A177-3AD203B41FA5}">
                      <a16:colId xmlns:a16="http://schemas.microsoft.com/office/drawing/2014/main" val="2354496494"/>
                    </a:ext>
                  </a:extLst>
                </a:gridCol>
              </a:tblGrid>
              <a:tr h="0">
                <a:tc>
                  <a:txBody>
                    <a:bodyPr/>
                    <a:lstStyle/>
                    <a:p>
                      <a:pPr indent="-635" algn="ctr">
                        <a:spcAft>
                          <a:spcPts val="0"/>
                        </a:spcAft>
                      </a:pPr>
                      <a:r>
                        <a:rPr lang="en-US" sz="1800">
                          <a:effectLst/>
                          <a:latin typeface="Cambria" panose="02040503050406030204" pitchFamily="18" charset="0"/>
                          <a:ea typeface="Cambria" panose="02040503050406030204" pitchFamily="18" charset="0"/>
                        </a:rPr>
                        <a:t>Sce.</a:t>
                      </a:r>
                    </a:p>
                  </a:txBody>
                  <a:tcPr marL="68580" marR="68580" marT="0" marB="0" anchor="ctr"/>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Model</a:t>
                      </a:r>
                    </a:p>
                  </a:txBody>
                  <a:tcPr marL="68580" marR="68580" marT="0" marB="0" anchor="ctr"/>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Epochs</a:t>
                      </a:r>
                    </a:p>
                  </a:txBody>
                  <a:tcPr marL="68580" marR="68580" marT="0" marB="0" anchor="ctr"/>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Batch size</a:t>
                      </a:r>
                    </a:p>
                  </a:txBody>
                  <a:tcPr marL="68580" marR="68580" marT="0" marB="0" anchor="ctr"/>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Learning rate</a:t>
                      </a:r>
                    </a:p>
                  </a:txBody>
                  <a:tcPr marL="68580" marR="68580" marT="0" marB="0" anchor="ctr"/>
                </a:tc>
                <a:tc>
                  <a:txBody>
                    <a:bodyPr/>
                    <a:lstStyle/>
                    <a:p>
                      <a:pPr indent="-635" algn="ctr">
                        <a:spcAft>
                          <a:spcPts val="0"/>
                        </a:spcAft>
                      </a:pPr>
                      <a:r>
                        <a:rPr lang="en-US" sz="1800" b="1" kern="1200" smtClean="0">
                          <a:solidFill>
                            <a:schemeClr val="lt1"/>
                          </a:solidFill>
                          <a:effectLst/>
                          <a:latin typeface="Cambria" panose="02040503050406030204" pitchFamily="18" charset="0"/>
                          <a:ea typeface="Cambria" panose="02040503050406030204" pitchFamily="18" charset="0"/>
                          <a:cs typeface="+mn-cs"/>
                        </a:rPr>
                        <a:t>Num rules</a:t>
                      </a:r>
                      <a:endParaRPr lang="en-US" sz="1800" b="1" kern="1200">
                        <a:solidFill>
                          <a:schemeClr val="lt1"/>
                        </a:solidFill>
                        <a:effectLst/>
                        <a:latin typeface="Cambria" panose="02040503050406030204" pitchFamily="18" charset="0"/>
                        <a:ea typeface="Cambria" panose="02040503050406030204" pitchFamily="18" charset="0"/>
                        <a:cs typeface="+mn-cs"/>
                      </a:endParaRPr>
                    </a:p>
                  </a:txBody>
                  <a:tcPr marL="68580" marR="68580" marT="0" marB="0" anchor="ctr"/>
                </a:tc>
                <a:extLst>
                  <a:ext uri="{0D108BD9-81ED-4DB2-BD59-A6C34878D82A}">
                    <a16:rowId xmlns:a16="http://schemas.microsoft.com/office/drawing/2014/main" val="1291509472"/>
                  </a:ext>
                </a:extLst>
              </a:tr>
              <a:tr h="0">
                <a:tc>
                  <a:txBody>
                    <a:bodyPr/>
                    <a:lstStyle/>
                    <a:p>
                      <a:pPr indent="-635" algn="ctr">
                        <a:spcAft>
                          <a:spcPts val="0"/>
                        </a:spcAft>
                      </a:pPr>
                      <a:r>
                        <a:rPr lang="en-US" sz="1800">
                          <a:effectLst/>
                          <a:latin typeface="Cambria" panose="02040503050406030204" pitchFamily="18" charset="0"/>
                          <a:ea typeface="Cambria" panose="02040503050406030204" pitchFamily="18" charset="0"/>
                        </a:rPr>
                        <a:t>1</a:t>
                      </a: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U-Net</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100</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32</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0.0001</a:t>
                      </a: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1666475600"/>
                  </a:ext>
                </a:extLst>
              </a:tr>
              <a:tr h="0">
                <a:tc>
                  <a:txBody>
                    <a:bodyPr/>
                    <a:lstStyle/>
                    <a:p>
                      <a:pPr indent="-635" algn="ctr">
                        <a:spcAft>
                          <a:spcPts val="0"/>
                        </a:spcAft>
                      </a:pPr>
                      <a:r>
                        <a:rPr lang="en-US" sz="1800">
                          <a:effectLst/>
                          <a:latin typeface="Cambria" panose="02040503050406030204" pitchFamily="18" charset="0"/>
                          <a:ea typeface="Cambria" panose="02040503050406030204" pitchFamily="18" charset="0"/>
                        </a:rPr>
                        <a:t>2</a:t>
                      </a: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U-Net JRIP</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100</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32</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0.0001</a:t>
                      </a: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15</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3654594207"/>
                  </a:ext>
                </a:extLst>
              </a:tr>
              <a:tr h="423046">
                <a:tc>
                  <a:txBody>
                    <a:bodyPr/>
                    <a:lstStyle/>
                    <a:p>
                      <a:pPr indent="-635" algn="ctr">
                        <a:spcAft>
                          <a:spcPts val="0"/>
                        </a:spcAft>
                      </a:pPr>
                      <a:r>
                        <a:rPr lang="en-US" sz="1800">
                          <a:effectLst/>
                          <a:latin typeface="Cambria" panose="02040503050406030204" pitchFamily="18" charset="0"/>
                          <a:ea typeface="Cambria" panose="02040503050406030204" pitchFamily="18" charset="0"/>
                        </a:rPr>
                        <a:t>3</a:t>
                      </a: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U-Net PART</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100</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32</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0.0001</a:t>
                      </a: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196</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3680500343"/>
                  </a:ext>
                </a:extLst>
              </a:tr>
              <a:tr h="423046">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4</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DeepLabv3+</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100</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32</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0.0001</a:t>
                      </a: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3299790377"/>
                  </a:ext>
                </a:extLst>
              </a:tr>
              <a:tr h="423046">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5</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DeepLabv3+ JRIP</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100</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32</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0.0001</a:t>
                      </a: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31</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2286551437"/>
                  </a:ext>
                </a:extLst>
              </a:tr>
              <a:tr h="423046">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6</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DeepLabv3+ PART</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100</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32</a:t>
                      </a:r>
                    </a:p>
                  </a:txBody>
                  <a:tcPr marL="68580" marR="68580" marT="0" marB="0"/>
                </a:tc>
                <a:tc>
                  <a:txBody>
                    <a:bodyPr/>
                    <a:lstStyle/>
                    <a:p>
                      <a:pPr indent="-635" algn="ctr">
                        <a:spcAft>
                          <a:spcPts val="0"/>
                        </a:spcAft>
                      </a:pPr>
                      <a:r>
                        <a:rPr lang="en-US" sz="1800">
                          <a:effectLst/>
                          <a:latin typeface="Cambria" panose="02040503050406030204" pitchFamily="18" charset="0"/>
                          <a:ea typeface="Cambria" panose="02040503050406030204" pitchFamily="18" charset="0"/>
                        </a:rPr>
                        <a:t>0.0001</a:t>
                      </a: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89</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552462085"/>
                  </a:ext>
                </a:extLst>
              </a:tr>
            </a:tbl>
          </a:graphicData>
        </a:graphic>
      </p:graphicFrame>
    </p:spTree>
    <p:extLst>
      <p:ext uri="{BB962C8B-B14F-4D97-AF65-F5344CB8AC3E}">
        <p14:creationId xmlns:p14="http://schemas.microsoft.com/office/powerpoint/2010/main" val="19522973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a:t>Fig </a:t>
            </a:r>
            <a:r>
              <a:rPr lang="en-US" sz="1800" i="1" smtClean="0"/>
              <a:t>11a. </a:t>
            </a:r>
            <a:r>
              <a:rPr lang="en-US" sz="1800" i="1"/>
              <a:t>The chart compares the accuracy and </a:t>
            </a:r>
            <a:r>
              <a:rPr lang="en-US" sz="1800" i="1" smtClean="0"/>
              <a:t>loss of Sce.1.</a:t>
            </a:r>
            <a:endParaRPr lang="en-US" sz="1800" i="1"/>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7253" y="1450428"/>
            <a:ext cx="7354810" cy="2198755"/>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7253" y="3649183"/>
            <a:ext cx="7326698" cy="2325452"/>
          </a:xfrm>
          <a:prstGeom prst="rect">
            <a:avLst/>
          </a:prstGeom>
        </p:spPr>
      </p:pic>
    </p:spTree>
    <p:extLst>
      <p:ext uri="{BB962C8B-B14F-4D97-AF65-F5344CB8AC3E}">
        <p14:creationId xmlns:p14="http://schemas.microsoft.com/office/powerpoint/2010/main" val="9435644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a:t>Fig </a:t>
            </a:r>
            <a:r>
              <a:rPr lang="en-US" sz="1800" i="1" smtClean="0"/>
              <a:t>11b. </a:t>
            </a:r>
            <a:r>
              <a:rPr lang="en-US" sz="1800" i="1"/>
              <a:t>The chart compares the accuracy and </a:t>
            </a:r>
            <a:r>
              <a:rPr lang="en-US" sz="1800" i="1" smtClean="0"/>
              <a:t>loss of Sce.2.</a:t>
            </a:r>
            <a:endParaRPr lang="en-US" sz="1800" i="1"/>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028" y="1515911"/>
            <a:ext cx="6830010" cy="204471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0028" y="3560624"/>
            <a:ext cx="6830010" cy="2169310"/>
          </a:xfrm>
          <a:prstGeom prst="rect">
            <a:avLst/>
          </a:prstGeom>
        </p:spPr>
      </p:pic>
    </p:spTree>
    <p:extLst>
      <p:ext uri="{BB962C8B-B14F-4D97-AF65-F5344CB8AC3E}">
        <p14:creationId xmlns:p14="http://schemas.microsoft.com/office/powerpoint/2010/main" val="12922063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a:t>Fig </a:t>
            </a:r>
            <a:r>
              <a:rPr lang="en-US" sz="1800" i="1" smtClean="0"/>
              <a:t>11c. </a:t>
            </a:r>
            <a:r>
              <a:rPr lang="en-US" sz="1800" i="1"/>
              <a:t>The chart compares the accuracy and </a:t>
            </a:r>
            <a:r>
              <a:rPr lang="en-US" sz="1800" i="1" smtClean="0"/>
              <a:t>loss of Sce.3.</a:t>
            </a:r>
            <a:endParaRPr lang="en-US" sz="1800" i="1"/>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0539" y="1515911"/>
            <a:ext cx="6988238" cy="209403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0539" y="3609946"/>
            <a:ext cx="6988238" cy="2224411"/>
          </a:xfrm>
          <a:prstGeom prst="rect">
            <a:avLst/>
          </a:prstGeom>
        </p:spPr>
      </p:pic>
    </p:spTree>
    <p:extLst>
      <p:ext uri="{BB962C8B-B14F-4D97-AF65-F5344CB8AC3E}">
        <p14:creationId xmlns:p14="http://schemas.microsoft.com/office/powerpoint/2010/main" val="19473874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a:t>Fig </a:t>
            </a:r>
            <a:r>
              <a:rPr lang="en-US" sz="1800" i="1" smtClean="0"/>
              <a:t>11d. </a:t>
            </a:r>
            <a:r>
              <a:rPr lang="en-US" sz="1800" i="1"/>
              <a:t>The chart compares the accuracy and </a:t>
            </a:r>
            <a:r>
              <a:rPr lang="en-US" sz="1800" i="1" smtClean="0"/>
              <a:t>loss of Sce.4.</a:t>
            </a:r>
            <a:endParaRPr lang="en-US" sz="1800" i="1"/>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8335" y="1515911"/>
            <a:ext cx="7088674" cy="2129072"/>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8335" y="3755208"/>
            <a:ext cx="7128546" cy="2227367"/>
          </a:xfrm>
          <a:prstGeom prst="rect">
            <a:avLst/>
          </a:prstGeom>
        </p:spPr>
      </p:pic>
    </p:spTree>
    <p:extLst>
      <p:ext uri="{BB962C8B-B14F-4D97-AF65-F5344CB8AC3E}">
        <p14:creationId xmlns:p14="http://schemas.microsoft.com/office/powerpoint/2010/main" val="10647449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a:t>Fig </a:t>
            </a:r>
            <a:r>
              <a:rPr lang="en-US" sz="1800" i="1" smtClean="0"/>
              <a:t>11e. </a:t>
            </a:r>
            <a:r>
              <a:rPr lang="en-US" sz="1800" i="1"/>
              <a:t>The chart compares the accuracy and </a:t>
            </a:r>
            <a:r>
              <a:rPr lang="en-US" sz="1800" i="1" smtClean="0"/>
              <a:t>loss of Sce.5.</a:t>
            </a:r>
            <a:endParaRPr lang="en-US" sz="1800" i="1"/>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0982" y="1515911"/>
            <a:ext cx="7067352" cy="212119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2799" y="3637101"/>
            <a:ext cx="7165535" cy="2244448"/>
          </a:xfrm>
          <a:prstGeom prst="rect">
            <a:avLst/>
          </a:prstGeom>
        </p:spPr>
      </p:pic>
    </p:spTree>
    <p:extLst>
      <p:ext uri="{BB962C8B-B14F-4D97-AF65-F5344CB8AC3E}">
        <p14:creationId xmlns:p14="http://schemas.microsoft.com/office/powerpoint/2010/main" val="32752858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a:t>Fig </a:t>
            </a:r>
            <a:r>
              <a:rPr lang="en-US" sz="1800" i="1" smtClean="0"/>
              <a:t>11f. </a:t>
            </a:r>
            <a:r>
              <a:rPr lang="en-US" sz="1800" i="1"/>
              <a:t>The chart compares the accuracy and </a:t>
            </a:r>
            <a:r>
              <a:rPr lang="en-US" sz="1800" i="1" smtClean="0"/>
              <a:t>loss of Sce.6.</a:t>
            </a:r>
            <a:endParaRPr lang="en-US" sz="1800" i="1"/>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2735" y="1515911"/>
            <a:ext cx="7187326" cy="215369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1581" y="3741768"/>
            <a:ext cx="7278480" cy="2278869"/>
          </a:xfrm>
          <a:prstGeom prst="rect">
            <a:avLst/>
          </a:prstGeom>
        </p:spPr>
      </p:pic>
    </p:spTree>
    <p:extLst>
      <p:ext uri="{BB962C8B-B14F-4D97-AF65-F5344CB8AC3E}">
        <p14:creationId xmlns:p14="http://schemas.microsoft.com/office/powerpoint/2010/main" val="14058886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20111" y="1202100"/>
            <a:ext cx="11234737" cy="420137"/>
          </a:xfrm>
        </p:spPr>
        <p:txBody>
          <a:bodyPr>
            <a:normAutofit/>
          </a:bodyPr>
          <a:lstStyle/>
          <a:p>
            <a:pPr marL="0" indent="0" algn="ctr">
              <a:buNone/>
            </a:pPr>
            <a:r>
              <a:rPr lang="en-US" sz="1800" i="1">
                <a:solidFill>
                  <a:srgbClr val="0070C0"/>
                </a:solidFill>
              </a:rPr>
              <a:t>Table 2: Confidence </a:t>
            </a:r>
            <a:r>
              <a:rPr lang="en-US" sz="1800" i="1">
                <a:solidFill>
                  <a:srgbClr val="0070C0"/>
                </a:solidFill>
              </a:rPr>
              <a:t>on the dataset after applying JRIP and PART algorithm</a:t>
            </a:r>
          </a:p>
        </p:txBody>
      </p:sp>
      <p:sp>
        <p:nvSpPr>
          <p:cNvPr id="3" name="Title 2"/>
          <p:cNvSpPr>
            <a:spLocks noGrp="1"/>
          </p:cNvSpPr>
          <p:nvPr>
            <p:ph type="title"/>
          </p:nvPr>
        </p:nvSpPr>
        <p:spPr/>
        <p:txBody>
          <a:bodyPr>
            <a:normAutofit/>
          </a:bodyPr>
          <a:lstStyle/>
          <a:p>
            <a:r>
              <a:rPr lang="en-US" smtClean="0"/>
              <a:t>4. Experimental results</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541751411"/>
              </p:ext>
            </p:extLst>
          </p:nvPr>
        </p:nvGraphicFramePr>
        <p:xfrm>
          <a:off x="1159899" y="1622237"/>
          <a:ext cx="9029517" cy="1669052"/>
        </p:xfrm>
        <a:graphic>
          <a:graphicData uri="http://schemas.openxmlformats.org/drawingml/2006/table">
            <a:tbl>
              <a:tblPr firstRow="1" firstCol="1" bandRow="1">
                <a:tableStyleId>{5C22544A-7EE6-4342-B048-85BDC9FD1C3A}</a:tableStyleId>
              </a:tblPr>
              <a:tblGrid>
                <a:gridCol w="773614">
                  <a:extLst>
                    <a:ext uri="{9D8B030D-6E8A-4147-A177-3AD203B41FA5}">
                      <a16:colId xmlns:a16="http://schemas.microsoft.com/office/drawing/2014/main" val="2713728009"/>
                    </a:ext>
                  </a:extLst>
                </a:gridCol>
                <a:gridCol w="2202344">
                  <a:extLst>
                    <a:ext uri="{9D8B030D-6E8A-4147-A177-3AD203B41FA5}">
                      <a16:colId xmlns:a16="http://schemas.microsoft.com/office/drawing/2014/main" val="4187331770"/>
                    </a:ext>
                  </a:extLst>
                </a:gridCol>
                <a:gridCol w="1076446">
                  <a:extLst>
                    <a:ext uri="{9D8B030D-6E8A-4147-A177-3AD203B41FA5}">
                      <a16:colId xmlns:a16="http://schemas.microsoft.com/office/drawing/2014/main" val="4276031540"/>
                    </a:ext>
                  </a:extLst>
                </a:gridCol>
                <a:gridCol w="1458410">
                  <a:extLst>
                    <a:ext uri="{9D8B030D-6E8A-4147-A177-3AD203B41FA5}">
                      <a16:colId xmlns:a16="http://schemas.microsoft.com/office/drawing/2014/main" val="3399763567"/>
                    </a:ext>
                  </a:extLst>
                </a:gridCol>
                <a:gridCol w="1722206">
                  <a:extLst>
                    <a:ext uri="{9D8B030D-6E8A-4147-A177-3AD203B41FA5}">
                      <a16:colId xmlns:a16="http://schemas.microsoft.com/office/drawing/2014/main" val="200730112"/>
                    </a:ext>
                  </a:extLst>
                </a:gridCol>
                <a:gridCol w="1796497">
                  <a:extLst>
                    <a:ext uri="{9D8B030D-6E8A-4147-A177-3AD203B41FA5}">
                      <a16:colId xmlns:a16="http://schemas.microsoft.com/office/drawing/2014/main" val="2354496494"/>
                    </a:ext>
                  </a:extLst>
                </a:gridCol>
              </a:tblGrid>
              <a:tr h="0">
                <a:tc>
                  <a:txBody>
                    <a:bodyPr/>
                    <a:lstStyle/>
                    <a:p>
                      <a:pPr indent="-635" algn="ctr">
                        <a:spcAft>
                          <a:spcPts val="0"/>
                        </a:spcAft>
                      </a:pPr>
                      <a:r>
                        <a:rPr lang="en-US" sz="1800">
                          <a:effectLst/>
                          <a:latin typeface="Cambria" panose="02040503050406030204" pitchFamily="18" charset="0"/>
                          <a:ea typeface="Cambria" panose="02040503050406030204" pitchFamily="18" charset="0"/>
                        </a:rPr>
                        <a:t>Sce.</a:t>
                      </a:r>
                    </a:p>
                  </a:txBody>
                  <a:tcPr marL="68580" marR="68580" marT="0" marB="0" anchor="ctr"/>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Algorithm</a:t>
                      </a:r>
                      <a:endParaRPr lang="en-US" sz="1800">
                        <a:effectLst/>
                        <a:latin typeface="Cambria" panose="02040503050406030204" pitchFamily="18" charset="0"/>
                        <a:ea typeface="Cambria" panose="02040503050406030204" pitchFamily="18" charset="0"/>
                      </a:endParaRPr>
                    </a:p>
                  </a:txBody>
                  <a:tcPr marL="68580" marR="68580" marT="0" marB="0" anchor="ctr"/>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Acc</a:t>
                      </a:r>
                      <a:endParaRPr lang="en-US" sz="1800">
                        <a:effectLst/>
                        <a:latin typeface="Cambria" panose="02040503050406030204" pitchFamily="18" charset="0"/>
                        <a:ea typeface="Cambria" panose="02040503050406030204" pitchFamily="18" charset="0"/>
                      </a:endParaRPr>
                    </a:p>
                  </a:txBody>
                  <a:tcPr marL="68580" marR="68580" marT="0" marB="0" anchor="ctr"/>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Precision</a:t>
                      </a:r>
                      <a:endParaRPr lang="en-US" sz="1800">
                        <a:effectLst/>
                        <a:latin typeface="Cambria" panose="02040503050406030204" pitchFamily="18" charset="0"/>
                        <a:ea typeface="Cambria" panose="02040503050406030204" pitchFamily="18" charset="0"/>
                      </a:endParaRPr>
                    </a:p>
                  </a:txBody>
                  <a:tcPr marL="68580" marR="68580" marT="0" marB="0" anchor="ctr"/>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Recall</a:t>
                      </a:r>
                      <a:endParaRPr lang="en-US" sz="1800">
                        <a:effectLst/>
                        <a:latin typeface="Cambria" panose="02040503050406030204" pitchFamily="18" charset="0"/>
                        <a:ea typeface="Cambria" panose="02040503050406030204" pitchFamily="18" charset="0"/>
                      </a:endParaRPr>
                    </a:p>
                  </a:txBody>
                  <a:tcPr marL="68580" marR="68580" marT="0" marB="0" anchor="ctr"/>
                </a:tc>
                <a:tc>
                  <a:txBody>
                    <a:bodyPr/>
                    <a:lstStyle/>
                    <a:p>
                      <a:pPr indent="-635" algn="ctr">
                        <a:spcAft>
                          <a:spcPts val="0"/>
                        </a:spcAft>
                      </a:pPr>
                      <a:r>
                        <a:rPr lang="en-US" sz="1800" b="1" kern="1200" smtClean="0">
                          <a:solidFill>
                            <a:schemeClr val="lt1"/>
                          </a:solidFill>
                          <a:effectLst/>
                          <a:latin typeface="Cambria" panose="02040503050406030204" pitchFamily="18" charset="0"/>
                          <a:ea typeface="Cambria" panose="02040503050406030204" pitchFamily="18" charset="0"/>
                          <a:cs typeface="+mn-cs"/>
                        </a:rPr>
                        <a:t>F1-score</a:t>
                      </a:r>
                      <a:endParaRPr lang="en-US" sz="1800" b="1" kern="1200">
                        <a:solidFill>
                          <a:schemeClr val="lt1"/>
                        </a:solidFill>
                        <a:effectLst/>
                        <a:latin typeface="Cambria" panose="02040503050406030204" pitchFamily="18" charset="0"/>
                        <a:ea typeface="Cambria" panose="02040503050406030204" pitchFamily="18" charset="0"/>
                        <a:cs typeface="+mn-cs"/>
                      </a:endParaRPr>
                    </a:p>
                  </a:txBody>
                  <a:tcPr marL="68580" marR="68580" marT="0" marB="0" anchor="ctr"/>
                </a:tc>
                <a:extLst>
                  <a:ext uri="{0D108BD9-81ED-4DB2-BD59-A6C34878D82A}">
                    <a16:rowId xmlns:a16="http://schemas.microsoft.com/office/drawing/2014/main" val="1291509472"/>
                  </a:ext>
                </a:extLst>
              </a:tr>
              <a:tr h="0">
                <a:tc>
                  <a:txBody>
                    <a:bodyPr/>
                    <a:lstStyle/>
                    <a:p>
                      <a:pPr indent="-635" algn="ctr">
                        <a:spcAft>
                          <a:spcPts val="0"/>
                        </a:spcAft>
                      </a:pPr>
                      <a:r>
                        <a:rPr lang="en-US" sz="1800">
                          <a:effectLst/>
                          <a:latin typeface="Cambria" panose="02040503050406030204" pitchFamily="18" charset="0"/>
                          <a:ea typeface="Cambria" panose="02040503050406030204" pitchFamily="18" charset="0"/>
                        </a:rPr>
                        <a:t>1</a:t>
                      </a: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U-Net JRIP</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98.66</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98.60</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98.53</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98.57</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1666475600"/>
                  </a:ext>
                </a:extLst>
              </a:tr>
              <a:tr h="0">
                <a:tc>
                  <a:txBody>
                    <a:bodyPr/>
                    <a:lstStyle/>
                    <a:p>
                      <a:pPr indent="-635" algn="ctr">
                        <a:spcAft>
                          <a:spcPts val="0"/>
                        </a:spcAft>
                      </a:pPr>
                      <a:r>
                        <a:rPr lang="en-US" sz="1800">
                          <a:effectLst/>
                          <a:latin typeface="Cambria" panose="02040503050406030204" pitchFamily="18" charset="0"/>
                          <a:ea typeface="Cambria" panose="02040503050406030204" pitchFamily="18" charset="0"/>
                        </a:rPr>
                        <a:t>2</a:t>
                      </a: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U-Net PART</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96.74</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96.14</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96.08</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96.11</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3654594207"/>
                  </a:ext>
                </a:extLst>
              </a:tr>
              <a:tr h="423046">
                <a:tc>
                  <a:txBody>
                    <a:bodyPr/>
                    <a:lstStyle/>
                    <a:p>
                      <a:pPr indent="-635" algn="ctr">
                        <a:spcAft>
                          <a:spcPts val="0"/>
                        </a:spcAft>
                      </a:pPr>
                      <a:r>
                        <a:rPr lang="en-US" sz="1800">
                          <a:effectLst/>
                          <a:latin typeface="Cambria" panose="02040503050406030204" pitchFamily="18" charset="0"/>
                          <a:ea typeface="Cambria" panose="02040503050406030204" pitchFamily="18" charset="0"/>
                        </a:rPr>
                        <a:t>3</a:t>
                      </a: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DeepLabv3+ JRIP</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94.83</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94.09</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94.03</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94.06</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3680500343"/>
                  </a:ext>
                </a:extLst>
              </a:tr>
              <a:tr h="423046">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4</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just">
                        <a:spcAft>
                          <a:spcPts val="0"/>
                        </a:spcAft>
                      </a:pPr>
                      <a:r>
                        <a:rPr lang="en-US" sz="1800" smtClean="0">
                          <a:effectLst/>
                          <a:latin typeface="Cambria" panose="02040503050406030204" pitchFamily="18" charset="0"/>
                          <a:ea typeface="Cambria" panose="02040503050406030204" pitchFamily="18" charset="0"/>
                        </a:rPr>
                        <a:t>DeepLabv3+ PART</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91.96</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91.35</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91.60</a:t>
                      </a:r>
                      <a:endParaRPr lang="en-US" sz="1800">
                        <a:effectLst/>
                        <a:latin typeface="Cambria" panose="02040503050406030204" pitchFamily="18" charset="0"/>
                        <a:ea typeface="Cambria" panose="02040503050406030204" pitchFamily="18" charset="0"/>
                      </a:endParaRPr>
                    </a:p>
                  </a:txBody>
                  <a:tcPr marL="68580" marR="68580" marT="0" marB="0"/>
                </a:tc>
                <a:tc>
                  <a:txBody>
                    <a:bodyPr/>
                    <a:lstStyle/>
                    <a:p>
                      <a:pPr indent="-635" algn="ctr">
                        <a:spcAft>
                          <a:spcPts val="0"/>
                        </a:spcAft>
                      </a:pPr>
                      <a:r>
                        <a:rPr lang="en-US" sz="1800" smtClean="0">
                          <a:effectLst/>
                          <a:latin typeface="Cambria" panose="02040503050406030204" pitchFamily="18" charset="0"/>
                          <a:ea typeface="Cambria" panose="02040503050406030204" pitchFamily="18" charset="0"/>
                        </a:rPr>
                        <a:t>91.46</a:t>
                      </a:r>
                      <a:endParaRPr lang="en-US" sz="1800">
                        <a:effectLst/>
                        <a:latin typeface="Cambria" panose="02040503050406030204" pitchFamily="18" charset="0"/>
                        <a:ea typeface="Cambria" panose="02040503050406030204" pitchFamily="18" charset="0"/>
                      </a:endParaRPr>
                    </a:p>
                  </a:txBody>
                  <a:tcPr marL="68580" marR="68580" marT="0" marB="0"/>
                </a:tc>
                <a:extLst>
                  <a:ext uri="{0D108BD9-81ED-4DB2-BD59-A6C34878D82A}">
                    <a16:rowId xmlns:a16="http://schemas.microsoft.com/office/drawing/2014/main" val="3299790377"/>
                  </a:ext>
                </a:extLst>
              </a:tr>
            </a:tbl>
          </a:graphicData>
        </a:graphic>
      </p:graphicFrame>
    </p:spTree>
    <p:extLst>
      <p:ext uri="{BB962C8B-B14F-4D97-AF65-F5344CB8AC3E}">
        <p14:creationId xmlns:p14="http://schemas.microsoft.com/office/powerpoint/2010/main" val="22815924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6484352"/>
            <a:ext cx="11234737" cy="506409"/>
          </a:xfrm>
        </p:spPr>
        <p:txBody>
          <a:bodyPr>
            <a:normAutofit/>
          </a:bodyPr>
          <a:lstStyle/>
          <a:p>
            <a:pPr marL="0" indent="0" algn="ctr">
              <a:buNone/>
            </a:pPr>
            <a:r>
              <a:rPr lang="en-US" sz="1800" i="1" smtClean="0">
                <a:solidFill>
                  <a:srgbClr val="0070C0"/>
                </a:solidFill>
              </a:rPr>
              <a:t>Fig 12. Confusion matrix of 6 scenarios</a:t>
            </a:r>
            <a:endParaRPr lang="en-US" sz="1800" i="1">
              <a:solidFill>
                <a:srgbClr val="0070C0"/>
              </a:solidFill>
            </a:endParaRPr>
          </a:p>
        </p:txBody>
      </p:sp>
      <p:sp>
        <p:nvSpPr>
          <p:cNvPr id="3" name="Title 2"/>
          <p:cNvSpPr>
            <a:spLocks noGrp="1"/>
          </p:cNvSpPr>
          <p:nvPr>
            <p:ph type="title"/>
          </p:nvPr>
        </p:nvSpPr>
        <p:spPr/>
        <p:txBody>
          <a:bodyPr>
            <a:normAutofit/>
          </a:bodyPr>
          <a:lstStyle/>
          <a:p>
            <a:r>
              <a:rPr lang="en-US" smtClean="0"/>
              <a:t>4. Experimental results</a:t>
            </a:r>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782" y="617968"/>
            <a:ext cx="3089154" cy="260364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5907" y="617969"/>
            <a:ext cx="3082546" cy="2598078"/>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19308" y="617967"/>
            <a:ext cx="3082547" cy="2598079"/>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3887" y="3490892"/>
            <a:ext cx="3237049" cy="2728299"/>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82456" y="3490892"/>
            <a:ext cx="3169447" cy="2671321"/>
          </a:xfrm>
          <a:prstGeom prst="rect">
            <a:avLst/>
          </a:prstGeom>
        </p:spPr>
      </p:pic>
      <p:pic>
        <p:nvPicPr>
          <p:cNvPr id="10" name="Picture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19308" y="3493241"/>
            <a:ext cx="3166660" cy="2668972"/>
          </a:xfrm>
          <a:prstGeom prst="rect">
            <a:avLst/>
          </a:prstGeom>
        </p:spPr>
      </p:pic>
      <p:sp>
        <p:nvSpPr>
          <p:cNvPr id="11" name="Content Placeholder 1"/>
          <p:cNvSpPr txBox="1">
            <a:spLocks/>
          </p:cNvSpPr>
          <p:nvPr/>
        </p:nvSpPr>
        <p:spPr>
          <a:xfrm>
            <a:off x="1807285" y="3165875"/>
            <a:ext cx="9125173" cy="420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b="1" smtClean="0">
                <a:solidFill>
                  <a:srgbClr val="002060"/>
                </a:solidFill>
              </a:rPr>
              <a:t>Sce.1                                                                               Sce.2                                                                               Sce.3     </a:t>
            </a:r>
            <a:endParaRPr lang="en-US" sz="1400" b="1">
              <a:solidFill>
                <a:srgbClr val="002060"/>
              </a:solidFill>
            </a:endParaRPr>
          </a:p>
        </p:txBody>
      </p:sp>
      <p:sp>
        <p:nvSpPr>
          <p:cNvPr id="13" name="Content Placeholder 1"/>
          <p:cNvSpPr txBox="1">
            <a:spLocks/>
          </p:cNvSpPr>
          <p:nvPr/>
        </p:nvSpPr>
        <p:spPr>
          <a:xfrm>
            <a:off x="1876111" y="6205752"/>
            <a:ext cx="9125173" cy="420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b="1" smtClean="0">
                <a:solidFill>
                  <a:srgbClr val="002060"/>
                </a:solidFill>
              </a:rPr>
              <a:t>Sce.4                                                                               Sce.5                                                                               Sce.6     </a:t>
            </a:r>
            <a:endParaRPr lang="en-US" sz="1400" b="1">
              <a:solidFill>
                <a:srgbClr val="002060"/>
              </a:solidFill>
            </a:endParaRPr>
          </a:p>
        </p:txBody>
      </p:sp>
    </p:spTree>
    <p:extLst>
      <p:ext uri="{BB962C8B-B14F-4D97-AF65-F5344CB8AC3E}">
        <p14:creationId xmlns:p14="http://schemas.microsoft.com/office/powerpoint/2010/main" val="17778453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614089"/>
            <a:ext cx="11234737" cy="506409"/>
          </a:xfrm>
        </p:spPr>
        <p:txBody>
          <a:bodyPr>
            <a:normAutofit/>
          </a:bodyPr>
          <a:lstStyle/>
          <a:p>
            <a:pPr marL="0" indent="0" algn="ctr">
              <a:buNone/>
            </a:pPr>
            <a:r>
              <a:rPr lang="en-US" sz="1800" i="1">
                <a:solidFill>
                  <a:srgbClr val="0070C0"/>
                </a:solidFill>
              </a:rPr>
              <a:t>Tab 3. Evaluation results on test dataset</a:t>
            </a:r>
            <a:endParaRPr lang="en-US" sz="1800" i="1">
              <a:solidFill>
                <a:srgbClr val="0070C0"/>
              </a:solidFill>
            </a:endParaRPr>
          </a:p>
        </p:txBody>
      </p:sp>
      <p:sp>
        <p:nvSpPr>
          <p:cNvPr id="3" name="Title 2"/>
          <p:cNvSpPr>
            <a:spLocks noGrp="1"/>
          </p:cNvSpPr>
          <p:nvPr>
            <p:ph type="title"/>
          </p:nvPr>
        </p:nvSpPr>
        <p:spPr>
          <a:xfrm>
            <a:off x="416858" y="40444"/>
            <a:ext cx="10515600" cy="573645"/>
          </a:xfrm>
        </p:spPr>
        <p:txBody>
          <a:bodyPr>
            <a:normAutofit/>
          </a:bodyPr>
          <a:lstStyle/>
          <a:p>
            <a:r>
              <a:rPr lang="en-US" smtClean="0"/>
              <a:t>4. Experimental results</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838946125"/>
              </p:ext>
            </p:extLst>
          </p:nvPr>
        </p:nvGraphicFramePr>
        <p:xfrm>
          <a:off x="1437735" y="949183"/>
          <a:ext cx="9192981" cy="5327904"/>
        </p:xfrm>
        <a:graphic>
          <a:graphicData uri="http://schemas.openxmlformats.org/drawingml/2006/table">
            <a:tbl>
              <a:tblPr firstRow="1" firstCol="1" bandRow="1">
                <a:tableStyleId>{5C22544A-7EE6-4342-B048-85BDC9FD1C3A}</a:tableStyleId>
              </a:tblPr>
              <a:tblGrid>
                <a:gridCol w="1313283">
                  <a:extLst>
                    <a:ext uri="{9D8B030D-6E8A-4147-A177-3AD203B41FA5}">
                      <a16:colId xmlns:a16="http://schemas.microsoft.com/office/drawing/2014/main" val="3923295983"/>
                    </a:ext>
                  </a:extLst>
                </a:gridCol>
                <a:gridCol w="1313283">
                  <a:extLst>
                    <a:ext uri="{9D8B030D-6E8A-4147-A177-3AD203B41FA5}">
                      <a16:colId xmlns:a16="http://schemas.microsoft.com/office/drawing/2014/main" val="2777086"/>
                    </a:ext>
                  </a:extLst>
                </a:gridCol>
                <a:gridCol w="1313283">
                  <a:extLst>
                    <a:ext uri="{9D8B030D-6E8A-4147-A177-3AD203B41FA5}">
                      <a16:colId xmlns:a16="http://schemas.microsoft.com/office/drawing/2014/main" val="1331919185"/>
                    </a:ext>
                  </a:extLst>
                </a:gridCol>
                <a:gridCol w="1313283">
                  <a:extLst>
                    <a:ext uri="{9D8B030D-6E8A-4147-A177-3AD203B41FA5}">
                      <a16:colId xmlns:a16="http://schemas.microsoft.com/office/drawing/2014/main" val="1335338537"/>
                    </a:ext>
                  </a:extLst>
                </a:gridCol>
                <a:gridCol w="1313283">
                  <a:extLst>
                    <a:ext uri="{9D8B030D-6E8A-4147-A177-3AD203B41FA5}">
                      <a16:colId xmlns:a16="http://schemas.microsoft.com/office/drawing/2014/main" val="2184199245"/>
                    </a:ext>
                  </a:extLst>
                </a:gridCol>
                <a:gridCol w="1313283">
                  <a:extLst>
                    <a:ext uri="{9D8B030D-6E8A-4147-A177-3AD203B41FA5}">
                      <a16:colId xmlns:a16="http://schemas.microsoft.com/office/drawing/2014/main" val="4097124870"/>
                    </a:ext>
                  </a:extLst>
                </a:gridCol>
                <a:gridCol w="1313283">
                  <a:extLst>
                    <a:ext uri="{9D8B030D-6E8A-4147-A177-3AD203B41FA5}">
                      <a16:colId xmlns:a16="http://schemas.microsoft.com/office/drawing/2014/main" val="3178768774"/>
                    </a:ext>
                  </a:extLst>
                </a:gridCol>
              </a:tblGrid>
              <a:tr h="0">
                <a:tc>
                  <a:txBody>
                    <a:bodyPr/>
                    <a:lstStyle/>
                    <a:p>
                      <a:pPr algn="ctr">
                        <a:lnSpc>
                          <a:spcPct val="115000"/>
                        </a:lnSpc>
                        <a:spcAft>
                          <a:spcPts val="0"/>
                        </a:spcAft>
                      </a:pPr>
                      <a:r>
                        <a:rPr lang="en-US" sz="1600">
                          <a:effectLst/>
                        </a:rPr>
                        <a:t>Scenario</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Class</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Precision(%)</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Recall(%)</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F1-Score(%)</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mAP(%)</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IoU</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296219965"/>
                  </a:ext>
                </a:extLst>
              </a:tr>
              <a:tr h="0">
                <a:tc rowSpan="3">
                  <a:txBody>
                    <a:bodyPr/>
                    <a:lstStyle/>
                    <a:p>
                      <a:pPr algn="ctr">
                        <a:lnSpc>
                          <a:spcPct val="115000"/>
                        </a:lnSpc>
                        <a:spcAft>
                          <a:spcPts val="0"/>
                        </a:spcAft>
                      </a:pPr>
                      <a:r>
                        <a:rPr lang="en-US" sz="1600" smtClean="0">
                          <a:effectLst/>
                        </a:rPr>
                        <a:t>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a:effectLst/>
                        </a:rPr>
                        <a:t>Benign</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92.44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90.91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91.67</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rowSpan="3">
                  <a:txBody>
                    <a:bodyPr/>
                    <a:lstStyle/>
                    <a:p>
                      <a:pPr algn="ctr">
                        <a:lnSpc>
                          <a:spcPct val="115000"/>
                        </a:lnSpc>
                        <a:spcAft>
                          <a:spcPts val="0"/>
                        </a:spcAft>
                      </a:pPr>
                      <a:r>
                        <a:rPr lang="en-US" sz="1600" smtClean="0">
                          <a:effectLst/>
                        </a:rPr>
                        <a:t>93.68</a:t>
                      </a:r>
                      <a:endParaRPr lang="en-US" sz="1600" smtClean="0">
                        <a:effectLst/>
                        <a:latin typeface="Cambria" panose="02040503050406030204" pitchFamily="18" charset="0"/>
                        <a:ea typeface="MS Mincho"/>
                        <a:cs typeface="Times New Roman" panose="02020603050405020304" pitchFamily="18" charset="0"/>
                      </a:endParaRPr>
                    </a:p>
                  </a:txBody>
                  <a:tcPr marL="68580" marR="68580" marT="0" marB="0" anchor="ctr"/>
                </a:tc>
                <a:tc rowSpan="3">
                  <a:txBody>
                    <a:bodyPr/>
                    <a:lstStyle/>
                    <a:p>
                      <a:pPr algn="ctr">
                        <a:lnSpc>
                          <a:spcPct val="115000"/>
                        </a:lnSpc>
                        <a:spcAft>
                          <a:spcPts val="0"/>
                        </a:spcAft>
                      </a:pPr>
                      <a:r>
                        <a:rPr lang="en-US" sz="1600" smtClean="0">
                          <a:effectLst/>
                        </a:rPr>
                        <a:t>0.875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286846041"/>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Malignant</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90.74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94.84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92.74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202947351"/>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Normal</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96.27</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94.32</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95.29</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899728648"/>
                  </a:ext>
                </a:extLst>
              </a:tr>
              <a:tr h="0">
                <a:tc rowSpan="3">
                  <a:txBody>
                    <a:bodyPr/>
                    <a:lstStyle/>
                    <a:p>
                      <a:pPr algn="ctr">
                        <a:lnSpc>
                          <a:spcPct val="115000"/>
                        </a:lnSpc>
                        <a:spcAft>
                          <a:spcPts val="0"/>
                        </a:spcAft>
                      </a:pPr>
                      <a:r>
                        <a:rPr lang="en-US" sz="1600" smtClean="0">
                          <a:effectLst/>
                        </a:rPr>
                        <a:t>2</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a:effectLst/>
                        </a:rPr>
                        <a:t>Benign</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92.59</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92.98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92.78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rowSpan="3">
                  <a:txBody>
                    <a:bodyPr/>
                    <a:lstStyle/>
                    <a:p>
                      <a:pPr algn="ctr">
                        <a:lnSpc>
                          <a:spcPct val="115000"/>
                        </a:lnSpc>
                        <a:spcAft>
                          <a:spcPts val="0"/>
                        </a:spcAft>
                      </a:pPr>
                      <a:r>
                        <a:rPr lang="en-US" sz="1600" b="1" smtClean="0">
                          <a:effectLst/>
                        </a:rPr>
                        <a:t>94.64</a:t>
                      </a:r>
                      <a:endParaRPr lang="en-US" sz="1600" b="1">
                        <a:effectLst/>
                        <a:latin typeface="Cambria" panose="02040503050406030204" pitchFamily="18" charset="0"/>
                        <a:ea typeface="MS Mincho"/>
                        <a:cs typeface="Times New Roman" panose="02020603050405020304" pitchFamily="18" charset="0"/>
                      </a:endParaRPr>
                    </a:p>
                  </a:txBody>
                  <a:tcPr marL="68580" marR="68580" marT="0" marB="0" anchor="ctr"/>
                </a:tc>
                <a:tc rowSpan="3">
                  <a:txBody>
                    <a:bodyPr/>
                    <a:lstStyle/>
                    <a:p>
                      <a:pPr algn="ctr">
                        <a:lnSpc>
                          <a:spcPct val="115000"/>
                        </a:lnSpc>
                        <a:spcAft>
                          <a:spcPts val="0"/>
                        </a:spcAft>
                      </a:pPr>
                      <a:r>
                        <a:rPr lang="en-US" sz="1600" b="1" smtClean="0">
                          <a:effectLst/>
                        </a:rPr>
                        <a:t>0.899</a:t>
                      </a:r>
                      <a:endParaRPr lang="en-US" sz="1600" b="1">
                        <a:effectLst/>
                        <a:latin typeface="Cambria" panose="02040503050406030204" pitchFamily="18"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4125166768"/>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Malignant</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93.04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94.84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93.93</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225747458"/>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Normal</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96.71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95.33</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96.02</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064475027"/>
                  </a:ext>
                </a:extLst>
              </a:tr>
              <a:tr h="0">
                <a:tc rowSpan="3">
                  <a:txBody>
                    <a:bodyPr/>
                    <a:lstStyle/>
                    <a:p>
                      <a:pPr algn="ctr">
                        <a:lnSpc>
                          <a:spcPct val="115000"/>
                        </a:lnSpc>
                        <a:spcAft>
                          <a:spcPts val="0"/>
                        </a:spcAft>
                      </a:pPr>
                      <a:r>
                        <a:rPr lang="en-US" sz="1600" smtClean="0">
                          <a:effectLst/>
                        </a:rPr>
                        <a:t>3</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a:effectLst/>
                        </a:rPr>
                        <a:t>Benign</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88.31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90.50</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89.39</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rowSpan="3">
                  <a:txBody>
                    <a:bodyPr/>
                    <a:lstStyle/>
                    <a:p>
                      <a:pPr algn="ctr">
                        <a:lnSpc>
                          <a:spcPct val="115000"/>
                        </a:lnSpc>
                        <a:spcAft>
                          <a:spcPts val="0"/>
                        </a:spcAft>
                      </a:pPr>
                      <a:r>
                        <a:rPr lang="en-US" sz="1600" smtClean="0">
                          <a:effectLst/>
                        </a:rPr>
                        <a:t>92.25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rowSpan="3">
                  <a:txBody>
                    <a:bodyPr/>
                    <a:lstStyle/>
                    <a:p>
                      <a:pPr algn="ctr">
                        <a:lnSpc>
                          <a:spcPct val="115000"/>
                        </a:lnSpc>
                        <a:spcAft>
                          <a:spcPts val="0"/>
                        </a:spcAft>
                      </a:pPr>
                      <a:r>
                        <a:rPr lang="en-US" sz="1600" smtClean="0">
                          <a:effectLst/>
                        </a:rPr>
                        <a:t>0.857</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3259951625"/>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Malignant</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89.91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91.94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90.91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016942651"/>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Normal</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95.83</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93.31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94.55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227771310"/>
                  </a:ext>
                </a:extLst>
              </a:tr>
              <a:tr h="0">
                <a:tc rowSpan="3">
                  <a:txBody>
                    <a:bodyPr/>
                    <a:lstStyle/>
                    <a:p>
                      <a:pPr algn="ctr">
                        <a:lnSpc>
                          <a:spcPct val="115000"/>
                        </a:lnSpc>
                        <a:spcAft>
                          <a:spcPts val="0"/>
                        </a:spcAft>
                      </a:pPr>
                      <a:r>
                        <a:rPr lang="en-US" sz="1600" smtClean="0">
                          <a:effectLst/>
                        </a:rPr>
                        <a:t>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a:effectLst/>
                        </a:rPr>
                        <a:t>Benign</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84.85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80.99</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82.88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rowSpan="3">
                  <a:txBody>
                    <a:bodyPr/>
                    <a:lstStyle/>
                    <a:p>
                      <a:pPr algn="ctr">
                        <a:lnSpc>
                          <a:spcPct val="115000"/>
                        </a:lnSpc>
                        <a:spcAft>
                          <a:spcPts val="0"/>
                        </a:spcAft>
                      </a:pPr>
                      <a:r>
                        <a:rPr lang="en-US" sz="1600" smtClean="0">
                          <a:effectLst/>
                        </a:rPr>
                        <a:t>88.61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rowSpan="3">
                  <a:txBody>
                    <a:bodyPr/>
                    <a:lstStyle/>
                    <a:p>
                      <a:pPr algn="ctr">
                        <a:lnSpc>
                          <a:spcPct val="115000"/>
                        </a:lnSpc>
                        <a:spcAft>
                          <a:spcPts val="0"/>
                        </a:spcAft>
                      </a:pPr>
                      <a:r>
                        <a:rPr lang="en-US" sz="1600" smtClean="0">
                          <a:effectLst/>
                        </a:rPr>
                        <a:t>0.796</a:t>
                      </a:r>
                    </a:p>
                  </a:txBody>
                  <a:tcPr marL="68580" marR="68580" marT="0" marB="0" anchor="ctr"/>
                </a:tc>
                <a:extLst>
                  <a:ext uri="{0D108BD9-81ED-4DB2-BD59-A6C34878D82A}">
                    <a16:rowId xmlns:a16="http://schemas.microsoft.com/office/drawing/2014/main" val="3759003515"/>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Malignant</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85.42</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92.58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88.85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085408889"/>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Normal</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92.68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89.86</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91.25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767445933"/>
                  </a:ext>
                </a:extLst>
              </a:tr>
              <a:tr h="0">
                <a:tc rowSpan="3">
                  <a:txBody>
                    <a:bodyPr/>
                    <a:lstStyle/>
                    <a:p>
                      <a:pPr algn="ctr">
                        <a:lnSpc>
                          <a:spcPct val="115000"/>
                        </a:lnSpc>
                        <a:spcAft>
                          <a:spcPts val="0"/>
                        </a:spcAft>
                      </a:pPr>
                      <a:r>
                        <a:rPr lang="en-US" sz="1600" smtClean="0">
                          <a:effectLst/>
                        </a:rPr>
                        <a:t>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a:effectLst/>
                        </a:rPr>
                        <a:t>Benign</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85.71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82.50</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84.08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rowSpan="3">
                  <a:txBody>
                    <a:bodyPr/>
                    <a:lstStyle/>
                    <a:p>
                      <a:pPr algn="ctr">
                        <a:lnSpc>
                          <a:spcPct val="115000"/>
                        </a:lnSpc>
                        <a:spcAft>
                          <a:spcPts val="0"/>
                        </a:spcAft>
                      </a:pPr>
                      <a:r>
                        <a:rPr lang="en-US" sz="1600" smtClean="0">
                          <a:effectLst/>
                        </a:rPr>
                        <a:t>89.66</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rowSpan="3">
                  <a:txBody>
                    <a:bodyPr/>
                    <a:lstStyle/>
                    <a:p>
                      <a:pPr algn="ctr">
                        <a:lnSpc>
                          <a:spcPct val="115000"/>
                        </a:lnSpc>
                        <a:spcAft>
                          <a:spcPts val="0"/>
                        </a:spcAft>
                      </a:pPr>
                      <a:r>
                        <a:rPr lang="en-US" sz="1600" smtClean="0">
                          <a:effectLst/>
                        </a:rPr>
                        <a:t>0.813</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4293583308"/>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Malignant</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87.20</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91.67</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89.38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607274020"/>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Normal</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93.21</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91.89</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92.54</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448279361"/>
                  </a:ext>
                </a:extLst>
              </a:tr>
              <a:tr h="0">
                <a:tc rowSpan="3">
                  <a:txBody>
                    <a:bodyPr/>
                    <a:lstStyle/>
                    <a:p>
                      <a:pPr algn="ctr">
                        <a:lnSpc>
                          <a:spcPct val="115000"/>
                        </a:lnSpc>
                        <a:spcAft>
                          <a:spcPts val="0"/>
                        </a:spcAft>
                      </a:pPr>
                      <a:r>
                        <a:rPr lang="en-US" sz="1600" smtClean="0">
                          <a:effectLst/>
                        </a:rPr>
                        <a:t>6</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a:effectLst/>
                        </a:rPr>
                        <a:t>Benign</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84.98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81.82</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83.37</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rowSpan="3">
                  <a:txBody>
                    <a:bodyPr/>
                    <a:lstStyle/>
                    <a:p>
                      <a:pPr algn="ctr">
                        <a:lnSpc>
                          <a:spcPct val="115000"/>
                        </a:lnSpc>
                        <a:spcAft>
                          <a:spcPts val="0"/>
                        </a:spcAft>
                      </a:pPr>
                      <a:r>
                        <a:rPr lang="en-US" sz="1600" smtClean="0">
                          <a:effectLst/>
                        </a:rPr>
                        <a:t>88.90</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tc rowSpan="3">
                  <a:txBody>
                    <a:bodyPr/>
                    <a:lstStyle/>
                    <a:p>
                      <a:pPr algn="ctr">
                        <a:lnSpc>
                          <a:spcPct val="115000"/>
                        </a:lnSpc>
                        <a:spcAft>
                          <a:spcPts val="0"/>
                        </a:spcAft>
                      </a:pPr>
                      <a:r>
                        <a:rPr lang="en-US" sz="1600" smtClean="0">
                          <a:effectLst/>
                        </a:rPr>
                        <a:t>0.800</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38435990"/>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Malignant</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85.67</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92.58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88.99</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595581699"/>
                  </a:ext>
                </a:extLst>
              </a:tr>
              <a:tr h="0">
                <a:tc vMerge="1">
                  <a:txBody>
                    <a:bodyPr/>
                    <a:lstStyle/>
                    <a:p>
                      <a:pPr algn="ct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0"/>
                        </a:spcAft>
                      </a:pPr>
                      <a:r>
                        <a:rPr lang="en-US" sz="1600">
                          <a:effectLst/>
                        </a:rPr>
                        <a:t>Normal</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93.08</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90.06</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a:effectLst/>
                        </a:rPr>
                        <a:t>91.55</a:t>
                      </a: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tc vMerge="1">
                  <a:txBody>
                    <a:bodyPr/>
                    <a:lstStyle/>
                    <a:p>
                      <a:pPr>
                        <a:lnSpc>
                          <a:spcPct val="115000"/>
                        </a:lnSpc>
                        <a:spcAft>
                          <a:spcPts val="0"/>
                        </a:spcAft>
                      </a:pPr>
                      <a:endParaRPr lang="en-US" sz="16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086019536"/>
                  </a:ext>
                </a:extLst>
              </a:tr>
            </a:tbl>
          </a:graphicData>
        </a:graphic>
      </p:graphicFrame>
    </p:spTree>
    <p:extLst>
      <p:ext uri="{BB962C8B-B14F-4D97-AF65-F5344CB8AC3E}">
        <p14:creationId xmlns:p14="http://schemas.microsoft.com/office/powerpoint/2010/main" val="7781640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019015" y="6227567"/>
            <a:ext cx="9889239" cy="361492"/>
          </a:xfrm>
        </p:spPr>
        <p:txBody>
          <a:bodyPr>
            <a:noAutofit/>
          </a:bodyPr>
          <a:lstStyle/>
          <a:p>
            <a:pPr marL="0" indent="0" algn="ctr">
              <a:lnSpc>
                <a:spcPct val="100000"/>
              </a:lnSpc>
              <a:buNone/>
            </a:pPr>
            <a:r>
              <a:rPr lang="en-US" sz="1400" smtClean="0"/>
              <a:t>Fig 13. </a:t>
            </a:r>
            <a:r>
              <a:rPr lang="en-US" sz="1400"/>
              <a:t>The classification results on the test set a) Original image, b) </a:t>
            </a:r>
            <a:r>
              <a:rPr lang="en-US" sz="1400" smtClean="0"/>
              <a:t>Ground truth </a:t>
            </a:r>
            <a:r>
              <a:rPr lang="en-US" sz="1400"/>
              <a:t>mask, c) Mask of DeepLabv3+ model, d) Mask of U-Net model, e) </a:t>
            </a:r>
            <a:r>
              <a:rPr lang="en-US" sz="1400" smtClean="0"/>
              <a:t>U-Net Grad-CAM</a:t>
            </a:r>
            <a:r>
              <a:rPr lang="en-US" sz="1400"/>
              <a:t>, f) DeepLabv3+ Grad-CAM</a:t>
            </a:r>
            <a:endParaRPr lang="en-US" sz="1400">
              <a:solidFill>
                <a:srgbClr val="0070C0"/>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2644" y="98458"/>
            <a:ext cx="8653594" cy="5958098"/>
          </a:xfrm>
          <a:prstGeom prst="rect">
            <a:avLst/>
          </a:prstGeom>
        </p:spPr>
      </p:pic>
    </p:spTree>
    <p:extLst>
      <p:ext uri="{BB962C8B-B14F-4D97-AF65-F5344CB8AC3E}">
        <p14:creationId xmlns:p14="http://schemas.microsoft.com/office/powerpoint/2010/main" val="37054080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37" y="4645628"/>
            <a:ext cx="8625840" cy="1844218"/>
          </a:xfrm>
          <a:prstGeom prst="rect">
            <a:avLst/>
          </a:prstGeom>
        </p:spPr>
      </p:pic>
      <p:sp>
        <p:nvSpPr>
          <p:cNvPr id="7" name="Content Placeholder 1"/>
          <p:cNvSpPr>
            <a:spLocks noGrp="1"/>
          </p:cNvSpPr>
          <p:nvPr>
            <p:ph sz="quarter" idx="10"/>
          </p:nvPr>
        </p:nvSpPr>
        <p:spPr>
          <a:xfrm>
            <a:off x="8967125" y="5386991"/>
            <a:ext cx="3082635" cy="361492"/>
          </a:xfrm>
        </p:spPr>
        <p:txBody>
          <a:bodyPr>
            <a:noAutofit/>
          </a:bodyPr>
          <a:lstStyle/>
          <a:p>
            <a:pPr marL="0" indent="0" algn="ctr">
              <a:lnSpc>
                <a:spcPct val="100000"/>
              </a:lnSpc>
              <a:buNone/>
            </a:pPr>
            <a:r>
              <a:rPr lang="en-US" sz="1800" i="1" smtClean="0"/>
              <a:t>Fig </a:t>
            </a:r>
            <a:r>
              <a:rPr lang="en-US" sz="1800" i="1" smtClean="0"/>
              <a:t>15. </a:t>
            </a:r>
            <a:r>
              <a:rPr lang="en-US" sz="1800" i="1"/>
              <a:t>Results on input image of the proposed model </a:t>
            </a:r>
            <a:br>
              <a:rPr lang="en-US" sz="1800" i="1"/>
            </a:br>
            <a:endParaRPr lang="en-US" sz="1800" i="1">
              <a:solidFill>
                <a:srgbClr val="0070C0"/>
              </a:solidFill>
            </a:endParaRPr>
          </a:p>
        </p:txBody>
      </p:sp>
      <p:pic>
        <p:nvPicPr>
          <p:cNvPr id="2" name="Picture 1"/>
          <p:cNvPicPr>
            <a:picLocks noChangeAspect="1"/>
          </p:cNvPicPr>
          <p:nvPr/>
        </p:nvPicPr>
        <p:blipFill>
          <a:blip r:embed="rId4"/>
          <a:stretch>
            <a:fillRect/>
          </a:stretch>
        </p:blipFill>
        <p:spPr>
          <a:xfrm>
            <a:off x="260872" y="851648"/>
            <a:ext cx="5845288" cy="3702622"/>
          </a:xfrm>
          <a:prstGeom prst="rect">
            <a:avLst/>
          </a:prstGeom>
        </p:spPr>
      </p:pic>
      <p:sp>
        <p:nvSpPr>
          <p:cNvPr id="8" name="Content Placeholder 1"/>
          <p:cNvSpPr txBox="1">
            <a:spLocks/>
          </p:cNvSpPr>
          <p:nvPr/>
        </p:nvSpPr>
        <p:spPr>
          <a:xfrm>
            <a:off x="6106160" y="2269989"/>
            <a:ext cx="5521035" cy="3614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800" i="1"/>
              <a:t>Fig 14. Rule sets generated by the trained models</a:t>
            </a:r>
            <a:endParaRPr lang="en-US" sz="1800" i="1">
              <a:solidFill>
                <a:srgbClr val="0070C0"/>
              </a:solidFill>
            </a:endParaRPr>
          </a:p>
        </p:txBody>
      </p:sp>
    </p:spTree>
    <p:extLst>
      <p:ext uri="{BB962C8B-B14F-4D97-AF65-F5344CB8AC3E}">
        <p14:creationId xmlns:p14="http://schemas.microsoft.com/office/powerpoint/2010/main" val="7335342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algn="just"/>
            <a:r>
              <a:rPr lang="en-US" sz="2200"/>
              <a:t>we propose a multi-task model for detecting, classifying, and segmenting breast cancer based on rule sets and </a:t>
            </a:r>
            <a:r>
              <a:rPr lang="en-US" sz="2200" smtClean="0"/>
              <a:t>XAI.</a:t>
            </a:r>
          </a:p>
          <a:p>
            <a:pPr algn="just"/>
            <a:r>
              <a:rPr lang="en-US" sz="2200"/>
              <a:t>we combine the fuzzy inference system with the Grad-Cam </a:t>
            </a:r>
            <a:r>
              <a:rPr lang="en-US" sz="2200" smtClean="0"/>
              <a:t>technique to </a:t>
            </a:r>
            <a:r>
              <a:rPr lang="en-US" sz="2200"/>
              <a:t>display the importance of the detected mass region, thereby improving </a:t>
            </a:r>
            <a:r>
              <a:rPr lang="en-US" sz="2200" smtClean="0"/>
              <a:t>the efficiency </a:t>
            </a:r>
            <a:r>
              <a:rPr lang="en-US" sz="2200"/>
              <a:t>of explaining the output of the proposed method</a:t>
            </a:r>
            <a:r>
              <a:rPr lang="en-US" sz="2200" smtClean="0"/>
              <a:t>.</a:t>
            </a:r>
          </a:p>
          <a:p>
            <a:pPr algn="just"/>
            <a:r>
              <a:rPr lang="en-US" sz="2200"/>
              <a:t>U-Net_JRIP combination model achieves </a:t>
            </a:r>
            <a:r>
              <a:rPr lang="en-US" sz="2200" smtClean="0"/>
              <a:t>the highest </a:t>
            </a:r>
            <a:r>
              <a:rPr lang="en-US" sz="2200"/>
              <a:t>accuracy </a:t>
            </a:r>
            <a:r>
              <a:rPr lang="en-US" sz="2200" smtClean="0"/>
              <a:t>of 94.64% with IoU 0.899.</a:t>
            </a:r>
          </a:p>
          <a:p>
            <a:pPr algn="just"/>
            <a:r>
              <a:rPr lang="en-US" sz="2200" smtClean="0"/>
              <a:t>In future </a:t>
            </a:r>
            <a:r>
              <a:rPr lang="en-US" sz="2200"/>
              <a:t>work, we will compare and improve the rule generation models and incorporate additional features such as microcalcifications and density in the </a:t>
            </a:r>
            <a:r>
              <a:rPr lang="en-US" sz="2200" smtClean="0"/>
              <a:t>images to </a:t>
            </a:r>
            <a:r>
              <a:rPr lang="en-US" sz="2200"/>
              <a:t>improve the model accuracy.</a:t>
            </a:r>
          </a:p>
        </p:txBody>
      </p:sp>
      <p:sp>
        <p:nvSpPr>
          <p:cNvPr id="3" name="Title 2"/>
          <p:cNvSpPr>
            <a:spLocks noGrp="1"/>
          </p:cNvSpPr>
          <p:nvPr>
            <p:ph type="title"/>
          </p:nvPr>
        </p:nvSpPr>
        <p:spPr/>
        <p:txBody>
          <a:bodyPr>
            <a:normAutofit/>
          </a:bodyPr>
          <a:lstStyle/>
          <a:p>
            <a:pPr lvl="0"/>
            <a:r>
              <a:rPr lang="en-US" sz="3600" smtClean="0"/>
              <a:t>5. Conclusion</a:t>
            </a:r>
            <a:endParaRPr lang="en-US"/>
          </a:p>
        </p:txBody>
      </p:sp>
    </p:spTree>
    <p:extLst>
      <p:ext uri="{BB962C8B-B14F-4D97-AF65-F5344CB8AC3E}">
        <p14:creationId xmlns:p14="http://schemas.microsoft.com/office/powerpoint/2010/main" val="21651382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715331"/>
            <a:ext cx="11234737" cy="5397404"/>
          </a:xfrm>
        </p:spPr>
        <p:txBody>
          <a:bodyPr>
            <a:normAutofit/>
          </a:bodyPr>
          <a:lstStyle/>
          <a:p>
            <a:pPr marL="0" indent="0" algn="just">
              <a:buNone/>
            </a:pPr>
            <a:r>
              <a:rPr lang="en-US" sz="2000"/>
              <a:t>[</a:t>
            </a:r>
            <a:r>
              <a:rPr lang="en-US" sz="2000" smtClean="0"/>
              <a:t>1] W</a:t>
            </a:r>
            <a:r>
              <a:rPr lang="en-US" sz="2000"/>
              <a:t>. H. Organization, WHO guidelines for screening and treatment of precancerous lesions for cervical cancer prevention. World Health Organization, 2021. </a:t>
            </a:r>
            <a:endParaRPr lang="en-US" sz="2000" smtClean="0"/>
          </a:p>
          <a:p>
            <a:pPr marL="0" indent="0" algn="just">
              <a:buNone/>
            </a:pPr>
            <a:r>
              <a:rPr lang="en-US" sz="2000" smtClean="0"/>
              <a:t>[2] Chong</a:t>
            </a:r>
            <a:r>
              <a:rPr lang="en-US" sz="2000"/>
              <a:t>, Alice, et al. "Digital breast tomosynthesis: concepts and clinical </a:t>
            </a:r>
            <a:r>
              <a:rPr lang="en-US" sz="2000"/>
              <a:t>practice</a:t>
            </a:r>
            <a:r>
              <a:rPr lang="en-US" sz="2000" smtClean="0"/>
              <a:t>.“ Radiology </a:t>
            </a:r>
            <a:r>
              <a:rPr lang="en-US" sz="2000"/>
              <a:t>292.1 (2019): 1-14.</a:t>
            </a:r>
          </a:p>
          <a:p>
            <a:pPr marL="0" indent="0" algn="just">
              <a:buNone/>
            </a:pPr>
            <a:r>
              <a:rPr lang="en-US" sz="2000" smtClean="0"/>
              <a:t>[3] </a:t>
            </a:r>
            <a:r>
              <a:rPr lang="en-US" sz="2000"/>
              <a:t>Chowdhary, Chiranji Lal, et al. "Past, present and future of gene feature </a:t>
            </a:r>
            <a:r>
              <a:rPr lang="en-US" sz="2000"/>
              <a:t>selection </a:t>
            </a:r>
            <a:r>
              <a:rPr lang="en-US" sz="2000" smtClean="0"/>
              <a:t>for breast </a:t>
            </a:r>
            <a:r>
              <a:rPr lang="en-US" sz="2000"/>
              <a:t>cancer classificationa survey." International Journal of </a:t>
            </a:r>
            <a:r>
              <a:rPr lang="en-US" sz="2000"/>
              <a:t>Engineering </a:t>
            </a:r>
            <a:r>
              <a:rPr lang="en-US" sz="2000" smtClean="0"/>
              <a:t>Systems Modelling </a:t>
            </a:r>
            <a:r>
              <a:rPr lang="en-US" sz="2000"/>
              <a:t>and Simulation 13.2 (2022): 140-153.</a:t>
            </a:r>
          </a:p>
          <a:p>
            <a:pPr marL="0" indent="0" algn="just">
              <a:buNone/>
            </a:pPr>
            <a:r>
              <a:rPr lang="en-US" sz="2000" smtClean="0"/>
              <a:t>[4] </a:t>
            </a:r>
            <a:r>
              <a:rPr lang="en-US" sz="2000"/>
              <a:t>Clancy, Kadie, et al. "Deep learning pre-training strategy for </a:t>
            </a:r>
            <a:r>
              <a:rPr lang="en-US" sz="2000"/>
              <a:t>mammogram </a:t>
            </a:r>
            <a:r>
              <a:rPr lang="en-US" sz="2000" smtClean="0"/>
              <a:t>image classification</a:t>
            </a:r>
            <a:r>
              <a:rPr lang="en-US" sz="2000"/>
              <a:t>: an evaluation study." Journal of Digital Imaging 33 (2020): 1257-1265.</a:t>
            </a:r>
          </a:p>
          <a:p>
            <a:pPr marL="0" indent="0" algn="just">
              <a:buNone/>
            </a:pPr>
            <a:r>
              <a:rPr lang="en-US" sz="2000" smtClean="0"/>
              <a:t>[5] </a:t>
            </a:r>
            <a:r>
              <a:rPr lang="en-US" sz="2000"/>
              <a:t>Apoorva, V., H. K. Yogish, and M. L. Chayadevi. "Breast cancer </a:t>
            </a:r>
            <a:r>
              <a:rPr lang="en-US" sz="2000"/>
              <a:t>prediction </a:t>
            </a:r>
            <a:r>
              <a:rPr lang="en-US" sz="2000" smtClean="0"/>
              <a:t>using machine </a:t>
            </a:r>
            <a:r>
              <a:rPr lang="en-US" sz="2000"/>
              <a:t>learning techniques." 3rd International Conference on </a:t>
            </a:r>
            <a:r>
              <a:rPr lang="en-US" sz="2000"/>
              <a:t>Integrated </a:t>
            </a:r>
            <a:r>
              <a:rPr lang="en-US" sz="2000" smtClean="0"/>
              <a:t>Intelligent Computing </a:t>
            </a:r>
            <a:r>
              <a:rPr lang="en-US" sz="2000"/>
              <a:t>Communication &amp; Security (ICIIC 2021). Atlantis Press, 2021.</a:t>
            </a:r>
          </a:p>
          <a:p>
            <a:pPr marL="0" indent="0" algn="just">
              <a:buNone/>
            </a:pPr>
            <a:r>
              <a:rPr lang="en-US" sz="2000" smtClean="0"/>
              <a:t>[6] </a:t>
            </a:r>
            <a:r>
              <a:rPr lang="en-US" sz="2000"/>
              <a:t>Prodan, Marcel, Elena Paraschiv, and Alexandru Stanciu. "Applying </a:t>
            </a:r>
            <a:r>
              <a:rPr lang="en-US" sz="2000"/>
              <a:t>deep </a:t>
            </a:r>
            <a:r>
              <a:rPr lang="en-US" sz="2000" smtClean="0"/>
              <a:t>learning methods </a:t>
            </a:r>
            <a:r>
              <a:rPr lang="en-US" sz="2000"/>
              <a:t>for mammography analysis and breast cancer detection." </a:t>
            </a:r>
            <a:r>
              <a:rPr lang="en-US" sz="2000"/>
              <a:t>Applied </a:t>
            </a:r>
            <a:r>
              <a:rPr lang="en-US" sz="2000" smtClean="0"/>
              <a:t>Sciences 13.7 </a:t>
            </a:r>
            <a:r>
              <a:rPr lang="en-US" sz="2000"/>
              <a:t>(2023): 4272.</a:t>
            </a:r>
          </a:p>
          <a:p>
            <a:pPr marL="0" indent="0" algn="just">
              <a:buNone/>
            </a:pPr>
            <a:r>
              <a:rPr lang="en-US" sz="2000" smtClean="0"/>
              <a:t>[7] </a:t>
            </a:r>
            <a:r>
              <a:rPr lang="en-US" sz="2000"/>
              <a:t>Arora, Shaveta, and Amanpreet Kaur. "Modified edge detection </a:t>
            </a:r>
            <a:r>
              <a:rPr lang="en-US" sz="2000"/>
              <a:t>technique </a:t>
            </a:r>
            <a:r>
              <a:rPr lang="en-US" sz="2000" smtClean="0"/>
              <a:t>using fuzzy </a:t>
            </a:r>
            <a:r>
              <a:rPr lang="en-US" sz="2000"/>
              <a:t>inference system." International Journal of Computer </a:t>
            </a:r>
            <a:r>
              <a:rPr lang="en-US" sz="2000"/>
              <a:t>Applications </a:t>
            </a:r>
            <a:r>
              <a:rPr lang="en-US" sz="2000" smtClean="0"/>
              <a:t>44.22 (2012</a:t>
            </a:r>
            <a:r>
              <a:rPr lang="en-US" sz="2000"/>
              <a:t>): 9-1.</a:t>
            </a:r>
            <a:endParaRPr lang="en-US" sz="2000"/>
          </a:p>
        </p:txBody>
      </p:sp>
      <p:sp>
        <p:nvSpPr>
          <p:cNvPr id="3" name="Title 2"/>
          <p:cNvSpPr>
            <a:spLocks noGrp="1"/>
          </p:cNvSpPr>
          <p:nvPr>
            <p:ph type="title"/>
          </p:nvPr>
        </p:nvSpPr>
        <p:spPr/>
        <p:txBody>
          <a:bodyPr/>
          <a:lstStyle/>
          <a:p>
            <a:r>
              <a:rPr lang="en-US" smtClean="0"/>
              <a:t>References</a:t>
            </a:r>
            <a:endParaRPr lang="en-US"/>
          </a:p>
        </p:txBody>
      </p:sp>
    </p:spTree>
    <p:extLst>
      <p:ext uri="{BB962C8B-B14F-4D97-AF65-F5344CB8AC3E}">
        <p14:creationId xmlns:p14="http://schemas.microsoft.com/office/powerpoint/2010/main" val="7117486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Unleashing the Magic of Ho Chi Minh City: Top Nighttime Adventures and Experien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6045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615145" y="722184"/>
            <a:ext cx="7467600" cy="638484"/>
          </a:xfrm>
        </p:spPr>
        <p:txBody>
          <a:bodyPr>
            <a:noAutofit/>
          </a:bodyPr>
          <a:lstStyle/>
          <a:p>
            <a:pPr algn="ctr"/>
            <a:r>
              <a:rPr lang="en-US" sz="4800" smtClean="0"/>
              <a:t>THANK YOU FOR </a:t>
            </a:r>
            <a:br>
              <a:rPr lang="en-US" sz="4800" smtClean="0"/>
            </a:br>
            <a:r>
              <a:rPr lang="en-US" sz="4800" smtClean="0"/>
              <a:t>YOUR ATTENTION !!!</a:t>
            </a:r>
            <a:endParaRPr lang="en-US" sz="4800"/>
          </a:p>
        </p:txBody>
      </p:sp>
    </p:spTree>
    <p:extLst>
      <p:ext uri="{BB962C8B-B14F-4D97-AF65-F5344CB8AC3E}">
        <p14:creationId xmlns:p14="http://schemas.microsoft.com/office/powerpoint/2010/main" val="25309953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vestor Social Media by Slidesgo">
  <a:themeElements>
    <a:clrScheme name="Simple Light">
      <a:dk1>
        <a:srgbClr val="07105C"/>
      </a:dk1>
      <a:lt1>
        <a:srgbClr val="FFFFFF"/>
      </a:lt1>
      <a:dk2>
        <a:srgbClr val="FDE571"/>
      </a:dk2>
      <a:lt2>
        <a:srgbClr val="8FCEF9"/>
      </a:lt2>
      <a:accent1>
        <a:srgbClr val="07105C"/>
      </a:accent1>
      <a:accent2>
        <a:srgbClr val="5664E1"/>
      </a:accent2>
      <a:accent3>
        <a:srgbClr val="1226DB"/>
      </a:accent3>
      <a:accent4>
        <a:srgbClr val="23295C"/>
      </a:accent4>
      <a:accent5>
        <a:srgbClr val="0E1DA8"/>
      </a:accent5>
      <a:accent6>
        <a:srgbClr val="FFB127"/>
      </a:accent6>
      <a:hlink>
        <a:srgbClr val="E1D4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19114</TotalTime>
  <Words>3287</Words>
  <Application>Microsoft Office PowerPoint</Application>
  <PresentationFormat>Widescreen</PresentationFormat>
  <Paragraphs>417</Paragraphs>
  <Slides>33</Slides>
  <Notes>32</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33</vt:i4>
      </vt:variant>
    </vt:vector>
  </HeadingPairs>
  <TitlesOfParts>
    <vt:vector size="49" baseType="lpstr">
      <vt:lpstr>MS Gothic</vt:lpstr>
      <vt:lpstr>Arial</vt:lpstr>
      <vt:lpstr>Calibri</vt:lpstr>
      <vt:lpstr>Calibri Light</vt:lpstr>
      <vt:lpstr>Cambria</vt:lpstr>
      <vt:lpstr>Cambria Math</vt:lpstr>
      <vt:lpstr>Montserrat</vt:lpstr>
      <vt:lpstr>MS Mincho</vt:lpstr>
      <vt:lpstr>Open Sans</vt:lpstr>
      <vt:lpstr>Segoe UI</vt:lpstr>
      <vt:lpstr>Segoe UI Black</vt:lpstr>
      <vt:lpstr>Times New Roman</vt:lpstr>
      <vt:lpstr>Ubuntu</vt:lpstr>
      <vt:lpstr>Wingdings</vt:lpstr>
      <vt:lpstr>Office Theme</vt:lpstr>
      <vt:lpstr>Investor Social Media by Slidesgo</vt:lpstr>
      <vt:lpstr>PowerPoint Presentation</vt:lpstr>
      <vt:lpstr>CONTENT</vt:lpstr>
      <vt:lpstr>1. Introduction</vt:lpstr>
      <vt:lpstr>1. Introduction</vt:lpstr>
      <vt:lpstr>1. Introduction</vt:lpstr>
      <vt:lpstr>2. Related works</vt:lpstr>
      <vt:lpstr>2. Related works</vt:lpstr>
      <vt:lpstr>2. Related works</vt:lpstr>
      <vt:lpstr>2. Related works</vt:lpstr>
      <vt:lpstr>2. Related works</vt:lpstr>
      <vt:lpstr>2. Related works</vt:lpstr>
      <vt:lpstr>2. Related works</vt:lpstr>
      <vt:lpstr>2. Related works</vt:lpstr>
      <vt:lpstr>2. Related works</vt:lpstr>
      <vt:lpstr>2. Related works</vt:lpstr>
      <vt:lpstr>3. Proposed Method</vt:lpstr>
      <vt:lpstr>3. Proposed Method</vt:lpstr>
      <vt:lpstr>3. Proposed Method</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PowerPoint Presentation</vt:lpstr>
      <vt:lpstr>4. Experimental results</vt:lpstr>
      <vt:lpstr>5. Conclusion</vt:lpstr>
      <vt:lpstr>References</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SƯ PHẠM KỸ THUẬT VĨNH LONG KHOA CÔNG NGHỆ THÔNG TIN</dc:title>
  <dc:creator>HienDo</dc:creator>
  <cp:lastModifiedBy>dat</cp:lastModifiedBy>
  <cp:revision>358</cp:revision>
  <dcterms:created xsi:type="dcterms:W3CDTF">2023-08-27T11:42:50Z</dcterms:created>
  <dcterms:modified xsi:type="dcterms:W3CDTF">2025-11-11T09:39:20Z</dcterms:modified>
</cp:coreProperties>
</file>