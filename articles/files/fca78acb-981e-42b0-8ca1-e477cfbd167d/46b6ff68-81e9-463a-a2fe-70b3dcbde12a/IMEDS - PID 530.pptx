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 id="2147483863" r:id="rId2"/>
  </p:sldMasterIdLst>
  <p:notesMasterIdLst>
    <p:notesMasterId r:id="rId28"/>
  </p:notesMasterIdLst>
  <p:sldIdLst>
    <p:sldId id="291" r:id="rId3"/>
    <p:sldId id="338" r:id="rId4"/>
    <p:sldId id="292" r:id="rId5"/>
    <p:sldId id="323" r:id="rId6"/>
    <p:sldId id="337" r:id="rId7"/>
    <p:sldId id="324" r:id="rId8"/>
    <p:sldId id="325" r:id="rId9"/>
    <p:sldId id="343" r:id="rId10"/>
    <p:sldId id="302" r:id="rId11"/>
    <p:sldId id="327" r:id="rId12"/>
    <p:sldId id="300" r:id="rId13"/>
    <p:sldId id="301" r:id="rId14"/>
    <p:sldId id="330" r:id="rId15"/>
    <p:sldId id="304" r:id="rId16"/>
    <p:sldId id="306" r:id="rId17"/>
    <p:sldId id="342" r:id="rId18"/>
    <p:sldId id="341" r:id="rId19"/>
    <p:sldId id="333" r:id="rId20"/>
    <p:sldId id="320" r:id="rId21"/>
    <p:sldId id="339" r:id="rId22"/>
    <p:sldId id="340" r:id="rId23"/>
    <p:sldId id="316" r:id="rId24"/>
    <p:sldId id="318" r:id="rId25"/>
    <p:sldId id="319" r:id="rId26"/>
    <p:sldId id="317" r:id="rId27"/>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86044" autoAdjust="0"/>
  </p:normalViewPr>
  <p:slideViewPr>
    <p:cSldViewPr snapToGrid="0">
      <p:cViewPr varScale="1">
        <p:scale>
          <a:sx n="72" d="100"/>
          <a:sy n="72" d="100"/>
        </p:scale>
        <p:origin x="845" y="43"/>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321E-919F-40A1-8B4F-ED3C173FFBB6}" type="doc">
      <dgm:prSet loTypeId="urn:microsoft.com/office/officeart/2008/layout/LinedList" loCatId="list" qsTypeId="urn:microsoft.com/office/officeart/2005/8/quickstyle/simple5" qsCatId="simple" csTypeId="urn:microsoft.com/office/officeart/2005/8/colors/colorful4" csCatId="colorful" phldr="1"/>
      <dgm:spPr/>
      <dgm:t>
        <a:bodyPr/>
        <a:lstStyle/>
        <a:p>
          <a:endParaRPr lang="en-US"/>
        </a:p>
      </dgm:t>
    </dgm:pt>
    <dgm:pt modelId="{4BA853E3-6B37-4EEE-B870-270D9575B883}">
      <dgm:prSet phldrT="[Text]" custT="1"/>
      <dgm:spPr/>
      <dgm:t>
        <a:bodyPr/>
        <a:lstStyle/>
        <a:p>
          <a:r>
            <a:rPr lang="en-US" sz="3000" smtClean="0">
              <a:latin typeface="Cambria" panose="02040503050406030204" pitchFamily="18" charset="0"/>
              <a:ea typeface="Cambria" panose="02040503050406030204" pitchFamily="18" charset="0"/>
            </a:rPr>
            <a:t>1. Introduction</a:t>
          </a:r>
          <a:endParaRPr lang="en-US" sz="3000">
            <a:latin typeface="Cambria" panose="02040503050406030204" pitchFamily="18" charset="0"/>
            <a:ea typeface="Cambria" panose="02040503050406030204" pitchFamily="18" charset="0"/>
          </a:endParaRPr>
        </a:p>
      </dgm:t>
    </dgm:pt>
    <dgm:pt modelId="{B938A720-C0A3-4115-8161-C8FCE398629C}" type="par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071A486A-321D-4A92-BE28-65AAC3811270}" type="sib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CB6C174C-AD39-4F32-A69C-1943F6FCA0AD}">
      <dgm:prSet phldrT="[Text]" custT="1"/>
      <dgm:spPr/>
      <dgm:t>
        <a:bodyPr/>
        <a:lstStyle/>
        <a:p>
          <a:r>
            <a:rPr lang="en-US" sz="3000" smtClean="0">
              <a:latin typeface="Cambria" panose="02040503050406030204" pitchFamily="18" charset="0"/>
              <a:ea typeface="Cambria" panose="02040503050406030204" pitchFamily="18" charset="0"/>
            </a:rPr>
            <a:t>2. Related works</a:t>
          </a:r>
          <a:endParaRPr lang="en-US" sz="3000">
            <a:latin typeface="Cambria" panose="02040503050406030204" pitchFamily="18" charset="0"/>
            <a:ea typeface="Cambria" panose="02040503050406030204" pitchFamily="18" charset="0"/>
          </a:endParaRPr>
        </a:p>
      </dgm:t>
    </dgm:pt>
    <dgm:pt modelId="{0AA1EE46-3B6A-4F62-B357-F1F7AF7FC0BC}" type="par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83720B8D-FA55-4AE0-A459-962B549F5280}" type="sib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37067F57-594D-497F-A5AB-F04E94E155CB}">
      <dgm:prSet phldrT="[Text]" custT="1"/>
      <dgm:spPr/>
      <dgm:t>
        <a:bodyPr/>
        <a:lstStyle/>
        <a:p>
          <a:r>
            <a:rPr lang="en-US" sz="3000" smtClean="0">
              <a:latin typeface="Cambria" panose="02040503050406030204" pitchFamily="18" charset="0"/>
              <a:ea typeface="Cambria" panose="02040503050406030204" pitchFamily="18" charset="0"/>
            </a:rPr>
            <a:t>3. Proposed method</a:t>
          </a:r>
          <a:endParaRPr lang="en-US" sz="3000">
            <a:latin typeface="Cambria" panose="02040503050406030204" pitchFamily="18" charset="0"/>
            <a:ea typeface="Cambria" panose="02040503050406030204" pitchFamily="18" charset="0"/>
          </a:endParaRPr>
        </a:p>
      </dgm:t>
    </dgm:pt>
    <dgm:pt modelId="{1E020827-09FF-4E02-B615-50794545DE9F}" type="par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533DCD23-C3A5-41AD-AD95-529064A32B00}" type="sib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84B520AF-6E48-49D1-8641-105A3D363435}">
      <dgm:prSet phldrT="[Text]" custT="1"/>
      <dgm:spPr/>
      <dgm:t>
        <a:bodyPr/>
        <a:lstStyle/>
        <a:p>
          <a:r>
            <a:rPr lang="en-US" sz="3000" smtClean="0">
              <a:latin typeface="Cambria" panose="02040503050406030204" pitchFamily="18" charset="0"/>
              <a:ea typeface="Cambria" panose="02040503050406030204" pitchFamily="18" charset="0"/>
            </a:rPr>
            <a:t>5. Conclusion</a:t>
          </a:r>
          <a:endParaRPr lang="en-US" sz="3000">
            <a:latin typeface="Cambria" panose="02040503050406030204" pitchFamily="18" charset="0"/>
            <a:ea typeface="Cambria" panose="02040503050406030204" pitchFamily="18" charset="0"/>
          </a:endParaRPr>
        </a:p>
      </dgm:t>
    </dgm:pt>
    <dgm:pt modelId="{508F2D6B-B0B0-4897-8C35-3A5B28264CC6}" type="par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B64573C5-9254-4F89-A13E-F786D9BAAC1E}" type="sib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0D8CC914-4B79-45E6-9C9B-673327DDFF32}">
      <dgm:prSet phldrT="[Text]" custT="1"/>
      <dgm:spPr/>
      <dgm:t>
        <a:bodyPr/>
        <a:lstStyle/>
        <a:p>
          <a:r>
            <a:rPr lang="en-US" sz="3000" smtClean="0">
              <a:latin typeface="Cambria" panose="02040503050406030204" pitchFamily="18" charset="0"/>
              <a:ea typeface="Cambria" panose="02040503050406030204" pitchFamily="18" charset="0"/>
            </a:rPr>
            <a:t>4. Experimental results</a:t>
          </a:r>
          <a:endParaRPr lang="en-US" sz="3000">
            <a:latin typeface="Cambria" panose="02040503050406030204" pitchFamily="18" charset="0"/>
            <a:ea typeface="Cambria" panose="02040503050406030204" pitchFamily="18" charset="0"/>
          </a:endParaRPr>
        </a:p>
      </dgm:t>
    </dgm:pt>
    <dgm:pt modelId="{025631BD-4CEA-49DE-8217-3B1DD224ADBF}" type="par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C4509E76-E84D-4436-8DEB-B59749AF7C35}" type="sib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B5E66452-C6DE-444C-B18C-B6A371B1653C}" type="pres">
      <dgm:prSet presAssocID="{AEDC321E-919F-40A1-8B4F-ED3C173FFBB6}" presName="vert0" presStyleCnt="0">
        <dgm:presLayoutVars>
          <dgm:dir/>
          <dgm:animOne val="branch"/>
          <dgm:animLvl val="lvl"/>
        </dgm:presLayoutVars>
      </dgm:prSet>
      <dgm:spPr/>
      <dgm:t>
        <a:bodyPr/>
        <a:lstStyle/>
        <a:p>
          <a:endParaRPr lang="en-US"/>
        </a:p>
      </dgm:t>
    </dgm:pt>
    <dgm:pt modelId="{D15B6E73-FB71-4972-95FD-77CC89B41F9B}" type="pres">
      <dgm:prSet presAssocID="{4BA853E3-6B37-4EEE-B870-270D9575B883}" presName="thickLine" presStyleLbl="alignNode1" presStyleIdx="0" presStyleCnt="5"/>
      <dgm:spPr/>
      <dgm:t>
        <a:bodyPr/>
        <a:lstStyle/>
        <a:p>
          <a:endParaRPr lang="en-US"/>
        </a:p>
      </dgm:t>
    </dgm:pt>
    <dgm:pt modelId="{DCE577C6-78D9-4E48-B19F-F1E4B645F0BB}" type="pres">
      <dgm:prSet presAssocID="{4BA853E3-6B37-4EEE-B870-270D9575B883}" presName="horz1" presStyleCnt="0"/>
      <dgm:spPr/>
      <dgm:t>
        <a:bodyPr/>
        <a:lstStyle/>
        <a:p>
          <a:endParaRPr lang="en-US"/>
        </a:p>
      </dgm:t>
    </dgm:pt>
    <dgm:pt modelId="{02C8D4F3-BF6D-4972-A216-41FFBF8E4EA3}" type="pres">
      <dgm:prSet presAssocID="{4BA853E3-6B37-4EEE-B870-270D9575B883}" presName="tx1" presStyleLbl="revTx" presStyleIdx="0" presStyleCnt="5"/>
      <dgm:spPr/>
      <dgm:t>
        <a:bodyPr/>
        <a:lstStyle/>
        <a:p>
          <a:endParaRPr lang="en-US"/>
        </a:p>
      </dgm:t>
    </dgm:pt>
    <dgm:pt modelId="{816935F0-8156-4157-AC70-B5E9DB1E570D}" type="pres">
      <dgm:prSet presAssocID="{4BA853E3-6B37-4EEE-B870-270D9575B883}" presName="vert1" presStyleCnt="0"/>
      <dgm:spPr/>
      <dgm:t>
        <a:bodyPr/>
        <a:lstStyle/>
        <a:p>
          <a:endParaRPr lang="en-US"/>
        </a:p>
      </dgm:t>
    </dgm:pt>
    <dgm:pt modelId="{4E808DA8-2AE3-4AFB-953F-585D5A7EB9C1}" type="pres">
      <dgm:prSet presAssocID="{CB6C174C-AD39-4F32-A69C-1943F6FCA0AD}" presName="thickLine" presStyleLbl="alignNode1" presStyleIdx="1" presStyleCnt="5"/>
      <dgm:spPr/>
      <dgm:t>
        <a:bodyPr/>
        <a:lstStyle/>
        <a:p>
          <a:endParaRPr lang="en-US"/>
        </a:p>
      </dgm:t>
    </dgm:pt>
    <dgm:pt modelId="{B7BC5993-A808-4A3C-BF44-6614B68AFDDB}" type="pres">
      <dgm:prSet presAssocID="{CB6C174C-AD39-4F32-A69C-1943F6FCA0AD}" presName="horz1" presStyleCnt="0"/>
      <dgm:spPr/>
      <dgm:t>
        <a:bodyPr/>
        <a:lstStyle/>
        <a:p>
          <a:endParaRPr lang="en-US"/>
        </a:p>
      </dgm:t>
    </dgm:pt>
    <dgm:pt modelId="{6938AA73-F497-4DF4-AE51-AE7EEAD34742}" type="pres">
      <dgm:prSet presAssocID="{CB6C174C-AD39-4F32-A69C-1943F6FCA0AD}" presName="tx1" presStyleLbl="revTx" presStyleIdx="1" presStyleCnt="5"/>
      <dgm:spPr/>
      <dgm:t>
        <a:bodyPr/>
        <a:lstStyle/>
        <a:p>
          <a:endParaRPr lang="en-US"/>
        </a:p>
      </dgm:t>
    </dgm:pt>
    <dgm:pt modelId="{FEDB7669-F822-4BF0-88A3-48DCB4B25957}" type="pres">
      <dgm:prSet presAssocID="{CB6C174C-AD39-4F32-A69C-1943F6FCA0AD}" presName="vert1" presStyleCnt="0"/>
      <dgm:spPr/>
      <dgm:t>
        <a:bodyPr/>
        <a:lstStyle/>
        <a:p>
          <a:endParaRPr lang="en-US"/>
        </a:p>
      </dgm:t>
    </dgm:pt>
    <dgm:pt modelId="{4308F9AB-48F2-46B1-9CA8-1959138D1D80}" type="pres">
      <dgm:prSet presAssocID="{37067F57-594D-497F-A5AB-F04E94E155CB}" presName="thickLine" presStyleLbl="alignNode1" presStyleIdx="2" presStyleCnt="5"/>
      <dgm:spPr/>
      <dgm:t>
        <a:bodyPr/>
        <a:lstStyle/>
        <a:p>
          <a:endParaRPr lang="en-US"/>
        </a:p>
      </dgm:t>
    </dgm:pt>
    <dgm:pt modelId="{04E80DB8-55DE-4361-B26F-7C55C61822EA}" type="pres">
      <dgm:prSet presAssocID="{37067F57-594D-497F-A5AB-F04E94E155CB}" presName="horz1" presStyleCnt="0"/>
      <dgm:spPr/>
      <dgm:t>
        <a:bodyPr/>
        <a:lstStyle/>
        <a:p>
          <a:endParaRPr lang="en-US"/>
        </a:p>
      </dgm:t>
    </dgm:pt>
    <dgm:pt modelId="{8576C280-DD3B-4AAF-8437-2548F119716B}" type="pres">
      <dgm:prSet presAssocID="{37067F57-594D-497F-A5AB-F04E94E155CB}" presName="tx1" presStyleLbl="revTx" presStyleIdx="2" presStyleCnt="5"/>
      <dgm:spPr/>
      <dgm:t>
        <a:bodyPr/>
        <a:lstStyle/>
        <a:p>
          <a:endParaRPr lang="en-US"/>
        </a:p>
      </dgm:t>
    </dgm:pt>
    <dgm:pt modelId="{561966BE-2A67-4FC7-9E61-4B327F7BDBBD}" type="pres">
      <dgm:prSet presAssocID="{37067F57-594D-497F-A5AB-F04E94E155CB}" presName="vert1" presStyleCnt="0"/>
      <dgm:spPr/>
      <dgm:t>
        <a:bodyPr/>
        <a:lstStyle/>
        <a:p>
          <a:endParaRPr lang="en-US"/>
        </a:p>
      </dgm:t>
    </dgm:pt>
    <dgm:pt modelId="{96B7D6FF-2747-46D5-93BF-1905EBD4904C}" type="pres">
      <dgm:prSet presAssocID="{0D8CC914-4B79-45E6-9C9B-673327DDFF32}" presName="thickLine" presStyleLbl="alignNode1" presStyleIdx="3" presStyleCnt="5"/>
      <dgm:spPr/>
      <dgm:t>
        <a:bodyPr/>
        <a:lstStyle/>
        <a:p>
          <a:endParaRPr lang="en-US"/>
        </a:p>
      </dgm:t>
    </dgm:pt>
    <dgm:pt modelId="{346F5498-54F7-4D76-9C9E-E64BA5E6463A}" type="pres">
      <dgm:prSet presAssocID="{0D8CC914-4B79-45E6-9C9B-673327DDFF32}" presName="horz1" presStyleCnt="0"/>
      <dgm:spPr/>
      <dgm:t>
        <a:bodyPr/>
        <a:lstStyle/>
        <a:p>
          <a:endParaRPr lang="en-US"/>
        </a:p>
      </dgm:t>
    </dgm:pt>
    <dgm:pt modelId="{21A1ACD9-52D2-437A-9BD0-3C4F0E44D96C}" type="pres">
      <dgm:prSet presAssocID="{0D8CC914-4B79-45E6-9C9B-673327DDFF32}" presName="tx1" presStyleLbl="revTx" presStyleIdx="3" presStyleCnt="5"/>
      <dgm:spPr/>
      <dgm:t>
        <a:bodyPr/>
        <a:lstStyle/>
        <a:p>
          <a:endParaRPr lang="en-US"/>
        </a:p>
      </dgm:t>
    </dgm:pt>
    <dgm:pt modelId="{77018FBE-4480-4F5B-ADE0-12E8E068DA54}" type="pres">
      <dgm:prSet presAssocID="{0D8CC914-4B79-45E6-9C9B-673327DDFF32}" presName="vert1" presStyleCnt="0"/>
      <dgm:spPr/>
      <dgm:t>
        <a:bodyPr/>
        <a:lstStyle/>
        <a:p>
          <a:endParaRPr lang="en-US"/>
        </a:p>
      </dgm:t>
    </dgm:pt>
    <dgm:pt modelId="{7DBE17F3-C781-428E-B04E-23DCB85D206A}" type="pres">
      <dgm:prSet presAssocID="{84B520AF-6E48-49D1-8641-105A3D363435}" presName="thickLine" presStyleLbl="alignNode1" presStyleIdx="4" presStyleCnt="5"/>
      <dgm:spPr/>
      <dgm:t>
        <a:bodyPr/>
        <a:lstStyle/>
        <a:p>
          <a:endParaRPr lang="en-US"/>
        </a:p>
      </dgm:t>
    </dgm:pt>
    <dgm:pt modelId="{BBF4FC03-4390-4184-A6A4-52832F83DDC2}" type="pres">
      <dgm:prSet presAssocID="{84B520AF-6E48-49D1-8641-105A3D363435}" presName="horz1" presStyleCnt="0"/>
      <dgm:spPr/>
      <dgm:t>
        <a:bodyPr/>
        <a:lstStyle/>
        <a:p>
          <a:endParaRPr lang="en-US"/>
        </a:p>
      </dgm:t>
    </dgm:pt>
    <dgm:pt modelId="{09946E45-62C8-4278-B199-DF9B4ED47DEA}" type="pres">
      <dgm:prSet presAssocID="{84B520AF-6E48-49D1-8641-105A3D363435}" presName="tx1" presStyleLbl="revTx" presStyleIdx="4" presStyleCnt="5"/>
      <dgm:spPr/>
      <dgm:t>
        <a:bodyPr/>
        <a:lstStyle/>
        <a:p>
          <a:endParaRPr lang="en-US"/>
        </a:p>
      </dgm:t>
    </dgm:pt>
    <dgm:pt modelId="{066009DE-787B-4FB9-A67F-DA8CF24EA028}" type="pres">
      <dgm:prSet presAssocID="{84B520AF-6E48-49D1-8641-105A3D363435}" presName="vert1" presStyleCnt="0"/>
      <dgm:spPr/>
      <dgm:t>
        <a:bodyPr/>
        <a:lstStyle/>
        <a:p>
          <a:endParaRPr lang="en-US"/>
        </a:p>
      </dgm:t>
    </dgm:pt>
  </dgm:ptLst>
  <dgm:cxnLst>
    <dgm:cxn modelId="{5ABD5B5D-5DCE-4921-89AE-23D957E0BBD8}" type="presOf" srcId="{0D8CC914-4B79-45E6-9C9B-673327DDFF32}" destId="{21A1ACD9-52D2-437A-9BD0-3C4F0E44D96C}" srcOrd="0" destOrd="0" presId="urn:microsoft.com/office/officeart/2008/layout/LinedList"/>
    <dgm:cxn modelId="{FC182781-9477-4EB9-9FA0-4C7D5B1C629C}" srcId="{AEDC321E-919F-40A1-8B4F-ED3C173FFBB6}" destId="{4BA853E3-6B37-4EEE-B870-270D9575B883}" srcOrd="0" destOrd="0" parTransId="{B938A720-C0A3-4115-8161-C8FCE398629C}" sibTransId="{071A486A-321D-4A92-BE28-65AAC3811270}"/>
    <dgm:cxn modelId="{1655883E-C540-4AAD-8440-095E15845157}" type="presOf" srcId="{84B520AF-6E48-49D1-8641-105A3D363435}" destId="{09946E45-62C8-4278-B199-DF9B4ED47DEA}" srcOrd="0" destOrd="0" presId="urn:microsoft.com/office/officeart/2008/layout/LinedList"/>
    <dgm:cxn modelId="{3AA3E95A-EC8E-4F3D-B5EE-E17DFA3741F3}" srcId="{AEDC321E-919F-40A1-8B4F-ED3C173FFBB6}" destId="{37067F57-594D-497F-A5AB-F04E94E155CB}" srcOrd="2" destOrd="0" parTransId="{1E020827-09FF-4E02-B615-50794545DE9F}" sibTransId="{533DCD23-C3A5-41AD-AD95-529064A32B00}"/>
    <dgm:cxn modelId="{CC9C8BCC-1D4C-4132-8C8E-BA6FC3A35174}" srcId="{AEDC321E-919F-40A1-8B4F-ED3C173FFBB6}" destId="{0D8CC914-4B79-45E6-9C9B-673327DDFF32}" srcOrd="3" destOrd="0" parTransId="{025631BD-4CEA-49DE-8217-3B1DD224ADBF}" sibTransId="{C4509E76-E84D-4436-8DEB-B59749AF7C35}"/>
    <dgm:cxn modelId="{BAB1171B-ADD5-4B64-8E17-BC8FC85E8BC7}" type="presOf" srcId="{37067F57-594D-497F-A5AB-F04E94E155CB}" destId="{8576C280-DD3B-4AAF-8437-2548F119716B}" srcOrd="0" destOrd="0" presId="urn:microsoft.com/office/officeart/2008/layout/LinedList"/>
    <dgm:cxn modelId="{6CA9DCE7-CFAE-4B71-AF54-55DDA423ACAE}" type="presOf" srcId="{CB6C174C-AD39-4F32-A69C-1943F6FCA0AD}" destId="{6938AA73-F497-4DF4-AE51-AE7EEAD34742}" srcOrd="0" destOrd="0" presId="urn:microsoft.com/office/officeart/2008/layout/LinedList"/>
    <dgm:cxn modelId="{E031A03C-7106-4831-935A-C2802363C003}" type="presOf" srcId="{4BA853E3-6B37-4EEE-B870-270D9575B883}" destId="{02C8D4F3-BF6D-4972-A216-41FFBF8E4EA3}" srcOrd="0" destOrd="0" presId="urn:microsoft.com/office/officeart/2008/layout/LinedList"/>
    <dgm:cxn modelId="{677F619D-B3EA-476F-BEBF-B926C1E99BD2}" srcId="{AEDC321E-919F-40A1-8B4F-ED3C173FFBB6}" destId="{CB6C174C-AD39-4F32-A69C-1943F6FCA0AD}" srcOrd="1" destOrd="0" parTransId="{0AA1EE46-3B6A-4F62-B357-F1F7AF7FC0BC}" sibTransId="{83720B8D-FA55-4AE0-A459-962B549F5280}"/>
    <dgm:cxn modelId="{643C0F74-3A63-4DB7-AA3A-8378660E7FE8}" type="presOf" srcId="{AEDC321E-919F-40A1-8B4F-ED3C173FFBB6}" destId="{B5E66452-C6DE-444C-B18C-B6A371B1653C}" srcOrd="0" destOrd="0" presId="urn:microsoft.com/office/officeart/2008/layout/LinedList"/>
    <dgm:cxn modelId="{BA6BDDE7-BFE1-4D90-BC18-81266B27FE9B}" srcId="{AEDC321E-919F-40A1-8B4F-ED3C173FFBB6}" destId="{84B520AF-6E48-49D1-8641-105A3D363435}" srcOrd="4" destOrd="0" parTransId="{508F2D6B-B0B0-4897-8C35-3A5B28264CC6}" sibTransId="{B64573C5-9254-4F89-A13E-F786D9BAAC1E}"/>
    <dgm:cxn modelId="{E10B6AF9-7F0F-4C06-8698-C7630D4C5A12}" type="presParOf" srcId="{B5E66452-C6DE-444C-B18C-B6A371B1653C}" destId="{D15B6E73-FB71-4972-95FD-77CC89B41F9B}" srcOrd="0" destOrd="0" presId="urn:microsoft.com/office/officeart/2008/layout/LinedList"/>
    <dgm:cxn modelId="{8824BB02-D5EA-46D9-8154-11B1BF817A7D}" type="presParOf" srcId="{B5E66452-C6DE-444C-B18C-B6A371B1653C}" destId="{DCE577C6-78D9-4E48-B19F-F1E4B645F0BB}" srcOrd="1" destOrd="0" presId="urn:microsoft.com/office/officeart/2008/layout/LinedList"/>
    <dgm:cxn modelId="{F33E1AC1-8A7B-4C3B-9E87-EC571ED8D343}" type="presParOf" srcId="{DCE577C6-78D9-4E48-B19F-F1E4B645F0BB}" destId="{02C8D4F3-BF6D-4972-A216-41FFBF8E4EA3}" srcOrd="0" destOrd="0" presId="urn:microsoft.com/office/officeart/2008/layout/LinedList"/>
    <dgm:cxn modelId="{BC6D25FF-048D-4288-B9EE-67F9D02718C6}" type="presParOf" srcId="{DCE577C6-78D9-4E48-B19F-F1E4B645F0BB}" destId="{816935F0-8156-4157-AC70-B5E9DB1E570D}" srcOrd="1" destOrd="0" presId="urn:microsoft.com/office/officeart/2008/layout/LinedList"/>
    <dgm:cxn modelId="{DBA504DD-FBAF-4E02-9A1E-82C96630079A}" type="presParOf" srcId="{B5E66452-C6DE-444C-B18C-B6A371B1653C}" destId="{4E808DA8-2AE3-4AFB-953F-585D5A7EB9C1}" srcOrd="2" destOrd="0" presId="urn:microsoft.com/office/officeart/2008/layout/LinedList"/>
    <dgm:cxn modelId="{8B2858F5-F6EE-42A8-B220-A2FB6FFEA8E6}" type="presParOf" srcId="{B5E66452-C6DE-444C-B18C-B6A371B1653C}" destId="{B7BC5993-A808-4A3C-BF44-6614B68AFDDB}" srcOrd="3" destOrd="0" presId="urn:microsoft.com/office/officeart/2008/layout/LinedList"/>
    <dgm:cxn modelId="{268A3F19-A6CD-422B-9892-F33687A540CB}" type="presParOf" srcId="{B7BC5993-A808-4A3C-BF44-6614B68AFDDB}" destId="{6938AA73-F497-4DF4-AE51-AE7EEAD34742}" srcOrd="0" destOrd="0" presId="urn:microsoft.com/office/officeart/2008/layout/LinedList"/>
    <dgm:cxn modelId="{3858CE33-EF1C-46D2-B30E-3F52C3ACF545}" type="presParOf" srcId="{B7BC5993-A808-4A3C-BF44-6614B68AFDDB}" destId="{FEDB7669-F822-4BF0-88A3-48DCB4B25957}" srcOrd="1" destOrd="0" presId="urn:microsoft.com/office/officeart/2008/layout/LinedList"/>
    <dgm:cxn modelId="{F4A6F874-970A-4B7A-8242-3A8200E31609}" type="presParOf" srcId="{B5E66452-C6DE-444C-B18C-B6A371B1653C}" destId="{4308F9AB-48F2-46B1-9CA8-1959138D1D80}" srcOrd="4" destOrd="0" presId="urn:microsoft.com/office/officeart/2008/layout/LinedList"/>
    <dgm:cxn modelId="{B41BE792-DD9E-4C6A-A096-0CC21D7B0D70}" type="presParOf" srcId="{B5E66452-C6DE-444C-B18C-B6A371B1653C}" destId="{04E80DB8-55DE-4361-B26F-7C55C61822EA}" srcOrd="5" destOrd="0" presId="urn:microsoft.com/office/officeart/2008/layout/LinedList"/>
    <dgm:cxn modelId="{A36ED9BD-359B-4D67-A5FA-765659160F5A}" type="presParOf" srcId="{04E80DB8-55DE-4361-B26F-7C55C61822EA}" destId="{8576C280-DD3B-4AAF-8437-2548F119716B}" srcOrd="0" destOrd="0" presId="urn:microsoft.com/office/officeart/2008/layout/LinedList"/>
    <dgm:cxn modelId="{4F93CCED-48D1-44C9-A180-67D5ABC362CE}" type="presParOf" srcId="{04E80DB8-55DE-4361-B26F-7C55C61822EA}" destId="{561966BE-2A67-4FC7-9E61-4B327F7BDBBD}" srcOrd="1" destOrd="0" presId="urn:microsoft.com/office/officeart/2008/layout/LinedList"/>
    <dgm:cxn modelId="{F8F8CC36-FE93-4D7E-A413-948FE5D69007}" type="presParOf" srcId="{B5E66452-C6DE-444C-B18C-B6A371B1653C}" destId="{96B7D6FF-2747-46D5-93BF-1905EBD4904C}" srcOrd="6" destOrd="0" presId="urn:microsoft.com/office/officeart/2008/layout/LinedList"/>
    <dgm:cxn modelId="{DCB5B190-9EA4-4787-BF8C-4F3C690EA74E}" type="presParOf" srcId="{B5E66452-C6DE-444C-B18C-B6A371B1653C}" destId="{346F5498-54F7-4D76-9C9E-E64BA5E6463A}" srcOrd="7" destOrd="0" presId="urn:microsoft.com/office/officeart/2008/layout/LinedList"/>
    <dgm:cxn modelId="{0B14A7ED-0AD4-48A6-A666-DCE334CFCC5E}" type="presParOf" srcId="{346F5498-54F7-4D76-9C9E-E64BA5E6463A}" destId="{21A1ACD9-52D2-437A-9BD0-3C4F0E44D96C}" srcOrd="0" destOrd="0" presId="urn:microsoft.com/office/officeart/2008/layout/LinedList"/>
    <dgm:cxn modelId="{FB28AB9F-A310-41EA-B001-9EA00114EEA2}" type="presParOf" srcId="{346F5498-54F7-4D76-9C9E-E64BA5E6463A}" destId="{77018FBE-4480-4F5B-ADE0-12E8E068DA54}" srcOrd="1" destOrd="0" presId="urn:microsoft.com/office/officeart/2008/layout/LinedList"/>
    <dgm:cxn modelId="{39398FEC-1682-4033-A294-A5509F8B1A8B}" type="presParOf" srcId="{B5E66452-C6DE-444C-B18C-B6A371B1653C}" destId="{7DBE17F3-C781-428E-B04E-23DCB85D206A}" srcOrd="8" destOrd="0" presId="urn:microsoft.com/office/officeart/2008/layout/LinedList"/>
    <dgm:cxn modelId="{83016289-CC6A-4A8C-B51C-669722A46995}" type="presParOf" srcId="{B5E66452-C6DE-444C-B18C-B6A371B1653C}" destId="{BBF4FC03-4390-4184-A6A4-52832F83DDC2}" srcOrd="9" destOrd="0" presId="urn:microsoft.com/office/officeart/2008/layout/LinedList"/>
    <dgm:cxn modelId="{18D3EE9F-9353-4025-AF55-55F189BE4DA1}" type="presParOf" srcId="{BBF4FC03-4390-4184-A6A4-52832F83DDC2}" destId="{09946E45-62C8-4278-B199-DF9B4ED47DEA}" srcOrd="0" destOrd="0" presId="urn:microsoft.com/office/officeart/2008/layout/LinedList"/>
    <dgm:cxn modelId="{E9DD9C23-C223-445B-BEEA-9F88FC985F7C}" type="presParOf" srcId="{BBF4FC03-4390-4184-A6A4-52832F83DDC2}" destId="{066009DE-787B-4FB9-A67F-DA8CF24EA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B6E73-FB71-4972-95FD-77CC89B41F9B}">
      <dsp:nvSpPr>
        <dsp:cNvPr id="0" name=""/>
        <dsp:cNvSpPr/>
      </dsp:nvSpPr>
      <dsp:spPr>
        <a:xfrm>
          <a:off x="0" y="520"/>
          <a:ext cx="111367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2C8D4F3-BF6D-4972-A216-41FFBF8E4EA3}">
      <dsp:nvSpPr>
        <dsp:cNvPr id="0" name=""/>
        <dsp:cNvSpPr/>
      </dsp:nvSpPr>
      <dsp:spPr>
        <a:xfrm>
          <a:off x="0" y="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1. Introduction</a:t>
          </a:r>
          <a:endParaRPr lang="en-US" sz="3000" kern="1200">
            <a:latin typeface="Cambria" panose="02040503050406030204" pitchFamily="18" charset="0"/>
            <a:ea typeface="Cambria" panose="02040503050406030204" pitchFamily="18" charset="0"/>
          </a:endParaRPr>
        </a:p>
      </dsp:txBody>
      <dsp:txXfrm>
        <a:off x="0" y="520"/>
        <a:ext cx="11136710" cy="851999"/>
      </dsp:txXfrm>
    </dsp:sp>
    <dsp:sp modelId="{4E808DA8-2AE3-4AFB-953F-585D5A7EB9C1}">
      <dsp:nvSpPr>
        <dsp:cNvPr id="0" name=""/>
        <dsp:cNvSpPr/>
      </dsp:nvSpPr>
      <dsp:spPr>
        <a:xfrm>
          <a:off x="0" y="852520"/>
          <a:ext cx="11136710" cy="0"/>
        </a:xfrm>
        <a:prstGeom prst="line">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w="6350" cap="flat" cmpd="sng" algn="ctr">
          <a:solidFill>
            <a:schemeClr val="accent4">
              <a:hueOff val="2450223"/>
              <a:satOff val="-10194"/>
              <a:lumOff val="2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938AA73-F497-4DF4-AE51-AE7EEAD34742}">
      <dsp:nvSpPr>
        <dsp:cNvPr id="0" name=""/>
        <dsp:cNvSpPr/>
      </dsp:nvSpPr>
      <dsp:spPr>
        <a:xfrm>
          <a:off x="0" y="852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2. Related works</a:t>
          </a:r>
          <a:endParaRPr lang="en-US" sz="3000" kern="1200">
            <a:latin typeface="Cambria" panose="02040503050406030204" pitchFamily="18" charset="0"/>
            <a:ea typeface="Cambria" panose="02040503050406030204" pitchFamily="18" charset="0"/>
          </a:endParaRPr>
        </a:p>
      </dsp:txBody>
      <dsp:txXfrm>
        <a:off x="0" y="852520"/>
        <a:ext cx="11136710" cy="851999"/>
      </dsp:txXfrm>
    </dsp:sp>
    <dsp:sp modelId="{4308F9AB-48F2-46B1-9CA8-1959138D1D80}">
      <dsp:nvSpPr>
        <dsp:cNvPr id="0" name=""/>
        <dsp:cNvSpPr/>
      </dsp:nvSpPr>
      <dsp:spPr>
        <a:xfrm>
          <a:off x="0" y="1704520"/>
          <a:ext cx="11136710" cy="0"/>
        </a:xfrm>
        <a:prstGeom prst="lin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576C280-DD3B-4AAF-8437-2548F119716B}">
      <dsp:nvSpPr>
        <dsp:cNvPr id="0" name=""/>
        <dsp:cNvSpPr/>
      </dsp:nvSpPr>
      <dsp:spPr>
        <a:xfrm>
          <a:off x="0" y="1704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3. Proposed method</a:t>
          </a:r>
          <a:endParaRPr lang="en-US" sz="3000" kern="1200">
            <a:latin typeface="Cambria" panose="02040503050406030204" pitchFamily="18" charset="0"/>
            <a:ea typeface="Cambria" panose="02040503050406030204" pitchFamily="18" charset="0"/>
          </a:endParaRPr>
        </a:p>
      </dsp:txBody>
      <dsp:txXfrm>
        <a:off x="0" y="1704520"/>
        <a:ext cx="11136710" cy="851999"/>
      </dsp:txXfrm>
    </dsp:sp>
    <dsp:sp modelId="{96B7D6FF-2747-46D5-93BF-1905EBD4904C}">
      <dsp:nvSpPr>
        <dsp:cNvPr id="0" name=""/>
        <dsp:cNvSpPr/>
      </dsp:nvSpPr>
      <dsp:spPr>
        <a:xfrm>
          <a:off x="0" y="2556519"/>
          <a:ext cx="11136710" cy="0"/>
        </a:xfrm>
        <a:prstGeom prst="line">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w="6350" cap="flat" cmpd="sng" algn="ctr">
          <a:solidFill>
            <a:schemeClr val="accent4">
              <a:hueOff val="7350668"/>
              <a:satOff val="-30583"/>
              <a:lumOff val="720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1A1ACD9-52D2-437A-9BD0-3C4F0E44D96C}">
      <dsp:nvSpPr>
        <dsp:cNvPr id="0" name=""/>
        <dsp:cNvSpPr/>
      </dsp:nvSpPr>
      <dsp:spPr>
        <a:xfrm>
          <a:off x="0" y="2556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4. Experimental results</a:t>
          </a:r>
          <a:endParaRPr lang="en-US" sz="3000" kern="1200">
            <a:latin typeface="Cambria" panose="02040503050406030204" pitchFamily="18" charset="0"/>
            <a:ea typeface="Cambria" panose="02040503050406030204" pitchFamily="18" charset="0"/>
          </a:endParaRPr>
        </a:p>
      </dsp:txBody>
      <dsp:txXfrm>
        <a:off x="0" y="2556519"/>
        <a:ext cx="11136710" cy="851999"/>
      </dsp:txXfrm>
    </dsp:sp>
    <dsp:sp modelId="{7DBE17F3-C781-428E-B04E-23DCB85D206A}">
      <dsp:nvSpPr>
        <dsp:cNvPr id="0" name=""/>
        <dsp:cNvSpPr/>
      </dsp:nvSpPr>
      <dsp:spPr>
        <a:xfrm>
          <a:off x="0" y="3408519"/>
          <a:ext cx="11136710" cy="0"/>
        </a:xfrm>
        <a:prstGeom prst="lin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9946E45-62C8-4278-B199-DF9B4ED47DEA}">
      <dsp:nvSpPr>
        <dsp:cNvPr id="0" name=""/>
        <dsp:cNvSpPr/>
      </dsp:nvSpPr>
      <dsp:spPr>
        <a:xfrm>
          <a:off x="0" y="3408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5. Conclusion</a:t>
          </a:r>
          <a:endParaRPr lang="en-US" sz="3000" kern="1200">
            <a:latin typeface="Cambria" panose="02040503050406030204" pitchFamily="18" charset="0"/>
            <a:ea typeface="Cambria" panose="02040503050406030204" pitchFamily="18" charset="0"/>
          </a:endParaRPr>
        </a:p>
      </dsp:txBody>
      <dsp:txXfrm>
        <a:off x="0" y="3408519"/>
        <a:ext cx="11136710" cy="8519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9/20/2025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ace7fa64f5_1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ace7fa64f5_1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defTabSz="1219170">
              <a:buClr>
                <a:srgbClr val="07105C"/>
              </a:buClr>
            </a:pPr>
            <a:r>
              <a:rPr lang="en-US" smtClean="0"/>
              <a:t>Good</a:t>
            </a:r>
            <a:r>
              <a:rPr lang="en-US" baseline="0" smtClean="0"/>
              <a:t> morning everyone</a:t>
            </a:r>
            <a:r>
              <a:rPr lang="en-US" smtClean="0"/>
              <a:t>, I’m very</a:t>
            </a:r>
            <a:r>
              <a:rPr lang="en-US" baseline="0" smtClean="0"/>
              <a:t> please present my research ,</a:t>
            </a:r>
            <a:r>
              <a:rPr lang="en-US" smtClean="0"/>
              <a:t> </a:t>
            </a:r>
            <a:r>
              <a:rPr lang="en-US" sz="1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rules and deep learning techniques</a:t>
            </a:r>
          </a:p>
          <a:p>
            <a:pPr marL="0" lvl="0" indent="0" algn="l" rtl="0">
              <a:spcBef>
                <a:spcPts val="0"/>
              </a:spcBef>
              <a:spcAft>
                <a:spcPts val="0"/>
              </a:spcAft>
              <a:buNone/>
            </a:pPr>
            <a:endParaRPr/>
          </a:p>
        </p:txBody>
      </p:sp>
    </p:spTree>
    <p:extLst>
      <p:ext uri="{BB962C8B-B14F-4D97-AF65-F5344CB8AC3E}">
        <p14:creationId xmlns:p14="http://schemas.microsoft.com/office/powerpoint/2010/main" val="391191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mtClean="0"/>
              <a:t>The</a:t>
            </a:r>
            <a:r>
              <a:rPr lang="en-US" baseline="0" smtClean="0"/>
              <a:t> following is the content for my presentation. Section 2 introduces and summarizes related work. In Sections 3, we provide a detailed description of the main components of our approach. We describe the experimental setup to validate our approach along with a discussion of the results in Section 4. Finally, we conclude with a summary of our findings and comment on possible future directions in Section 5.</a:t>
            </a:r>
            <a:endParaRPr lang="en-US" smtClean="0"/>
          </a:p>
          <a:p>
            <a:pPr marL="0" lvl="0" indent="0" algn="l" rtl="0">
              <a:spcBef>
                <a:spcPts val="0"/>
              </a:spcBef>
              <a:spcAft>
                <a:spcPts val="0"/>
              </a:spcAft>
              <a:buNone/>
            </a:pP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55924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we know, cancer is one of the most common diseases in the world and takes the lives of millions of people every year. Breast cancer is one of the most common cancers affecting women worldwide. </a:t>
            </a:r>
          </a:p>
          <a:p>
            <a:r>
              <a:rPr lang="en-US" smtClean="0"/>
              <a:t>Early detection and accurate staging of breast cancer can significantly improve survival rates and quality of life for patients..Figure 1 is an image of a breast with a mass of unusual brightness.</a:t>
            </a:r>
          </a:p>
          <a:p>
            <a:endParaRPr lang="en-US" smtClean="0"/>
          </a:p>
          <a:p>
            <a:r>
              <a:rPr lang="en-US" smtClean="0"/>
              <a:t>Như chúng ta đã biết thì ung thư là một trong những căn bệnh phổ biến trên toàn thế giới và hằng năm cướp đi sinh mạng của hang triệu người, </a:t>
            </a:r>
            <a:r>
              <a:rPr lang="vi-VN" smtClean="0"/>
              <a:t>Ung thư vú là một trong những loại ung thư phổ biến nhất ảnh hưởng đến phụ nữ trên toàn thế giới</a:t>
            </a:r>
            <a:r>
              <a:rPr lang="en-US" smtClean="0"/>
              <a:t>. Việc chẩn đoán và phát hiện sớm ung thư sẽ giúp gia tăng khả năng phục hồi và điều trị cho bệnh nhân. </a:t>
            </a:r>
          </a:p>
          <a:p>
            <a:r>
              <a:rPr lang="en-US" smtClean="0"/>
              <a:t>Hình 1 là hình ảnh vú với khối u có đậm độ sáng bất thường.</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6075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According to GLOBOCAN statistics in 2020, the world is estimated to have about 19.3 million cases and 10 million deaths caused by cancer. Of which, breast cancer in women is 2.26 million cases, accounting for 11.7%. </a:t>
            </a:r>
          </a:p>
          <a:p>
            <a:r>
              <a:rPr lang="en-US" smtClean="0"/>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smtClean="0"/>
          </a:p>
          <a:p>
            <a:r>
              <a:rPr lang="en-US" smtClean="0"/>
              <a:t>Because of its popularity, there have been many research projects related to this disease in recent times.</a:t>
            </a:r>
          </a:p>
          <a:p>
            <a:endParaRPr lang="en-US" smtClean="0"/>
          </a:p>
          <a:p>
            <a:r>
              <a:rPr lang="vi-VN" smtClean="0"/>
              <a:t>Theo số liệu thống kê của GLOBOCAN trong năm 2020 cả thế giới ước tính có khoảng 19.3 triệu ca mắc và 10 triệu ca tử vong do ung thư gây nên. Trong đó, ung thư vú ở phụ nữ là 2.26 triệu ca chiếm 11.7%</a:t>
            </a:r>
            <a:r>
              <a:rPr lang="en-US" smtClean="0"/>
              <a:t>.</a:t>
            </a:r>
          </a:p>
          <a:p>
            <a:r>
              <a:rPr lang="en-US" smtClean="0"/>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97529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of the key points our research covers are:</a:t>
            </a:r>
          </a:p>
          <a:p>
            <a:endParaRPr lang="en-US" smtClean="0"/>
          </a:p>
          <a:p>
            <a:endParaRPr lang="en-US" smtClean="0"/>
          </a:p>
          <a:p>
            <a:r>
              <a:rPr lang="en-US" smtClean="0"/>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39171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07790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5680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 focal point of our study is the evaluation of XAI’s effectiveness in</a:t>
            </a:r>
          </a:p>
          <a:p>
            <a:r>
              <a:rPr lang="en-US" smtClean="0"/>
              <a:t>interpreting model predictions, highlighted by utilising the Hausdorff measure to assess the align-ment between AI-generated explanations and expert annotations quantitatively.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425409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769203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173325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mtClean="0"/>
                  <a:t>Some metrics we use in evaluating proposed 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14:m>
                  <m:oMath xmlns:m="http://schemas.openxmlformats.org/officeDocument/2006/math">
                    <m:acc>
                      <m:accPr>
                        <m:chr m:val="̂"/>
                        <m:ctrlPr>
                          <a:rPr lang="en-US" sz="1200" i="1" kern="1200">
                            <a:solidFill>
                              <a:schemeClr val="tx1"/>
                            </a:solidFill>
                            <a:effectLst/>
                            <a:latin typeface="Cambria Math" panose="02040503050406030204" pitchFamily="18" charset="0"/>
                            <a:ea typeface="+mn-ea"/>
                            <a:cs typeface="+mn-cs"/>
                          </a:rPr>
                        </m:ctrlPr>
                      </m:accPr>
                      <m:e>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𝑢</m:t>
                            </m:r>
                          </m:e>
                          <m:sub>
                            <m:r>
                              <a:rPr lang="en-US" sz="1200" i="1" kern="1200">
                                <a:solidFill>
                                  <a:schemeClr val="tx1"/>
                                </a:solidFill>
                                <a:effectLst/>
                                <a:latin typeface="Cambria Math" panose="02040503050406030204" pitchFamily="18" charset="0"/>
                                <a:ea typeface="+mn-ea"/>
                                <a:cs typeface="+mn-cs"/>
                              </a:rPr>
                              <m:t>𝑖</m:t>
                            </m:r>
                          </m:sub>
                        </m:sSub>
                      </m:e>
                    </m:acc>
                  </m:oMath>
                </a14:m>
                <a:r>
                  <a:rPr lang="en-US" sz="1200" kern="1200">
                    <a:solidFill>
                      <a:schemeClr val="tx1"/>
                    </a:solidFill>
                    <a:effectLst/>
                    <a:latin typeface="+mn-lt"/>
                    <a:ea typeface="+mn-ea"/>
                    <a:cs typeface="+mn-cs"/>
                  </a:rPr>
                  <a:t> is the predicted value at pixel 𝑖 out of total number of pixels n.</a:t>
                </a:r>
                <a:endParaRPr lang="en-US" smtClean="0"/>
              </a:p>
              <a:p>
                <a:endParaRPr lang="en-US"/>
              </a:p>
            </p:txBody>
          </p:sp>
        </mc:Choice>
        <mc:Fallback xmlns="">
          <p:sp>
            <p:nvSpPr>
              <p:cNvPr id="3" name="Notes Placeholder 2"/>
              <p:cNvSpPr>
                <a:spLocks noGrp="1"/>
              </p:cNvSpPr>
              <p:nvPr>
                <p:ph type="body" idx="1"/>
              </p:nvPr>
            </p:nvSpPr>
            <p:spPr/>
            <p:txBody>
              <a:bodyPr/>
              <a:lstStyle/>
              <a:p>
                <a:r>
                  <a:rPr lang="en-US" smtClean="0"/>
                  <a:t>Some metrics we use in evaluating proposed </a:t>
                </a:r>
                <a:r>
                  <a:rPr lang="en-US" smtClean="0"/>
                  <a:t>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r>
                  <a:rPr lang="en-US" sz="1200" i="0" kern="1200">
                    <a:solidFill>
                      <a:schemeClr val="tx1"/>
                    </a:solidFill>
                    <a:effectLst/>
                    <a:latin typeface="+mn-lt"/>
                    <a:ea typeface="+mn-ea"/>
                    <a:cs typeface="+mn-cs"/>
                  </a:rPr>
                  <a:t>(𝑢_𝑖 ) ̂</a:t>
                </a:r>
                <a:r>
                  <a:rPr lang="en-US" sz="1200" kern="1200">
                    <a:solidFill>
                      <a:schemeClr val="tx1"/>
                    </a:solidFill>
                    <a:effectLst/>
                    <a:latin typeface="+mn-lt"/>
                    <a:ea typeface="+mn-ea"/>
                    <a:cs typeface="+mn-cs"/>
                  </a:rPr>
                  <a:t> is the predicted value at pixel 𝑖 out of total number of pixels n.</a:t>
                </a:r>
                <a:endParaRPr lang="en-US" smtClean="0"/>
              </a:p>
              <a:p>
                <a:endParaRPr lang="en-US"/>
              </a:p>
            </p:txBody>
          </p:sp>
        </mc:Fallback>
      </mc:AlternateContent>
      <p:sp>
        <p:nvSpPr>
          <p:cNvPr id="4" name="Slide Number Placeholder 3"/>
          <p:cNvSpPr>
            <a:spLocks noGrp="1"/>
          </p:cNvSpPr>
          <p:nvPr>
            <p:ph type="sldNum" sz="quarter" idx="10"/>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2291722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 Pre-processing data: The input image will be normalized, stored in .jpg format and sized at 224x224. Image pre-processing is performed on the input data by normalizing the image size and enhancing the image using histogram algorithms.</a:t>
            </a:r>
          </a:p>
          <a:p>
            <a:r>
              <a:rPr lang="en-US" smtClean="0"/>
              <a:t>- Feature extraction and convert to fuzzy rules: The processed im-ages are passed through network models to extract features. The features after the process are extracted into rule sets using the JRIP and PART algorithms presented in Section 2.3. Convert the threshold values in the rule set into fuzzy membership functions. The fuzzy dependency function in the paper presented</a:t>
            </a:r>
          </a:p>
          <a:p>
            <a:r>
              <a:rPr lang="en-US" smtClean="0"/>
              <a:t>in Section 2.4.</a:t>
            </a:r>
          </a:p>
          <a:p>
            <a:r>
              <a:rPr lang="en-US" smtClean="0"/>
              <a:t>The FIS system will apply the learned fuzzy rules to calculate the fuzzy outputs based on the features of the test images. Then, the defuzzifi-cation process will be performed, converting the fuzzy values into deterministic values through the weighted average method.</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128589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1032119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dataset is divided into a training dataset and a validation dataset with a ratio of 80% and 20%, respectively. For testing, we build a hypothetical scenario where the students were doing the exam, then recorded a video, and tested it with a number of 15 videos on a cheating action to check the accuracy of the network models. </a:t>
            </a:r>
          </a:p>
          <a:p>
            <a:endParaRPr lang="en-US" smtClean="0"/>
          </a:p>
          <a:p>
            <a:r>
              <a:rPr lang="en-US" smtClean="0"/>
              <a:t>Table 1 presents the scenarios we used with the training parameters</a:t>
            </a:r>
          </a:p>
          <a:p>
            <a:r>
              <a:rPr lang="en-US" smtClean="0"/>
              <a:t>In scenarios 2,3,5,6 we use algorithms to generate rule sets from the data extracted from the network models. The goal of this process is to improve the accuracy of the model by better handling ambiguous or contradictory cases in the data set. After conducting experiments with various sets of parameters, we selected identical parameters for all scenarios. The learning rate is set at 0.0001, with the training being conducted 100 times. The number of classes (Num classes) being 3, corresponding to benign, malignant and normal.</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1212215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2414872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97957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1751389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evaluation results of 3 scenarios indicate a generally good overall performance, with accuracy (Acc) ranging from 0.92 to 0.96. The U-Net model achieved the highest accuracy score (0.96) along with impressive metrics for Dice (0.93), IoU (0.91), and F1-Score (0.92). It also recorded very low RMSE and MSE values (0.017 and 0.0003), demonstrating its superior effectiveness in image segmentation. In contrast, U-Net++ and DeepLabV3+ exhibited slightly lower accuracy (0.92-0.93), with DeepLabV3+ achieving the lowest Loss value (0.2485) but a somewhat higher RMSE (0.026). Overall, U-Net stands out as the best model for this dataset, while DeepLabV3+ shows potential for improvement due to its low loss value.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3018748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Grad-CAM results of the three scenarios show how the models focus on areas to make predictions. In the Grad-CAM heatmaps, red/yellow areas represent areas that have the greatest influence on the model's decision, while blue indicates low influence. With Sce. 1, the heatmap focuses precisely on the suspect areas in the image, with the red/yellow areas covering evenly and clearly. Sce. 3 also focuses on similar areas, but the red/yellow areas are somewhat scattered and uneven, reflecting lower performance. Meanwhile, Sce. 2 shows a rather narrow and inconsistent red/yellow focus, especially in the second and third rows, which explains why the model has a higher RMSE and lower accuracy.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3873396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SHAP results of the three scenarios on the input images show how each model focuses on image regions for prediction. In the SHAP images, red represents regions that have a strong positive impact on the model's prediction, while blue represents a negative impact.</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20</a:t>
            </a:fld>
            <a:endParaRPr lang="en-US"/>
          </a:p>
        </p:txBody>
      </p:sp>
    </p:spTree>
    <p:extLst>
      <p:ext uri="{BB962C8B-B14F-4D97-AF65-F5344CB8AC3E}">
        <p14:creationId xmlns:p14="http://schemas.microsoft.com/office/powerpoint/2010/main" val="7718324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LIME technical results are shown for the three scenarios, providing information on how the models make predictions. In the heatmap, yellow and red represent areas with positive influence on the prediction (high contribution), while blue or purple represent negative influence. For Sce. 1, all three models show that LIME produces clear contours over the influence areas and is well concentrated around the target area. For Sce. 3, the LIME results are also concentrated around the target area and are evenly distributed, consistent with the model performance. In Sce. 2, the LIME algorithm correctly identifies the mass area, but the region of interest is narrower than in the above two scenarios, reflecting a lower segmentation ability than in Scenarios 1 and 2.</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57A3CC4-A1AF-4799-818E-6EEBBE945652}" type="slidenum">
              <a:rPr lang="en-US" smtClean="0"/>
              <a:t>21</a:t>
            </a:fld>
            <a:endParaRPr lang="en-US"/>
          </a:p>
        </p:txBody>
      </p:sp>
    </p:spTree>
    <p:extLst>
      <p:ext uri="{BB962C8B-B14F-4D97-AF65-F5344CB8AC3E}">
        <p14:creationId xmlns:p14="http://schemas.microsoft.com/office/powerpoint/2010/main" val="3339916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mtClean="0"/>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3895732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25</a:t>
            </a:fld>
            <a:endParaRPr lang="en-US"/>
          </a:p>
        </p:txBody>
      </p:sp>
    </p:spTree>
    <p:extLst>
      <p:ext uri="{BB962C8B-B14F-4D97-AF65-F5344CB8AC3E}">
        <p14:creationId xmlns:p14="http://schemas.microsoft.com/office/powerpoint/2010/main" val="180451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4048-7A0E-F6D1-CC76-329EE7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0366C70-62AE-505D-6DE2-D11479C4D9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401A95D-256E-3F71-CE7C-40B3859CEA95}"/>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E02FDE33-C2D0-D4F6-EAAA-A488810A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C8FE39-57E6-D643-C66C-E7E08577E78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188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8A6B-1E11-870F-9FAE-5F56E95ADF2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043E874-1809-994C-1A1C-71FBD4C1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7495F5-B24E-3EA4-F069-C12D2EB8BC50}"/>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B37D4A93-2CE3-ADCB-17D7-0FBE13DC5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BFBB78-6BEA-E840-0A5D-083B8A88AD0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834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0F97-283A-2E91-C2FB-6C3C8E8FA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8409C5A-541D-22D5-A72C-8E6A4D789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F1F9F-ADD7-201E-D3FF-A57E7DDDFDDE}"/>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F58669C8-EDEF-71B5-7F05-57EA7F29F6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4C73C-01AE-9964-C171-BA515DEB03F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526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985C-B3E8-59F0-0A1B-0E58FD5E02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C7F5C37-5D35-168A-6287-1045828A7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9FFE33F-F5DF-ED04-102A-19B214AC3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154C9C0-B282-BD74-3406-5D998E6CCCF6}"/>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6" name="Footer Placeholder 5">
            <a:extLst>
              <a:ext uri="{FF2B5EF4-FFF2-40B4-BE49-F238E27FC236}">
                <a16:creationId xmlns:a16="http://schemas.microsoft.com/office/drawing/2014/main" id="{5C36DBE1-CF19-6AF5-3942-DF86F81C02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5DA522-355E-848B-C1AA-56D7D32AA60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355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1B30-AB59-DB1E-9512-A8BF9D72FC3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0C9C621-12ED-E7E5-7DA5-6B92926DAF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76A62-5089-248D-5FA7-C8E878BFC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0AB2717-E7C8-DD23-AE64-B7F07A87CF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2E7CB-8AAA-9AA1-C634-EE04119EC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EA63780-30AA-EB4E-D62B-9DA53363A6AD}"/>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8" name="Footer Placeholder 7">
            <a:extLst>
              <a:ext uri="{FF2B5EF4-FFF2-40B4-BE49-F238E27FC236}">
                <a16:creationId xmlns:a16="http://schemas.microsoft.com/office/drawing/2014/main" id="{F35B88E4-3CEE-DDDE-8FE0-148480AA7F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658B8B-6386-633C-C5A7-4F917BDD7C5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634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755C-B6ED-2EA4-FD6A-2D06A03996F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77D81E1-091A-DEB6-D4E5-C5E8E846ACE8}"/>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4" name="Footer Placeholder 3">
            <a:extLst>
              <a:ext uri="{FF2B5EF4-FFF2-40B4-BE49-F238E27FC236}">
                <a16:creationId xmlns:a16="http://schemas.microsoft.com/office/drawing/2014/main" id="{8577E8E2-6396-0E50-2DE6-16D6B8EDC6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4B9FEA-A3D6-804D-73DB-8B0840BF3B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60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51188-EDC2-B162-34A0-9E17EE238E47}"/>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3" name="Footer Placeholder 2">
            <a:extLst>
              <a:ext uri="{FF2B5EF4-FFF2-40B4-BE49-F238E27FC236}">
                <a16:creationId xmlns:a16="http://schemas.microsoft.com/office/drawing/2014/main" id="{7212E1EA-92EE-9019-BA30-02D87EC81A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D1EEA5-CF87-0E55-3887-24DE764A19E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678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3434-AD96-3DE3-802A-868C6944C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7CB1EC8-A45A-1DCD-F225-91DC8202E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33F9B4-CF04-2432-168A-BFDA4944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163DC-642E-96AB-17C1-7FADB55F80BA}"/>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6" name="Footer Placeholder 5">
            <a:extLst>
              <a:ext uri="{FF2B5EF4-FFF2-40B4-BE49-F238E27FC236}">
                <a16:creationId xmlns:a16="http://schemas.microsoft.com/office/drawing/2014/main" id="{56E3A441-A081-9D84-21E3-589481E8F8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DD4B59-CFC7-B605-44E0-5F2B52211D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267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35B2-D6BB-22BD-F152-D8F542CC8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D616224-C1BB-9A5A-3CF3-C8BAA5823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AF7FE61-EEF3-F9D0-D16A-5927F6461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F1079-BB67-4C46-5E91-6C7CD045D693}"/>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6" name="Footer Placeholder 5">
            <a:extLst>
              <a:ext uri="{FF2B5EF4-FFF2-40B4-BE49-F238E27FC236}">
                <a16:creationId xmlns:a16="http://schemas.microsoft.com/office/drawing/2014/main" id="{0E4196DF-3B78-ECA1-6EF2-C9D978EF7B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56EEF0-1296-706E-2F52-66232523087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863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228A-090C-D852-9C03-1E3B34A132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F96CDB7-4EA5-263B-CADD-520004FEC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9D9939-8721-B7EF-04FA-9760B69F177D}"/>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886995E2-8FC5-F847-FC96-EF4D6021D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5A47D4-9CDC-3BDB-E6D9-BFE1BEF1A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32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64C9-897C-F05A-6F31-A5A1E6E39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86334EC-5B2B-73B3-A601-617D7F252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912BAA6-37AF-4475-0D7A-A2A2619F13B6}"/>
              </a:ext>
            </a:extLst>
          </p:cNvPr>
          <p:cNvSpPr>
            <a:spLocks noGrp="1"/>
          </p:cNvSpPr>
          <p:nvPr>
            <p:ph type="dt" sz="half" idx="10"/>
          </p:nvPr>
        </p:nvSpPr>
        <p:spPr/>
        <p:txBody>
          <a:body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AC293CAC-3170-C993-33AF-CF149D8D1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C1950-80AC-BCAD-6DD8-099CB4EB2DE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072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347665" y="145144"/>
            <a:ext cx="11234736" cy="706503"/>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sp>
        <p:nvSpPr>
          <p:cNvPr id="12" name="Title 11"/>
          <p:cNvSpPr>
            <a:spLocks noGrp="1"/>
          </p:cNvSpPr>
          <p:nvPr>
            <p:ph type="title"/>
          </p:nvPr>
        </p:nvSpPr>
        <p:spPr>
          <a:xfrm>
            <a:off x="416858" y="213164"/>
            <a:ext cx="10515600" cy="638484"/>
          </a:xfrm>
        </p:spPr>
        <p:txBody>
          <a:bodyPr>
            <a:normAutofit/>
          </a:bodyPr>
          <a:lstStyle>
            <a:lvl1pPr>
              <a:defRPr sz="3500">
                <a:solidFill>
                  <a:schemeClr val="bg1"/>
                </a:solidFill>
                <a:latin typeface="Cambria" panose="02040503050406030204" pitchFamily="18" charset="0"/>
                <a:ea typeface="Cambria" panose="02040503050406030204"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07302522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5" y="145145"/>
            <a:ext cx="7380609"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2. Các công trình nghiên cứu liên quan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53505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4961880"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3. Cơ sở lý thuyết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7090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7155545"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4. Phương pháp đề xuất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5094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8589784"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6. Kết luận và hướng phát triển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866414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5302348"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5. Kết quả và thảo luận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76974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20400" y="2630967"/>
            <a:ext cx="5162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19" name="Google Shape;19;p4"/>
          <p:cNvSpPr txBox="1">
            <a:spLocks noGrp="1"/>
          </p:cNvSpPr>
          <p:nvPr>
            <p:ph type="subTitle" idx="1"/>
          </p:nvPr>
        </p:nvSpPr>
        <p:spPr>
          <a:xfrm>
            <a:off x="6420400" y="3427433"/>
            <a:ext cx="5162000" cy="1206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67"/>
            </a:lvl1pPr>
            <a:lvl2pPr lvl="1" algn="ctr">
              <a:spcBef>
                <a:spcPts val="2133"/>
              </a:spcBef>
              <a:spcAft>
                <a:spcPts val="0"/>
              </a:spcAft>
              <a:buSzPts val="1400"/>
              <a:buNone/>
              <a:defRPr/>
            </a:lvl2pPr>
            <a:lvl3pPr lvl="2" algn="ctr">
              <a:spcBef>
                <a:spcPts val="2133"/>
              </a:spcBef>
              <a:spcAft>
                <a:spcPts val="0"/>
              </a:spcAft>
              <a:buSzPts val="1400"/>
              <a:buNone/>
              <a:defRPr/>
            </a:lvl3pPr>
            <a:lvl4pPr lvl="3" algn="ctr">
              <a:spcBef>
                <a:spcPts val="2133"/>
              </a:spcBef>
              <a:spcAft>
                <a:spcPts val="0"/>
              </a:spcAft>
              <a:buSzPts val="1400"/>
              <a:buNone/>
              <a:defRPr/>
            </a:lvl4pPr>
            <a:lvl5pPr lvl="4" algn="ctr">
              <a:spcBef>
                <a:spcPts val="2133"/>
              </a:spcBef>
              <a:spcAft>
                <a:spcPts val="0"/>
              </a:spcAft>
              <a:buSzPts val="1400"/>
              <a:buNone/>
              <a:defRPr/>
            </a:lvl5pPr>
            <a:lvl6pPr lvl="5" algn="ctr">
              <a:spcBef>
                <a:spcPts val="2133"/>
              </a:spcBef>
              <a:spcAft>
                <a:spcPts val="0"/>
              </a:spcAft>
              <a:buSzPts val="1400"/>
              <a:buNone/>
              <a:defRPr/>
            </a:lvl6pPr>
            <a:lvl7pPr lvl="6" algn="ctr">
              <a:spcBef>
                <a:spcPts val="2133"/>
              </a:spcBef>
              <a:spcAft>
                <a:spcPts val="0"/>
              </a:spcAft>
              <a:buSzPts val="1400"/>
              <a:buNone/>
              <a:defRPr/>
            </a:lvl7pPr>
            <a:lvl8pPr lvl="7" algn="ctr">
              <a:spcBef>
                <a:spcPts val="2133"/>
              </a:spcBef>
              <a:spcAft>
                <a:spcPts val="0"/>
              </a:spcAft>
              <a:buSzPts val="1400"/>
              <a:buNone/>
              <a:defRPr/>
            </a:lvl8pPr>
            <a:lvl9pPr lvl="8" algn="ctr">
              <a:spcBef>
                <a:spcPts val="2133"/>
              </a:spcBef>
              <a:spcAft>
                <a:spcPts val="2133"/>
              </a:spcAft>
              <a:buSzPts val="1400"/>
              <a:buNone/>
              <a:defRPr/>
            </a:lvl9pPr>
          </a:lstStyle>
          <a:p>
            <a:endParaRPr/>
          </a:p>
        </p:txBody>
      </p:sp>
    </p:spTree>
    <p:extLst>
      <p:ext uri="{BB962C8B-B14F-4D97-AF65-F5344CB8AC3E}">
        <p14:creationId xmlns:p14="http://schemas.microsoft.com/office/powerpoint/2010/main" val="4068464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txBox="1">
            <a:spLocks noGrp="1"/>
          </p:cNvSpPr>
          <p:nvPr>
            <p:ph type="sldNum" idx="12"/>
          </p:nvPr>
        </p:nvSpPr>
        <p:spPr>
          <a:xfrm>
            <a:off x="11281345" y="6208524"/>
            <a:ext cx="731600" cy="524800"/>
          </a:xfrm>
          <a:prstGeom prst="rect">
            <a:avLst/>
          </a:prstGeom>
          <a:noFill/>
          <a:ln>
            <a:noFill/>
          </a:ln>
        </p:spPr>
        <p:txBody>
          <a:bodyPr spcFirstLastPara="1" wrap="square" lIns="91425" tIns="91425" rIns="91425" bIns="91425" anchor="ctr" anchorCtr="0">
            <a:noAutofit/>
          </a:bodyPr>
          <a:lstStyle>
            <a:lvl1pPr lvl="0">
              <a:buNone/>
              <a:defRPr sz="1600" b="1">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65359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03737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
  <p:cSld name="Table of Contents ">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609600" y="593367"/>
            <a:ext cx="10972800" cy="6460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spcBef>
                <a:spcPts val="0"/>
              </a:spcBef>
              <a:spcAft>
                <a:spcPts val="0"/>
              </a:spcAft>
              <a:buSzPts val="3000"/>
              <a:buNone/>
              <a:defRPr>
                <a:latin typeface="Ubuntu"/>
                <a:ea typeface="Ubuntu"/>
                <a:cs typeface="Ubuntu"/>
                <a:sym typeface="Ubuntu"/>
              </a:defRPr>
            </a:lvl2pPr>
            <a:lvl3pPr lvl="2">
              <a:spcBef>
                <a:spcPts val="0"/>
              </a:spcBef>
              <a:spcAft>
                <a:spcPts val="0"/>
              </a:spcAft>
              <a:buSzPts val="3000"/>
              <a:buNone/>
              <a:defRPr>
                <a:latin typeface="Ubuntu"/>
                <a:ea typeface="Ubuntu"/>
                <a:cs typeface="Ubuntu"/>
                <a:sym typeface="Ubuntu"/>
              </a:defRPr>
            </a:lvl3pPr>
            <a:lvl4pPr lvl="3">
              <a:spcBef>
                <a:spcPts val="0"/>
              </a:spcBef>
              <a:spcAft>
                <a:spcPts val="0"/>
              </a:spcAft>
              <a:buSzPts val="3000"/>
              <a:buNone/>
              <a:defRPr>
                <a:latin typeface="Ubuntu"/>
                <a:ea typeface="Ubuntu"/>
                <a:cs typeface="Ubuntu"/>
                <a:sym typeface="Ubuntu"/>
              </a:defRPr>
            </a:lvl4pPr>
            <a:lvl5pPr lvl="4">
              <a:spcBef>
                <a:spcPts val="0"/>
              </a:spcBef>
              <a:spcAft>
                <a:spcPts val="0"/>
              </a:spcAft>
              <a:buSzPts val="3000"/>
              <a:buNone/>
              <a:defRPr>
                <a:latin typeface="Ubuntu"/>
                <a:ea typeface="Ubuntu"/>
                <a:cs typeface="Ubuntu"/>
                <a:sym typeface="Ubuntu"/>
              </a:defRPr>
            </a:lvl5pPr>
            <a:lvl6pPr lvl="5">
              <a:spcBef>
                <a:spcPts val="0"/>
              </a:spcBef>
              <a:spcAft>
                <a:spcPts val="0"/>
              </a:spcAft>
              <a:buSzPts val="3000"/>
              <a:buNone/>
              <a:defRPr>
                <a:latin typeface="Ubuntu"/>
                <a:ea typeface="Ubuntu"/>
                <a:cs typeface="Ubuntu"/>
                <a:sym typeface="Ubuntu"/>
              </a:defRPr>
            </a:lvl6pPr>
            <a:lvl7pPr lvl="6">
              <a:spcBef>
                <a:spcPts val="0"/>
              </a:spcBef>
              <a:spcAft>
                <a:spcPts val="0"/>
              </a:spcAft>
              <a:buSzPts val="3000"/>
              <a:buNone/>
              <a:defRPr>
                <a:latin typeface="Ubuntu"/>
                <a:ea typeface="Ubuntu"/>
                <a:cs typeface="Ubuntu"/>
                <a:sym typeface="Ubuntu"/>
              </a:defRPr>
            </a:lvl7pPr>
            <a:lvl8pPr lvl="7">
              <a:spcBef>
                <a:spcPts val="0"/>
              </a:spcBef>
              <a:spcAft>
                <a:spcPts val="0"/>
              </a:spcAft>
              <a:buSzPts val="3000"/>
              <a:buNone/>
              <a:defRPr>
                <a:latin typeface="Ubuntu"/>
                <a:ea typeface="Ubuntu"/>
                <a:cs typeface="Ubuntu"/>
                <a:sym typeface="Ubuntu"/>
              </a:defRPr>
            </a:lvl8pPr>
            <a:lvl9pPr lvl="8">
              <a:spcBef>
                <a:spcPts val="0"/>
              </a:spcBef>
              <a:spcAft>
                <a:spcPts val="0"/>
              </a:spcAft>
              <a:buSzPts val="3000"/>
              <a:buNone/>
              <a:defRPr>
                <a:latin typeface="Ubuntu"/>
                <a:ea typeface="Ubuntu"/>
                <a:cs typeface="Ubuntu"/>
                <a:sym typeface="Ubuntu"/>
              </a:defRPr>
            </a:lvl9pPr>
          </a:lstStyle>
          <a:p>
            <a:endParaRPr/>
          </a:p>
        </p:txBody>
      </p:sp>
      <p:sp>
        <p:nvSpPr>
          <p:cNvPr id="61" name="Google Shape;61;p13"/>
          <p:cNvSpPr txBox="1">
            <a:spLocks noGrp="1"/>
          </p:cNvSpPr>
          <p:nvPr>
            <p:ph type="title" idx="2"/>
          </p:nvPr>
        </p:nvSpPr>
        <p:spPr>
          <a:xfrm>
            <a:off x="1493400" y="243686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2" name="Google Shape;62;p13"/>
          <p:cNvSpPr txBox="1">
            <a:spLocks noGrp="1"/>
          </p:cNvSpPr>
          <p:nvPr>
            <p:ph type="subTitle" idx="1"/>
          </p:nvPr>
        </p:nvSpPr>
        <p:spPr>
          <a:xfrm>
            <a:off x="1515400" y="2944337"/>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3" hasCustomPrompt="1"/>
          </p:nvPr>
        </p:nvSpPr>
        <p:spPr>
          <a:xfrm>
            <a:off x="1515400" y="1681369"/>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4" name="Google Shape;64;p13"/>
          <p:cNvSpPr txBox="1">
            <a:spLocks noGrp="1"/>
          </p:cNvSpPr>
          <p:nvPr>
            <p:ph type="title" idx="4"/>
          </p:nvPr>
        </p:nvSpPr>
        <p:spPr>
          <a:xfrm>
            <a:off x="1402233" y="4805333"/>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5" name="Google Shape;65;p13"/>
          <p:cNvSpPr txBox="1">
            <a:spLocks noGrp="1"/>
          </p:cNvSpPr>
          <p:nvPr>
            <p:ph type="subTitle" idx="5"/>
          </p:nvPr>
        </p:nvSpPr>
        <p:spPr>
          <a:xfrm>
            <a:off x="1515400"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6" hasCustomPrompt="1"/>
          </p:nvPr>
        </p:nvSpPr>
        <p:spPr>
          <a:xfrm>
            <a:off x="1515400" y="4048375"/>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3"/>
          <p:cNvSpPr txBox="1">
            <a:spLocks noGrp="1"/>
          </p:cNvSpPr>
          <p:nvPr>
            <p:ph type="title" idx="7"/>
          </p:nvPr>
        </p:nvSpPr>
        <p:spPr>
          <a:xfrm>
            <a:off x="4704967" y="2423233"/>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8" name="Google Shape;68;p13"/>
          <p:cNvSpPr txBox="1">
            <a:spLocks noGrp="1"/>
          </p:cNvSpPr>
          <p:nvPr>
            <p:ph type="subTitle" idx="8"/>
          </p:nvPr>
        </p:nvSpPr>
        <p:spPr>
          <a:xfrm>
            <a:off x="4589769" y="2944337"/>
            <a:ext cx="2986800" cy="85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9" hasCustomPrompt="1"/>
          </p:nvPr>
        </p:nvSpPr>
        <p:spPr>
          <a:xfrm>
            <a:off x="4589769" y="1647267"/>
            <a:ext cx="2986800" cy="9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0" name="Google Shape;70;p13"/>
          <p:cNvSpPr txBox="1">
            <a:spLocks noGrp="1"/>
          </p:cNvSpPr>
          <p:nvPr>
            <p:ph type="title" idx="13"/>
          </p:nvPr>
        </p:nvSpPr>
        <p:spPr>
          <a:xfrm>
            <a:off x="4589769" y="480533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1" name="Google Shape;71;p13"/>
          <p:cNvSpPr txBox="1">
            <a:spLocks noGrp="1"/>
          </p:cNvSpPr>
          <p:nvPr>
            <p:ph type="subTitle" idx="14"/>
          </p:nvPr>
        </p:nvSpPr>
        <p:spPr>
          <a:xfrm>
            <a:off x="4589769"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5" hasCustomPrompt="1"/>
          </p:nvPr>
        </p:nvSpPr>
        <p:spPr>
          <a:xfrm>
            <a:off x="4589769" y="4016067"/>
            <a:ext cx="2986800" cy="8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3" name="Google Shape;73;p13"/>
          <p:cNvSpPr txBox="1">
            <a:spLocks noGrp="1"/>
          </p:cNvSpPr>
          <p:nvPr>
            <p:ph type="title" idx="16"/>
          </p:nvPr>
        </p:nvSpPr>
        <p:spPr>
          <a:xfrm>
            <a:off x="7576567" y="2434900"/>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4" name="Google Shape;74;p13"/>
          <p:cNvSpPr txBox="1">
            <a:spLocks noGrp="1"/>
          </p:cNvSpPr>
          <p:nvPr>
            <p:ph type="subTitle" idx="17"/>
          </p:nvPr>
        </p:nvSpPr>
        <p:spPr>
          <a:xfrm>
            <a:off x="7691936" y="2881703"/>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8" hasCustomPrompt="1"/>
          </p:nvPr>
        </p:nvSpPr>
        <p:spPr>
          <a:xfrm>
            <a:off x="7691935" y="1686008"/>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6" name="Google Shape;76;p13"/>
          <p:cNvSpPr txBox="1">
            <a:spLocks noGrp="1"/>
          </p:cNvSpPr>
          <p:nvPr>
            <p:ph type="title" idx="19"/>
          </p:nvPr>
        </p:nvSpPr>
        <p:spPr>
          <a:xfrm>
            <a:off x="7691936" y="4803391"/>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7" name="Google Shape;77;p13"/>
          <p:cNvSpPr txBox="1">
            <a:spLocks noGrp="1"/>
          </p:cNvSpPr>
          <p:nvPr>
            <p:ph type="subTitle" idx="20"/>
          </p:nvPr>
        </p:nvSpPr>
        <p:spPr>
          <a:xfrm>
            <a:off x="7691936" y="5250176"/>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21" hasCustomPrompt="1"/>
          </p:nvPr>
        </p:nvSpPr>
        <p:spPr>
          <a:xfrm>
            <a:off x="7691935" y="4052819"/>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9" name="Google Shape;79;p13"/>
          <p:cNvSpPr/>
          <p:nvPr/>
        </p:nvSpPr>
        <p:spPr>
          <a:xfrm>
            <a:off x="2286784"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3"/>
          <p:cNvSpPr/>
          <p:nvPr/>
        </p:nvSpPr>
        <p:spPr>
          <a:xfrm>
            <a:off x="2130018"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3"/>
          <p:cNvSpPr/>
          <p:nvPr/>
        </p:nvSpPr>
        <p:spPr>
          <a:xfrm>
            <a:off x="5204352" y="1560251"/>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3"/>
          <p:cNvSpPr/>
          <p:nvPr/>
        </p:nvSpPr>
        <p:spPr>
          <a:xfrm>
            <a:off x="5408719"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3"/>
          <p:cNvSpPr/>
          <p:nvPr/>
        </p:nvSpPr>
        <p:spPr>
          <a:xfrm>
            <a:off x="8393520"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3"/>
          <p:cNvSpPr/>
          <p:nvPr/>
        </p:nvSpPr>
        <p:spPr>
          <a:xfrm>
            <a:off x="8306520"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8;p12"/>
          <p:cNvSpPr txBox="1">
            <a:spLocks noGrp="1"/>
          </p:cNvSpPr>
          <p:nvPr>
            <p:ph type="sldNum" idx="22"/>
          </p:nvPr>
        </p:nvSpPr>
        <p:spPr>
          <a:xfrm>
            <a:off x="11296611" y="6235820"/>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38431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420412" y="1719000"/>
            <a:ext cx="5162000" cy="18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5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33"/>
          <p:cNvSpPr txBox="1">
            <a:spLocks noGrp="1"/>
          </p:cNvSpPr>
          <p:nvPr>
            <p:ph type="subTitle" idx="1"/>
          </p:nvPr>
        </p:nvSpPr>
        <p:spPr>
          <a:xfrm>
            <a:off x="6420400" y="3317221"/>
            <a:ext cx="51620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688344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29072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2E368-DA95-4E0E-69B7-070546B7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09E9B9C-DB00-4016-0EAD-39BB7BBD3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02FD6CD-82E8-A568-FEFC-19C346B76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9/20/2025</a:t>
            </a:fld>
            <a:endParaRPr lang="en-US" dirty="0"/>
          </a:p>
        </p:txBody>
      </p:sp>
      <p:sp>
        <p:nvSpPr>
          <p:cNvPr id="5" name="Footer Placeholder 4">
            <a:extLst>
              <a:ext uri="{FF2B5EF4-FFF2-40B4-BE49-F238E27FC236}">
                <a16:creationId xmlns:a16="http://schemas.microsoft.com/office/drawing/2014/main" id="{93C9C013-B326-BD05-156D-A3D6289AF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9BFB734-D57E-5259-379D-D6F0B8A64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58113"/>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792" r:id="rId12"/>
    <p:sldLayoutId id="2147483793" r:id="rId13"/>
    <p:sldLayoutId id="2147483794" r:id="rId14"/>
    <p:sldLayoutId id="2147483795" r:id="rId15"/>
    <p:sldLayoutId id="2147483796" r:id="rId16"/>
    <p:sldLayoutId id="214748382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sz="1600" b="1" i="0">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3811400055"/>
      </p:ext>
    </p:extLst>
  </p:cSld>
  <p:clrMap bg1="lt1" tx1="dk1" bg2="dk2"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0.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61.png"/><Relationship Id="rId11" Type="http://schemas.openxmlformats.org/officeDocument/2006/relationships/image" Target="../media/image21.png"/><Relationship Id="rId5" Type="http://schemas.openxmlformats.org/officeDocument/2006/relationships/image" Target="../media/image150.png"/><Relationship Id="rId10" Type="http://schemas.openxmlformats.org/officeDocument/2006/relationships/image" Target="../media/image20.png"/><Relationship Id="rId4" Type="http://schemas.openxmlformats.org/officeDocument/2006/relationships/image" Target="../media/image140.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19.xml"/><Relationship Id="rId16"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51.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20.xml"/><Relationship Id="rId16"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2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21.xml"/><Relationship Id="rId16"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2" name="Subtitle 1"/>
          <p:cNvSpPr>
            <a:spLocks noGrp="1"/>
          </p:cNvSpPr>
          <p:nvPr>
            <p:ph type="subTitle" idx="1"/>
          </p:nvPr>
        </p:nvSpPr>
        <p:spPr>
          <a:xfrm>
            <a:off x="4347337" y="5056856"/>
            <a:ext cx="7370618" cy="886744"/>
          </a:xfrm>
        </p:spPr>
        <p:txBody>
          <a:bodyPr/>
          <a:lstStyle/>
          <a:p>
            <a:r>
              <a:rPr lang="en-US" b="1"/>
              <a:t>Ho-Dat </a:t>
            </a:r>
            <a:r>
              <a:rPr lang="en-US" b="1" smtClean="0"/>
              <a:t>TRAN, </a:t>
            </a:r>
            <a:r>
              <a:rPr lang="en-US" b="1"/>
              <a:t>Thuong-Cang PHAN</a:t>
            </a:r>
            <a:r>
              <a:rPr lang="en-US" b="1" smtClean="0"/>
              <a:t>, </a:t>
            </a:r>
          </a:p>
          <a:p>
            <a:r>
              <a:rPr lang="en-US" b="1" smtClean="0"/>
              <a:t>Vinh-Phong NGUYEN, Tri-Nghia Phu, Anh-Cang PHAN</a:t>
            </a:r>
            <a:r>
              <a:rPr lang="en-US" b="1" baseline="30000" smtClean="0">
                <a:sym typeface="Wingdings" panose="05000000000000000000" pitchFamily="2" charset="2"/>
              </a:rPr>
              <a:t></a:t>
            </a:r>
            <a:r>
              <a:rPr lang="en-US" b="1" smtClean="0"/>
              <a:t> </a:t>
            </a:r>
            <a:endParaRPr lang="en-US" b="1"/>
          </a:p>
        </p:txBody>
      </p:sp>
      <p:sp>
        <p:nvSpPr>
          <p:cNvPr id="5" name="Google Shape;764;p41"/>
          <p:cNvSpPr txBox="1">
            <a:spLocks/>
          </p:cNvSpPr>
          <p:nvPr/>
        </p:nvSpPr>
        <p:spPr>
          <a:xfrm>
            <a:off x="4143783" y="3108620"/>
            <a:ext cx="7777727" cy="15699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defTabSz="1219170">
              <a:buClr>
                <a:srgbClr val="07105C"/>
              </a:buClr>
            </a:pPr>
            <a:r>
              <a:rPr lang="en-US" sz="2400" kern="0">
                <a:solidFill>
                  <a:srgbClr val="C00000"/>
                </a:solidFill>
                <a:latin typeface="Open Sans" panose="020B0606030504020204" pitchFamily="34" charset="0"/>
                <a:ea typeface="Open Sans" panose="020B0606030504020204" pitchFamily="34" charset="0"/>
                <a:cs typeface="Open Sans" panose="020B0606030504020204" pitchFamily="34" charset="0"/>
              </a:rPr>
              <a:t>EXPLAINABLE ARTIFICIAL INTELLIGENCE (XAI) FOR THE DETECTION AND SEGMENTATION OF MASS ON MAMMOGRAMS USING DEEP LEARNING TECHNIQUES</a:t>
            </a:r>
            <a:endParaRPr lang="en-US" sz="2400" kern="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ubtitle 1"/>
          <p:cNvSpPr txBox="1">
            <a:spLocks/>
          </p:cNvSpPr>
          <p:nvPr/>
        </p:nvSpPr>
        <p:spPr>
          <a:xfrm>
            <a:off x="4022743" y="6246064"/>
            <a:ext cx="8019809" cy="6119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609585" indent="-457189" defTabSz="1219170">
              <a:buClr>
                <a:srgbClr val="07105C"/>
              </a:buClr>
            </a:pPr>
            <a:r>
              <a:rPr lang="en-US" sz="1867" i="1" kern="0" smtClean="0">
                <a:solidFill>
                  <a:srgbClr val="07105C"/>
                </a:solidFill>
              </a:rPr>
              <a:t>Vinh Long, Sep-20-2025</a:t>
            </a:r>
            <a:endParaRPr lang="en-US" sz="1867" i="1" kern="0">
              <a:solidFill>
                <a:srgbClr val="07105C"/>
              </a:solidFill>
            </a:endParaRPr>
          </a:p>
        </p:txBody>
      </p:sp>
      <p:sp>
        <p:nvSpPr>
          <p:cNvPr id="10" name="Subtitle 1"/>
          <p:cNvSpPr txBox="1">
            <a:spLocks/>
          </p:cNvSpPr>
          <p:nvPr/>
        </p:nvSpPr>
        <p:spPr>
          <a:xfrm>
            <a:off x="2626658" y="73152"/>
            <a:ext cx="9565341" cy="6119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2133"/>
              </a:spcBef>
              <a:spcAft>
                <a:spcPts val="2133"/>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9pPr>
          </a:lstStyle>
          <a:p>
            <a:r>
              <a:rPr lang="en-US" sz="2800" b="1" kern="0"/>
              <a:t>THE INTERNATIONAL CONFERENCE ON MACHINES, ENERGY AND DIGITIZATION FOR SUSTAINABLE DEVELOPMENT – IMEDS2025</a:t>
            </a:r>
          </a:p>
        </p:txBody>
      </p:sp>
      <p:sp>
        <p:nvSpPr>
          <p:cNvPr id="8" name="AutoShape 2" descr="http://localhost/wordpress/wp-content/uploads/2025/02/scopus.png"/>
          <p:cNvSpPr>
            <a:spLocks noChangeAspect="1" noChangeArrowheads="1"/>
          </p:cNvSpPr>
          <p:nvPr/>
        </p:nvSpPr>
        <p:spPr bwMode="auto">
          <a:xfrm>
            <a:off x="155575" y="-457200"/>
            <a:ext cx="3028950" cy="95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3"/>
          <a:stretch>
            <a:fillRect/>
          </a:stretch>
        </p:blipFill>
        <p:spPr>
          <a:xfrm>
            <a:off x="4481503" y="1839944"/>
            <a:ext cx="7102288" cy="898814"/>
          </a:xfrm>
          <a:prstGeom prst="rect">
            <a:avLst/>
          </a:prstGeom>
        </p:spPr>
      </p:pic>
      <p:sp>
        <p:nvSpPr>
          <p:cNvPr id="13" name="Flowchart: Delay 12"/>
          <p:cNvSpPr/>
          <p:nvPr/>
        </p:nvSpPr>
        <p:spPr>
          <a:xfrm>
            <a:off x="0" y="1025652"/>
            <a:ext cx="4143782" cy="4842163"/>
          </a:xfrm>
          <a:prstGeom prst="flowChartDelay">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8509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2922396422"/>
              </p:ext>
            </p:extLst>
          </p:nvPr>
        </p:nvGraphicFramePr>
        <p:xfrm>
          <a:off x="416859" y="1213168"/>
          <a:ext cx="11136710" cy="4261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r>
              <a:rPr lang="en-US" smtClean="0"/>
              <a:t>CONTENT</a:t>
            </a:r>
            <a:endParaRPr lang="en-US"/>
          </a:p>
        </p:txBody>
      </p:sp>
    </p:spTree>
    <p:extLst>
      <p:ext uri="{BB962C8B-B14F-4D97-AF65-F5344CB8AC3E}">
        <p14:creationId xmlns:p14="http://schemas.microsoft.com/office/powerpoint/2010/main" val="3587800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mtClean="0"/>
              <a:t>Breast cancer is one of the most common cancers affecting women worldwide.</a:t>
            </a:r>
          </a:p>
          <a:p>
            <a:pPr algn="just"/>
            <a:r>
              <a:rPr lang="en-US" smtClean="0"/>
              <a:t>Early detection and accurate staging of breast cancer can significantly improve survival rates and quality of life for patients.</a:t>
            </a:r>
            <a:endParaRPr lang="en-US"/>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08750" y="6072774"/>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a:t>
            </a:r>
            <a:r>
              <a:rPr lang="en-US" sz="1600" smtClean="0">
                <a:solidFill>
                  <a:schemeClr val="tx1"/>
                </a:solidFill>
              </a:rPr>
              <a:t>images </a:t>
            </a:r>
            <a:r>
              <a:rPr lang="en-US" sz="1600">
                <a:solidFill>
                  <a:schemeClr val="tx1"/>
                </a:solidFill>
              </a:rPr>
              <a:t>a) and c)</a:t>
            </a: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575" y="3253725"/>
            <a:ext cx="4416166" cy="2683798"/>
          </a:xfrm>
          <a:prstGeom prst="rect">
            <a:avLst/>
          </a:prstGeom>
        </p:spPr>
      </p:pic>
    </p:spTree>
    <p:extLst>
      <p:ext uri="{BB962C8B-B14F-4D97-AF65-F5344CB8AC3E}">
        <p14:creationId xmlns:p14="http://schemas.microsoft.com/office/powerpoint/2010/main" val="400702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pic>
        <p:nvPicPr>
          <p:cNvPr id="4" name="Picture 3"/>
          <p:cNvPicPr>
            <a:picLocks noChangeAspect="1"/>
          </p:cNvPicPr>
          <p:nvPr/>
        </p:nvPicPr>
        <p:blipFill>
          <a:blip r:embed="rId3"/>
          <a:stretch>
            <a:fillRect/>
          </a:stretch>
        </p:blipFill>
        <p:spPr>
          <a:xfrm>
            <a:off x="1476659" y="2350417"/>
            <a:ext cx="3822789" cy="3788400"/>
          </a:xfrm>
          <a:prstGeom prst="rect">
            <a:avLst/>
          </a:prstGeom>
        </p:spPr>
      </p:pic>
      <p:pic>
        <p:nvPicPr>
          <p:cNvPr id="5" name="Picture 4"/>
          <p:cNvPicPr>
            <a:picLocks noChangeAspect="1"/>
          </p:cNvPicPr>
          <p:nvPr/>
        </p:nvPicPr>
        <p:blipFill>
          <a:blip r:embed="rId4"/>
          <a:stretch>
            <a:fillRect/>
          </a:stretch>
        </p:blipFill>
        <p:spPr>
          <a:xfrm>
            <a:off x="5497304" y="2448454"/>
            <a:ext cx="5269396" cy="3690363"/>
          </a:xfrm>
          <a:prstGeom prst="rect">
            <a:avLst/>
          </a:prstGeom>
        </p:spPr>
      </p:pic>
      <p:sp>
        <p:nvSpPr>
          <p:cNvPr id="6" name="TextBox 5"/>
          <p:cNvSpPr txBox="1"/>
          <p:nvPr/>
        </p:nvSpPr>
        <p:spPr>
          <a:xfrm>
            <a:off x="0" y="6133186"/>
            <a:ext cx="12191999"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Cancer statistics in Vietnam[15]</a:t>
            </a:r>
          </a:p>
        </p:txBody>
      </p:sp>
      <p:sp>
        <p:nvSpPr>
          <p:cNvPr id="7" name="Text Placeholder 3"/>
          <p:cNvSpPr txBox="1">
            <a:spLocks/>
          </p:cNvSpPr>
          <p:nvPr/>
        </p:nvSpPr>
        <p:spPr>
          <a:xfrm>
            <a:off x="466725" y="1272500"/>
            <a:ext cx="11173587" cy="108814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mtClean="0"/>
              <a:t>Breast cancer (BC) predicted has affected 2.3 million women worldwide in 2020, with 685,000 fatalities. Breast cancer had been detected in 7.8 million females in the previous five years as of 2020, making it the most common cancer on the planet. It causes more disability adjusted life years (DALYs) in women worldwidethan any other form of cancer[1].</a:t>
            </a:r>
            <a:endParaRPr lang="en-US"/>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440296" y="86998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spTree>
    <p:extLst>
      <p:ext uri="{BB962C8B-B14F-4D97-AF65-F5344CB8AC3E}">
        <p14:creationId xmlns:p14="http://schemas.microsoft.com/office/powerpoint/2010/main" val="3422702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4" name="Freeform: Shape 6">
            <a:extLst>
              <a:ext uri="{FF2B5EF4-FFF2-40B4-BE49-F238E27FC236}">
                <a16:creationId xmlns:a16="http://schemas.microsoft.com/office/drawing/2014/main" id="{73376055-55FE-412B-65E9-9C0166160F17}"/>
              </a:ext>
            </a:extLst>
          </p:cNvPr>
          <p:cNvSpPr/>
          <p:nvPr/>
        </p:nvSpPr>
        <p:spPr>
          <a:xfrm>
            <a:off x="3682297" y="2678396"/>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782057" y="1462896"/>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782057" y="3893784"/>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6102599" y="4279364"/>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917914" y="4409655"/>
                <a:ext cx="3014544" cy="1121570"/>
              </a:xfrm>
              <a:prstGeom prst="rect">
                <a:avLst/>
              </a:prstGeom>
              <a:noFill/>
            </p:spPr>
            <p:txBody>
              <a:bodyPr wrap="square" lIns="0" tIns="0" rIns="0" bIns="0" rtlCol="0" anchor="ctr">
                <a:noAutofit/>
              </a:bodyPr>
              <a:lstStyle/>
              <a:p>
                <a:pPr lvl="0" defTabSz="1218987"/>
                <a:r>
                  <a:rPr lang="en-US" b="1" kern="0">
                    <a:solidFill>
                      <a:prstClr val="black">
                        <a:lumMod val="95000"/>
                        <a:lumOff val="5000"/>
                      </a:prstClr>
                    </a:solidFill>
                    <a:latin typeface="Segoe UI"/>
                    <a:ea typeface="Segoe UI Black" panose="020B0A02040204020203" pitchFamily="34" charset="0"/>
                  </a:rPr>
                  <a:t>I</a:t>
                </a:r>
                <a:r>
                  <a:rPr lang="en-US" b="1" kern="0" smtClean="0">
                    <a:solidFill>
                      <a:prstClr val="black">
                        <a:lumMod val="95000"/>
                        <a:lumOff val="5000"/>
                      </a:prstClr>
                    </a:solidFill>
                    <a:latin typeface="Segoe UI"/>
                    <a:ea typeface="Segoe UI Black" panose="020B0A02040204020203" pitchFamily="34" charset="0"/>
                  </a:rPr>
                  <a:t>ntegrate </a:t>
                </a:r>
                <a:r>
                  <a:rPr lang="en-US" b="1" kern="0">
                    <a:solidFill>
                      <a:prstClr val="black">
                        <a:lumMod val="95000"/>
                        <a:lumOff val="5000"/>
                      </a:prstClr>
                    </a:solidFill>
                    <a:latin typeface="Segoe UI"/>
                    <a:ea typeface="Segoe UI Black" panose="020B0A02040204020203" pitchFamily="34" charset="0"/>
                  </a:rPr>
                  <a:t>the global explanation methods LIME and SHAP to enhance reliability and support effective decision-making</a:t>
                </a:r>
                <a:endParaRPr lang="en-US"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762900" y="3063977"/>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b="1" kern="0">
                  <a:solidFill>
                    <a:prstClr val="black">
                      <a:lumMod val="95000"/>
                      <a:lumOff val="5000"/>
                    </a:prstClr>
                  </a:solidFill>
                  <a:latin typeface="Segoe UI"/>
                  <a:ea typeface="Segoe UI Black" panose="020B0A02040204020203" pitchFamily="34" charset="0"/>
                </a:rPr>
                <a:t>Install and experiment with the model, test, evaluate and compare the results.</a:t>
              </a:r>
              <a:endParaRPr lang="en-US"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6102599" y="1848589"/>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1" y="2070659"/>
                <a:ext cx="2495908" cy="1133569"/>
              </a:xfrm>
              <a:prstGeom prst="rect">
                <a:avLst/>
              </a:prstGeom>
              <a:noFill/>
            </p:spPr>
            <p:txBody>
              <a:bodyPr wrap="square" lIns="0" tIns="0" rIns="0" bIns="0" rtlCol="0" anchor="ctr">
                <a:noAutofit/>
              </a:bodyPr>
              <a:lstStyle/>
              <a:p>
                <a:pPr lvl="0" defTabSz="1218987"/>
                <a:r>
                  <a:rPr lang="en-US" b="1" kern="0" smtClean="0">
                    <a:solidFill>
                      <a:prstClr val="black">
                        <a:lumMod val="95000"/>
                        <a:lumOff val="5000"/>
                      </a:prstClr>
                    </a:solidFill>
                    <a:latin typeface="Segoe UI"/>
                    <a:ea typeface="Segoe UI Black" panose="020B0A02040204020203" pitchFamily="34" charset="0"/>
                  </a:rPr>
                  <a:t>Detection </a:t>
                </a:r>
                <a:r>
                  <a:rPr lang="en-US" b="1" kern="0">
                    <a:solidFill>
                      <a:prstClr val="black">
                        <a:lumMod val="95000"/>
                        <a:lumOff val="5000"/>
                      </a:prstClr>
                    </a:solidFill>
                    <a:latin typeface="Segoe UI"/>
                    <a:ea typeface="Segoe UI Black" panose="020B0A02040204020203" pitchFamily="34" charset="0"/>
                  </a:rPr>
                  <a:t>and segmentation of mass on mammograms based on deep learning techniques</a:t>
                </a:r>
                <a:endParaRPr lang="en-US"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smtClean="0">
                <a:solidFill>
                  <a:srgbClr val="C00000"/>
                </a:solidFill>
              </a:rPr>
              <a:t>Targets:</a:t>
            </a:r>
          </a:p>
        </p:txBody>
      </p:sp>
      <p:pic>
        <p:nvPicPr>
          <p:cNvPr id="31" name="Picture 30"/>
          <p:cNvPicPr>
            <a:picLocks noChangeAspect="1"/>
          </p:cNvPicPr>
          <p:nvPr/>
        </p:nvPicPr>
        <p:blipFill>
          <a:blip r:embed="rId6"/>
          <a:stretch>
            <a:fillRect/>
          </a:stretch>
        </p:blipFill>
        <p:spPr>
          <a:xfrm>
            <a:off x="6658313" y="2349225"/>
            <a:ext cx="1115623" cy="658891"/>
          </a:xfrm>
          <a:prstGeom prst="rect">
            <a:avLst/>
          </a:prstGeom>
        </p:spPr>
      </p:pic>
      <p:pic>
        <p:nvPicPr>
          <p:cNvPr id="32" name="Picture 31"/>
          <p:cNvPicPr>
            <a:picLocks noChangeAspect="1"/>
          </p:cNvPicPr>
          <p:nvPr/>
        </p:nvPicPr>
        <p:blipFill>
          <a:blip r:embed="rId7"/>
          <a:stretch>
            <a:fillRect/>
          </a:stretch>
        </p:blipFill>
        <p:spPr>
          <a:xfrm>
            <a:off x="6727309" y="4440378"/>
            <a:ext cx="989173" cy="898531"/>
          </a:xfrm>
          <a:prstGeom prst="rect">
            <a:avLst/>
          </a:prstGeom>
        </p:spPr>
      </p:pic>
    </p:spTree>
    <p:extLst>
      <p:ext uri="{BB962C8B-B14F-4D97-AF65-F5344CB8AC3E}">
        <p14:creationId xmlns:p14="http://schemas.microsoft.com/office/powerpoint/2010/main" val="5340799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2" name="Picture 1"/>
          <p:cNvPicPr>
            <a:picLocks noChangeAspect="1"/>
          </p:cNvPicPr>
          <p:nvPr/>
        </p:nvPicPr>
        <p:blipFill>
          <a:blip r:embed="rId3"/>
          <a:stretch>
            <a:fillRect/>
          </a:stretch>
        </p:blipFill>
        <p:spPr>
          <a:xfrm>
            <a:off x="1557733" y="1246654"/>
            <a:ext cx="8294316" cy="5069086"/>
          </a:xfrm>
          <a:prstGeom prst="rect">
            <a:avLst/>
          </a:prstGeom>
        </p:spPr>
      </p:pic>
      <p:sp>
        <p:nvSpPr>
          <p:cNvPr id="6" name="Rectangle 5"/>
          <p:cNvSpPr/>
          <p:nvPr/>
        </p:nvSpPr>
        <p:spPr>
          <a:xfrm>
            <a:off x="266322" y="818319"/>
            <a:ext cx="10816672" cy="461665"/>
          </a:xfrm>
          <a:prstGeom prst="rect">
            <a:avLst/>
          </a:prstGeom>
        </p:spPr>
        <p:txBody>
          <a:bodyPr wrap="square">
            <a:spAutoFit/>
          </a:bodyPr>
          <a:lstStyle/>
          <a:p>
            <a:pPr algn="ctr"/>
            <a:r>
              <a:rPr lang="en-US" sz="2400"/>
              <a:t>Explainable AI – </a:t>
            </a:r>
            <a:r>
              <a:rPr lang="en-US" sz="2400" b="1" smtClean="0">
                <a:solidFill>
                  <a:srgbClr val="0070C0"/>
                </a:solidFill>
              </a:rPr>
              <a:t>What Are We Trying To Do?</a:t>
            </a:r>
            <a:endParaRPr lang="en-US" sz="2400" b="1">
              <a:solidFill>
                <a:srgbClr val="0070C0"/>
              </a:solidFill>
            </a:endParaRPr>
          </a:p>
        </p:txBody>
      </p:sp>
      <p:sp>
        <p:nvSpPr>
          <p:cNvPr id="4" name="Rectangle 3"/>
          <p:cNvSpPr/>
          <p:nvPr/>
        </p:nvSpPr>
        <p:spPr>
          <a:xfrm>
            <a:off x="5271998" y="6488668"/>
            <a:ext cx="5660459" cy="369332"/>
          </a:xfrm>
          <a:prstGeom prst="rect">
            <a:avLst/>
          </a:prstGeom>
        </p:spPr>
        <p:txBody>
          <a:bodyPr wrap="square">
            <a:spAutoFit/>
          </a:bodyPr>
          <a:lstStyle/>
          <a:p>
            <a:r>
              <a:rPr lang="en-US" smtClean="0"/>
              <a:t>Explainable </a:t>
            </a:r>
            <a:r>
              <a:rPr lang="en-US"/>
              <a:t>Artificial Intelligence (</a:t>
            </a:r>
            <a:r>
              <a:rPr lang="en-US"/>
              <a:t>XAI</a:t>
            </a:r>
            <a:r>
              <a:rPr lang="en-US"/>
              <a:t>) - </a:t>
            </a:r>
            <a:r>
              <a:rPr lang="en-US" i="1"/>
              <a:t>David Gunning</a:t>
            </a:r>
          </a:p>
        </p:txBody>
      </p:sp>
    </p:spTree>
    <p:extLst>
      <p:ext uri="{BB962C8B-B14F-4D97-AF65-F5344CB8AC3E}">
        <p14:creationId xmlns:p14="http://schemas.microsoft.com/office/powerpoint/2010/main" val="11909961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6" name="Picture 5"/>
          <p:cNvPicPr>
            <a:picLocks noChangeAspect="1"/>
          </p:cNvPicPr>
          <p:nvPr/>
        </p:nvPicPr>
        <p:blipFill>
          <a:blip r:embed="rId3"/>
          <a:stretch>
            <a:fillRect/>
          </a:stretch>
        </p:blipFill>
        <p:spPr>
          <a:xfrm>
            <a:off x="1776248" y="851648"/>
            <a:ext cx="8886989" cy="5628684"/>
          </a:xfrm>
          <a:prstGeom prst="rect">
            <a:avLst/>
          </a:prstGeom>
        </p:spPr>
      </p:pic>
      <p:sp>
        <p:nvSpPr>
          <p:cNvPr id="4" name="Rectangle 3"/>
          <p:cNvSpPr/>
          <p:nvPr/>
        </p:nvSpPr>
        <p:spPr>
          <a:xfrm>
            <a:off x="5271998" y="6488668"/>
            <a:ext cx="5660459" cy="369332"/>
          </a:xfrm>
          <a:prstGeom prst="rect">
            <a:avLst/>
          </a:prstGeom>
        </p:spPr>
        <p:txBody>
          <a:bodyPr wrap="square">
            <a:spAutoFit/>
          </a:bodyPr>
          <a:lstStyle/>
          <a:p>
            <a:r>
              <a:rPr lang="en-US" smtClean="0"/>
              <a:t>Explainable </a:t>
            </a:r>
            <a:r>
              <a:rPr lang="en-US"/>
              <a:t>Artificial Intelligence (</a:t>
            </a:r>
            <a:r>
              <a:rPr lang="en-US"/>
              <a:t>XAI</a:t>
            </a:r>
            <a:r>
              <a:rPr lang="en-US"/>
              <a:t>) - </a:t>
            </a:r>
            <a:r>
              <a:rPr lang="en-US" i="1"/>
              <a:t>David Gunning</a:t>
            </a:r>
          </a:p>
        </p:txBody>
      </p:sp>
    </p:spTree>
    <p:extLst>
      <p:ext uri="{BB962C8B-B14F-4D97-AF65-F5344CB8AC3E}">
        <p14:creationId xmlns:p14="http://schemas.microsoft.com/office/powerpoint/2010/main" val="1824356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1228233" y="1051032"/>
            <a:ext cx="3505402" cy="3573519"/>
          </a:xfrm>
          <a:prstGeom prst="rect">
            <a:avLst/>
          </a:prstGeom>
        </p:spPr>
      </p:pic>
      <p:pic>
        <p:nvPicPr>
          <p:cNvPr id="5" name="Picture 4"/>
          <p:cNvPicPr>
            <a:picLocks noChangeAspect="1"/>
          </p:cNvPicPr>
          <p:nvPr/>
        </p:nvPicPr>
        <p:blipFill>
          <a:blip r:embed="rId4"/>
          <a:stretch>
            <a:fillRect/>
          </a:stretch>
        </p:blipFill>
        <p:spPr>
          <a:xfrm>
            <a:off x="4733635" y="1051032"/>
            <a:ext cx="3441557" cy="3573519"/>
          </a:xfrm>
          <a:prstGeom prst="rect">
            <a:avLst/>
          </a:prstGeom>
        </p:spPr>
      </p:pic>
      <p:pic>
        <p:nvPicPr>
          <p:cNvPr id="6" name="Picture 5"/>
          <p:cNvPicPr>
            <a:picLocks noChangeAspect="1"/>
          </p:cNvPicPr>
          <p:nvPr/>
        </p:nvPicPr>
        <p:blipFill>
          <a:blip r:embed="rId5"/>
          <a:stretch>
            <a:fillRect/>
          </a:stretch>
        </p:blipFill>
        <p:spPr>
          <a:xfrm>
            <a:off x="8380358" y="1051032"/>
            <a:ext cx="2366796" cy="3668112"/>
          </a:xfrm>
          <a:prstGeom prst="rect">
            <a:avLst/>
          </a:prstGeom>
        </p:spPr>
      </p:pic>
      <p:sp>
        <p:nvSpPr>
          <p:cNvPr id="7" name="Rectangle 6"/>
          <p:cNvSpPr/>
          <p:nvPr/>
        </p:nvSpPr>
        <p:spPr>
          <a:xfrm>
            <a:off x="1162772" y="4644781"/>
            <a:ext cx="4304705" cy="923330"/>
          </a:xfrm>
          <a:prstGeom prst="rect">
            <a:avLst/>
          </a:prstGeom>
        </p:spPr>
        <p:txBody>
          <a:bodyPr wrap="none">
            <a:spAutoFit/>
          </a:bodyPr>
          <a:lstStyle/>
          <a:p>
            <a:pPr marL="285750" indent="-285750">
              <a:buFontTx/>
              <a:buChar char="-"/>
            </a:pPr>
            <a:r>
              <a:rPr lang="en-US" smtClean="0">
                <a:latin typeface="Cambria" panose="02040503050406030204" pitchFamily="18" charset="0"/>
                <a:ea typeface="Cambria" panose="02040503050406030204" pitchFamily="18" charset="0"/>
              </a:rPr>
              <a:t>Model: VGG16, InceptionV3, Res-Net18</a:t>
            </a:r>
          </a:p>
          <a:p>
            <a:pPr marL="285750" indent="-285750">
              <a:buFontTx/>
              <a:buChar char="-"/>
            </a:pPr>
            <a:r>
              <a:rPr lang="en-US" smtClean="0">
                <a:latin typeface="Cambria" panose="02040503050406030204" pitchFamily="18" charset="0"/>
                <a:ea typeface="Cambria" panose="02040503050406030204" pitchFamily="18" charset="0"/>
              </a:rPr>
              <a:t>Dataset: CIBS-DDSM</a:t>
            </a:r>
          </a:p>
          <a:p>
            <a:pPr marL="285750" indent="-285750">
              <a:buFontTx/>
              <a:buChar char="-"/>
            </a:pPr>
            <a:r>
              <a:rPr lang="en-US" smtClean="0">
                <a:latin typeface="Cambria" panose="02040503050406030204" pitchFamily="18" charset="0"/>
                <a:ea typeface="Cambria" panose="02040503050406030204" pitchFamily="18" charset="0"/>
              </a:rPr>
              <a:t>Accuracy: 76%</a:t>
            </a:r>
            <a:endParaRPr lang="en-US">
              <a:latin typeface="Cambria" panose="02040503050406030204" pitchFamily="18" charset="0"/>
              <a:ea typeface="Cambria" panose="02040503050406030204" pitchFamily="18" charset="0"/>
            </a:endParaRPr>
          </a:p>
        </p:txBody>
      </p:sp>
      <p:sp>
        <p:nvSpPr>
          <p:cNvPr id="8" name="Rectangle 7"/>
          <p:cNvSpPr/>
          <p:nvPr/>
        </p:nvSpPr>
        <p:spPr>
          <a:xfrm>
            <a:off x="416858" y="5588341"/>
            <a:ext cx="11507124" cy="646331"/>
          </a:xfrm>
          <a:prstGeom prst="rect">
            <a:avLst/>
          </a:prstGeom>
        </p:spPr>
        <p:txBody>
          <a:bodyPr wrap="none">
            <a:spAutoFit/>
          </a:bodyPr>
          <a:lstStyle/>
          <a:p>
            <a:pPr algn="ctr"/>
            <a:r>
              <a:rPr lang="en-US">
                <a:latin typeface="Cambria" panose="02040503050406030204" pitchFamily="18" charset="0"/>
                <a:ea typeface="Cambria" panose="02040503050406030204" pitchFamily="18" charset="0"/>
              </a:rPr>
              <a:t>Enhancing Breast Cancer Diagnosis in </a:t>
            </a:r>
            <a:r>
              <a:rPr lang="en-US" smtClean="0">
                <a:latin typeface="Cambria" panose="02040503050406030204" pitchFamily="18" charset="0"/>
                <a:ea typeface="Cambria" panose="02040503050406030204" pitchFamily="18" charset="0"/>
              </a:rPr>
              <a:t>Mammography: Evaluation </a:t>
            </a:r>
            <a:r>
              <a:rPr lang="en-US">
                <a:latin typeface="Cambria" panose="02040503050406030204" pitchFamily="18" charset="0"/>
                <a:ea typeface="Cambria" panose="02040503050406030204" pitchFamily="18" charset="0"/>
              </a:rPr>
              <a:t>and Integration of Convolutional Neural Networks</a:t>
            </a:r>
          </a:p>
          <a:p>
            <a:pPr algn="ctr"/>
            <a:r>
              <a:rPr lang="en-US">
                <a:latin typeface="Cambria" panose="02040503050406030204" pitchFamily="18" charset="0"/>
                <a:ea typeface="Cambria" panose="02040503050406030204" pitchFamily="18" charset="0"/>
              </a:rPr>
              <a:t>and Explainable AI (</a:t>
            </a:r>
            <a:r>
              <a:rPr lang="en-US" smtClean="0">
                <a:latin typeface="Cambria" panose="02040503050406030204" pitchFamily="18" charset="0"/>
                <a:ea typeface="Cambria" panose="02040503050406030204" pitchFamily="18" charset="0"/>
              </a:rPr>
              <a:t>Ahmed et al. 2024)</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2987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3662934" y="5809192"/>
            <a:ext cx="4281493" cy="461665"/>
          </a:xfrm>
          <a:prstGeom prst="rect">
            <a:avLst/>
          </a:prstGeom>
        </p:spPr>
        <p:txBody>
          <a:bodyPr wrap="none">
            <a:spAutoFit/>
          </a:bodyPr>
          <a:lstStyle/>
          <a:p>
            <a:r>
              <a:rPr lang="en-US" sz="2400" smtClean="0">
                <a:latin typeface="Cambria" panose="02040503050406030204" pitchFamily="18" charset="0"/>
                <a:ea typeface="Cambria" panose="02040503050406030204" pitchFamily="18" charset="0"/>
              </a:rPr>
              <a:t>Fig 3. The </a:t>
            </a:r>
            <a:r>
              <a:rPr lang="en-US" sz="2400">
                <a:latin typeface="Cambria" panose="02040503050406030204" pitchFamily="18" charset="0"/>
                <a:ea typeface="Cambria" panose="02040503050406030204" pitchFamily="18" charset="0"/>
              </a:rPr>
              <a:t>architecture of </a:t>
            </a:r>
            <a:r>
              <a:rPr lang="en-US" sz="2400" smtClean="0">
                <a:latin typeface="Cambria" panose="02040503050406030204" pitchFamily="18" charset="0"/>
                <a:ea typeface="Cambria" panose="02040503050406030204" pitchFamily="18" charset="0"/>
              </a:rPr>
              <a:t>U-Net</a:t>
            </a:r>
            <a:endParaRPr lang="en-US" sz="2400">
              <a:latin typeface="Cambria" panose="02040503050406030204" pitchFamily="18" charset="0"/>
              <a:ea typeface="Cambria" panose="02040503050406030204" pitchFamily="18" charset="0"/>
            </a:endParaRPr>
          </a:p>
        </p:txBody>
      </p:sp>
      <p:pic>
        <p:nvPicPr>
          <p:cNvPr id="8" name="Picture 7"/>
          <p:cNvPicPr>
            <a:picLocks noChangeAspect="1"/>
          </p:cNvPicPr>
          <p:nvPr/>
        </p:nvPicPr>
        <p:blipFill>
          <a:blip r:embed="rId3"/>
          <a:stretch>
            <a:fillRect/>
          </a:stretch>
        </p:blipFill>
        <p:spPr>
          <a:xfrm>
            <a:off x="1284116" y="1136796"/>
            <a:ext cx="9648342" cy="4387248"/>
          </a:xfrm>
          <a:prstGeom prst="rect">
            <a:avLst/>
          </a:prstGeom>
        </p:spPr>
      </p:pic>
    </p:spTree>
    <p:extLst>
      <p:ext uri="{BB962C8B-B14F-4D97-AF65-F5344CB8AC3E}">
        <p14:creationId xmlns:p14="http://schemas.microsoft.com/office/powerpoint/2010/main" val="11279608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3535979" y="5964430"/>
            <a:ext cx="5404621" cy="461665"/>
          </a:xfrm>
          <a:prstGeom prst="rect">
            <a:avLst/>
          </a:prstGeom>
        </p:spPr>
        <p:txBody>
          <a:bodyPr wrap="none">
            <a:spAutoFit/>
          </a:bodyPr>
          <a:lstStyle/>
          <a:p>
            <a:r>
              <a:rPr lang="en-US" sz="2400" smtClean="0">
                <a:latin typeface="Cambria" panose="02040503050406030204" pitchFamily="18" charset="0"/>
                <a:ea typeface="Cambria" panose="02040503050406030204" pitchFamily="18" charset="0"/>
              </a:rPr>
              <a:t>Fig 4. DeeplabV3+ </a:t>
            </a:r>
            <a:r>
              <a:rPr lang="en-US" sz="2400">
                <a:latin typeface="Cambria" panose="02040503050406030204" pitchFamily="18" charset="0"/>
                <a:ea typeface="Cambria" panose="02040503050406030204" pitchFamily="18" charset="0"/>
              </a:rPr>
              <a:t>network </a:t>
            </a:r>
            <a:r>
              <a:rPr lang="en-US" sz="2400" smtClean="0">
                <a:latin typeface="Cambria" panose="02040503050406030204" pitchFamily="18" charset="0"/>
                <a:ea typeface="Cambria" panose="02040503050406030204" pitchFamily="18" charset="0"/>
              </a:rPr>
              <a:t>architecture</a:t>
            </a:r>
            <a:endParaRPr lang="en-US" sz="2400">
              <a:latin typeface="Cambria" panose="02040503050406030204" pitchFamily="18" charset="0"/>
              <a:ea typeface="Cambria" panose="02040503050406030204" pitchFamily="18" charset="0"/>
            </a:endParaRPr>
          </a:p>
        </p:txBody>
      </p:sp>
      <p:pic>
        <p:nvPicPr>
          <p:cNvPr id="8194" name="Picture 2" descr="https://miro.medium.com/v2/resize:fit:1563/1*2mYfKnsX1IqCCSItxpXSG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640" y="975138"/>
            <a:ext cx="9146242" cy="4865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528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4"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Evaluation metrics: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788550" y="1827221"/>
                <a:ext cx="3357009" cy="63953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𝐴𝑐𝑐</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𝑇𝑁</m:t>
                          </m:r>
                        </m:num>
                        <m:den>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𝑇𝑁</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𝐹𝑁</m:t>
                          </m:r>
                        </m:den>
                      </m:f>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88550" y="1827221"/>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47137" y="2008488"/>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(1)</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947137" y="2008488"/>
                <a:ext cx="424796" cy="276999"/>
              </a:xfrm>
              <a:prstGeom prst="rect">
                <a:avLst/>
              </a:prstGeom>
              <a:blipFill>
                <a:blip r:embed="rId4"/>
                <a:stretch>
                  <a:fillRect l="-7246" t="-2174" r="-21739"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218385" y="2189756"/>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(2)</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18385" y="2189756"/>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218385" y="3865213"/>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(4)</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0218385" y="3865213"/>
                <a:ext cx="424796" cy="276999"/>
              </a:xfrm>
              <a:prstGeom prst="rect">
                <a:avLst/>
              </a:prstGeom>
              <a:blipFill>
                <a:blip r:embed="rId6"/>
                <a:stretch>
                  <a:fillRect l="-7143" t="-2222" r="-20000"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42771" y="3683974"/>
                <a:ext cx="4004366" cy="509114"/>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𝐷𝑖𝑐𝑒</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_</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𝑐𝑜𝑒𝑓</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2|</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𝑃𝑟𝑒𝑑𝑖𝑐𝑡𝑖𝑜𝑛</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 ∩</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𝐺𝑟𝑜𝑢𝑛𝑑</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 </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𝑇𝑟𝑢𝑡h</m:t>
                          </m:r>
                          <m:r>
                            <a:rPr kumimoji="0" lang="en-US" sz="1600" b="0" i="1" u="none" strike="noStrike" kern="0" cap="none" spc="0" normalizeH="0" baseline="0" noProof="0" smtClean="0">
                              <a:ln>
                                <a:noFill/>
                              </a:ln>
                              <a:solidFill>
                                <a:prstClr val="black"/>
                              </a:solidFill>
                              <a:effectLst/>
                              <a:uLnTx/>
                              <a:uFillTx/>
                              <a:latin typeface="Cambria Math" panose="02040503050406030204" pitchFamily="18" charset="0"/>
                            </a:rPr>
                            <m:t>|</m:t>
                          </m:r>
                        </m:num>
                        <m:den>
                          <m:d>
                            <m:dPr>
                              <m:begChr m:val="|"/>
                              <m:endChr m:val="|"/>
                              <m:ctrlPr>
                                <a:rPr lang="en-US" sz="1600" i="1" kern="0">
                                  <a:solidFill>
                                    <a:prstClr val="black"/>
                                  </a:solidFill>
                                  <a:latin typeface="Cambria Math" panose="02040503050406030204" pitchFamily="18" charset="0"/>
                                </a:rPr>
                              </m:ctrlPr>
                            </m:dPr>
                            <m:e>
                              <m:r>
                                <a:rPr lang="en-US" sz="1600" i="1" kern="0">
                                  <a:solidFill>
                                    <a:prstClr val="black"/>
                                  </a:solidFill>
                                  <a:latin typeface="Cambria Math" panose="02040503050406030204" pitchFamily="18" charset="0"/>
                                </a:rPr>
                                <m:t>𝑃𝑟𝑒𝑑𝑖𝑐𝑡𝑖𝑜𝑛</m:t>
                              </m:r>
                            </m:e>
                          </m:d>
                          <m:r>
                            <a:rPr lang="en-US" sz="1600" b="0" i="1" kern="0" smtClean="0">
                              <a:solidFill>
                                <a:prstClr val="black"/>
                              </a:solidFill>
                              <a:latin typeface="Cambria Math" panose="02040503050406030204" pitchFamily="18" charset="0"/>
                            </a:rPr>
                            <m:t>+|</m:t>
                          </m:r>
                          <m:r>
                            <a:rPr lang="en-US" sz="1600" i="1" kern="0">
                              <a:solidFill>
                                <a:prstClr val="black"/>
                              </a:solidFill>
                              <a:latin typeface="Cambria Math" panose="02040503050406030204" pitchFamily="18" charset="0"/>
                            </a:rPr>
                            <m:t>𝐺𝑟𝑜𝑢𝑛𝑑</m:t>
                          </m:r>
                          <m:r>
                            <a:rPr lang="en-US" sz="1600" i="1" kern="0">
                              <a:solidFill>
                                <a:prstClr val="black"/>
                              </a:solidFill>
                              <a:latin typeface="Cambria Math" panose="02040503050406030204" pitchFamily="18" charset="0"/>
                            </a:rPr>
                            <m:t> </m:t>
                          </m:r>
                          <m:r>
                            <a:rPr lang="en-US" sz="1600" i="1" kern="0">
                              <a:solidFill>
                                <a:prstClr val="black"/>
                              </a:solidFill>
                              <a:latin typeface="Cambria Math" panose="02040503050406030204" pitchFamily="18" charset="0"/>
                            </a:rPr>
                            <m:t>𝑇𝑟𝑢𝑡h</m:t>
                          </m:r>
                          <m:r>
                            <a:rPr lang="en-US" sz="1600" i="1" kern="0">
                              <a:solidFill>
                                <a:prstClr val="black"/>
                              </a:solidFill>
                              <a:latin typeface="Cambria Math" panose="02040503050406030204" pitchFamily="18" charset="0"/>
                            </a:rPr>
                            <m:t>|</m:t>
                          </m:r>
                        </m:den>
                      </m:f>
                    </m:oMath>
                  </m:oMathPara>
                </a14:m>
                <a:endParaRPr kumimoji="0" lang="en-US" sz="1600" b="0" i="0" u="none" strike="noStrike" kern="0" cap="none" spc="0" normalizeH="0" baseline="0" noProof="0" smtClean="0">
                  <a:ln>
                    <a:noFill/>
                  </a:ln>
                  <a:solidFill>
                    <a:prstClr val="black"/>
                  </a:solidFill>
                  <a:effectLst/>
                  <a:uLnTx/>
                  <a:uFillTx/>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942771" y="3683974"/>
                <a:ext cx="4004366" cy="50911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031355" y="3919840"/>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(3)</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031355" y="3919840"/>
                <a:ext cx="424796" cy="276999"/>
              </a:xfrm>
              <a:prstGeom prst="rect">
                <a:avLst/>
              </a:prstGeom>
              <a:blipFill>
                <a:blip r:embed="rId8"/>
                <a:stretch>
                  <a:fillRect l="-7143" t="-2222" r="-20000"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701606" y="3769254"/>
                <a:ext cx="3423245" cy="338554"/>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𝐷𝑖𝑐𝑒</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 </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𝐿𝑜𝑠𝑠</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=1 −</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𝐷𝑖𝑐𝑒</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_</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𝑐𝑜𝑒𝑓</m:t>
                      </m:r>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701606" y="3769254"/>
                <a:ext cx="3423245" cy="338554"/>
              </a:xfrm>
              <a:prstGeom prst="rect">
                <a:avLst/>
              </a:prstGeom>
              <a:blipFill>
                <a:blip r:embed="rId9"/>
                <a:stretch>
                  <a:fillRect l="-1423" r="-2313" b="-33929"/>
                </a:stretch>
              </a:blipFill>
            </p:spPr>
            <p:txBody>
              <a:bodyPr/>
              <a:lstStyle/>
              <a:p>
                <a:r>
                  <a:rPr lang="en-US">
                    <a:noFill/>
                  </a:rPr>
                  <a:t> </a:t>
                </a:r>
              </a:p>
            </p:txBody>
          </p:sp>
        </mc:Fallback>
      </mc:AlternateContent>
      <p:pic>
        <p:nvPicPr>
          <p:cNvPr id="2050" name="Picture 2" descr="Intersection over Union (IoU) for object detection - PyImageSearch"/>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2028" y="1062246"/>
            <a:ext cx="3299865" cy="257389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p:cNvSpPr txBox="1"/>
              <p:nvPr/>
            </p:nvSpPr>
            <p:spPr>
              <a:xfrm>
                <a:off x="3900294" y="4731692"/>
                <a:ext cx="3548728" cy="1077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𝑅𝑀𝑆𝐸</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𝑀𝑆𝐸</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𝑢</m:t>
                                          </m:r>
                                        </m:e>
                                      </m:acc>
                                    </m:e>
                                    <m:sub>
                                      <m:r>
                                        <a:rPr lang="en-US" b="0" i="1" smtClean="0">
                                          <a:latin typeface="Cambria Math" panose="02040503050406030204" pitchFamily="18" charset="0"/>
                                        </a:rPr>
                                        <m:t>𝑙</m:t>
                                      </m:r>
                                    </m:sub>
                                  </m:sSub>
                                  <m:r>
                                    <a:rPr lang="en-US" i="1">
                                      <a:latin typeface="Cambria Math" panose="02040503050406030204" pitchFamily="18" charset="0"/>
                                    </a:rPr>
                                    <m:t>)</m:t>
                                  </m:r>
                                </m:e>
                                <m:sup>
                                  <m:r>
                                    <a:rPr lang="en-US" b="0" i="1" smtClean="0">
                                      <a:latin typeface="Cambria Math" panose="02040503050406030204" pitchFamily="18" charset="0"/>
                                    </a:rPr>
                                    <m:t>2</m:t>
                                  </m:r>
                                </m:sup>
                              </m:sSup>
                            </m:e>
                          </m:nary>
                        </m:e>
                      </m:rad>
                    </m:oMath>
                  </m:oMathPara>
                </a14:m>
                <a:endParaRPr lang="en-US"/>
              </a:p>
            </p:txBody>
          </p:sp>
        </mc:Choice>
        <mc:Fallback xmlns="">
          <p:sp>
            <p:nvSpPr>
              <p:cNvPr id="2" name="TextBox 1"/>
              <p:cNvSpPr txBox="1">
                <a:spLocks noRot="1" noChangeAspect="1" noMove="1" noResize="1" noEditPoints="1" noAdjustHandles="1" noChangeArrowheads="1" noChangeShapeType="1" noTextEdit="1"/>
              </p:cNvSpPr>
              <p:nvPr/>
            </p:nvSpPr>
            <p:spPr>
              <a:xfrm>
                <a:off x="3900294" y="4731692"/>
                <a:ext cx="3548728" cy="1077603"/>
              </a:xfrm>
              <a:prstGeom prst="rect">
                <a:avLst/>
              </a:prstGeom>
              <a:blipFill>
                <a:blip r:embed="rId11"/>
                <a:stretch>
                  <a:fillRect b="-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8102715" y="5131993"/>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(5)</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8102715" y="5131993"/>
                <a:ext cx="424796" cy="276999"/>
              </a:xfrm>
              <a:prstGeom prst="rect">
                <a:avLst/>
              </a:prstGeom>
              <a:blipFill>
                <a:blip r:embed="rId12"/>
                <a:stretch>
                  <a:fillRect l="-7143" t="-2222" r="-20000" b="-35556"/>
                </a:stretch>
              </a:blipFill>
            </p:spPr>
            <p:txBody>
              <a:bodyPr/>
              <a:lstStyle/>
              <a:p>
                <a:r>
                  <a:rPr lang="en-US">
                    <a:noFill/>
                  </a:rPr>
                  <a:t> </a:t>
                </a:r>
              </a:p>
            </p:txBody>
          </p:sp>
        </mc:Fallback>
      </mc:AlternateContent>
    </p:spTree>
    <p:extLst>
      <p:ext uri="{BB962C8B-B14F-4D97-AF65-F5344CB8AC3E}">
        <p14:creationId xmlns:p14="http://schemas.microsoft.com/office/powerpoint/2010/main" val="3024682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32776" y="6049134"/>
            <a:ext cx="11596466" cy="399115"/>
          </a:xfrm>
        </p:spPr>
        <p:txBody>
          <a:bodyPr>
            <a:noAutofit/>
          </a:bodyPr>
          <a:lstStyle/>
          <a:p>
            <a:pPr marL="0" indent="0" algn="ctr">
              <a:buNone/>
            </a:pPr>
            <a:r>
              <a:rPr lang="en-US" sz="2400" smtClean="0"/>
              <a:t>Fig 5. </a:t>
            </a:r>
            <a:r>
              <a:rPr lang="en-US" sz="2400"/>
              <a:t>A general model is proposed for breast cancer segmentation using XAI technique.</a:t>
            </a:r>
          </a:p>
        </p:txBody>
      </p:sp>
      <p:sp>
        <p:nvSpPr>
          <p:cNvPr id="3" name="Title 2"/>
          <p:cNvSpPr>
            <a:spLocks noGrp="1"/>
          </p:cNvSpPr>
          <p:nvPr>
            <p:ph type="title"/>
          </p:nvPr>
        </p:nvSpPr>
        <p:spPr/>
        <p:txBody>
          <a:bodyPr/>
          <a:lstStyle/>
          <a:p>
            <a:r>
              <a:rPr lang="en-US" smtClean="0"/>
              <a:t>3. Proposed Method</a:t>
            </a:r>
            <a:endParaRPr lang="en-US"/>
          </a:p>
        </p:txBody>
      </p:sp>
      <p:grpSp>
        <p:nvGrpSpPr>
          <p:cNvPr id="6" name="Group 5"/>
          <p:cNvGrpSpPr/>
          <p:nvPr/>
        </p:nvGrpSpPr>
        <p:grpSpPr>
          <a:xfrm>
            <a:off x="332776" y="851647"/>
            <a:ext cx="11403324" cy="5197487"/>
            <a:chOff x="0" y="0"/>
            <a:chExt cx="5486400" cy="2501023"/>
          </a:xfrm>
        </p:grpSpPr>
        <p:pic>
          <p:nvPicPr>
            <p:cNvPr id="7" name="Picture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486400" cy="2501023"/>
            </a:xfrm>
            <a:prstGeom prst="rect">
              <a:avLst/>
            </a:prstGeom>
            <a:noFill/>
            <a:ln>
              <a:noFill/>
            </a:ln>
          </p:spPr>
        </p:pic>
        <p:pic>
          <p:nvPicPr>
            <p:cNvPr id="8" name="Picture 7"/>
            <p:cNvPicPr>
              <a:picLocks noChangeAspect="1"/>
            </p:cNvPicPr>
            <p:nvPr/>
          </p:nvPicPr>
          <p:blipFill>
            <a:blip r:embed="rId4"/>
            <a:stretch>
              <a:fillRect/>
            </a:stretch>
          </p:blipFill>
          <p:spPr>
            <a:xfrm>
              <a:off x="4154619" y="1987772"/>
              <a:ext cx="384244" cy="384227"/>
            </a:xfrm>
            <a:prstGeom prst="rect">
              <a:avLst/>
            </a:prstGeom>
          </p:spPr>
        </p:pic>
        <p:pic>
          <p:nvPicPr>
            <p:cNvPr id="9" name="Picture 8"/>
            <p:cNvPicPr>
              <a:picLocks noChangeAspect="1"/>
            </p:cNvPicPr>
            <p:nvPr/>
          </p:nvPicPr>
          <p:blipFill>
            <a:blip r:embed="rId5"/>
            <a:stretch>
              <a:fillRect/>
            </a:stretch>
          </p:blipFill>
          <p:spPr>
            <a:xfrm>
              <a:off x="4572707" y="1999750"/>
              <a:ext cx="371694" cy="366856"/>
            </a:xfrm>
            <a:prstGeom prst="rect">
              <a:avLst/>
            </a:prstGeom>
          </p:spPr>
        </p:pic>
        <p:pic>
          <p:nvPicPr>
            <p:cNvPr id="10" name="Picture 9"/>
            <p:cNvPicPr>
              <a:picLocks noChangeAspect="1"/>
            </p:cNvPicPr>
            <p:nvPr/>
          </p:nvPicPr>
          <p:blipFill>
            <a:blip r:embed="rId6"/>
            <a:stretch>
              <a:fillRect/>
            </a:stretch>
          </p:blipFill>
          <p:spPr>
            <a:xfrm>
              <a:off x="4976117" y="1999717"/>
              <a:ext cx="367187" cy="362407"/>
            </a:xfrm>
            <a:prstGeom prst="rect">
              <a:avLst/>
            </a:prstGeom>
          </p:spPr>
        </p:pic>
        <p:pic>
          <p:nvPicPr>
            <p:cNvPr id="11" name="Picture 10"/>
            <p:cNvPicPr>
              <a:picLocks noChangeAspect="1"/>
            </p:cNvPicPr>
            <p:nvPr/>
          </p:nvPicPr>
          <p:blipFill>
            <a:blip r:embed="rId7"/>
            <a:stretch>
              <a:fillRect/>
            </a:stretch>
          </p:blipFill>
          <p:spPr>
            <a:xfrm>
              <a:off x="4554327" y="2373481"/>
              <a:ext cx="824046" cy="112207"/>
            </a:xfrm>
            <a:prstGeom prst="rect">
              <a:avLst/>
            </a:prstGeom>
          </p:spPr>
        </p:pic>
      </p:grpSp>
    </p:spTree>
    <p:extLst>
      <p:ext uri="{BB962C8B-B14F-4D97-AF65-F5344CB8AC3E}">
        <p14:creationId xmlns:p14="http://schemas.microsoft.com/office/powerpoint/2010/main" val="7078088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5513106"/>
            <a:ext cx="11234737" cy="399115"/>
          </a:xfrm>
        </p:spPr>
        <p:txBody>
          <a:bodyPr>
            <a:noAutofit/>
          </a:bodyPr>
          <a:lstStyle/>
          <a:p>
            <a:pPr marL="0" indent="0" algn="ctr">
              <a:buNone/>
            </a:pPr>
            <a:r>
              <a:rPr lang="en-US" sz="2400" smtClean="0"/>
              <a:t>.</a:t>
            </a:r>
            <a:endParaRPr lang="en-US" sz="2400"/>
          </a:p>
        </p:txBody>
      </p:sp>
      <p:sp>
        <p:nvSpPr>
          <p:cNvPr id="3" name="Title 2"/>
          <p:cNvSpPr>
            <a:spLocks noGrp="1"/>
          </p:cNvSpPr>
          <p:nvPr>
            <p:ph type="title"/>
          </p:nvPr>
        </p:nvSpPr>
        <p:spPr/>
        <p:txBody>
          <a:bodyPr/>
          <a:lstStyle/>
          <a:p>
            <a:r>
              <a:rPr lang="en-US" smtClean="0"/>
              <a:t>3. Proposed Method</a:t>
            </a:r>
            <a:endParaRPr lang="en-US"/>
          </a:p>
        </p:txBody>
      </p:sp>
      <p:sp>
        <p:nvSpPr>
          <p:cNvPr id="5" name="Content Placeholder 1"/>
          <p:cNvSpPr txBox="1">
            <a:spLocks/>
          </p:cNvSpPr>
          <p:nvPr/>
        </p:nvSpPr>
        <p:spPr>
          <a:xfrm>
            <a:off x="235993" y="1046210"/>
            <a:ext cx="11596466" cy="32420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smtClean="0"/>
              <a:t>- Data </a:t>
            </a:r>
            <a:r>
              <a:rPr lang="en-US" sz="2400" b="1"/>
              <a:t>preprocessing:</a:t>
            </a:r>
            <a:r>
              <a:rPr lang="en-US" sz="2400"/>
              <a:t> Input images will undergo normalization, be stored in .jpg format, and be resized appropriately for the proposed </a:t>
            </a:r>
            <a:r>
              <a:rPr lang="en-US" sz="2400" smtClean="0"/>
              <a:t>models.</a:t>
            </a:r>
          </a:p>
          <a:p>
            <a:pPr marL="0" indent="0" algn="just">
              <a:buNone/>
            </a:pPr>
            <a:r>
              <a:rPr lang="en-US" sz="2400" b="1" smtClean="0"/>
              <a:t>- Features </a:t>
            </a:r>
            <a:r>
              <a:rPr lang="en-US" sz="2400" b="1"/>
              <a:t>extraction:</a:t>
            </a:r>
            <a:r>
              <a:rPr lang="en-US" sz="2400"/>
              <a:t> involves utilizing weights from trained models through transfer learning techniques, followed by fine-tuning to minimize the loss value. </a:t>
            </a:r>
            <a:endParaRPr lang="en-US" sz="2400" smtClean="0"/>
          </a:p>
          <a:p>
            <a:pPr marL="0" indent="0" algn="just">
              <a:buNone/>
            </a:pPr>
            <a:r>
              <a:rPr lang="en-US" sz="2400" b="1" smtClean="0"/>
              <a:t>- Testing </a:t>
            </a:r>
            <a:r>
              <a:rPr lang="en-US" sz="2400" b="1"/>
              <a:t>phase:</a:t>
            </a:r>
            <a:r>
              <a:rPr lang="en-US" sz="2400"/>
              <a:t> Following feature extraction, the dataset images are processed through the trained models to produce the corresponding outputs. The model output comprises segmentation results and output images associated with the SHAP, LIME values.</a:t>
            </a:r>
          </a:p>
          <a:p>
            <a:pPr marL="0" indent="0" algn="just">
              <a:buNone/>
            </a:pPr>
            <a:endParaRPr lang="en-US" sz="2400"/>
          </a:p>
        </p:txBody>
      </p:sp>
    </p:spTree>
    <p:extLst>
      <p:ext uri="{BB962C8B-B14F-4D97-AF65-F5344CB8AC3E}">
        <p14:creationId xmlns:p14="http://schemas.microsoft.com/office/powerpoint/2010/main" val="12015152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6865" y="851648"/>
            <a:ext cx="11234737" cy="3054030"/>
          </a:xfrm>
        </p:spPr>
        <p:txBody>
          <a:bodyPr>
            <a:normAutofit fontScale="77500" lnSpcReduction="20000"/>
          </a:bodyPr>
          <a:lstStyle/>
          <a:p>
            <a:pPr algn="just">
              <a:lnSpc>
                <a:spcPct val="140000"/>
              </a:lnSpc>
            </a:pPr>
            <a:r>
              <a:rPr lang="en-US" b="1" smtClean="0">
                <a:solidFill>
                  <a:srgbClr val="C00000"/>
                </a:solidFill>
              </a:rPr>
              <a:t>Environment</a:t>
            </a:r>
            <a:r>
              <a:rPr lang="en-US" b="1">
                <a:solidFill>
                  <a:srgbClr val="C00000"/>
                </a:solidFill>
              </a:rPr>
              <a:t>:</a:t>
            </a:r>
            <a:r>
              <a:rPr lang="en-US" b="1"/>
              <a:t> </a:t>
            </a:r>
            <a:r>
              <a:rPr lang="en-US"/>
              <a:t>The system runs in a Python environment </a:t>
            </a:r>
            <a:r>
              <a:rPr lang="en-US" smtClean="0"/>
              <a:t>on Kaggle</a:t>
            </a:r>
            <a:r>
              <a:rPr lang="en-US"/>
              <a:t>, using an Intel Xeon 2.00 GHz processor with 30GB RAM. It also </a:t>
            </a:r>
            <a:r>
              <a:rPr lang="en-US" smtClean="0"/>
              <a:t>utilizes a </a:t>
            </a:r>
            <a:r>
              <a:rPr lang="en-US"/>
              <a:t>graphics processor with a 16GB RAM configuration and the Nvidia Tesla </a:t>
            </a:r>
            <a:r>
              <a:rPr lang="en-US" smtClean="0"/>
              <a:t>P100 GPU</a:t>
            </a:r>
            <a:r>
              <a:rPr lang="en-US"/>
              <a:t>. Tensorflow v1.5 is the library used for network model training</a:t>
            </a:r>
            <a:r>
              <a:rPr lang="en-US" smtClean="0"/>
              <a:t>.</a:t>
            </a:r>
            <a:endParaRPr lang="en-US"/>
          </a:p>
          <a:p>
            <a:pPr algn="just">
              <a:lnSpc>
                <a:spcPct val="140000"/>
              </a:lnSpc>
            </a:pPr>
            <a:r>
              <a:rPr lang="en-US" b="1">
                <a:solidFill>
                  <a:srgbClr val="C00000"/>
                </a:solidFill>
              </a:rPr>
              <a:t>Dataset:  </a:t>
            </a:r>
            <a:r>
              <a:rPr lang="en-US"/>
              <a:t>The dataset is compiled from the VinDr </a:t>
            </a:r>
            <a:r>
              <a:rPr lang="en-US" smtClean="0"/>
              <a:t>dataset, supplemented </a:t>
            </a:r>
            <a:r>
              <a:rPr lang="en-US"/>
              <a:t>with data from several hospitals. The number of images we </a:t>
            </a:r>
            <a:r>
              <a:rPr lang="en-US" smtClean="0"/>
              <a:t>use in </a:t>
            </a:r>
            <a:r>
              <a:rPr lang="en-US"/>
              <a:t>the paper includes 242 benign images, 310 malignant images and 493 </a:t>
            </a:r>
            <a:r>
              <a:rPr lang="en-US" smtClean="0"/>
              <a:t>normal images</a:t>
            </a:r>
            <a:r>
              <a:rPr lang="en-US"/>
              <a:t>. The dataset is divided in the ratio of 70:30.</a:t>
            </a:r>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5" name="Content Placeholder 1"/>
          <p:cNvSpPr txBox="1">
            <a:spLocks/>
          </p:cNvSpPr>
          <p:nvPr/>
        </p:nvSpPr>
        <p:spPr>
          <a:xfrm>
            <a:off x="296864" y="3946721"/>
            <a:ext cx="11234737" cy="481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smtClean="0">
                <a:solidFill>
                  <a:srgbClr val="0070C0"/>
                </a:solidFill>
              </a:rPr>
              <a:t>Table 1: Proposed scenarios and training parameters</a:t>
            </a:r>
            <a:endParaRPr lang="en-US" sz="220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313325474"/>
              </p:ext>
            </p:extLst>
          </p:nvPr>
        </p:nvGraphicFramePr>
        <p:xfrm>
          <a:off x="2338048" y="4427730"/>
          <a:ext cx="8110933" cy="1341120"/>
        </p:xfrm>
        <a:graphic>
          <a:graphicData uri="http://schemas.openxmlformats.org/drawingml/2006/table">
            <a:tbl>
              <a:tblPr firstRow="1" firstCol="1" bandRow="1">
                <a:tableStyleId>{5C22544A-7EE6-4342-B048-85BDC9FD1C3A}</a:tableStyleId>
              </a:tblPr>
              <a:tblGrid>
                <a:gridCol w="895842">
                  <a:extLst>
                    <a:ext uri="{9D8B030D-6E8A-4147-A177-3AD203B41FA5}">
                      <a16:colId xmlns:a16="http://schemas.microsoft.com/office/drawing/2014/main" val="2713728009"/>
                    </a:ext>
                  </a:extLst>
                </a:gridCol>
                <a:gridCol w="1940567">
                  <a:extLst>
                    <a:ext uri="{9D8B030D-6E8A-4147-A177-3AD203B41FA5}">
                      <a16:colId xmlns:a16="http://schemas.microsoft.com/office/drawing/2014/main" val="4187331770"/>
                    </a:ext>
                  </a:extLst>
                </a:gridCol>
                <a:gridCol w="1225420">
                  <a:extLst>
                    <a:ext uri="{9D8B030D-6E8A-4147-A177-3AD203B41FA5}">
                      <a16:colId xmlns:a16="http://schemas.microsoft.com/office/drawing/2014/main" val="4276031540"/>
                    </a:ext>
                  </a:extLst>
                </a:gridCol>
                <a:gridCol w="1703881">
                  <a:extLst>
                    <a:ext uri="{9D8B030D-6E8A-4147-A177-3AD203B41FA5}">
                      <a16:colId xmlns:a16="http://schemas.microsoft.com/office/drawing/2014/main" val="3399763567"/>
                    </a:ext>
                  </a:extLst>
                </a:gridCol>
                <a:gridCol w="2345223">
                  <a:extLst>
                    <a:ext uri="{9D8B030D-6E8A-4147-A177-3AD203B41FA5}">
                      <a16:colId xmlns:a16="http://schemas.microsoft.com/office/drawing/2014/main" val="200730112"/>
                    </a:ext>
                  </a:extLst>
                </a:gridCol>
              </a:tblGrid>
              <a:tr h="0">
                <a:tc>
                  <a:txBody>
                    <a:bodyPr/>
                    <a:lstStyle/>
                    <a:p>
                      <a:pPr indent="-635" algn="just">
                        <a:spcAft>
                          <a:spcPts val="0"/>
                        </a:spcAft>
                      </a:pPr>
                      <a:r>
                        <a:rPr lang="en-US" sz="2200">
                          <a:effectLst/>
                        </a:rPr>
                        <a:t>Sce.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Model</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Epochs</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Batch size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Learning rate</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1291509472"/>
                  </a:ext>
                </a:extLst>
              </a:tr>
              <a:tr h="0">
                <a:tc>
                  <a:txBody>
                    <a:bodyPr/>
                    <a:lstStyle/>
                    <a:p>
                      <a:pPr indent="-635" algn="ctr">
                        <a:spcAft>
                          <a:spcPts val="0"/>
                        </a:spcAft>
                      </a:pPr>
                      <a:r>
                        <a:rPr lang="en-US" sz="2200">
                          <a:effectLst/>
                        </a:rPr>
                        <a:t>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U-Net</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100</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32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0.0001</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1666475600"/>
                  </a:ext>
                </a:extLst>
              </a:tr>
              <a:tr h="0">
                <a:tc>
                  <a:txBody>
                    <a:bodyPr/>
                    <a:lstStyle/>
                    <a:p>
                      <a:pPr indent="-635" algn="ctr">
                        <a:spcAft>
                          <a:spcPts val="0"/>
                        </a:spcAft>
                      </a:pPr>
                      <a:r>
                        <a:rPr lang="en-US" sz="2200">
                          <a:effectLst/>
                        </a:rPr>
                        <a:t>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U-Net++</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100</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32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0.0001</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3654594207"/>
                  </a:ext>
                </a:extLst>
              </a:tr>
              <a:tr h="0">
                <a:tc>
                  <a:txBody>
                    <a:bodyPr/>
                    <a:lstStyle/>
                    <a:p>
                      <a:pPr indent="-635" algn="ctr">
                        <a:spcAft>
                          <a:spcPts val="0"/>
                        </a:spcAft>
                      </a:pPr>
                      <a:r>
                        <a:rPr lang="en-US" sz="2200">
                          <a:effectLst/>
                        </a:rPr>
                        <a:t>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DeepLabV3+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100</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32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0.0001</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3680500343"/>
                  </a:ext>
                </a:extLst>
              </a:tr>
            </a:tbl>
          </a:graphicData>
        </a:graphic>
      </p:graphicFrame>
    </p:spTree>
    <p:extLst>
      <p:ext uri="{BB962C8B-B14F-4D97-AF65-F5344CB8AC3E}">
        <p14:creationId xmlns:p14="http://schemas.microsoft.com/office/powerpoint/2010/main" val="19522973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6</a:t>
            </a:r>
            <a:r>
              <a:rPr lang="en-US" smtClean="0"/>
              <a:t>a. </a:t>
            </a:r>
            <a:r>
              <a:rPr lang="en-US"/>
              <a:t>The chart compares the accuracy and </a:t>
            </a:r>
            <a:r>
              <a:rPr lang="en-US" smtClean="0"/>
              <a:t>loss (U-Net).</a:t>
            </a:r>
            <a:endParaRPr lang="en-US"/>
          </a:p>
        </p:txBody>
      </p:sp>
      <p:pic>
        <p:nvPicPr>
          <p:cNvPr id="8" name="Picture 7"/>
          <p:cNvPicPr>
            <a:picLocks noChangeAspect="1"/>
          </p:cNvPicPr>
          <p:nvPr/>
        </p:nvPicPr>
        <p:blipFill>
          <a:blip r:embed="rId3"/>
          <a:stretch>
            <a:fillRect/>
          </a:stretch>
        </p:blipFill>
        <p:spPr>
          <a:xfrm>
            <a:off x="2635624" y="3707514"/>
            <a:ext cx="7277659" cy="2385286"/>
          </a:xfrm>
          <a:prstGeom prst="rect">
            <a:avLst/>
          </a:prstGeom>
        </p:spPr>
      </p:pic>
      <p:pic>
        <p:nvPicPr>
          <p:cNvPr id="9" name="Picture 8"/>
          <p:cNvPicPr>
            <a:picLocks noChangeAspect="1"/>
          </p:cNvPicPr>
          <p:nvPr/>
        </p:nvPicPr>
        <p:blipFill>
          <a:blip r:embed="rId4"/>
          <a:stretch>
            <a:fillRect/>
          </a:stretch>
        </p:blipFill>
        <p:spPr>
          <a:xfrm>
            <a:off x="2635624" y="1434928"/>
            <a:ext cx="7277659" cy="2446576"/>
          </a:xfrm>
          <a:prstGeom prst="rect">
            <a:avLst/>
          </a:prstGeom>
        </p:spPr>
      </p:pic>
    </p:spTree>
    <p:extLst>
      <p:ext uri="{BB962C8B-B14F-4D97-AF65-F5344CB8AC3E}">
        <p14:creationId xmlns:p14="http://schemas.microsoft.com/office/powerpoint/2010/main" val="9435644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6</a:t>
            </a:r>
            <a:r>
              <a:rPr lang="en-US" smtClean="0"/>
              <a:t>b. </a:t>
            </a:r>
            <a:r>
              <a:rPr lang="en-US"/>
              <a:t>The chart compares the accuracy and </a:t>
            </a:r>
            <a:r>
              <a:rPr lang="en-US" smtClean="0"/>
              <a:t>loss (U-Net++).</a:t>
            </a:r>
            <a:endParaRPr lang="en-US"/>
          </a:p>
        </p:txBody>
      </p:sp>
      <p:pic>
        <p:nvPicPr>
          <p:cNvPr id="4" name="Picture 3"/>
          <p:cNvPicPr>
            <a:picLocks noChangeAspect="1"/>
          </p:cNvPicPr>
          <p:nvPr/>
        </p:nvPicPr>
        <p:blipFill>
          <a:blip r:embed="rId3"/>
          <a:stretch>
            <a:fillRect/>
          </a:stretch>
        </p:blipFill>
        <p:spPr>
          <a:xfrm>
            <a:off x="2835772" y="3523836"/>
            <a:ext cx="6974585" cy="2321597"/>
          </a:xfrm>
          <a:prstGeom prst="rect">
            <a:avLst/>
          </a:prstGeom>
        </p:spPr>
      </p:pic>
      <p:pic>
        <p:nvPicPr>
          <p:cNvPr id="5" name="Picture 4"/>
          <p:cNvPicPr>
            <a:picLocks noChangeAspect="1"/>
          </p:cNvPicPr>
          <p:nvPr/>
        </p:nvPicPr>
        <p:blipFill>
          <a:blip r:embed="rId4"/>
          <a:stretch>
            <a:fillRect/>
          </a:stretch>
        </p:blipFill>
        <p:spPr>
          <a:xfrm>
            <a:off x="2821192" y="1095774"/>
            <a:ext cx="6989165" cy="2324838"/>
          </a:xfrm>
          <a:prstGeom prst="rect">
            <a:avLst/>
          </a:prstGeom>
        </p:spPr>
      </p:pic>
    </p:spTree>
    <p:extLst>
      <p:ext uri="{BB962C8B-B14F-4D97-AF65-F5344CB8AC3E}">
        <p14:creationId xmlns:p14="http://schemas.microsoft.com/office/powerpoint/2010/main" val="12922063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6</a:t>
            </a:r>
            <a:r>
              <a:rPr lang="en-US" smtClean="0"/>
              <a:t>c. </a:t>
            </a:r>
            <a:r>
              <a:rPr lang="en-US"/>
              <a:t>The chart compares the accuracy and </a:t>
            </a:r>
            <a:r>
              <a:rPr lang="en-US" smtClean="0"/>
              <a:t>loss (DeepLabV3+).</a:t>
            </a:r>
            <a:endParaRPr lang="en-US"/>
          </a:p>
        </p:txBody>
      </p:sp>
      <p:pic>
        <p:nvPicPr>
          <p:cNvPr id="4" name="Picture 3"/>
          <p:cNvPicPr>
            <a:picLocks noChangeAspect="1"/>
          </p:cNvPicPr>
          <p:nvPr/>
        </p:nvPicPr>
        <p:blipFill>
          <a:blip r:embed="rId3"/>
          <a:stretch>
            <a:fillRect/>
          </a:stretch>
        </p:blipFill>
        <p:spPr>
          <a:xfrm>
            <a:off x="2207394" y="1371737"/>
            <a:ext cx="7528277" cy="2430733"/>
          </a:xfrm>
          <a:prstGeom prst="rect">
            <a:avLst/>
          </a:prstGeom>
        </p:spPr>
      </p:pic>
      <p:pic>
        <p:nvPicPr>
          <p:cNvPr id="5" name="Picture 4"/>
          <p:cNvPicPr>
            <a:picLocks noChangeAspect="1"/>
          </p:cNvPicPr>
          <p:nvPr/>
        </p:nvPicPr>
        <p:blipFill>
          <a:blip r:embed="rId4"/>
          <a:stretch>
            <a:fillRect/>
          </a:stretch>
        </p:blipFill>
        <p:spPr>
          <a:xfrm>
            <a:off x="2207394" y="3583375"/>
            <a:ext cx="7528277" cy="2509425"/>
          </a:xfrm>
          <a:prstGeom prst="rect">
            <a:avLst/>
          </a:prstGeom>
        </p:spPr>
      </p:pic>
    </p:spTree>
    <p:extLst>
      <p:ext uri="{BB962C8B-B14F-4D97-AF65-F5344CB8AC3E}">
        <p14:creationId xmlns:p14="http://schemas.microsoft.com/office/powerpoint/2010/main" val="17270900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918554"/>
            <a:ext cx="11234737" cy="506409"/>
          </a:xfrm>
        </p:spPr>
        <p:txBody>
          <a:bodyPr>
            <a:normAutofit/>
          </a:bodyPr>
          <a:lstStyle/>
          <a:p>
            <a:pPr marL="0" indent="0" algn="ctr">
              <a:buNone/>
            </a:pPr>
            <a:r>
              <a:rPr lang="en-US" sz="2200" smtClean="0">
                <a:solidFill>
                  <a:srgbClr val="0070C0"/>
                </a:solidFill>
              </a:rPr>
              <a:t>Tab 2. </a:t>
            </a:r>
            <a:r>
              <a:rPr lang="en-US" sz="2200">
                <a:solidFill>
                  <a:srgbClr val="0070C0"/>
                </a:solidFill>
              </a:rPr>
              <a:t>Model performance evaluation results</a:t>
            </a:r>
          </a:p>
        </p:txBody>
      </p:sp>
      <p:sp>
        <p:nvSpPr>
          <p:cNvPr id="3" name="Title 2"/>
          <p:cNvSpPr>
            <a:spLocks noGrp="1"/>
          </p:cNvSpPr>
          <p:nvPr>
            <p:ph type="title"/>
          </p:nvPr>
        </p:nvSpPr>
        <p:spPr/>
        <p:txBody>
          <a:bodyPr>
            <a:normAutofit/>
          </a:bodyPr>
          <a:lstStyle/>
          <a:p>
            <a:r>
              <a:rPr lang="en-US" smtClean="0"/>
              <a:t>4. Experimental results</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031135857"/>
              </p:ext>
            </p:extLst>
          </p:nvPr>
        </p:nvGraphicFramePr>
        <p:xfrm>
          <a:off x="747522" y="1424963"/>
          <a:ext cx="10573407" cy="1341120"/>
        </p:xfrm>
        <a:graphic>
          <a:graphicData uri="http://schemas.openxmlformats.org/drawingml/2006/table">
            <a:tbl>
              <a:tblPr firstRow="1" firstCol="1" bandRow="1">
                <a:tableStyleId>{5C22544A-7EE6-4342-B048-85BDC9FD1C3A}</a:tableStyleId>
              </a:tblPr>
              <a:tblGrid>
                <a:gridCol w="851778">
                  <a:extLst>
                    <a:ext uri="{9D8B030D-6E8A-4147-A177-3AD203B41FA5}">
                      <a16:colId xmlns:a16="http://schemas.microsoft.com/office/drawing/2014/main" val="2106311383"/>
                    </a:ext>
                  </a:extLst>
                </a:gridCol>
                <a:gridCol w="1845113">
                  <a:extLst>
                    <a:ext uri="{9D8B030D-6E8A-4147-A177-3AD203B41FA5}">
                      <a16:colId xmlns:a16="http://schemas.microsoft.com/office/drawing/2014/main" val="819356197"/>
                    </a:ext>
                  </a:extLst>
                </a:gridCol>
                <a:gridCol w="1070771">
                  <a:extLst>
                    <a:ext uri="{9D8B030D-6E8A-4147-A177-3AD203B41FA5}">
                      <a16:colId xmlns:a16="http://schemas.microsoft.com/office/drawing/2014/main" val="1374100669"/>
                    </a:ext>
                  </a:extLst>
                </a:gridCol>
                <a:gridCol w="1028423">
                  <a:extLst>
                    <a:ext uri="{9D8B030D-6E8A-4147-A177-3AD203B41FA5}">
                      <a16:colId xmlns:a16="http://schemas.microsoft.com/office/drawing/2014/main" val="32291814"/>
                    </a:ext>
                  </a:extLst>
                </a:gridCol>
                <a:gridCol w="1191762">
                  <a:extLst>
                    <a:ext uri="{9D8B030D-6E8A-4147-A177-3AD203B41FA5}">
                      <a16:colId xmlns:a16="http://schemas.microsoft.com/office/drawing/2014/main" val="212919481"/>
                    </a:ext>
                  </a:extLst>
                </a:gridCol>
                <a:gridCol w="1381718">
                  <a:extLst>
                    <a:ext uri="{9D8B030D-6E8A-4147-A177-3AD203B41FA5}">
                      <a16:colId xmlns:a16="http://schemas.microsoft.com/office/drawing/2014/main" val="1551873184"/>
                    </a:ext>
                  </a:extLst>
                </a:gridCol>
                <a:gridCol w="1235318">
                  <a:extLst>
                    <a:ext uri="{9D8B030D-6E8A-4147-A177-3AD203B41FA5}">
                      <a16:colId xmlns:a16="http://schemas.microsoft.com/office/drawing/2014/main" val="3024764707"/>
                    </a:ext>
                  </a:extLst>
                </a:gridCol>
                <a:gridCol w="1059881">
                  <a:extLst>
                    <a:ext uri="{9D8B030D-6E8A-4147-A177-3AD203B41FA5}">
                      <a16:colId xmlns:a16="http://schemas.microsoft.com/office/drawing/2014/main" val="1492743974"/>
                    </a:ext>
                  </a:extLst>
                </a:gridCol>
                <a:gridCol w="908643">
                  <a:extLst>
                    <a:ext uri="{9D8B030D-6E8A-4147-A177-3AD203B41FA5}">
                      <a16:colId xmlns:a16="http://schemas.microsoft.com/office/drawing/2014/main" val="2788865524"/>
                    </a:ext>
                  </a:extLst>
                </a:gridCol>
              </a:tblGrid>
              <a:tr h="0">
                <a:tc>
                  <a:txBody>
                    <a:bodyPr/>
                    <a:lstStyle/>
                    <a:p>
                      <a:pPr indent="-635" algn="just">
                        <a:spcAft>
                          <a:spcPts val="0"/>
                        </a:spcAft>
                      </a:pPr>
                      <a:r>
                        <a:rPr lang="en-US" sz="2200">
                          <a:effectLst/>
                        </a:rPr>
                        <a:t>Sce.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Model</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Loss</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Dice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IoU</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F1-Score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RMSE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MSE</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Acc</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4043546145"/>
                  </a:ext>
                </a:extLst>
              </a:tr>
              <a:tr h="0">
                <a:tc>
                  <a:txBody>
                    <a:bodyPr/>
                    <a:lstStyle/>
                    <a:p>
                      <a:pPr indent="-635" algn="ctr">
                        <a:spcAft>
                          <a:spcPts val="0"/>
                        </a:spcAft>
                      </a:pPr>
                      <a:r>
                        <a:rPr lang="en-US" sz="2200">
                          <a:effectLst/>
                        </a:rPr>
                        <a:t>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U-Net</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0.1951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0.017</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0.96</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410460554"/>
                  </a:ext>
                </a:extLst>
              </a:tr>
              <a:tr h="0">
                <a:tc>
                  <a:txBody>
                    <a:bodyPr/>
                    <a:lstStyle/>
                    <a:p>
                      <a:pPr indent="-635" algn="ctr">
                        <a:spcAft>
                          <a:spcPts val="0"/>
                        </a:spcAft>
                      </a:pPr>
                      <a:r>
                        <a:rPr lang="en-US" sz="2200">
                          <a:effectLst/>
                        </a:rPr>
                        <a:t>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U-Net++</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0.2541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0.88</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0.80</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0.87</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0.026</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0.0007</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0.92</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3024048182"/>
                  </a:ext>
                </a:extLst>
              </a:tr>
              <a:tr h="0">
                <a:tc>
                  <a:txBody>
                    <a:bodyPr/>
                    <a:lstStyle/>
                    <a:p>
                      <a:pPr indent="-635" algn="ctr">
                        <a:spcAft>
                          <a:spcPts val="0"/>
                        </a:spcAft>
                      </a:pPr>
                      <a:r>
                        <a:rPr lang="en-US" sz="2200">
                          <a:effectLst/>
                        </a:rPr>
                        <a:t>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just">
                        <a:spcAft>
                          <a:spcPts val="0"/>
                        </a:spcAft>
                      </a:pPr>
                      <a:r>
                        <a:rPr lang="en-US" sz="2200">
                          <a:effectLst/>
                        </a:rPr>
                        <a:t>DeepLabV3+</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0.2485</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0.86</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0.91</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0.02</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0.0004</a:t>
                      </a:r>
                      <a:endParaRPr lang="en-US" sz="2200">
                        <a:effectLst/>
                        <a:latin typeface="Times" panose="02020603050405020304" pitchFamily="18" charset="0"/>
                        <a:ea typeface="Times" panose="02020603050405020304" pitchFamily="18" charset="0"/>
                      </a:endParaRPr>
                    </a:p>
                  </a:txBody>
                  <a:tcPr marL="68580" marR="68580" marT="0" marB="0"/>
                </a:tc>
                <a:tc>
                  <a:txBody>
                    <a:bodyPr/>
                    <a:lstStyle/>
                    <a:p>
                      <a:pPr indent="-635" algn="ctr">
                        <a:spcAft>
                          <a:spcPts val="0"/>
                        </a:spcAft>
                      </a:pPr>
                      <a:r>
                        <a:rPr lang="en-US" sz="2200">
                          <a:effectLst/>
                        </a:rPr>
                        <a:t>0.93</a:t>
                      </a: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1184016166"/>
                  </a:ext>
                </a:extLst>
              </a:tr>
            </a:tbl>
          </a:graphicData>
        </a:graphic>
      </p:graphicFrame>
    </p:spTree>
    <p:extLst>
      <p:ext uri="{BB962C8B-B14F-4D97-AF65-F5344CB8AC3E}">
        <p14:creationId xmlns:p14="http://schemas.microsoft.com/office/powerpoint/2010/main" val="17778453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53" name="Content Placeholder 1"/>
          <p:cNvSpPr>
            <a:spLocks noGrp="1"/>
          </p:cNvSpPr>
          <p:nvPr>
            <p:ph sz="quarter" idx="10"/>
          </p:nvPr>
        </p:nvSpPr>
        <p:spPr>
          <a:xfrm>
            <a:off x="416858" y="6168289"/>
            <a:ext cx="11234737" cy="455609"/>
          </a:xfrm>
        </p:spPr>
        <p:txBody>
          <a:bodyPr>
            <a:noAutofit/>
          </a:bodyPr>
          <a:lstStyle/>
          <a:p>
            <a:pPr marL="0" indent="0" algn="ctr">
              <a:buNone/>
            </a:pPr>
            <a:r>
              <a:rPr lang="en-US" sz="1800" smtClean="0"/>
              <a:t>Fig 7. </a:t>
            </a:r>
            <a:r>
              <a:rPr lang="en-US" sz="1800"/>
              <a:t>XAI Grad-Cam interpretation results of the 3 algorithms</a:t>
            </a:r>
          </a:p>
        </p:txBody>
      </p:sp>
      <p:sp>
        <p:nvSpPr>
          <p:cNvPr id="5" name="Text Placeholder 2"/>
          <p:cNvSpPr txBox="1">
            <a:spLocks/>
          </p:cNvSpPr>
          <p:nvPr/>
        </p:nvSpPr>
        <p:spPr>
          <a:xfrm>
            <a:off x="416858" y="940841"/>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a:solidFill>
                  <a:srgbClr val="C00000"/>
                </a:solidFill>
              </a:rPr>
              <a:t>Explainable results: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p:pic>
        <p:nvPicPr>
          <p:cNvPr id="6" name="Picture 5"/>
          <p:cNvPicPr>
            <a:picLocks noChangeAspect="1"/>
          </p:cNvPicPr>
          <p:nvPr/>
        </p:nvPicPr>
        <p:blipFill>
          <a:blip r:embed="rId3"/>
          <a:stretch>
            <a:fillRect/>
          </a:stretch>
        </p:blipFill>
        <p:spPr>
          <a:xfrm>
            <a:off x="1547787" y="1379308"/>
            <a:ext cx="8846945" cy="4830157"/>
          </a:xfrm>
          <a:prstGeom prst="rect">
            <a:avLst/>
          </a:prstGeom>
        </p:spPr>
      </p:pic>
      <p:pic>
        <p:nvPicPr>
          <p:cNvPr id="5133"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5137"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5135"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892175" cy="85407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898525" cy="906463"/>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892175" cy="89852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76300" cy="876300"/>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6221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53" name="Content Placeholder 1"/>
          <p:cNvSpPr>
            <a:spLocks noGrp="1"/>
          </p:cNvSpPr>
          <p:nvPr>
            <p:ph sz="quarter" idx="10"/>
          </p:nvPr>
        </p:nvSpPr>
        <p:spPr>
          <a:xfrm>
            <a:off x="416858" y="6168289"/>
            <a:ext cx="11234737" cy="455609"/>
          </a:xfrm>
        </p:spPr>
        <p:txBody>
          <a:bodyPr>
            <a:noAutofit/>
          </a:bodyPr>
          <a:lstStyle/>
          <a:p>
            <a:pPr marL="0" indent="0" algn="ctr">
              <a:buNone/>
            </a:pPr>
            <a:r>
              <a:rPr lang="en-US" sz="1800" smtClean="0"/>
              <a:t>Fig </a:t>
            </a:r>
            <a:r>
              <a:rPr lang="en-US" sz="1800" smtClean="0"/>
              <a:t>8. </a:t>
            </a:r>
            <a:r>
              <a:rPr lang="en-US" sz="1800"/>
              <a:t>Results explained by SHAP technique</a:t>
            </a:r>
          </a:p>
        </p:txBody>
      </p:sp>
      <p:sp>
        <p:nvSpPr>
          <p:cNvPr id="5" name="Text Placeholder 2"/>
          <p:cNvSpPr txBox="1">
            <a:spLocks/>
          </p:cNvSpPr>
          <p:nvPr/>
        </p:nvSpPr>
        <p:spPr>
          <a:xfrm>
            <a:off x="416858" y="855777"/>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a:solidFill>
                  <a:srgbClr val="C00000"/>
                </a:solidFill>
              </a:rPr>
              <a:t>Explainable results: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p:pic>
        <p:nvPicPr>
          <p:cNvPr id="2" name="Picture 1"/>
          <p:cNvPicPr>
            <a:picLocks noChangeAspect="1"/>
          </p:cNvPicPr>
          <p:nvPr/>
        </p:nvPicPr>
        <p:blipFill>
          <a:blip r:embed="rId3"/>
          <a:stretch>
            <a:fillRect/>
          </a:stretch>
        </p:blipFill>
        <p:spPr>
          <a:xfrm>
            <a:off x="1734207" y="1214665"/>
            <a:ext cx="8303174" cy="4990671"/>
          </a:xfrm>
          <a:prstGeom prst="rect">
            <a:avLst/>
          </a:prstGeom>
        </p:spPr>
      </p:pic>
      <p:pic>
        <p:nvPicPr>
          <p:cNvPr id="6146"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6155"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892175" cy="854075"/>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898525" cy="906463"/>
          </a:xfrm>
          <a:prstGeom prst="rect">
            <a:avLst/>
          </a:prstGeom>
          <a:noFill/>
          <a:extLst>
            <a:ext uri="{909E8E84-426E-40DD-AFC4-6F175D3DCCD1}">
              <a14:hiddenFill xmlns:a14="http://schemas.microsoft.com/office/drawing/2010/main">
                <a:solidFill>
                  <a:srgbClr val="FFFFFF"/>
                </a:solidFill>
              </a14:hiddenFill>
            </a:ext>
          </a:extLst>
        </p:spPr>
      </p:pic>
      <p:pic>
        <p:nvPicPr>
          <p:cNvPr id="6157"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892175" cy="898525"/>
          </a:xfrm>
          <a:prstGeom prst="rect">
            <a:avLst/>
          </a:prstGeom>
          <a:noFill/>
          <a:extLst>
            <a:ext uri="{909E8E84-426E-40DD-AFC4-6F175D3DCCD1}">
              <a14:hiddenFill xmlns:a14="http://schemas.microsoft.com/office/drawing/2010/main">
                <a:solidFill>
                  <a:srgbClr val="FFFFFF"/>
                </a:solidFill>
              </a14:hiddenFill>
            </a:ext>
          </a:extLst>
        </p:spPr>
      </p:pic>
      <p:pic>
        <p:nvPicPr>
          <p:cNvPr id="6159"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76300" cy="876300"/>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6161" name="Picture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pic>
        <p:nvPicPr>
          <p:cNvPr id="6163" name="Picture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0628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53" name="Content Placeholder 1"/>
          <p:cNvSpPr>
            <a:spLocks noGrp="1"/>
          </p:cNvSpPr>
          <p:nvPr>
            <p:ph sz="quarter" idx="10"/>
          </p:nvPr>
        </p:nvSpPr>
        <p:spPr>
          <a:xfrm>
            <a:off x="261938" y="4087240"/>
            <a:ext cx="4617597" cy="455609"/>
          </a:xfrm>
        </p:spPr>
        <p:txBody>
          <a:bodyPr>
            <a:noAutofit/>
          </a:bodyPr>
          <a:lstStyle/>
          <a:p>
            <a:pPr marL="0" indent="0" algn="ctr">
              <a:buNone/>
            </a:pPr>
            <a:r>
              <a:rPr lang="en-US" sz="1800" smtClean="0"/>
              <a:t>Fig </a:t>
            </a:r>
            <a:r>
              <a:rPr lang="en-US" sz="1800" smtClean="0"/>
              <a:t>9. </a:t>
            </a:r>
            <a:r>
              <a:rPr lang="en-US" sz="1800"/>
              <a:t>Results explained by SHAP technique</a:t>
            </a:r>
          </a:p>
        </p:txBody>
      </p:sp>
      <p:sp>
        <p:nvSpPr>
          <p:cNvPr id="5" name="Text Placeholder 2"/>
          <p:cNvSpPr txBox="1">
            <a:spLocks/>
          </p:cNvSpPr>
          <p:nvPr/>
        </p:nvSpPr>
        <p:spPr>
          <a:xfrm>
            <a:off x="416858" y="940841"/>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a:solidFill>
                  <a:srgbClr val="C00000"/>
                </a:solidFill>
              </a:rPr>
              <a:t>Explainable results: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p:pic>
        <p:nvPicPr>
          <p:cNvPr id="4" name="Picture 3"/>
          <p:cNvPicPr>
            <a:picLocks noChangeAspect="1"/>
          </p:cNvPicPr>
          <p:nvPr/>
        </p:nvPicPr>
        <p:blipFill>
          <a:blip r:embed="rId3"/>
          <a:stretch>
            <a:fillRect/>
          </a:stretch>
        </p:blipFill>
        <p:spPr>
          <a:xfrm>
            <a:off x="4956667" y="532406"/>
            <a:ext cx="6667009" cy="5928643"/>
          </a:xfrm>
          <a:prstGeom prst="rect">
            <a:avLst/>
          </a:prstGeom>
        </p:spPr>
      </p:pic>
      <p:pic>
        <p:nvPicPr>
          <p:cNvPr id="717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7177"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7179"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892175" cy="854075"/>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898525" cy="906463"/>
          </a:xfrm>
          <a:prstGeom prst="rect">
            <a:avLst/>
          </a:prstGeom>
          <a:noFill/>
          <a:extLst>
            <a:ext uri="{909E8E84-426E-40DD-AFC4-6F175D3DCCD1}">
              <a14:hiddenFill xmlns:a14="http://schemas.microsoft.com/office/drawing/2010/main">
                <a:solidFill>
                  <a:srgbClr val="FFFFFF"/>
                </a:solidFill>
              </a14:hiddenFill>
            </a:ext>
          </a:extLst>
        </p:spPr>
      </p:pic>
      <p:pic>
        <p:nvPicPr>
          <p:cNvPr id="7181"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892175" cy="898525"/>
          </a:xfrm>
          <a:prstGeom prst="rect">
            <a:avLst/>
          </a:prstGeom>
          <a:noFill/>
          <a:extLst>
            <a:ext uri="{909E8E84-426E-40DD-AFC4-6F175D3DCCD1}">
              <a14:hiddenFill xmlns:a14="http://schemas.microsoft.com/office/drawing/2010/main">
                <a:solidFill>
                  <a:srgbClr val="FFFFFF"/>
                </a:solidFill>
              </a14:hiddenFill>
            </a:ext>
          </a:extLst>
        </p:spPr>
      </p:pic>
      <p:pic>
        <p:nvPicPr>
          <p:cNvPr id="7183"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76300" cy="876300"/>
          </a:xfrm>
          <a:prstGeom prst="rect">
            <a:avLst/>
          </a:prstGeom>
          <a:noFill/>
          <a:extLst>
            <a:ext uri="{909E8E84-426E-40DD-AFC4-6F175D3DCCD1}">
              <a14:hiddenFill xmlns:a14="http://schemas.microsoft.com/office/drawing/2010/main">
                <a:solidFill>
                  <a:srgbClr val="FFFFFF"/>
                </a:solidFill>
              </a14:hiddenFill>
            </a:ext>
          </a:extLst>
        </p:spPr>
      </p:pic>
      <p:pic>
        <p:nvPicPr>
          <p:cNvPr id="7184"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898525" cy="884238"/>
          </a:xfrm>
          <a:prstGeom prst="rect">
            <a:avLst/>
          </a:prstGeom>
          <a:noFill/>
          <a:extLst>
            <a:ext uri="{909E8E84-426E-40DD-AFC4-6F175D3DCCD1}">
              <a14:hiddenFill xmlns:a14="http://schemas.microsoft.com/office/drawing/2010/main">
                <a:solidFill>
                  <a:srgbClr val="FFFFFF"/>
                </a:solidFill>
              </a14:hiddenFill>
            </a:ext>
          </a:extLst>
        </p:spPr>
      </p:pic>
      <p:pic>
        <p:nvPicPr>
          <p:cNvPr id="7185" name="Picture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898525" cy="892175"/>
          </a:xfrm>
          <a:prstGeom prst="rect">
            <a:avLst/>
          </a:prstGeom>
          <a:noFill/>
          <a:extLst>
            <a:ext uri="{909E8E84-426E-40DD-AFC4-6F175D3DCCD1}">
              <a14:hiddenFill xmlns:a14="http://schemas.microsoft.com/office/drawing/2010/main">
                <a:solidFill>
                  <a:srgbClr val="FFFFFF"/>
                </a:solidFill>
              </a14:hiddenFill>
            </a:ext>
          </a:extLst>
        </p:spPr>
      </p:pic>
      <p:pic>
        <p:nvPicPr>
          <p:cNvPr id="7186" name="Picture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pic>
        <p:nvPicPr>
          <p:cNvPr id="7187" name="Picture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892175" cy="884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5912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algn="just"/>
            <a:r>
              <a:rPr lang="en-US" sz="2400"/>
              <a:t>W</a:t>
            </a:r>
            <a:r>
              <a:rPr lang="en-US" sz="2400" smtClean="0"/>
              <a:t>e </a:t>
            </a:r>
            <a:r>
              <a:rPr lang="en-US" sz="2400"/>
              <a:t>propose an effective method for segmenting mass on mammograms using U-Net, U-Net++, and DeepLabV3 </a:t>
            </a:r>
            <a:r>
              <a:rPr lang="en-US" sz="2400" smtClean="0"/>
              <a:t>algorithms.</a:t>
            </a:r>
          </a:p>
          <a:p>
            <a:pPr algn="just"/>
            <a:r>
              <a:rPr lang="en-US" sz="2400"/>
              <a:t>The U-Net model gives the best results on the evaluation metrics Loss, Dice, RMSE and Acc</a:t>
            </a:r>
            <a:r>
              <a:rPr lang="en-US" sz="2400" smtClean="0"/>
              <a:t>.</a:t>
            </a:r>
          </a:p>
          <a:p>
            <a:pPr algn="just"/>
            <a:r>
              <a:rPr lang="en-US" sz="2400" smtClean="0"/>
              <a:t>The </a:t>
            </a:r>
            <a:r>
              <a:rPr lang="en-US" sz="2400"/>
              <a:t>integration of XAI algorithms helps users better understand the process of deep learning networks giving results with MSE index of 0.0003 and RMSE of </a:t>
            </a:r>
            <a:r>
              <a:rPr lang="en-US" sz="2400" smtClean="0"/>
              <a:t>0.017 (U-Net)</a:t>
            </a:r>
          </a:p>
          <a:p>
            <a:pPr algn="just"/>
            <a:r>
              <a:rPr lang="en-US" sz="2400"/>
              <a:t>In the future, we will continue to develop a normal, benign, and malignant classification model to build a complete system to effectively support doctors in timely diagnosis and treatment to improve health care</a:t>
            </a:r>
          </a:p>
        </p:txBody>
      </p:sp>
      <p:sp>
        <p:nvSpPr>
          <p:cNvPr id="3" name="Title 2"/>
          <p:cNvSpPr>
            <a:spLocks noGrp="1"/>
          </p:cNvSpPr>
          <p:nvPr>
            <p:ph type="title"/>
          </p:nvPr>
        </p:nvSpPr>
        <p:spPr/>
        <p:txBody>
          <a:bodyPr>
            <a:normAutofit/>
          </a:bodyPr>
          <a:lstStyle/>
          <a:p>
            <a:pPr lvl="0"/>
            <a:r>
              <a:rPr lang="en-US" sz="3600" smtClean="0"/>
              <a:t>5. Conclusion</a:t>
            </a:r>
            <a:endParaRPr lang="en-US"/>
          </a:p>
        </p:txBody>
      </p:sp>
    </p:spTree>
    <p:extLst>
      <p:ext uri="{BB962C8B-B14F-4D97-AF65-F5344CB8AC3E}">
        <p14:creationId xmlns:p14="http://schemas.microsoft.com/office/powerpoint/2010/main" val="21651382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92500" lnSpcReduction="20000"/>
          </a:bodyPr>
          <a:lstStyle/>
          <a:p>
            <a:pPr marL="0" indent="0" algn="just">
              <a:buNone/>
            </a:pPr>
            <a:r>
              <a:rPr lang="en-US" sz="2000"/>
              <a:t>[</a:t>
            </a:r>
            <a:r>
              <a:rPr lang="en-US" sz="2000" smtClean="0"/>
              <a:t>1] W</a:t>
            </a:r>
            <a:r>
              <a:rPr lang="en-US" sz="2000"/>
              <a:t>. H. Organization, WHO guidelines for screening and treatment of precancerous lesions for cervical cancer prevention. World Health Organization, 2021. Accessed: May 30, 2025. [Online]. Available: https://books.google.com/books?hl=en&amp;lr=&amp;id=eo5FEAAAQBAJ&amp;oi=fnd&amp;pg=PR3&amp;dq=World+Health+Organization.+Preventing+Cancer.+2021&amp;ots=w1Lq6GLTc-&amp;sig=igSf5EdoHGhK2o10aPIj6-AbJNQ</a:t>
            </a:r>
          </a:p>
          <a:p>
            <a:pPr marL="0" indent="0" algn="just">
              <a:buNone/>
            </a:pPr>
            <a:r>
              <a:rPr lang="en-US" sz="2000"/>
              <a:t>[</a:t>
            </a:r>
            <a:r>
              <a:rPr lang="en-US" sz="2000" smtClean="0"/>
              <a:t>2] M</a:t>
            </a:r>
            <a:r>
              <a:rPr lang="en-US" sz="2000"/>
              <a:t>. T. Ribeiro, S. Singh, and C. Guestrin, “‘Why Should I Trust You?’: Explaining the Predictions of Any Classifier,” in Proceedings of the 22nd ACM SIGKDD International Conference on Knowledge Discovery and Data Mining, San Francisco California USA: ACM, Aug. 2016, pp. 1135–1144. doi: 10.1145/2939672.2939778.</a:t>
            </a:r>
          </a:p>
          <a:p>
            <a:pPr marL="0" indent="0" algn="just">
              <a:buNone/>
            </a:pPr>
            <a:r>
              <a:rPr lang="en-US" sz="2000"/>
              <a:t>[</a:t>
            </a:r>
            <a:r>
              <a:rPr lang="en-US" sz="2000" smtClean="0"/>
              <a:t>3] S</a:t>
            </a:r>
            <a:r>
              <a:rPr lang="en-US" sz="2000"/>
              <a:t>. M. Lundberg and S.-I. Lee, “A unified approach to interpreting model predictions,” Advances in neural information processing systems, vol. 30, 2017, Accessed: May 30, 2025. [Online]. Available: https://proceedings.neurips.cc/paper/2017/hash/8a20a8621978632d76c43dfd28b67767-Abstract.html</a:t>
            </a:r>
          </a:p>
          <a:p>
            <a:pPr marL="0" indent="0" algn="just">
              <a:buNone/>
            </a:pPr>
            <a:r>
              <a:rPr lang="en-US" sz="2000"/>
              <a:t>[</a:t>
            </a:r>
            <a:r>
              <a:rPr lang="en-US" sz="2000" smtClean="0"/>
              <a:t>4] O</a:t>
            </a:r>
            <a:r>
              <a:rPr lang="en-US" sz="2000"/>
              <a:t>. Ronneberger, P. Fischer, and T. Brox, “U-net: Convolutional networks for biomedical image segmentation,” presented at the Medical image computing and computer-assisted intervention–MICCAI 2015: 18th international conference, Munich, Germany, October 5-9, 2015, proceedings, part III 18, Springer, 2015, pp. 234–241.</a:t>
            </a:r>
          </a:p>
          <a:p>
            <a:pPr marL="0" indent="0" algn="just">
              <a:buNone/>
            </a:pPr>
            <a:r>
              <a:rPr lang="en-US" sz="2000"/>
              <a:t>[</a:t>
            </a:r>
            <a:r>
              <a:rPr lang="en-US" sz="2000" smtClean="0"/>
              <a:t>5] L</a:t>
            </a:r>
            <a:r>
              <a:rPr lang="en-US" sz="2000"/>
              <a:t>.-C. Chen, Y. Zhu, G. Papandreou, F. Schroff, and H. Adam, “Encoder-decoder with atrous separable convolution for semantic image segmentation,” in Proceedings of the European conference on computer vision (ECCV), 2018, pp. 801–818. Accessed: May 30, 2025. [Online]. Available: http://openaccess.thecvf.com/content_ECCV_2018/html/Liang-Chieh_Chen_Encoder-Decoder_with_Atrous_ECCV_2018_paper.html</a:t>
            </a:r>
          </a:p>
          <a:p>
            <a:pPr marL="0" indent="0" algn="just">
              <a:buNone/>
            </a:pPr>
            <a:r>
              <a:rPr lang="en-US" sz="2000"/>
              <a:t>[</a:t>
            </a:r>
            <a:r>
              <a:rPr lang="en-US" sz="2000" smtClean="0"/>
              <a:t>6] H</a:t>
            </a:r>
            <a:r>
              <a:rPr lang="en-US" sz="2000"/>
              <a:t>. H. Pham, H. N. Trung, and H. Q. Nguyen, “Vindr-mammo: A large-scale benchmark dataset for computer-aided detection and diagnosis in full-field digital mammography,” Sci Data, 2022, Accessed: Jun. 09, 2025. [Online]. Available: https://www.physionet.org/content/vindr-mammo/1.0.0/</a:t>
            </a:r>
          </a:p>
          <a:p>
            <a:pPr marL="0" indent="0" algn="just">
              <a:buNone/>
            </a:pPr>
            <a:endParaRPr lang="en-US" sz="2000"/>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7117486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marL="0" indent="0" algn="just">
              <a:buNone/>
            </a:pPr>
            <a:r>
              <a:rPr lang="en-US" sz="2000" smtClean="0"/>
              <a:t>[7] </a:t>
            </a:r>
            <a:r>
              <a:rPr lang="en-US" sz="2000"/>
              <a:t>He, Kaiming, et al. "Deep residual learning for image recognition." Proceedings </a:t>
            </a:r>
            <a:r>
              <a:rPr lang="en-US" sz="2000" smtClean="0"/>
              <a:t>of the </a:t>
            </a:r>
            <a:r>
              <a:rPr lang="en-US" sz="2000"/>
              <a:t>IEEE conference on computer vision and pattern recognition. 2016.</a:t>
            </a:r>
          </a:p>
          <a:p>
            <a:pPr marL="0" indent="0" algn="just">
              <a:buNone/>
            </a:pPr>
            <a:r>
              <a:rPr lang="en-US" sz="2000"/>
              <a:t>[</a:t>
            </a:r>
            <a:r>
              <a:rPr lang="en-US" sz="2000" smtClean="0"/>
              <a:t>8] </a:t>
            </a:r>
            <a:r>
              <a:rPr lang="en-US" sz="2000"/>
              <a:t>S. Arora and A. Kaur, Modified edge detection technique using fuzzy </a:t>
            </a:r>
            <a:r>
              <a:rPr lang="en-US" sz="2000" smtClean="0"/>
              <a:t>inference system</a:t>
            </a:r>
            <a:r>
              <a:rPr lang="en-US" sz="2000"/>
              <a:t>, International Journal of Computer Applications, vol. 44, no. 22, pp. </a:t>
            </a:r>
            <a:r>
              <a:rPr lang="en-US" sz="2000" smtClean="0"/>
              <a:t>91, 2012</a:t>
            </a:r>
            <a:r>
              <a:rPr lang="en-US" sz="2000"/>
              <a:t>.</a:t>
            </a:r>
          </a:p>
          <a:p>
            <a:pPr marL="0" indent="0" algn="just">
              <a:buNone/>
            </a:pPr>
            <a:r>
              <a:rPr lang="en-US" sz="2000"/>
              <a:t>[</a:t>
            </a:r>
            <a:r>
              <a:rPr lang="en-US" sz="2000" smtClean="0"/>
              <a:t>9] </a:t>
            </a:r>
            <a:r>
              <a:rPr lang="en-US" sz="2000"/>
              <a:t>J. Hui, "mAP (mean Average Precision) for Object Detection", 2018.</a:t>
            </a:r>
          </a:p>
          <a:p>
            <a:pPr marL="0" indent="0" algn="just">
              <a:buNone/>
            </a:pPr>
            <a:r>
              <a:rPr lang="en-US" sz="2000"/>
              <a:t>[</a:t>
            </a:r>
            <a:r>
              <a:rPr lang="en-US" sz="2000" smtClean="0"/>
              <a:t>10] </a:t>
            </a:r>
            <a:r>
              <a:rPr lang="en-US" sz="2000"/>
              <a:t>Cohen, William W., and Yoram Singer. "A simple, fast, and effective rule learner</a:t>
            </a:r>
            <a:r>
              <a:rPr lang="en-US" sz="2000" smtClean="0"/>
              <a:t>.“ AAAI/IAAI </a:t>
            </a:r>
            <a:r>
              <a:rPr lang="en-US" sz="2000"/>
              <a:t>99.335-342 (1999): 3.</a:t>
            </a:r>
          </a:p>
          <a:p>
            <a:pPr marL="0" indent="0" algn="just">
              <a:buNone/>
            </a:pPr>
            <a:r>
              <a:rPr lang="en-US" sz="2000"/>
              <a:t>[</a:t>
            </a:r>
            <a:r>
              <a:rPr lang="en-US" sz="2000" smtClean="0"/>
              <a:t>11] </a:t>
            </a:r>
            <a:r>
              <a:rPr lang="en-US" sz="2000"/>
              <a:t>Quinlan, J. Ross. "Induction of decision trees." Machine learning 1 (1986): 81-106.</a:t>
            </a:r>
          </a:p>
          <a:p>
            <a:pPr marL="0" indent="0" algn="just">
              <a:buNone/>
            </a:pPr>
            <a:r>
              <a:rPr lang="en-US" sz="2000"/>
              <a:t>[</a:t>
            </a:r>
            <a:r>
              <a:rPr lang="en-US" sz="2000" smtClean="0"/>
              <a:t>12] </a:t>
            </a:r>
            <a:r>
              <a:rPr lang="en-US" sz="2000"/>
              <a:t>Zadeh, Lotfi Asker. "A fuzzy-algorithmic approach to the definition of </a:t>
            </a:r>
            <a:r>
              <a:rPr lang="en-US" sz="2000" smtClean="0"/>
              <a:t>complex or </a:t>
            </a:r>
            <a:r>
              <a:rPr lang="en-US" sz="2000"/>
              <a:t>imprecise concepts." International Journal of Man-machine studies 8.3 (1976</a:t>
            </a:r>
            <a:r>
              <a:rPr lang="en-US" sz="2000" smtClean="0"/>
              <a:t>):249-291</a:t>
            </a:r>
            <a:r>
              <a:rPr lang="en-US" sz="2000"/>
              <a:t>.</a:t>
            </a:r>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2686455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088" y="114521"/>
            <a:ext cx="11236400" cy="6418957"/>
          </a:xfrm>
          <a:prstGeom prst="rect">
            <a:avLst/>
          </a:prstGeom>
        </p:spPr>
      </p:pic>
      <p:sp>
        <p:nvSpPr>
          <p:cNvPr id="3" name="Title 2"/>
          <p:cNvSpPr>
            <a:spLocks noGrp="1"/>
          </p:cNvSpPr>
          <p:nvPr>
            <p:ph type="title"/>
          </p:nvPr>
        </p:nvSpPr>
        <p:spPr>
          <a:xfrm>
            <a:off x="-510642" y="1896026"/>
            <a:ext cx="7467600" cy="638484"/>
          </a:xfrm>
        </p:spPr>
        <p:txBody>
          <a:bodyPr>
            <a:noAutofit/>
          </a:bodyPr>
          <a:lstStyle/>
          <a:p>
            <a:pPr algn="ctr"/>
            <a:r>
              <a:rPr lang="en-US" sz="4800" smtClean="0"/>
              <a:t>THANK YOU FOR </a:t>
            </a:r>
            <a:br>
              <a:rPr lang="en-US" sz="4800" smtClean="0"/>
            </a:br>
            <a:r>
              <a:rPr lang="en-US" sz="4800" smtClean="0"/>
              <a:t>YOUR ATTENTION !!!</a:t>
            </a:r>
            <a:endParaRPr lang="en-US" sz="4800"/>
          </a:p>
        </p:txBody>
      </p:sp>
    </p:spTree>
    <p:extLst>
      <p:ext uri="{BB962C8B-B14F-4D97-AF65-F5344CB8AC3E}">
        <p14:creationId xmlns:p14="http://schemas.microsoft.com/office/powerpoint/2010/main" val="25309953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vestor Social Media by Slidesgo">
  <a:themeElements>
    <a:clrScheme name="Simple Light">
      <a:dk1>
        <a:srgbClr val="07105C"/>
      </a:dk1>
      <a:lt1>
        <a:srgbClr val="FFFFFF"/>
      </a:lt1>
      <a:dk2>
        <a:srgbClr val="FDE571"/>
      </a:dk2>
      <a:lt2>
        <a:srgbClr val="8FCEF9"/>
      </a:lt2>
      <a:accent1>
        <a:srgbClr val="07105C"/>
      </a:accent1>
      <a:accent2>
        <a:srgbClr val="5664E1"/>
      </a:accent2>
      <a:accent3>
        <a:srgbClr val="1226DB"/>
      </a:accent3>
      <a:accent4>
        <a:srgbClr val="23295C"/>
      </a:accent4>
      <a:accent5>
        <a:srgbClr val="0E1DA8"/>
      </a:accent5>
      <a:accent6>
        <a:srgbClr val="FFB127"/>
      </a:accent6>
      <a:hlink>
        <a:srgbClr val="E1D4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17634</TotalTime>
  <Words>2886</Words>
  <Application>Microsoft Office PowerPoint</Application>
  <PresentationFormat>Widescreen</PresentationFormat>
  <Paragraphs>215</Paragraphs>
  <Slides>25</Slides>
  <Notes>23</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25</vt:i4>
      </vt:variant>
    </vt:vector>
  </HeadingPairs>
  <TitlesOfParts>
    <vt:vector size="40" baseType="lpstr">
      <vt:lpstr>Arial</vt:lpstr>
      <vt:lpstr>Calibri</vt:lpstr>
      <vt:lpstr>Calibri Light</vt:lpstr>
      <vt:lpstr>Cambria</vt:lpstr>
      <vt:lpstr>Cambria Math</vt:lpstr>
      <vt:lpstr>Montserrat</vt:lpstr>
      <vt:lpstr>Open Sans</vt:lpstr>
      <vt:lpstr>Segoe UI</vt:lpstr>
      <vt:lpstr>Segoe UI Black</vt:lpstr>
      <vt:lpstr>Times</vt:lpstr>
      <vt:lpstr>Times New Roman</vt:lpstr>
      <vt:lpstr>Ubuntu</vt:lpstr>
      <vt:lpstr>Wingdings</vt:lpstr>
      <vt:lpstr>Office Theme</vt:lpstr>
      <vt:lpstr>Investor Social Media by Slidesgo</vt:lpstr>
      <vt:lpstr>PowerPoint Presentation</vt:lpstr>
      <vt:lpstr>CONTENT</vt:lpstr>
      <vt:lpstr>1. Introduction</vt:lpstr>
      <vt:lpstr>1. Introduction</vt:lpstr>
      <vt:lpstr>1. Introduction</vt:lpstr>
      <vt:lpstr>2. Related works</vt:lpstr>
      <vt:lpstr>2. Related works</vt:lpstr>
      <vt:lpstr>2. Related works</vt:lpstr>
      <vt:lpstr>2. Related works</vt:lpstr>
      <vt:lpstr>2. Related works</vt:lpstr>
      <vt:lpstr>2. Related works</vt:lpstr>
      <vt:lpstr>3. Proposed Method</vt:lpstr>
      <vt:lpstr>3. Proposed Method</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5. Conclusion</vt:lpstr>
      <vt:lpstr>References</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dat</cp:lastModifiedBy>
  <cp:revision>265</cp:revision>
  <dcterms:created xsi:type="dcterms:W3CDTF">2023-08-27T11:42:50Z</dcterms:created>
  <dcterms:modified xsi:type="dcterms:W3CDTF">2025-09-20T05:50:45Z</dcterms:modified>
</cp:coreProperties>
</file>