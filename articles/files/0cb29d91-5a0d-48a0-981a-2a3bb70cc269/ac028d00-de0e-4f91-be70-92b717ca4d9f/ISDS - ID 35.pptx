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8" r:id="rId1"/>
    <p:sldMasterId id="2147483863" r:id="rId2"/>
  </p:sldMasterIdLst>
  <p:notesMasterIdLst>
    <p:notesMasterId r:id="rId30"/>
  </p:notesMasterIdLst>
  <p:sldIdLst>
    <p:sldId id="291" r:id="rId3"/>
    <p:sldId id="338" r:id="rId4"/>
    <p:sldId id="292" r:id="rId5"/>
    <p:sldId id="323" r:id="rId6"/>
    <p:sldId id="337" r:id="rId7"/>
    <p:sldId id="324" r:id="rId8"/>
    <p:sldId id="325" r:id="rId9"/>
    <p:sldId id="344" r:id="rId10"/>
    <p:sldId id="343" r:id="rId11"/>
    <p:sldId id="302" r:id="rId12"/>
    <p:sldId id="300" r:id="rId13"/>
    <p:sldId id="301" r:id="rId14"/>
    <p:sldId id="330" r:id="rId15"/>
    <p:sldId id="345" r:id="rId16"/>
    <p:sldId id="304" r:id="rId17"/>
    <p:sldId id="306" r:id="rId18"/>
    <p:sldId id="342" r:id="rId19"/>
    <p:sldId id="346" r:id="rId20"/>
    <p:sldId id="348" r:id="rId21"/>
    <p:sldId id="320" r:id="rId22"/>
    <p:sldId id="347" r:id="rId23"/>
    <p:sldId id="333" r:id="rId24"/>
    <p:sldId id="349" r:id="rId25"/>
    <p:sldId id="350" r:id="rId26"/>
    <p:sldId id="316" r:id="rId27"/>
    <p:sldId id="318" r:id="rId28"/>
    <p:sldId id="317" r:id="rId29"/>
  </p:sldIdLst>
  <p:sldSz cx="12192000" cy="6858000"/>
  <p:notesSz cx="6858000" cy="9144000"/>
  <p:defaultTextStyle>
    <a:defPPr>
      <a:defRPr lang="e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EF8"/>
    <a:srgbClr val="E8DEF0"/>
    <a:srgbClr val="CCD2DE"/>
    <a:srgbClr val="E2E5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1" autoAdjust="0"/>
    <p:restoredTop sz="95332" autoAdjust="0"/>
  </p:normalViewPr>
  <p:slideViewPr>
    <p:cSldViewPr snapToGrid="0">
      <p:cViewPr varScale="1">
        <p:scale>
          <a:sx n="80" d="100"/>
          <a:sy n="80" d="100"/>
        </p:scale>
        <p:origin x="523" y="72"/>
      </p:cViewPr>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DC321E-919F-40A1-8B4F-ED3C173FFBB6}" type="doc">
      <dgm:prSet loTypeId="urn:microsoft.com/office/officeart/2008/layout/LinedList" loCatId="list" qsTypeId="urn:microsoft.com/office/officeart/2005/8/quickstyle/simple5" qsCatId="simple" csTypeId="urn:microsoft.com/office/officeart/2005/8/colors/colorful4" csCatId="colorful" phldr="1"/>
      <dgm:spPr/>
      <dgm:t>
        <a:bodyPr/>
        <a:lstStyle/>
        <a:p>
          <a:endParaRPr lang="en-US"/>
        </a:p>
      </dgm:t>
    </dgm:pt>
    <dgm:pt modelId="{4BA853E3-6B37-4EEE-B870-270D9575B883}">
      <dgm:prSet phldrT="[Text]" custT="1"/>
      <dgm:spPr/>
      <dgm:t>
        <a:bodyPr/>
        <a:lstStyle/>
        <a:p>
          <a:r>
            <a:rPr lang="en-US" sz="3000" smtClean="0">
              <a:latin typeface="Cambria" panose="02040503050406030204" pitchFamily="18" charset="0"/>
              <a:ea typeface="Cambria" panose="02040503050406030204" pitchFamily="18" charset="0"/>
            </a:rPr>
            <a:t>1. Introduction</a:t>
          </a:r>
          <a:endParaRPr lang="en-US" sz="3000">
            <a:latin typeface="Cambria" panose="02040503050406030204" pitchFamily="18" charset="0"/>
            <a:ea typeface="Cambria" panose="02040503050406030204" pitchFamily="18" charset="0"/>
          </a:endParaRPr>
        </a:p>
      </dgm:t>
    </dgm:pt>
    <dgm:pt modelId="{B938A720-C0A3-4115-8161-C8FCE398629C}" type="parTrans" cxnId="{FC182781-9477-4EB9-9FA0-4C7D5B1C629C}">
      <dgm:prSet/>
      <dgm:spPr/>
      <dgm:t>
        <a:bodyPr/>
        <a:lstStyle/>
        <a:p>
          <a:endParaRPr lang="en-US" sz="3000">
            <a:latin typeface="Cambria" panose="02040503050406030204" pitchFamily="18" charset="0"/>
            <a:ea typeface="Cambria" panose="02040503050406030204" pitchFamily="18" charset="0"/>
          </a:endParaRPr>
        </a:p>
      </dgm:t>
    </dgm:pt>
    <dgm:pt modelId="{071A486A-321D-4A92-BE28-65AAC3811270}" type="sibTrans" cxnId="{FC182781-9477-4EB9-9FA0-4C7D5B1C629C}">
      <dgm:prSet/>
      <dgm:spPr/>
      <dgm:t>
        <a:bodyPr/>
        <a:lstStyle/>
        <a:p>
          <a:endParaRPr lang="en-US" sz="3000">
            <a:latin typeface="Cambria" panose="02040503050406030204" pitchFamily="18" charset="0"/>
            <a:ea typeface="Cambria" panose="02040503050406030204" pitchFamily="18" charset="0"/>
          </a:endParaRPr>
        </a:p>
      </dgm:t>
    </dgm:pt>
    <dgm:pt modelId="{CB6C174C-AD39-4F32-A69C-1943F6FCA0AD}">
      <dgm:prSet phldrT="[Text]" custT="1"/>
      <dgm:spPr/>
      <dgm:t>
        <a:bodyPr/>
        <a:lstStyle/>
        <a:p>
          <a:r>
            <a:rPr lang="en-US" sz="3000" smtClean="0">
              <a:latin typeface="Cambria" panose="02040503050406030204" pitchFamily="18" charset="0"/>
              <a:ea typeface="Cambria" panose="02040503050406030204" pitchFamily="18" charset="0"/>
            </a:rPr>
            <a:t>2. Related works</a:t>
          </a:r>
          <a:endParaRPr lang="en-US" sz="3000">
            <a:latin typeface="Cambria" panose="02040503050406030204" pitchFamily="18" charset="0"/>
            <a:ea typeface="Cambria" panose="02040503050406030204" pitchFamily="18" charset="0"/>
          </a:endParaRPr>
        </a:p>
      </dgm:t>
    </dgm:pt>
    <dgm:pt modelId="{0AA1EE46-3B6A-4F62-B357-F1F7AF7FC0BC}" type="parTrans" cxnId="{677F619D-B3EA-476F-BEBF-B926C1E99BD2}">
      <dgm:prSet/>
      <dgm:spPr/>
      <dgm:t>
        <a:bodyPr/>
        <a:lstStyle/>
        <a:p>
          <a:endParaRPr lang="en-US" sz="3000">
            <a:latin typeface="Cambria" panose="02040503050406030204" pitchFamily="18" charset="0"/>
            <a:ea typeface="Cambria" panose="02040503050406030204" pitchFamily="18" charset="0"/>
          </a:endParaRPr>
        </a:p>
      </dgm:t>
    </dgm:pt>
    <dgm:pt modelId="{83720B8D-FA55-4AE0-A459-962B549F5280}" type="sibTrans" cxnId="{677F619D-B3EA-476F-BEBF-B926C1E99BD2}">
      <dgm:prSet/>
      <dgm:spPr/>
      <dgm:t>
        <a:bodyPr/>
        <a:lstStyle/>
        <a:p>
          <a:endParaRPr lang="en-US" sz="3000">
            <a:latin typeface="Cambria" panose="02040503050406030204" pitchFamily="18" charset="0"/>
            <a:ea typeface="Cambria" panose="02040503050406030204" pitchFamily="18" charset="0"/>
          </a:endParaRPr>
        </a:p>
      </dgm:t>
    </dgm:pt>
    <dgm:pt modelId="{37067F57-594D-497F-A5AB-F04E94E155CB}">
      <dgm:prSet phldrT="[Text]" custT="1"/>
      <dgm:spPr/>
      <dgm:t>
        <a:bodyPr/>
        <a:lstStyle/>
        <a:p>
          <a:r>
            <a:rPr lang="en-US" sz="3000" smtClean="0">
              <a:latin typeface="Cambria" panose="02040503050406030204" pitchFamily="18" charset="0"/>
              <a:ea typeface="Cambria" panose="02040503050406030204" pitchFamily="18" charset="0"/>
            </a:rPr>
            <a:t>3. Proposed method</a:t>
          </a:r>
          <a:endParaRPr lang="en-US" sz="3000">
            <a:latin typeface="Cambria" panose="02040503050406030204" pitchFamily="18" charset="0"/>
            <a:ea typeface="Cambria" panose="02040503050406030204" pitchFamily="18" charset="0"/>
          </a:endParaRPr>
        </a:p>
      </dgm:t>
    </dgm:pt>
    <dgm:pt modelId="{1E020827-09FF-4E02-B615-50794545DE9F}" type="parTrans" cxnId="{3AA3E95A-EC8E-4F3D-B5EE-E17DFA3741F3}">
      <dgm:prSet/>
      <dgm:spPr/>
      <dgm:t>
        <a:bodyPr/>
        <a:lstStyle/>
        <a:p>
          <a:endParaRPr lang="en-US" sz="3000">
            <a:latin typeface="Cambria" panose="02040503050406030204" pitchFamily="18" charset="0"/>
            <a:ea typeface="Cambria" panose="02040503050406030204" pitchFamily="18" charset="0"/>
          </a:endParaRPr>
        </a:p>
      </dgm:t>
    </dgm:pt>
    <dgm:pt modelId="{533DCD23-C3A5-41AD-AD95-529064A32B00}" type="sibTrans" cxnId="{3AA3E95A-EC8E-4F3D-B5EE-E17DFA3741F3}">
      <dgm:prSet/>
      <dgm:spPr/>
      <dgm:t>
        <a:bodyPr/>
        <a:lstStyle/>
        <a:p>
          <a:endParaRPr lang="en-US" sz="3000">
            <a:latin typeface="Cambria" panose="02040503050406030204" pitchFamily="18" charset="0"/>
            <a:ea typeface="Cambria" panose="02040503050406030204" pitchFamily="18" charset="0"/>
          </a:endParaRPr>
        </a:p>
      </dgm:t>
    </dgm:pt>
    <dgm:pt modelId="{84B520AF-6E48-49D1-8641-105A3D363435}">
      <dgm:prSet phldrT="[Text]" custT="1"/>
      <dgm:spPr/>
      <dgm:t>
        <a:bodyPr/>
        <a:lstStyle/>
        <a:p>
          <a:r>
            <a:rPr lang="en-US" sz="3000" smtClean="0">
              <a:latin typeface="Cambria" panose="02040503050406030204" pitchFamily="18" charset="0"/>
              <a:ea typeface="Cambria" panose="02040503050406030204" pitchFamily="18" charset="0"/>
            </a:rPr>
            <a:t>5. Conclusion</a:t>
          </a:r>
          <a:endParaRPr lang="en-US" sz="3000">
            <a:latin typeface="Cambria" panose="02040503050406030204" pitchFamily="18" charset="0"/>
            <a:ea typeface="Cambria" panose="02040503050406030204" pitchFamily="18" charset="0"/>
          </a:endParaRPr>
        </a:p>
      </dgm:t>
    </dgm:pt>
    <dgm:pt modelId="{508F2D6B-B0B0-4897-8C35-3A5B28264CC6}" type="parTrans" cxnId="{BA6BDDE7-BFE1-4D90-BC18-81266B27FE9B}">
      <dgm:prSet/>
      <dgm:spPr/>
      <dgm:t>
        <a:bodyPr/>
        <a:lstStyle/>
        <a:p>
          <a:endParaRPr lang="en-US" sz="3000">
            <a:latin typeface="Cambria" panose="02040503050406030204" pitchFamily="18" charset="0"/>
            <a:ea typeface="Cambria" panose="02040503050406030204" pitchFamily="18" charset="0"/>
          </a:endParaRPr>
        </a:p>
      </dgm:t>
    </dgm:pt>
    <dgm:pt modelId="{B64573C5-9254-4F89-A13E-F786D9BAAC1E}" type="sibTrans" cxnId="{BA6BDDE7-BFE1-4D90-BC18-81266B27FE9B}">
      <dgm:prSet/>
      <dgm:spPr/>
      <dgm:t>
        <a:bodyPr/>
        <a:lstStyle/>
        <a:p>
          <a:endParaRPr lang="en-US" sz="3000">
            <a:latin typeface="Cambria" panose="02040503050406030204" pitchFamily="18" charset="0"/>
            <a:ea typeface="Cambria" panose="02040503050406030204" pitchFamily="18" charset="0"/>
          </a:endParaRPr>
        </a:p>
      </dgm:t>
    </dgm:pt>
    <dgm:pt modelId="{0D8CC914-4B79-45E6-9C9B-673327DDFF32}">
      <dgm:prSet phldrT="[Text]" custT="1"/>
      <dgm:spPr/>
      <dgm:t>
        <a:bodyPr/>
        <a:lstStyle/>
        <a:p>
          <a:r>
            <a:rPr lang="en-US" sz="3000" smtClean="0">
              <a:latin typeface="Cambria" panose="02040503050406030204" pitchFamily="18" charset="0"/>
              <a:ea typeface="Cambria" panose="02040503050406030204" pitchFamily="18" charset="0"/>
            </a:rPr>
            <a:t>4. Experimental results</a:t>
          </a:r>
          <a:endParaRPr lang="en-US" sz="3000">
            <a:latin typeface="Cambria" panose="02040503050406030204" pitchFamily="18" charset="0"/>
            <a:ea typeface="Cambria" panose="02040503050406030204" pitchFamily="18" charset="0"/>
          </a:endParaRPr>
        </a:p>
      </dgm:t>
    </dgm:pt>
    <dgm:pt modelId="{025631BD-4CEA-49DE-8217-3B1DD224ADBF}" type="parTrans" cxnId="{CC9C8BCC-1D4C-4132-8C8E-BA6FC3A35174}">
      <dgm:prSet/>
      <dgm:spPr/>
      <dgm:t>
        <a:bodyPr/>
        <a:lstStyle/>
        <a:p>
          <a:endParaRPr lang="en-US" sz="3000">
            <a:latin typeface="Cambria" panose="02040503050406030204" pitchFamily="18" charset="0"/>
            <a:ea typeface="Cambria" panose="02040503050406030204" pitchFamily="18" charset="0"/>
          </a:endParaRPr>
        </a:p>
      </dgm:t>
    </dgm:pt>
    <dgm:pt modelId="{C4509E76-E84D-4436-8DEB-B59749AF7C35}" type="sibTrans" cxnId="{CC9C8BCC-1D4C-4132-8C8E-BA6FC3A35174}">
      <dgm:prSet/>
      <dgm:spPr/>
      <dgm:t>
        <a:bodyPr/>
        <a:lstStyle/>
        <a:p>
          <a:endParaRPr lang="en-US" sz="3000">
            <a:latin typeface="Cambria" panose="02040503050406030204" pitchFamily="18" charset="0"/>
            <a:ea typeface="Cambria" panose="02040503050406030204" pitchFamily="18" charset="0"/>
          </a:endParaRPr>
        </a:p>
      </dgm:t>
    </dgm:pt>
    <dgm:pt modelId="{B5E66452-C6DE-444C-B18C-B6A371B1653C}" type="pres">
      <dgm:prSet presAssocID="{AEDC321E-919F-40A1-8B4F-ED3C173FFBB6}" presName="vert0" presStyleCnt="0">
        <dgm:presLayoutVars>
          <dgm:dir/>
          <dgm:animOne val="branch"/>
          <dgm:animLvl val="lvl"/>
        </dgm:presLayoutVars>
      </dgm:prSet>
      <dgm:spPr/>
      <dgm:t>
        <a:bodyPr/>
        <a:lstStyle/>
        <a:p>
          <a:endParaRPr lang="en-US"/>
        </a:p>
      </dgm:t>
    </dgm:pt>
    <dgm:pt modelId="{D15B6E73-FB71-4972-95FD-77CC89B41F9B}" type="pres">
      <dgm:prSet presAssocID="{4BA853E3-6B37-4EEE-B870-270D9575B883}" presName="thickLine" presStyleLbl="alignNode1" presStyleIdx="0" presStyleCnt="5"/>
      <dgm:spPr/>
      <dgm:t>
        <a:bodyPr/>
        <a:lstStyle/>
        <a:p>
          <a:endParaRPr lang="en-US"/>
        </a:p>
      </dgm:t>
    </dgm:pt>
    <dgm:pt modelId="{DCE577C6-78D9-4E48-B19F-F1E4B645F0BB}" type="pres">
      <dgm:prSet presAssocID="{4BA853E3-6B37-4EEE-B870-270D9575B883}" presName="horz1" presStyleCnt="0"/>
      <dgm:spPr/>
      <dgm:t>
        <a:bodyPr/>
        <a:lstStyle/>
        <a:p>
          <a:endParaRPr lang="en-US"/>
        </a:p>
      </dgm:t>
    </dgm:pt>
    <dgm:pt modelId="{02C8D4F3-BF6D-4972-A216-41FFBF8E4EA3}" type="pres">
      <dgm:prSet presAssocID="{4BA853E3-6B37-4EEE-B870-270D9575B883}" presName="tx1" presStyleLbl="revTx" presStyleIdx="0" presStyleCnt="5"/>
      <dgm:spPr/>
      <dgm:t>
        <a:bodyPr/>
        <a:lstStyle/>
        <a:p>
          <a:endParaRPr lang="en-US"/>
        </a:p>
      </dgm:t>
    </dgm:pt>
    <dgm:pt modelId="{816935F0-8156-4157-AC70-B5E9DB1E570D}" type="pres">
      <dgm:prSet presAssocID="{4BA853E3-6B37-4EEE-B870-270D9575B883}" presName="vert1" presStyleCnt="0"/>
      <dgm:spPr/>
      <dgm:t>
        <a:bodyPr/>
        <a:lstStyle/>
        <a:p>
          <a:endParaRPr lang="en-US"/>
        </a:p>
      </dgm:t>
    </dgm:pt>
    <dgm:pt modelId="{4E808DA8-2AE3-4AFB-953F-585D5A7EB9C1}" type="pres">
      <dgm:prSet presAssocID="{CB6C174C-AD39-4F32-A69C-1943F6FCA0AD}" presName="thickLine" presStyleLbl="alignNode1" presStyleIdx="1" presStyleCnt="5"/>
      <dgm:spPr/>
      <dgm:t>
        <a:bodyPr/>
        <a:lstStyle/>
        <a:p>
          <a:endParaRPr lang="en-US"/>
        </a:p>
      </dgm:t>
    </dgm:pt>
    <dgm:pt modelId="{B7BC5993-A808-4A3C-BF44-6614B68AFDDB}" type="pres">
      <dgm:prSet presAssocID="{CB6C174C-AD39-4F32-A69C-1943F6FCA0AD}" presName="horz1" presStyleCnt="0"/>
      <dgm:spPr/>
      <dgm:t>
        <a:bodyPr/>
        <a:lstStyle/>
        <a:p>
          <a:endParaRPr lang="en-US"/>
        </a:p>
      </dgm:t>
    </dgm:pt>
    <dgm:pt modelId="{6938AA73-F497-4DF4-AE51-AE7EEAD34742}" type="pres">
      <dgm:prSet presAssocID="{CB6C174C-AD39-4F32-A69C-1943F6FCA0AD}" presName="tx1" presStyleLbl="revTx" presStyleIdx="1" presStyleCnt="5"/>
      <dgm:spPr/>
      <dgm:t>
        <a:bodyPr/>
        <a:lstStyle/>
        <a:p>
          <a:endParaRPr lang="en-US"/>
        </a:p>
      </dgm:t>
    </dgm:pt>
    <dgm:pt modelId="{FEDB7669-F822-4BF0-88A3-48DCB4B25957}" type="pres">
      <dgm:prSet presAssocID="{CB6C174C-AD39-4F32-A69C-1943F6FCA0AD}" presName="vert1" presStyleCnt="0"/>
      <dgm:spPr/>
      <dgm:t>
        <a:bodyPr/>
        <a:lstStyle/>
        <a:p>
          <a:endParaRPr lang="en-US"/>
        </a:p>
      </dgm:t>
    </dgm:pt>
    <dgm:pt modelId="{4308F9AB-48F2-46B1-9CA8-1959138D1D80}" type="pres">
      <dgm:prSet presAssocID="{37067F57-594D-497F-A5AB-F04E94E155CB}" presName="thickLine" presStyleLbl="alignNode1" presStyleIdx="2" presStyleCnt="5"/>
      <dgm:spPr/>
      <dgm:t>
        <a:bodyPr/>
        <a:lstStyle/>
        <a:p>
          <a:endParaRPr lang="en-US"/>
        </a:p>
      </dgm:t>
    </dgm:pt>
    <dgm:pt modelId="{04E80DB8-55DE-4361-B26F-7C55C61822EA}" type="pres">
      <dgm:prSet presAssocID="{37067F57-594D-497F-A5AB-F04E94E155CB}" presName="horz1" presStyleCnt="0"/>
      <dgm:spPr/>
      <dgm:t>
        <a:bodyPr/>
        <a:lstStyle/>
        <a:p>
          <a:endParaRPr lang="en-US"/>
        </a:p>
      </dgm:t>
    </dgm:pt>
    <dgm:pt modelId="{8576C280-DD3B-4AAF-8437-2548F119716B}" type="pres">
      <dgm:prSet presAssocID="{37067F57-594D-497F-A5AB-F04E94E155CB}" presName="tx1" presStyleLbl="revTx" presStyleIdx="2" presStyleCnt="5"/>
      <dgm:spPr/>
      <dgm:t>
        <a:bodyPr/>
        <a:lstStyle/>
        <a:p>
          <a:endParaRPr lang="en-US"/>
        </a:p>
      </dgm:t>
    </dgm:pt>
    <dgm:pt modelId="{561966BE-2A67-4FC7-9E61-4B327F7BDBBD}" type="pres">
      <dgm:prSet presAssocID="{37067F57-594D-497F-A5AB-F04E94E155CB}" presName="vert1" presStyleCnt="0"/>
      <dgm:spPr/>
      <dgm:t>
        <a:bodyPr/>
        <a:lstStyle/>
        <a:p>
          <a:endParaRPr lang="en-US"/>
        </a:p>
      </dgm:t>
    </dgm:pt>
    <dgm:pt modelId="{96B7D6FF-2747-46D5-93BF-1905EBD4904C}" type="pres">
      <dgm:prSet presAssocID="{0D8CC914-4B79-45E6-9C9B-673327DDFF32}" presName="thickLine" presStyleLbl="alignNode1" presStyleIdx="3" presStyleCnt="5"/>
      <dgm:spPr/>
      <dgm:t>
        <a:bodyPr/>
        <a:lstStyle/>
        <a:p>
          <a:endParaRPr lang="en-US"/>
        </a:p>
      </dgm:t>
    </dgm:pt>
    <dgm:pt modelId="{346F5498-54F7-4D76-9C9E-E64BA5E6463A}" type="pres">
      <dgm:prSet presAssocID="{0D8CC914-4B79-45E6-9C9B-673327DDFF32}" presName="horz1" presStyleCnt="0"/>
      <dgm:spPr/>
      <dgm:t>
        <a:bodyPr/>
        <a:lstStyle/>
        <a:p>
          <a:endParaRPr lang="en-US"/>
        </a:p>
      </dgm:t>
    </dgm:pt>
    <dgm:pt modelId="{21A1ACD9-52D2-437A-9BD0-3C4F0E44D96C}" type="pres">
      <dgm:prSet presAssocID="{0D8CC914-4B79-45E6-9C9B-673327DDFF32}" presName="tx1" presStyleLbl="revTx" presStyleIdx="3" presStyleCnt="5"/>
      <dgm:spPr/>
      <dgm:t>
        <a:bodyPr/>
        <a:lstStyle/>
        <a:p>
          <a:endParaRPr lang="en-US"/>
        </a:p>
      </dgm:t>
    </dgm:pt>
    <dgm:pt modelId="{77018FBE-4480-4F5B-ADE0-12E8E068DA54}" type="pres">
      <dgm:prSet presAssocID="{0D8CC914-4B79-45E6-9C9B-673327DDFF32}" presName="vert1" presStyleCnt="0"/>
      <dgm:spPr/>
      <dgm:t>
        <a:bodyPr/>
        <a:lstStyle/>
        <a:p>
          <a:endParaRPr lang="en-US"/>
        </a:p>
      </dgm:t>
    </dgm:pt>
    <dgm:pt modelId="{7DBE17F3-C781-428E-B04E-23DCB85D206A}" type="pres">
      <dgm:prSet presAssocID="{84B520AF-6E48-49D1-8641-105A3D363435}" presName="thickLine" presStyleLbl="alignNode1" presStyleIdx="4" presStyleCnt="5"/>
      <dgm:spPr/>
      <dgm:t>
        <a:bodyPr/>
        <a:lstStyle/>
        <a:p>
          <a:endParaRPr lang="en-US"/>
        </a:p>
      </dgm:t>
    </dgm:pt>
    <dgm:pt modelId="{BBF4FC03-4390-4184-A6A4-52832F83DDC2}" type="pres">
      <dgm:prSet presAssocID="{84B520AF-6E48-49D1-8641-105A3D363435}" presName="horz1" presStyleCnt="0"/>
      <dgm:spPr/>
      <dgm:t>
        <a:bodyPr/>
        <a:lstStyle/>
        <a:p>
          <a:endParaRPr lang="en-US"/>
        </a:p>
      </dgm:t>
    </dgm:pt>
    <dgm:pt modelId="{09946E45-62C8-4278-B199-DF9B4ED47DEA}" type="pres">
      <dgm:prSet presAssocID="{84B520AF-6E48-49D1-8641-105A3D363435}" presName="tx1" presStyleLbl="revTx" presStyleIdx="4" presStyleCnt="5"/>
      <dgm:spPr/>
      <dgm:t>
        <a:bodyPr/>
        <a:lstStyle/>
        <a:p>
          <a:endParaRPr lang="en-US"/>
        </a:p>
      </dgm:t>
    </dgm:pt>
    <dgm:pt modelId="{066009DE-787B-4FB9-A67F-DA8CF24EA028}" type="pres">
      <dgm:prSet presAssocID="{84B520AF-6E48-49D1-8641-105A3D363435}" presName="vert1" presStyleCnt="0"/>
      <dgm:spPr/>
      <dgm:t>
        <a:bodyPr/>
        <a:lstStyle/>
        <a:p>
          <a:endParaRPr lang="en-US"/>
        </a:p>
      </dgm:t>
    </dgm:pt>
  </dgm:ptLst>
  <dgm:cxnLst>
    <dgm:cxn modelId="{5ABD5B5D-5DCE-4921-89AE-23D957E0BBD8}" type="presOf" srcId="{0D8CC914-4B79-45E6-9C9B-673327DDFF32}" destId="{21A1ACD9-52D2-437A-9BD0-3C4F0E44D96C}" srcOrd="0" destOrd="0" presId="urn:microsoft.com/office/officeart/2008/layout/LinedList"/>
    <dgm:cxn modelId="{FC182781-9477-4EB9-9FA0-4C7D5B1C629C}" srcId="{AEDC321E-919F-40A1-8B4F-ED3C173FFBB6}" destId="{4BA853E3-6B37-4EEE-B870-270D9575B883}" srcOrd="0" destOrd="0" parTransId="{B938A720-C0A3-4115-8161-C8FCE398629C}" sibTransId="{071A486A-321D-4A92-BE28-65AAC3811270}"/>
    <dgm:cxn modelId="{1655883E-C540-4AAD-8440-095E15845157}" type="presOf" srcId="{84B520AF-6E48-49D1-8641-105A3D363435}" destId="{09946E45-62C8-4278-B199-DF9B4ED47DEA}" srcOrd="0" destOrd="0" presId="urn:microsoft.com/office/officeart/2008/layout/LinedList"/>
    <dgm:cxn modelId="{3AA3E95A-EC8E-4F3D-B5EE-E17DFA3741F3}" srcId="{AEDC321E-919F-40A1-8B4F-ED3C173FFBB6}" destId="{37067F57-594D-497F-A5AB-F04E94E155CB}" srcOrd="2" destOrd="0" parTransId="{1E020827-09FF-4E02-B615-50794545DE9F}" sibTransId="{533DCD23-C3A5-41AD-AD95-529064A32B00}"/>
    <dgm:cxn modelId="{CC9C8BCC-1D4C-4132-8C8E-BA6FC3A35174}" srcId="{AEDC321E-919F-40A1-8B4F-ED3C173FFBB6}" destId="{0D8CC914-4B79-45E6-9C9B-673327DDFF32}" srcOrd="3" destOrd="0" parTransId="{025631BD-4CEA-49DE-8217-3B1DD224ADBF}" sibTransId="{C4509E76-E84D-4436-8DEB-B59749AF7C35}"/>
    <dgm:cxn modelId="{BAB1171B-ADD5-4B64-8E17-BC8FC85E8BC7}" type="presOf" srcId="{37067F57-594D-497F-A5AB-F04E94E155CB}" destId="{8576C280-DD3B-4AAF-8437-2548F119716B}" srcOrd="0" destOrd="0" presId="urn:microsoft.com/office/officeart/2008/layout/LinedList"/>
    <dgm:cxn modelId="{6CA9DCE7-CFAE-4B71-AF54-55DDA423ACAE}" type="presOf" srcId="{CB6C174C-AD39-4F32-A69C-1943F6FCA0AD}" destId="{6938AA73-F497-4DF4-AE51-AE7EEAD34742}" srcOrd="0" destOrd="0" presId="urn:microsoft.com/office/officeart/2008/layout/LinedList"/>
    <dgm:cxn modelId="{E031A03C-7106-4831-935A-C2802363C003}" type="presOf" srcId="{4BA853E3-6B37-4EEE-B870-270D9575B883}" destId="{02C8D4F3-BF6D-4972-A216-41FFBF8E4EA3}" srcOrd="0" destOrd="0" presId="urn:microsoft.com/office/officeart/2008/layout/LinedList"/>
    <dgm:cxn modelId="{677F619D-B3EA-476F-BEBF-B926C1E99BD2}" srcId="{AEDC321E-919F-40A1-8B4F-ED3C173FFBB6}" destId="{CB6C174C-AD39-4F32-A69C-1943F6FCA0AD}" srcOrd="1" destOrd="0" parTransId="{0AA1EE46-3B6A-4F62-B357-F1F7AF7FC0BC}" sibTransId="{83720B8D-FA55-4AE0-A459-962B549F5280}"/>
    <dgm:cxn modelId="{643C0F74-3A63-4DB7-AA3A-8378660E7FE8}" type="presOf" srcId="{AEDC321E-919F-40A1-8B4F-ED3C173FFBB6}" destId="{B5E66452-C6DE-444C-B18C-B6A371B1653C}" srcOrd="0" destOrd="0" presId="urn:microsoft.com/office/officeart/2008/layout/LinedList"/>
    <dgm:cxn modelId="{BA6BDDE7-BFE1-4D90-BC18-81266B27FE9B}" srcId="{AEDC321E-919F-40A1-8B4F-ED3C173FFBB6}" destId="{84B520AF-6E48-49D1-8641-105A3D363435}" srcOrd="4" destOrd="0" parTransId="{508F2D6B-B0B0-4897-8C35-3A5B28264CC6}" sibTransId="{B64573C5-9254-4F89-A13E-F786D9BAAC1E}"/>
    <dgm:cxn modelId="{E10B6AF9-7F0F-4C06-8698-C7630D4C5A12}" type="presParOf" srcId="{B5E66452-C6DE-444C-B18C-B6A371B1653C}" destId="{D15B6E73-FB71-4972-95FD-77CC89B41F9B}" srcOrd="0" destOrd="0" presId="urn:microsoft.com/office/officeart/2008/layout/LinedList"/>
    <dgm:cxn modelId="{8824BB02-D5EA-46D9-8154-11B1BF817A7D}" type="presParOf" srcId="{B5E66452-C6DE-444C-B18C-B6A371B1653C}" destId="{DCE577C6-78D9-4E48-B19F-F1E4B645F0BB}" srcOrd="1" destOrd="0" presId="urn:microsoft.com/office/officeart/2008/layout/LinedList"/>
    <dgm:cxn modelId="{F33E1AC1-8A7B-4C3B-9E87-EC571ED8D343}" type="presParOf" srcId="{DCE577C6-78D9-4E48-B19F-F1E4B645F0BB}" destId="{02C8D4F3-BF6D-4972-A216-41FFBF8E4EA3}" srcOrd="0" destOrd="0" presId="urn:microsoft.com/office/officeart/2008/layout/LinedList"/>
    <dgm:cxn modelId="{BC6D25FF-048D-4288-B9EE-67F9D02718C6}" type="presParOf" srcId="{DCE577C6-78D9-4E48-B19F-F1E4B645F0BB}" destId="{816935F0-8156-4157-AC70-B5E9DB1E570D}" srcOrd="1" destOrd="0" presId="urn:microsoft.com/office/officeart/2008/layout/LinedList"/>
    <dgm:cxn modelId="{DBA504DD-FBAF-4E02-9A1E-82C96630079A}" type="presParOf" srcId="{B5E66452-C6DE-444C-B18C-B6A371B1653C}" destId="{4E808DA8-2AE3-4AFB-953F-585D5A7EB9C1}" srcOrd="2" destOrd="0" presId="urn:microsoft.com/office/officeart/2008/layout/LinedList"/>
    <dgm:cxn modelId="{8B2858F5-F6EE-42A8-B220-A2FB6FFEA8E6}" type="presParOf" srcId="{B5E66452-C6DE-444C-B18C-B6A371B1653C}" destId="{B7BC5993-A808-4A3C-BF44-6614B68AFDDB}" srcOrd="3" destOrd="0" presId="urn:microsoft.com/office/officeart/2008/layout/LinedList"/>
    <dgm:cxn modelId="{268A3F19-A6CD-422B-9892-F33687A540CB}" type="presParOf" srcId="{B7BC5993-A808-4A3C-BF44-6614B68AFDDB}" destId="{6938AA73-F497-4DF4-AE51-AE7EEAD34742}" srcOrd="0" destOrd="0" presId="urn:microsoft.com/office/officeart/2008/layout/LinedList"/>
    <dgm:cxn modelId="{3858CE33-EF1C-46D2-B30E-3F52C3ACF545}" type="presParOf" srcId="{B7BC5993-A808-4A3C-BF44-6614B68AFDDB}" destId="{FEDB7669-F822-4BF0-88A3-48DCB4B25957}" srcOrd="1" destOrd="0" presId="urn:microsoft.com/office/officeart/2008/layout/LinedList"/>
    <dgm:cxn modelId="{F4A6F874-970A-4B7A-8242-3A8200E31609}" type="presParOf" srcId="{B5E66452-C6DE-444C-B18C-B6A371B1653C}" destId="{4308F9AB-48F2-46B1-9CA8-1959138D1D80}" srcOrd="4" destOrd="0" presId="urn:microsoft.com/office/officeart/2008/layout/LinedList"/>
    <dgm:cxn modelId="{B41BE792-DD9E-4C6A-A096-0CC21D7B0D70}" type="presParOf" srcId="{B5E66452-C6DE-444C-B18C-B6A371B1653C}" destId="{04E80DB8-55DE-4361-B26F-7C55C61822EA}" srcOrd="5" destOrd="0" presId="urn:microsoft.com/office/officeart/2008/layout/LinedList"/>
    <dgm:cxn modelId="{A36ED9BD-359B-4D67-A5FA-765659160F5A}" type="presParOf" srcId="{04E80DB8-55DE-4361-B26F-7C55C61822EA}" destId="{8576C280-DD3B-4AAF-8437-2548F119716B}" srcOrd="0" destOrd="0" presId="urn:microsoft.com/office/officeart/2008/layout/LinedList"/>
    <dgm:cxn modelId="{4F93CCED-48D1-44C9-A180-67D5ABC362CE}" type="presParOf" srcId="{04E80DB8-55DE-4361-B26F-7C55C61822EA}" destId="{561966BE-2A67-4FC7-9E61-4B327F7BDBBD}" srcOrd="1" destOrd="0" presId="urn:microsoft.com/office/officeart/2008/layout/LinedList"/>
    <dgm:cxn modelId="{F8F8CC36-FE93-4D7E-A413-948FE5D69007}" type="presParOf" srcId="{B5E66452-C6DE-444C-B18C-B6A371B1653C}" destId="{96B7D6FF-2747-46D5-93BF-1905EBD4904C}" srcOrd="6" destOrd="0" presId="urn:microsoft.com/office/officeart/2008/layout/LinedList"/>
    <dgm:cxn modelId="{DCB5B190-9EA4-4787-BF8C-4F3C690EA74E}" type="presParOf" srcId="{B5E66452-C6DE-444C-B18C-B6A371B1653C}" destId="{346F5498-54F7-4D76-9C9E-E64BA5E6463A}" srcOrd="7" destOrd="0" presId="urn:microsoft.com/office/officeart/2008/layout/LinedList"/>
    <dgm:cxn modelId="{0B14A7ED-0AD4-48A6-A666-DCE334CFCC5E}" type="presParOf" srcId="{346F5498-54F7-4D76-9C9E-E64BA5E6463A}" destId="{21A1ACD9-52D2-437A-9BD0-3C4F0E44D96C}" srcOrd="0" destOrd="0" presId="urn:microsoft.com/office/officeart/2008/layout/LinedList"/>
    <dgm:cxn modelId="{FB28AB9F-A310-41EA-B001-9EA00114EEA2}" type="presParOf" srcId="{346F5498-54F7-4D76-9C9E-E64BA5E6463A}" destId="{77018FBE-4480-4F5B-ADE0-12E8E068DA54}" srcOrd="1" destOrd="0" presId="urn:microsoft.com/office/officeart/2008/layout/LinedList"/>
    <dgm:cxn modelId="{39398FEC-1682-4033-A294-A5509F8B1A8B}" type="presParOf" srcId="{B5E66452-C6DE-444C-B18C-B6A371B1653C}" destId="{7DBE17F3-C781-428E-B04E-23DCB85D206A}" srcOrd="8" destOrd="0" presId="urn:microsoft.com/office/officeart/2008/layout/LinedList"/>
    <dgm:cxn modelId="{83016289-CC6A-4A8C-B51C-669722A46995}" type="presParOf" srcId="{B5E66452-C6DE-444C-B18C-B6A371B1653C}" destId="{BBF4FC03-4390-4184-A6A4-52832F83DDC2}" srcOrd="9" destOrd="0" presId="urn:microsoft.com/office/officeart/2008/layout/LinedList"/>
    <dgm:cxn modelId="{18D3EE9F-9353-4025-AF55-55F189BE4DA1}" type="presParOf" srcId="{BBF4FC03-4390-4184-A6A4-52832F83DDC2}" destId="{09946E45-62C8-4278-B199-DF9B4ED47DEA}" srcOrd="0" destOrd="0" presId="urn:microsoft.com/office/officeart/2008/layout/LinedList"/>
    <dgm:cxn modelId="{E9DD9C23-C223-445B-BEEA-9F88FC985F7C}" type="presParOf" srcId="{BBF4FC03-4390-4184-A6A4-52832F83DDC2}" destId="{066009DE-787B-4FB9-A67F-DA8CF24EA02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5B6E73-FB71-4972-95FD-77CC89B41F9B}">
      <dsp:nvSpPr>
        <dsp:cNvPr id="0" name=""/>
        <dsp:cNvSpPr/>
      </dsp:nvSpPr>
      <dsp:spPr>
        <a:xfrm>
          <a:off x="0" y="520"/>
          <a:ext cx="11136710"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2C8D4F3-BF6D-4972-A216-41FFBF8E4EA3}">
      <dsp:nvSpPr>
        <dsp:cNvPr id="0" name=""/>
        <dsp:cNvSpPr/>
      </dsp:nvSpPr>
      <dsp:spPr>
        <a:xfrm>
          <a:off x="0" y="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1. Introduction</a:t>
          </a:r>
          <a:endParaRPr lang="en-US" sz="3000" kern="1200">
            <a:latin typeface="Cambria" panose="02040503050406030204" pitchFamily="18" charset="0"/>
            <a:ea typeface="Cambria" panose="02040503050406030204" pitchFamily="18" charset="0"/>
          </a:endParaRPr>
        </a:p>
      </dsp:txBody>
      <dsp:txXfrm>
        <a:off x="0" y="520"/>
        <a:ext cx="11136710" cy="851999"/>
      </dsp:txXfrm>
    </dsp:sp>
    <dsp:sp modelId="{4E808DA8-2AE3-4AFB-953F-585D5A7EB9C1}">
      <dsp:nvSpPr>
        <dsp:cNvPr id="0" name=""/>
        <dsp:cNvSpPr/>
      </dsp:nvSpPr>
      <dsp:spPr>
        <a:xfrm>
          <a:off x="0" y="852520"/>
          <a:ext cx="11136710" cy="0"/>
        </a:xfrm>
        <a:prstGeom prst="line">
          <a:avLst/>
        </a:prstGeom>
        <a:gradFill rotWithShape="0">
          <a:gsLst>
            <a:gs pos="0">
              <a:schemeClr val="accent4">
                <a:hueOff val="2450223"/>
                <a:satOff val="-10194"/>
                <a:lumOff val="2402"/>
                <a:alphaOff val="0"/>
                <a:satMod val="103000"/>
                <a:lumMod val="102000"/>
                <a:tint val="94000"/>
              </a:schemeClr>
            </a:gs>
            <a:gs pos="50000">
              <a:schemeClr val="accent4">
                <a:hueOff val="2450223"/>
                <a:satOff val="-10194"/>
                <a:lumOff val="2402"/>
                <a:alphaOff val="0"/>
                <a:satMod val="110000"/>
                <a:lumMod val="100000"/>
                <a:shade val="100000"/>
              </a:schemeClr>
            </a:gs>
            <a:gs pos="100000">
              <a:schemeClr val="accent4">
                <a:hueOff val="2450223"/>
                <a:satOff val="-10194"/>
                <a:lumOff val="2402"/>
                <a:alphaOff val="0"/>
                <a:lumMod val="99000"/>
                <a:satMod val="120000"/>
                <a:shade val="78000"/>
              </a:schemeClr>
            </a:gs>
          </a:gsLst>
          <a:lin ang="5400000" scaled="0"/>
        </a:gradFill>
        <a:ln w="6350" cap="flat" cmpd="sng" algn="ctr">
          <a:solidFill>
            <a:schemeClr val="accent4">
              <a:hueOff val="2450223"/>
              <a:satOff val="-10194"/>
              <a:lumOff val="240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938AA73-F497-4DF4-AE51-AE7EEAD34742}">
      <dsp:nvSpPr>
        <dsp:cNvPr id="0" name=""/>
        <dsp:cNvSpPr/>
      </dsp:nvSpPr>
      <dsp:spPr>
        <a:xfrm>
          <a:off x="0" y="852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2. Related works</a:t>
          </a:r>
          <a:endParaRPr lang="en-US" sz="3000" kern="1200">
            <a:latin typeface="Cambria" panose="02040503050406030204" pitchFamily="18" charset="0"/>
            <a:ea typeface="Cambria" panose="02040503050406030204" pitchFamily="18" charset="0"/>
          </a:endParaRPr>
        </a:p>
      </dsp:txBody>
      <dsp:txXfrm>
        <a:off x="0" y="852520"/>
        <a:ext cx="11136710" cy="851999"/>
      </dsp:txXfrm>
    </dsp:sp>
    <dsp:sp modelId="{4308F9AB-48F2-46B1-9CA8-1959138D1D80}">
      <dsp:nvSpPr>
        <dsp:cNvPr id="0" name=""/>
        <dsp:cNvSpPr/>
      </dsp:nvSpPr>
      <dsp:spPr>
        <a:xfrm>
          <a:off x="0" y="1704520"/>
          <a:ext cx="11136710" cy="0"/>
        </a:xfrm>
        <a:prstGeom prst="lin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w="6350" cap="flat" cmpd="sng" algn="ctr">
          <a:solidFill>
            <a:schemeClr val="accent4">
              <a:hueOff val="4900445"/>
              <a:satOff val="-20388"/>
              <a:lumOff val="4804"/>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576C280-DD3B-4AAF-8437-2548F119716B}">
      <dsp:nvSpPr>
        <dsp:cNvPr id="0" name=""/>
        <dsp:cNvSpPr/>
      </dsp:nvSpPr>
      <dsp:spPr>
        <a:xfrm>
          <a:off x="0" y="1704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3. Proposed method</a:t>
          </a:r>
          <a:endParaRPr lang="en-US" sz="3000" kern="1200">
            <a:latin typeface="Cambria" panose="02040503050406030204" pitchFamily="18" charset="0"/>
            <a:ea typeface="Cambria" panose="02040503050406030204" pitchFamily="18" charset="0"/>
          </a:endParaRPr>
        </a:p>
      </dsp:txBody>
      <dsp:txXfrm>
        <a:off x="0" y="1704520"/>
        <a:ext cx="11136710" cy="851999"/>
      </dsp:txXfrm>
    </dsp:sp>
    <dsp:sp modelId="{96B7D6FF-2747-46D5-93BF-1905EBD4904C}">
      <dsp:nvSpPr>
        <dsp:cNvPr id="0" name=""/>
        <dsp:cNvSpPr/>
      </dsp:nvSpPr>
      <dsp:spPr>
        <a:xfrm>
          <a:off x="0" y="2556519"/>
          <a:ext cx="11136710" cy="0"/>
        </a:xfrm>
        <a:prstGeom prst="line">
          <a:avLst/>
        </a:prstGeom>
        <a:gradFill rotWithShape="0">
          <a:gsLst>
            <a:gs pos="0">
              <a:schemeClr val="accent4">
                <a:hueOff val="7350668"/>
                <a:satOff val="-30583"/>
                <a:lumOff val="7206"/>
                <a:alphaOff val="0"/>
                <a:satMod val="103000"/>
                <a:lumMod val="102000"/>
                <a:tint val="94000"/>
              </a:schemeClr>
            </a:gs>
            <a:gs pos="50000">
              <a:schemeClr val="accent4">
                <a:hueOff val="7350668"/>
                <a:satOff val="-30583"/>
                <a:lumOff val="7206"/>
                <a:alphaOff val="0"/>
                <a:satMod val="110000"/>
                <a:lumMod val="100000"/>
                <a:shade val="100000"/>
              </a:schemeClr>
            </a:gs>
            <a:gs pos="100000">
              <a:schemeClr val="accent4">
                <a:hueOff val="7350668"/>
                <a:satOff val="-30583"/>
                <a:lumOff val="7206"/>
                <a:alphaOff val="0"/>
                <a:lumMod val="99000"/>
                <a:satMod val="120000"/>
                <a:shade val="78000"/>
              </a:schemeClr>
            </a:gs>
          </a:gsLst>
          <a:lin ang="5400000" scaled="0"/>
        </a:gradFill>
        <a:ln w="6350" cap="flat" cmpd="sng" algn="ctr">
          <a:solidFill>
            <a:schemeClr val="accent4">
              <a:hueOff val="7350668"/>
              <a:satOff val="-30583"/>
              <a:lumOff val="7206"/>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1A1ACD9-52D2-437A-9BD0-3C4F0E44D96C}">
      <dsp:nvSpPr>
        <dsp:cNvPr id="0" name=""/>
        <dsp:cNvSpPr/>
      </dsp:nvSpPr>
      <dsp:spPr>
        <a:xfrm>
          <a:off x="0" y="2556519"/>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4. Experimental results</a:t>
          </a:r>
          <a:endParaRPr lang="en-US" sz="3000" kern="1200">
            <a:latin typeface="Cambria" panose="02040503050406030204" pitchFamily="18" charset="0"/>
            <a:ea typeface="Cambria" panose="02040503050406030204" pitchFamily="18" charset="0"/>
          </a:endParaRPr>
        </a:p>
      </dsp:txBody>
      <dsp:txXfrm>
        <a:off x="0" y="2556519"/>
        <a:ext cx="11136710" cy="851999"/>
      </dsp:txXfrm>
    </dsp:sp>
    <dsp:sp modelId="{7DBE17F3-C781-428E-B04E-23DCB85D206A}">
      <dsp:nvSpPr>
        <dsp:cNvPr id="0" name=""/>
        <dsp:cNvSpPr/>
      </dsp:nvSpPr>
      <dsp:spPr>
        <a:xfrm>
          <a:off x="0" y="3408519"/>
          <a:ext cx="11136710" cy="0"/>
        </a:xfrm>
        <a:prstGeom prst="lin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w="6350" cap="flat" cmpd="sng" algn="ctr">
          <a:solidFill>
            <a:schemeClr val="accent4">
              <a:hueOff val="9800891"/>
              <a:satOff val="-40777"/>
              <a:lumOff val="960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9946E45-62C8-4278-B199-DF9B4ED47DEA}">
      <dsp:nvSpPr>
        <dsp:cNvPr id="0" name=""/>
        <dsp:cNvSpPr/>
      </dsp:nvSpPr>
      <dsp:spPr>
        <a:xfrm>
          <a:off x="0" y="3408519"/>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5. Conclusion</a:t>
          </a:r>
          <a:endParaRPr lang="en-US" sz="3000" kern="1200">
            <a:latin typeface="Cambria" panose="02040503050406030204" pitchFamily="18" charset="0"/>
            <a:ea typeface="Cambria" panose="02040503050406030204" pitchFamily="18" charset="0"/>
          </a:endParaRPr>
        </a:p>
      </dsp:txBody>
      <dsp:txXfrm>
        <a:off x="0" y="3408519"/>
        <a:ext cx="11136710" cy="85199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5EC91D-BEBA-4CF8-88AE-6F4F22BBCE52}" type="datetimeFigureOut">
              <a:rPr lang="en-US" smtClean="0"/>
              <a:t>10/19/2025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7A3CC4-A1AF-4799-818E-6EEBBE945652}" type="slidenum">
              <a:rPr lang="en-US" smtClean="0"/>
              <a:t>‹#›</a:t>
            </a:fld>
            <a:endParaRPr lang="en-US"/>
          </a:p>
        </p:txBody>
      </p:sp>
    </p:spTree>
    <p:extLst>
      <p:ext uri="{BB962C8B-B14F-4D97-AF65-F5344CB8AC3E}">
        <p14:creationId xmlns:p14="http://schemas.microsoft.com/office/powerpoint/2010/main" val="1213125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ace7fa64f5_1_1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gace7fa64f5_1_1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defTabSz="1219170">
              <a:buClr>
                <a:srgbClr val="07105C"/>
              </a:buClr>
            </a:pPr>
            <a:r>
              <a:rPr lang="en-US" smtClean="0"/>
              <a:t>Good</a:t>
            </a:r>
            <a:r>
              <a:rPr lang="en-US" baseline="0" smtClean="0"/>
              <a:t> morning everyone</a:t>
            </a:r>
            <a:r>
              <a:rPr lang="en-US" smtClean="0"/>
              <a:t>, I’m very</a:t>
            </a:r>
            <a:r>
              <a:rPr lang="en-US" baseline="0" smtClean="0"/>
              <a:t> please present my research ,</a:t>
            </a:r>
            <a:r>
              <a:rPr lang="en-US" smtClean="0"/>
              <a:t> </a:t>
            </a:r>
            <a:r>
              <a:rPr lang="en-US" sz="1200" kern="0" smtClean="0">
                <a:solidFill>
                  <a:srgbClr val="C00000"/>
                </a:solidFill>
                <a:latin typeface="Open Sans" panose="020B0606030504020204" pitchFamily="34" charset="0"/>
                <a:ea typeface="Open Sans" panose="020B0606030504020204" pitchFamily="34" charset="0"/>
                <a:cs typeface="Open Sans" panose="020B0606030504020204" pitchFamily="34" charset="0"/>
              </a:rPr>
              <a:t>Breast cancer classification based on fuzzy rules and deep learning techniques</a:t>
            </a:r>
          </a:p>
          <a:p>
            <a:pPr marL="0" lvl="0" indent="0" algn="l" rtl="0">
              <a:spcBef>
                <a:spcPts val="0"/>
              </a:spcBef>
              <a:spcAft>
                <a:spcPts val="0"/>
              </a:spcAft>
              <a:buNone/>
            </a:pPr>
            <a:endParaRPr/>
          </a:p>
        </p:txBody>
      </p:sp>
    </p:spTree>
    <p:extLst>
      <p:ext uri="{BB962C8B-B14F-4D97-AF65-F5344CB8AC3E}">
        <p14:creationId xmlns:p14="http://schemas.microsoft.com/office/powerpoint/2010/main" val="391191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mtClean="0"/>
              <a:t>The</a:t>
            </a:r>
            <a:r>
              <a:rPr lang="en-US" baseline="0" smtClean="0"/>
              <a:t> following is the content for my presentation. Section 2 introduces and summarizes related work. In Sections 3, we provide a detailed description of the main components of our approach. We describe the experimental setup to validate our approach along with a discussion of the results in Section 4. Finally, we conclude with a summary of our findings and comment on possible future directions in Section 5.</a:t>
            </a:r>
            <a:endParaRPr lang="en-US" smtClean="0"/>
          </a:p>
          <a:p>
            <a:pPr marL="0" lvl="0" indent="0" algn="l" rtl="0">
              <a:spcBef>
                <a:spcPts val="0"/>
              </a:spcBef>
              <a:spcAft>
                <a:spcPts val="0"/>
              </a:spcAft>
              <a:buNone/>
            </a:pPr>
            <a:endParaRPr lang="en-US" smtClean="0"/>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a:t>
            </a:fld>
            <a:endParaRPr lang="en-US"/>
          </a:p>
        </p:txBody>
      </p:sp>
    </p:spTree>
    <p:extLst>
      <p:ext uri="{BB962C8B-B14F-4D97-AF65-F5344CB8AC3E}">
        <p14:creationId xmlns:p14="http://schemas.microsoft.com/office/powerpoint/2010/main" val="559246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As we know, cancer is one of the most common diseases in the world and takes the lives of millions of people every year. Breast cancer is one of the most common cancers affecting women worldwide. </a:t>
            </a:r>
          </a:p>
          <a:p>
            <a:r>
              <a:rPr lang="en-US" smtClean="0"/>
              <a:t>Early detection and accurate staging of breast cancer can significantly improve survival rates and quality of life for patients..Figure 1 is an image of a breast with a mass of unusual brightness</a:t>
            </a:r>
            <a:r>
              <a:rPr lang="en-US" smtClean="0"/>
              <a:t>.</a:t>
            </a:r>
            <a:endParaRPr lang="en-US" smtClean="0"/>
          </a:p>
        </p:txBody>
      </p:sp>
      <p:sp>
        <p:nvSpPr>
          <p:cNvPr id="4" name="Slide Number Placeholder 3"/>
          <p:cNvSpPr>
            <a:spLocks noGrp="1"/>
          </p:cNvSpPr>
          <p:nvPr>
            <p:ph type="sldNum" sz="quarter" idx="10"/>
          </p:nvPr>
        </p:nvSpPr>
        <p:spPr/>
        <p:txBody>
          <a:bodyPr/>
          <a:lstStyle/>
          <a:p>
            <a:fld id="{157A3CC4-A1AF-4799-818E-6EEBBE945652}" type="slidenum">
              <a:rPr lang="en-US" smtClean="0"/>
              <a:t>3</a:t>
            </a:fld>
            <a:endParaRPr lang="en-US"/>
          </a:p>
        </p:txBody>
      </p:sp>
    </p:spTree>
    <p:extLst>
      <p:ext uri="{BB962C8B-B14F-4D97-AF65-F5344CB8AC3E}">
        <p14:creationId xmlns:p14="http://schemas.microsoft.com/office/powerpoint/2010/main" val="2060754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According to GLOBOCAN statistics in 2020, the world is estimated to have about 19.3 million cases and 10 million deaths caused by cancer. Of which, breast cancer in women is 2.26 million cases, accounting for 11.7%. </a:t>
            </a:r>
          </a:p>
          <a:p>
            <a:r>
              <a:rPr lang="en-US" smtClean="0"/>
              <a:t>In Vietnam, breast cancer is the leading disease among women. Because of the prevalence of this disease, there are currently many related studies being conducted with the goal of detecting and classifying breast cancer using many different methods, the most popular of which is the application of information technology in detecting and classifying abnormalities on mammograms.</a:t>
            </a:r>
          </a:p>
          <a:p>
            <a:endParaRPr lang="en-US" smtClean="0"/>
          </a:p>
          <a:p>
            <a:r>
              <a:rPr lang="en-US" smtClean="0"/>
              <a:t>Because of its popularity, there have been many research projects related to this disease in recent times.</a:t>
            </a:r>
          </a:p>
          <a:p>
            <a:endParaRPr lang="en-US" smtClean="0"/>
          </a:p>
          <a:p>
            <a:r>
              <a:rPr lang="vi-VN" smtClean="0"/>
              <a:t>Theo số liệu thống kê của GLOBOCAN trong năm 2020 cả thế giới ước tính có khoảng 19.3 triệu ca mắc và 10 triệu ca tử vong do ung thư gây nên. Trong đó, ung thư vú ở phụ nữ là 2.26 triệu ca chiếm 11.7%</a:t>
            </a:r>
            <a:r>
              <a:rPr lang="en-US" smtClean="0"/>
              <a:t>.</a:t>
            </a:r>
          </a:p>
          <a:p>
            <a:r>
              <a:rPr lang="en-US" smtClean="0"/>
              <a:t>Tại Việt Nam ung thư vú là căn bệnh chiếm tỉ lệ hàng đầu đối với nữ giới. Chính vì mức độ phổ biến của căn bệnh này mà hiện nay có rất nhiều nghiên cứu có liên quan được thực hiện với mục tiêu phát hiện và phân loại ung thư vú bằng nhiều phương pháp khác nhau, trong đó phổ biến nhất là ứng dụng công nghệ thông tin trong phát hiện và phân loại các bất thường trên nhũ ảnh.</a:t>
            </a:r>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4</a:t>
            </a:fld>
            <a:endParaRPr lang="en-US"/>
          </a:p>
        </p:txBody>
      </p:sp>
    </p:spTree>
    <p:extLst>
      <p:ext uri="{BB962C8B-B14F-4D97-AF65-F5344CB8AC3E}">
        <p14:creationId xmlns:p14="http://schemas.microsoft.com/office/powerpoint/2010/main" val="975290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Some of the key points our research covers are:</a:t>
            </a:r>
          </a:p>
          <a:p>
            <a:endParaRPr lang="en-US" smtClean="0"/>
          </a:p>
          <a:p>
            <a:endParaRPr lang="en-US" smtClean="0"/>
          </a:p>
          <a:p>
            <a:r>
              <a:rPr lang="en-US" smtClean="0"/>
              <a:t>To achieve the above content, we briefly reviewed the research works of previous authors.</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5</a:t>
            </a:fld>
            <a:endParaRPr lang="en-US"/>
          </a:p>
        </p:txBody>
      </p:sp>
    </p:spTree>
    <p:extLst>
      <p:ext uri="{BB962C8B-B14F-4D97-AF65-F5344CB8AC3E}">
        <p14:creationId xmlns:p14="http://schemas.microsoft.com/office/powerpoint/2010/main" val="3917165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defTabSz="914400" rtl="0" eaLnBrk="1" fontAlgn="auto" latinLnBrk="0" hangingPunct="1">
              <a:lnSpc>
                <a:spcPct val="120000"/>
              </a:lnSpc>
              <a:spcBef>
                <a:spcPts val="600"/>
              </a:spcBef>
              <a:spcAft>
                <a:spcPts val="0"/>
              </a:spcAft>
              <a:buClrTx/>
              <a:buSzTx/>
              <a:buFontTx/>
              <a:buNone/>
              <a:tabLst/>
              <a:defRPr/>
            </a:pPr>
            <a:r>
              <a:rPr lang="en-GB" sz="1200" smtClean="0"/>
              <a:t>Adedigba và</a:t>
            </a:r>
            <a:r>
              <a:rPr lang="en-GB" sz="1200" baseline="0" smtClean="0"/>
              <a:t> cộng sự </a:t>
            </a:r>
            <a:r>
              <a:rPr lang="vi-VN" sz="1200" baseline="0" smtClean="0"/>
              <a:t>y một phương pháp huấn luyện mô hình học sâu để chẩn đoán BC. Chúng tôi đã phát triển một phương pháp tinh chỉnh phân biệt, </a:t>
            </a:r>
            <a:r>
              <a:rPr lang="en-US" sz="1200" baseline="0" smtClean="0"/>
              <a:t>fine-tuning</a:t>
            </a:r>
            <a:r>
              <a:rPr lang="vi-VN" sz="1200" baseline="0" smtClean="0"/>
              <a:t> cho mỗi lớp của CNN sâu. Ngoài ra, mô hình được huấn luyện bằng phương pháp huấn luyện độ chính xác hỗn hợp để giảm bớt nhu cầu tính toán khi huấn luyện các mô hình học sâu. Cuối cùng, chúng tôi trình bày các phương pháp tăng cường dữ liệu cho chụp nhũ ảnh.</a:t>
            </a:r>
            <a:endParaRPr lang="en-GB" sz="1200" smtClean="0"/>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6</a:t>
            </a:fld>
            <a:endParaRPr lang="en-US"/>
          </a:p>
        </p:txBody>
      </p:sp>
    </p:spTree>
    <p:extLst>
      <p:ext uri="{BB962C8B-B14F-4D97-AF65-F5344CB8AC3E}">
        <p14:creationId xmlns:p14="http://schemas.microsoft.com/office/powerpoint/2010/main" val="2077902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defTabSz="914400" rtl="0" eaLnBrk="1" fontAlgn="auto" latinLnBrk="0" hangingPunct="1">
              <a:lnSpc>
                <a:spcPct val="120000"/>
              </a:lnSpc>
              <a:spcBef>
                <a:spcPts val="600"/>
              </a:spcBef>
              <a:spcAft>
                <a:spcPts val="0"/>
              </a:spcAft>
              <a:buClrTx/>
              <a:buSzTx/>
              <a:buFontTx/>
              <a:buNone/>
              <a:tabLst/>
              <a:defRPr/>
            </a:pPr>
            <a:r>
              <a:rPr lang="en-US" sz="1200" smtClean="0"/>
              <a:t>Breast Cancer Prediction Using Soft Voting Classifier Based on Machine Learning Models (Mohammed S. Hashim)</a:t>
            </a:r>
            <a:endParaRPr lang="en-GB" sz="1200" smtClean="0"/>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7</a:t>
            </a:fld>
            <a:endParaRPr lang="en-US"/>
          </a:p>
        </p:txBody>
      </p:sp>
    </p:spTree>
    <p:extLst>
      <p:ext uri="{BB962C8B-B14F-4D97-AF65-F5344CB8AC3E}">
        <p14:creationId xmlns:p14="http://schemas.microsoft.com/office/powerpoint/2010/main" val="5680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defTabSz="914400" rtl="0" eaLnBrk="1" fontAlgn="auto" latinLnBrk="0" hangingPunct="1">
              <a:lnSpc>
                <a:spcPct val="120000"/>
              </a:lnSpc>
              <a:spcBef>
                <a:spcPts val="600"/>
              </a:spcBef>
              <a:spcAft>
                <a:spcPts val="0"/>
              </a:spcAft>
              <a:buClrTx/>
              <a:buSzTx/>
              <a:buFontTx/>
              <a:buNone/>
              <a:tabLst/>
              <a:defRPr/>
            </a:pPr>
            <a:r>
              <a:rPr lang="en-US" sz="1200" smtClean="0"/>
              <a:t>Attention-Enhanced Deep Learning Ensemble for Breast Density Classification in Mammography - Peyman Sharifian</a:t>
            </a:r>
            <a:endParaRPr lang="en-GB" sz="1200" smtClean="0"/>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8</a:t>
            </a:fld>
            <a:endParaRPr lang="en-US"/>
          </a:p>
        </p:txBody>
      </p:sp>
    </p:spTree>
    <p:extLst>
      <p:ext uri="{BB962C8B-B14F-4D97-AF65-F5344CB8AC3E}">
        <p14:creationId xmlns:p14="http://schemas.microsoft.com/office/powerpoint/2010/main" val="1465083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 focal point of our study is the evaluation of XAI’s effectiveness in</a:t>
            </a:r>
          </a:p>
          <a:p>
            <a:r>
              <a:rPr lang="en-US" smtClean="0"/>
              <a:t>interpreting model predictions, highlighted by utilising the Hausdorff measure to assess the align-ment between AI-generated explanations and expert annotations quantitatively.</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9</a:t>
            </a:fld>
            <a:endParaRPr lang="en-US"/>
          </a:p>
        </p:txBody>
      </p:sp>
    </p:spTree>
    <p:extLst>
      <p:ext uri="{BB962C8B-B14F-4D97-AF65-F5344CB8AC3E}">
        <p14:creationId xmlns:p14="http://schemas.microsoft.com/office/powerpoint/2010/main" val="4254094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Hard Voting is based on majority rule. Each base model in the ensemble will give a final predicted label (e.g. Benign or Malignant). The final output of the ensemble is the label that appears most frequently among the models.</a:t>
            </a:r>
          </a:p>
          <a:p>
            <a:endParaRPr lang="en-US" smtClean="0"/>
          </a:p>
          <a:p>
            <a:r>
              <a:rPr lang="en-US" smtClean="0"/>
              <a:t>Soft Voting is based on a weighted average of the predicted probabilities. Instead of taking the label directly, the ensemble uses the predicted probabilities of each model</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10</a:t>
            </a:fld>
            <a:endParaRPr lang="en-US"/>
          </a:p>
        </p:txBody>
      </p:sp>
    </p:spTree>
    <p:extLst>
      <p:ext uri="{BB962C8B-B14F-4D97-AF65-F5344CB8AC3E}">
        <p14:creationId xmlns:p14="http://schemas.microsoft.com/office/powerpoint/2010/main" val="769203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mtClean="0"/>
                  <a:t>Some metrics we use in evaluating proposed models</a:t>
                </a:r>
              </a:p>
              <a:p>
                <a:endParaRPr lang="en-US" smtClean="0"/>
              </a:p>
              <a:p>
                <a:r>
                  <a:rPr lang="en-US" sz="1200" kern="1200" smtClean="0">
                    <a:solidFill>
                      <a:schemeClr val="tx1"/>
                    </a:solidFill>
                    <a:effectLst/>
                    <a:latin typeface="+mn-lt"/>
                    <a:ea typeface="+mn-ea"/>
                    <a:cs typeface="+mn-cs"/>
                  </a:rPr>
                  <a:t>where u</a:t>
                </a:r>
                <a:r>
                  <a:rPr lang="en-US" sz="1200" kern="1200" baseline="-25000">
                    <a:solidFill>
                      <a:schemeClr val="tx1"/>
                    </a:solidFill>
                    <a:effectLst/>
                    <a:latin typeface="+mn-lt"/>
                    <a:ea typeface="+mn-ea"/>
                    <a:cs typeface="+mn-cs"/>
                  </a:rPr>
                  <a:t>i</a:t>
                </a:r>
                <a:r>
                  <a:rPr lang="en-US" sz="1200" kern="1200">
                    <a:solidFill>
                      <a:schemeClr val="tx1"/>
                    </a:solidFill>
                    <a:effectLst/>
                    <a:latin typeface="+mn-lt"/>
                    <a:ea typeface="+mn-ea"/>
                    <a:cs typeface="+mn-cs"/>
                  </a:rPr>
                  <a:t> is the ground truth at pixel 𝑖, </a:t>
                </a:r>
                <a14:m>
                  <m:oMath xmlns:m="http://schemas.openxmlformats.org/officeDocument/2006/math">
                    <m:acc>
                      <m:accPr>
                        <m:chr m:val="̂"/>
                        <m:ctrlPr>
                          <a:rPr lang="en-US" sz="1200" i="1" kern="1200">
                            <a:solidFill>
                              <a:schemeClr val="tx1"/>
                            </a:solidFill>
                            <a:effectLst/>
                            <a:latin typeface="Cambria Math" panose="02040503050406030204" pitchFamily="18" charset="0"/>
                            <a:ea typeface="+mn-ea"/>
                            <a:cs typeface="+mn-cs"/>
                          </a:rPr>
                        </m:ctrlPr>
                      </m:accPr>
                      <m:e>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𝑢</m:t>
                            </m:r>
                          </m:e>
                          <m:sub>
                            <m:r>
                              <a:rPr lang="en-US" sz="1200" i="1" kern="1200">
                                <a:solidFill>
                                  <a:schemeClr val="tx1"/>
                                </a:solidFill>
                                <a:effectLst/>
                                <a:latin typeface="Cambria Math" panose="02040503050406030204" pitchFamily="18" charset="0"/>
                                <a:ea typeface="+mn-ea"/>
                                <a:cs typeface="+mn-cs"/>
                              </a:rPr>
                              <m:t>𝑖</m:t>
                            </m:r>
                          </m:sub>
                        </m:sSub>
                      </m:e>
                    </m:acc>
                  </m:oMath>
                </a14:m>
                <a:r>
                  <a:rPr lang="en-US" sz="1200" kern="1200">
                    <a:solidFill>
                      <a:schemeClr val="tx1"/>
                    </a:solidFill>
                    <a:effectLst/>
                    <a:latin typeface="+mn-lt"/>
                    <a:ea typeface="+mn-ea"/>
                    <a:cs typeface="+mn-cs"/>
                  </a:rPr>
                  <a:t> is the predicted value at pixel 𝑖 out of total number of pixels n</a:t>
                </a:r>
                <a:r>
                  <a:rPr lang="en-US" sz="1200" kern="1200" smtClean="0">
                    <a:solidFill>
                      <a:schemeClr val="tx1"/>
                    </a:solidFill>
                    <a:effectLst/>
                    <a:latin typeface="+mn-lt"/>
                    <a:ea typeface="+mn-ea"/>
                    <a:cs typeface="+mn-cs"/>
                  </a:rPr>
                  <a:t>.</a:t>
                </a:r>
              </a:p>
              <a:p>
                <a:endParaRPr lang="en-US" sz="1200" kern="1200" smtClean="0">
                  <a:solidFill>
                    <a:schemeClr val="tx1"/>
                  </a:solidFill>
                  <a:effectLst/>
                  <a:latin typeface="+mn-lt"/>
                  <a:ea typeface="+mn-ea"/>
                  <a:cs typeface="+mn-cs"/>
                </a:endParaRPr>
              </a:p>
              <a:p>
                <a:r>
                  <a:rPr lang="en-US" sz="1200" b="0" i="0" kern="1200" smtClean="0">
                    <a:solidFill>
                      <a:schemeClr val="tx1"/>
                    </a:solidFill>
                    <a:effectLst/>
                    <a:latin typeface="+mn-lt"/>
                    <a:ea typeface="+mn-ea"/>
                    <a:cs typeface="+mn-cs"/>
                  </a:rPr>
                  <a:t>In which, </a:t>
                </a:r>
                <a:r>
                  <a:rPr lang="en-US" sz="1200" b="0" i="1" kern="1200" smtClean="0">
                    <a:solidFill>
                      <a:schemeClr val="tx1"/>
                    </a:solidFill>
                    <a:effectLst/>
                    <a:latin typeface="+mn-lt"/>
                    <a:ea typeface="+mn-ea"/>
                    <a:cs typeface="+mn-cs"/>
                  </a:rPr>
                  <a:t>wi</a:t>
                </a:r>
                <a:r>
                  <a:rPr lang="en-US" sz="1200" b="0" i="0" kern="1200" smtClean="0">
                    <a:solidFill>
                      <a:schemeClr val="tx1"/>
                    </a:solidFill>
                    <a:effectLst/>
                    <a:latin typeface="+mn-lt"/>
                    <a:ea typeface="+mn-ea"/>
                    <a:cs typeface="+mn-cs"/>
                  </a:rPr>
                  <a:t>: weight of the </a:t>
                </a:r>
                <a:r>
                  <a:rPr lang="en-US" sz="1200" b="0" i="1" kern="1200" smtClean="0">
                    <a:solidFill>
                      <a:schemeClr val="tx1"/>
                    </a:solidFill>
                    <a:effectLst/>
                    <a:latin typeface="+mn-lt"/>
                    <a:ea typeface="+mn-ea"/>
                    <a:cs typeface="+mn-cs"/>
                  </a:rPr>
                  <a:t>ith </a:t>
                </a:r>
                <a:r>
                  <a:rPr lang="en-US" sz="1200" b="0" i="0" kern="1200" smtClean="0">
                    <a:solidFill>
                      <a:schemeClr val="tx1"/>
                    </a:solidFill>
                    <a:effectLst/>
                    <a:latin typeface="+mn-lt"/>
                    <a:ea typeface="+mn-ea"/>
                    <a:cs typeface="+mn-cs"/>
                  </a:rPr>
                  <a:t>model; 1</a:t>
                </a:r>
                <a:r>
                  <a:rPr lang="en-US" sz="1200" b="0" i="1" kern="1200" smtClean="0">
                    <a:solidFill>
                      <a:schemeClr val="tx1"/>
                    </a:solidFill>
                    <a:effectLst/>
                    <a:latin typeface="+mn-lt"/>
                    <a:ea typeface="+mn-ea"/>
                    <a:cs typeface="+mn-cs"/>
                  </a:rPr>
                  <a:t>{mi</a:t>
                </a:r>
                <a:r>
                  <a:rPr lang="en-US" sz="1200" b="0" i="0" kern="1200" smtClean="0">
                    <a:solidFill>
                      <a:schemeClr val="tx1"/>
                    </a:solidFill>
                    <a:effectLst/>
                    <a:latin typeface="+mn-lt"/>
                    <a:ea typeface="+mn-ea"/>
                    <a:cs typeface="+mn-cs"/>
                  </a:rPr>
                  <a:t>(</a:t>
                </a:r>
                <a:r>
                  <a:rPr lang="en-US" sz="1200" b="0" i="1" kern="1200" smtClean="0">
                    <a:solidFill>
                      <a:schemeClr val="tx1"/>
                    </a:solidFill>
                    <a:effectLst/>
                    <a:latin typeface="+mn-lt"/>
                    <a:ea typeface="+mn-ea"/>
                    <a:cs typeface="+mn-cs"/>
                  </a:rPr>
                  <a:t>x</a:t>
                </a:r>
                <a:r>
                  <a:rPr lang="en-US" sz="1200" b="0" i="0" kern="1200" smtClean="0">
                    <a:solidFill>
                      <a:schemeClr val="tx1"/>
                    </a:solidFill>
                    <a:effectLst/>
                    <a:latin typeface="+mn-lt"/>
                    <a:ea typeface="+mn-ea"/>
                    <a:cs typeface="+mn-cs"/>
                  </a:rPr>
                  <a:t>)=</a:t>
                </a:r>
                <a:r>
                  <a:rPr lang="en-US" sz="1200" b="0" i="1" kern="1200" smtClean="0">
                    <a:solidFill>
                      <a:schemeClr val="tx1"/>
                    </a:solidFill>
                    <a:effectLst/>
                    <a:latin typeface="+mn-lt"/>
                    <a:ea typeface="+mn-ea"/>
                    <a:cs typeface="+mn-cs"/>
                  </a:rPr>
                  <a:t>c} </a:t>
                </a:r>
                <a:r>
                  <a:rPr lang="en-US" sz="1200" b="0" i="0" kern="1200" smtClean="0">
                    <a:solidFill>
                      <a:schemeClr val="tx1"/>
                    </a:solidFill>
                    <a:effectLst/>
                    <a:latin typeface="+mn-lt"/>
                    <a:ea typeface="+mn-ea"/>
                    <a:cs typeface="+mn-cs"/>
                  </a:rPr>
                  <a:t>: equal to 1 if model </a:t>
                </a:r>
                <a:r>
                  <a:rPr lang="en-US" sz="1200" b="0" i="1" kern="1200" smtClean="0">
                    <a:solidFill>
                      <a:schemeClr val="tx1"/>
                    </a:solidFill>
                    <a:effectLst/>
                    <a:latin typeface="+mn-lt"/>
                    <a:ea typeface="+mn-ea"/>
                    <a:cs typeface="+mn-cs"/>
                  </a:rPr>
                  <a:t>i </a:t>
                </a:r>
                <a:r>
                  <a:rPr lang="en-US" sz="1200" b="0" i="0" kern="1200" smtClean="0">
                    <a:solidFill>
                      <a:schemeClr val="tx1"/>
                    </a:solidFill>
                    <a:effectLst/>
                    <a:latin typeface="+mn-lt"/>
                    <a:ea typeface="+mn-ea"/>
                    <a:cs typeface="+mn-cs"/>
                  </a:rPr>
                  <a:t>chooses</a:t>
                </a:r>
              </a:p>
              <a:p>
                <a:r>
                  <a:rPr lang="en-US" sz="1200" b="0" i="0" kern="1200" smtClean="0">
                    <a:solidFill>
                      <a:schemeClr val="tx1"/>
                    </a:solidFill>
                    <a:effectLst/>
                    <a:latin typeface="+mn-lt"/>
                    <a:ea typeface="+mn-ea"/>
                    <a:cs typeface="+mn-cs"/>
                  </a:rPr>
                  <a:t>class </a:t>
                </a:r>
                <a:r>
                  <a:rPr lang="en-US" sz="1200" b="0" i="1" kern="1200" smtClean="0">
                    <a:solidFill>
                      <a:schemeClr val="tx1"/>
                    </a:solidFill>
                    <a:effectLst/>
                    <a:latin typeface="+mn-lt"/>
                    <a:ea typeface="+mn-ea"/>
                    <a:cs typeface="+mn-cs"/>
                  </a:rPr>
                  <a:t>c</a:t>
                </a:r>
                <a:r>
                  <a:rPr lang="en-US" sz="1200" b="0" i="0" kern="1200" smtClean="0">
                    <a:solidFill>
                      <a:schemeClr val="tx1"/>
                    </a:solidFill>
                    <a:effectLst/>
                    <a:latin typeface="+mn-lt"/>
                    <a:ea typeface="+mn-ea"/>
                    <a:cs typeface="+mn-cs"/>
                  </a:rPr>
                  <a:t>, otherwise equal to 0.</a:t>
                </a:r>
                <a:r>
                  <a:rPr lang="en-US" smtClean="0"/>
                  <a:t> </a:t>
                </a:r>
                <a:br>
                  <a:rPr lang="en-US" smtClean="0"/>
                </a:br>
                <a:endParaRPr lang="en-US" smtClean="0"/>
              </a:p>
              <a:p>
                <a:endParaRPr lang="en-US"/>
              </a:p>
            </p:txBody>
          </p:sp>
        </mc:Choice>
        <mc:Fallback xmlns="">
          <p:sp>
            <p:nvSpPr>
              <p:cNvPr id="3" name="Notes Placeholder 2"/>
              <p:cNvSpPr>
                <a:spLocks noGrp="1"/>
              </p:cNvSpPr>
              <p:nvPr>
                <p:ph type="body" idx="1"/>
              </p:nvPr>
            </p:nvSpPr>
            <p:spPr/>
            <p:txBody>
              <a:bodyPr/>
              <a:lstStyle/>
              <a:p>
                <a:r>
                  <a:rPr lang="en-US" smtClean="0"/>
                  <a:t>Some metrics we use in evaluating proposed </a:t>
                </a:r>
                <a:r>
                  <a:rPr lang="en-US" smtClean="0"/>
                  <a:t>models</a:t>
                </a:r>
              </a:p>
              <a:p>
                <a:endParaRPr lang="en-US" smtClean="0"/>
              </a:p>
              <a:p>
                <a:r>
                  <a:rPr lang="en-US" sz="1200" kern="1200" smtClean="0">
                    <a:solidFill>
                      <a:schemeClr val="tx1"/>
                    </a:solidFill>
                    <a:effectLst/>
                    <a:latin typeface="+mn-lt"/>
                    <a:ea typeface="+mn-ea"/>
                    <a:cs typeface="+mn-cs"/>
                  </a:rPr>
                  <a:t>where u</a:t>
                </a:r>
                <a:r>
                  <a:rPr lang="en-US" sz="1200" kern="1200" baseline="-25000">
                    <a:solidFill>
                      <a:schemeClr val="tx1"/>
                    </a:solidFill>
                    <a:effectLst/>
                    <a:latin typeface="+mn-lt"/>
                    <a:ea typeface="+mn-ea"/>
                    <a:cs typeface="+mn-cs"/>
                  </a:rPr>
                  <a:t>i</a:t>
                </a:r>
                <a:r>
                  <a:rPr lang="en-US" sz="1200" kern="1200">
                    <a:solidFill>
                      <a:schemeClr val="tx1"/>
                    </a:solidFill>
                    <a:effectLst/>
                    <a:latin typeface="+mn-lt"/>
                    <a:ea typeface="+mn-ea"/>
                    <a:cs typeface="+mn-cs"/>
                  </a:rPr>
                  <a:t> is the ground truth at pixel 𝑖, </a:t>
                </a:r>
                <a:r>
                  <a:rPr lang="en-US" sz="1200" i="0" kern="1200">
                    <a:solidFill>
                      <a:schemeClr val="tx1"/>
                    </a:solidFill>
                    <a:effectLst/>
                    <a:latin typeface="+mn-lt"/>
                    <a:ea typeface="+mn-ea"/>
                    <a:cs typeface="+mn-cs"/>
                  </a:rPr>
                  <a:t>(𝑢_𝑖 ) ̂</a:t>
                </a:r>
                <a:r>
                  <a:rPr lang="en-US" sz="1200" kern="1200">
                    <a:solidFill>
                      <a:schemeClr val="tx1"/>
                    </a:solidFill>
                    <a:effectLst/>
                    <a:latin typeface="+mn-lt"/>
                    <a:ea typeface="+mn-ea"/>
                    <a:cs typeface="+mn-cs"/>
                  </a:rPr>
                  <a:t> is the predicted value at pixel 𝑖 out of total number of pixels n.</a:t>
                </a:r>
                <a:endParaRPr lang="en-US" smtClean="0"/>
              </a:p>
              <a:p>
                <a:endParaRPr lang="en-US"/>
              </a:p>
            </p:txBody>
          </p:sp>
        </mc:Fallback>
      </mc:AlternateContent>
      <p:sp>
        <p:nvSpPr>
          <p:cNvPr id="4" name="Slide Number Placeholder 3"/>
          <p:cNvSpPr>
            <a:spLocks noGrp="1"/>
          </p:cNvSpPr>
          <p:nvPr>
            <p:ph type="sldNum" sz="quarter" idx="10"/>
          </p:nvPr>
        </p:nvSpPr>
        <p:spPr/>
        <p:txBody>
          <a:bodyPr/>
          <a:lstStyle/>
          <a:p>
            <a:fld id="{157A3CC4-A1AF-4799-818E-6EEBBE945652}" type="slidenum">
              <a:rPr lang="en-US" smtClean="0"/>
              <a:t>11</a:t>
            </a:fld>
            <a:endParaRPr lang="en-US"/>
          </a:p>
        </p:txBody>
      </p:sp>
    </p:spTree>
    <p:extLst>
      <p:ext uri="{BB962C8B-B14F-4D97-AF65-F5344CB8AC3E}">
        <p14:creationId xmlns:p14="http://schemas.microsoft.com/office/powerpoint/2010/main" val="2291722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12</a:t>
            </a:fld>
            <a:endParaRPr lang="en-US"/>
          </a:p>
        </p:txBody>
      </p:sp>
    </p:spTree>
    <p:extLst>
      <p:ext uri="{BB962C8B-B14F-4D97-AF65-F5344CB8AC3E}">
        <p14:creationId xmlns:p14="http://schemas.microsoft.com/office/powerpoint/2010/main" val="3128589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p>
        </p:txBody>
      </p:sp>
      <p:sp>
        <p:nvSpPr>
          <p:cNvPr id="4" name="Slide Number Placeholder 3"/>
          <p:cNvSpPr>
            <a:spLocks noGrp="1"/>
          </p:cNvSpPr>
          <p:nvPr>
            <p:ph type="sldNum" sz="quarter" idx="10"/>
          </p:nvPr>
        </p:nvSpPr>
        <p:spPr/>
        <p:txBody>
          <a:bodyPr/>
          <a:lstStyle/>
          <a:p>
            <a:fld id="{157A3CC4-A1AF-4799-818E-6EEBBE945652}" type="slidenum">
              <a:rPr lang="en-US" smtClean="0"/>
              <a:t>13</a:t>
            </a:fld>
            <a:endParaRPr lang="en-US"/>
          </a:p>
        </p:txBody>
      </p:sp>
    </p:spTree>
    <p:extLst>
      <p:ext uri="{BB962C8B-B14F-4D97-AF65-F5344CB8AC3E}">
        <p14:creationId xmlns:p14="http://schemas.microsoft.com/office/powerpoint/2010/main" val="10321194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smtClean="0"/>
              <a:t>For each trial, Optuna:Generate new weights</a:t>
            </a:r>
          </a:p>
          <a:p>
            <a:r>
              <a:rPr lang="en-US" b="1" smtClean="0"/>
              <a:t>Ensemble results of deep learning models</a:t>
            </a:r>
          </a:p>
          <a:p>
            <a:r>
              <a:rPr lang="en-US" b="1" smtClean="0"/>
              <a:t>Calculate loss/accuracy</a:t>
            </a:r>
          </a:p>
          <a:p>
            <a:r>
              <a:rPr lang="en-US" b="1" smtClean="0"/>
              <a:t>Save results</a:t>
            </a:r>
          </a:p>
          <a:p>
            <a:r>
              <a:rPr lang="en-US" b="1" smtClean="0"/>
              <a:t>Adjust search direction</a:t>
            </a:r>
            <a:endParaRPr lang="en-US" b="1"/>
          </a:p>
        </p:txBody>
      </p:sp>
      <p:sp>
        <p:nvSpPr>
          <p:cNvPr id="4" name="Slide Number Placeholder 3"/>
          <p:cNvSpPr>
            <a:spLocks noGrp="1"/>
          </p:cNvSpPr>
          <p:nvPr>
            <p:ph type="sldNum" sz="quarter" idx="10"/>
          </p:nvPr>
        </p:nvSpPr>
        <p:spPr/>
        <p:txBody>
          <a:bodyPr/>
          <a:lstStyle/>
          <a:p>
            <a:fld id="{157A3CC4-A1AF-4799-818E-6EEBBE945652}" type="slidenum">
              <a:rPr lang="en-US" smtClean="0"/>
              <a:t>14</a:t>
            </a:fld>
            <a:endParaRPr lang="en-US"/>
          </a:p>
        </p:txBody>
      </p:sp>
    </p:spTree>
    <p:extLst>
      <p:ext uri="{BB962C8B-B14F-4D97-AF65-F5344CB8AC3E}">
        <p14:creationId xmlns:p14="http://schemas.microsoft.com/office/powerpoint/2010/main" val="3453056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This dataset is divided into a training dataset and a validation dataset with a ratio of 80% and 20%, respectively. For testing, we build a hypothetical scenario where the students were doing the exam, then recorded a video, and tested it with a number of 15 videos on a cheating action to check the accuracy of the network models. </a:t>
            </a:r>
          </a:p>
          <a:p>
            <a:endParaRPr lang="en-US" smtClean="0"/>
          </a:p>
          <a:p>
            <a:r>
              <a:rPr lang="en-US" smtClean="0"/>
              <a:t>Table 1 presents the scenarios we used with the training parameters</a:t>
            </a:r>
          </a:p>
          <a:p>
            <a:r>
              <a:rPr lang="en-US" smtClean="0"/>
              <a:t>In scenarios 2,3,5,6 we use algorithms to generate rule sets from the data extracted from the network models. The goal of this process is to improve the accuracy of the model by better handling ambiguous or contradictory cases in the data set. After conducting experiments with various sets of parameters, we selected identical parameters for all scenarios. The learning rate is set at 0.0001, with the training being conducted 100 times. The number of classes (Num classes) being 3, corresponding to benign, malignant and normal.</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15</a:t>
            </a:fld>
            <a:endParaRPr lang="en-US"/>
          </a:p>
        </p:txBody>
      </p:sp>
    </p:spTree>
    <p:extLst>
      <p:ext uri="{BB962C8B-B14F-4D97-AF65-F5344CB8AC3E}">
        <p14:creationId xmlns:p14="http://schemas.microsoft.com/office/powerpoint/2010/main" val="1212215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16</a:t>
            </a:fld>
            <a:endParaRPr lang="en-US"/>
          </a:p>
        </p:txBody>
      </p:sp>
    </p:spTree>
    <p:extLst>
      <p:ext uri="{BB962C8B-B14F-4D97-AF65-F5344CB8AC3E}">
        <p14:creationId xmlns:p14="http://schemas.microsoft.com/office/powerpoint/2010/main" val="2414872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17</a:t>
            </a:fld>
            <a:endParaRPr lang="en-US"/>
          </a:p>
        </p:txBody>
      </p:sp>
    </p:spTree>
    <p:extLst>
      <p:ext uri="{BB962C8B-B14F-4D97-AF65-F5344CB8AC3E}">
        <p14:creationId xmlns:p14="http://schemas.microsoft.com/office/powerpoint/2010/main" val="97957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18</a:t>
            </a:fld>
            <a:endParaRPr lang="en-US"/>
          </a:p>
        </p:txBody>
      </p:sp>
    </p:spTree>
    <p:extLst>
      <p:ext uri="{BB962C8B-B14F-4D97-AF65-F5344CB8AC3E}">
        <p14:creationId xmlns:p14="http://schemas.microsoft.com/office/powerpoint/2010/main" val="42895430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19</a:t>
            </a:fld>
            <a:endParaRPr lang="en-US"/>
          </a:p>
        </p:txBody>
      </p:sp>
    </p:spTree>
    <p:extLst>
      <p:ext uri="{BB962C8B-B14F-4D97-AF65-F5344CB8AC3E}">
        <p14:creationId xmlns:p14="http://schemas.microsoft.com/office/powerpoint/2010/main" val="2173958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smtClean="0">
                <a:solidFill>
                  <a:schemeClr val="tx1"/>
                </a:solidFill>
                <a:effectLst/>
                <a:latin typeface="+mn-lt"/>
                <a:ea typeface="+mn-ea"/>
                <a:cs typeface="+mn-cs"/>
              </a:rPr>
              <a:t>The colors of the lines represent the quality of each weight combination — darker lines correspond to higher objective values. The results show that the best objective values are often associated with high weights for DenseNet121, while InceptionV3 and ResNet152 often have lower weights.</a:t>
            </a:r>
            <a:r>
              <a:rPr lang="en-US" smtClean="0"/>
              <a:t> </a:t>
            </a:r>
            <a:br>
              <a:rPr lang="en-US" smtClean="0"/>
            </a:br>
            <a:endParaRPr lang="en-US" smtClean="0"/>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20</a:t>
            </a:fld>
            <a:endParaRPr lang="en-US"/>
          </a:p>
        </p:txBody>
      </p:sp>
    </p:spTree>
    <p:extLst>
      <p:ext uri="{BB962C8B-B14F-4D97-AF65-F5344CB8AC3E}">
        <p14:creationId xmlns:p14="http://schemas.microsoft.com/office/powerpoint/2010/main" val="38733966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smtClean="0">
                <a:solidFill>
                  <a:schemeClr val="tx1"/>
                </a:solidFill>
                <a:effectLst/>
                <a:latin typeface="+mn-lt"/>
                <a:ea typeface="+mn-ea"/>
                <a:cs typeface="+mn-cs"/>
              </a:rPr>
              <a:t>The colors of the lines represent the quality of each weight combination — darker lines correspond to higher objective values. The results show that the best objective values are often associated with high weights for DenseNet121, while InceptionV3 and ResNet152 often have lower weights.</a:t>
            </a:r>
            <a:r>
              <a:rPr lang="en-US" smtClean="0"/>
              <a:t> </a:t>
            </a:r>
            <a:br>
              <a:rPr lang="en-US" smtClean="0"/>
            </a:b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21</a:t>
            </a:fld>
            <a:endParaRPr lang="en-US"/>
          </a:p>
        </p:txBody>
      </p:sp>
    </p:spTree>
    <p:extLst>
      <p:ext uri="{BB962C8B-B14F-4D97-AF65-F5344CB8AC3E}">
        <p14:creationId xmlns:p14="http://schemas.microsoft.com/office/powerpoint/2010/main" val="18041224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22</a:t>
            </a:fld>
            <a:endParaRPr lang="en-US"/>
          </a:p>
        </p:txBody>
      </p:sp>
    </p:spTree>
    <p:extLst>
      <p:ext uri="{BB962C8B-B14F-4D97-AF65-F5344CB8AC3E}">
        <p14:creationId xmlns:p14="http://schemas.microsoft.com/office/powerpoint/2010/main" val="301874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smtClean="0">
                <a:solidFill>
                  <a:schemeClr val="tx1"/>
                </a:solidFill>
                <a:effectLst/>
                <a:latin typeface="+mn-lt"/>
                <a:ea typeface="+mn-ea"/>
                <a:cs typeface="+mn-cs"/>
              </a:rPr>
              <a:t>The evaluation results of 3 scenarios indicate a generally good overall performance, with accuracy (Acc) ranging from 0.92 to 0.96. The U-Net model achieved the highest accuracy score (0.96) along with impressive metrics for Dice (0.93), IoU (0.91), and F1-Score (0.92). It also recorded very low RMSE and MSE values (0.017 and 0.0003), demonstrating its superior effectiveness in image segmentation. In contrast, U-Net++ and DeepLabV3+ exhibited slightly lower accuracy (0.92-0.93), with DeepLabV3+ achieving the lowest Loss value (0.2485) but a somewhat higher RMSE (0.026). Overall, U-Net stands out as the best model for this dataset, while DeepLabV3+ shows potential for improvement due to its low loss value.</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23</a:t>
            </a:fld>
            <a:endParaRPr lang="en-US"/>
          </a:p>
        </p:txBody>
      </p:sp>
    </p:spTree>
    <p:extLst>
      <p:ext uri="{BB962C8B-B14F-4D97-AF65-F5344CB8AC3E}">
        <p14:creationId xmlns:p14="http://schemas.microsoft.com/office/powerpoint/2010/main" val="8101986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smtClean="0">
                <a:solidFill>
                  <a:schemeClr val="tx1"/>
                </a:solidFill>
                <a:effectLst/>
                <a:latin typeface="+mn-lt"/>
                <a:ea typeface="+mn-ea"/>
                <a:cs typeface="+mn-cs"/>
              </a:rPr>
              <a:t>The evaluation results of 3 scenarios indicate a generally good overall performance, with accuracy (Acc) ranging from 0.92 to 0.96. The U-Net model achieved the highest accuracy score (0.96) along with impressive metrics for Dice (0.93), IoU (0.91), and F1-Score (0.92). It also recorded very low RMSE and MSE values (0.017 and 0.0003), demonstrating its superior effectiveness in image segmentation. In contrast, U-Net++ and DeepLabV3+ exhibited slightly lower accuracy (0.92-0.93), with DeepLabV3+ achieving the lowest Loss value (0.2485) but a somewhat higher RMSE (0.026). Overall, U-Net stands out as the best model for this dataset, while DeepLabV3+ shows potential for improvement due to its low loss value.</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24</a:t>
            </a:fld>
            <a:endParaRPr lang="en-US"/>
          </a:p>
        </p:txBody>
      </p:sp>
    </p:spTree>
    <p:extLst>
      <p:ext uri="{BB962C8B-B14F-4D97-AF65-F5344CB8AC3E}">
        <p14:creationId xmlns:p14="http://schemas.microsoft.com/office/powerpoint/2010/main" val="20173913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mtClean="0"/>
          </a:p>
        </p:txBody>
      </p:sp>
      <p:sp>
        <p:nvSpPr>
          <p:cNvPr id="4" name="Slide Number Placeholder 3"/>
          <p:cNvSpPr>
            <a:spLocks noGrp="1"/>
          </p:cNvSpPr>
          <p:nvPr>
            <p:ph type="sldNum" sz="quarter" idx="10"/>
          </p:nvPr>
        </p:nvSpPr>
        <p:spPr/>
        <p:txBody>
          <a:bodyPr/>
          <a:lstStyle/>
          <a:p>
            <a:fld id="{157A3CC4-A1AF-4799-818E-6EEBBE945652}" type="slidenum">
              <a:rPr lang="en-US" smtClean="0"/>
              <a:t>25</a:t>
            </a:fld>
            <a:endParaRPr lang="en-US"/>
          </a:p>
        </p:txBody>
      </p:sp>
    </p:spTree>
    <p:extLst>
      <p:ext uri="{BB962C8B-B14F-4D97-AF65-F5344CB8AC3E}">
        <p14:creationId xmlns:p14="http://schemas.microsoft.com/office/powerpoint/2010/main" val="3895732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27</a:t>
            </a:fld>
            <a:endParaRPr lang="en-US"/>
          </a:p>
        </p:txBody>
      </p:sp>
    </p:spTree>
    <p:extLst>
      <p:ext uri="{BB962C8B-B14F-4D97-AF65-F5344CB8AC3E}">
        <p14:creationId xmlns:p14="http://schemas.microsoft.com/office/powerpoint/2010/main" val="180451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4048-7A0E-F6D1-CC76-329EE7F0C7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00366C70-62AE-505D-6DE2-D11479C4D9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0401A95D-256E-3F71-CE7C-40B3859CEA95}"/>
              </a:ext>
            </a:extLst>
          </p:cNvPr>
          <p:cNvSpPr>
            <a:spLocks noGrp="1"/>
          </p:cNvSpPr>
          <p:nvPr>
            <p:ph type="dt" sz="half" idx="10"/>
          </p:nvPr>
        </p:nvSpPr>
        <p:spPr/>
        <p:txBody>
          <a:bodyPr/>
          <a:lstStyle/>
          <a:p>
            <a:fld id="{C764DE79-268F-4C1A-8933-263129D2AF90}" type="datetimeFigureOut">
              <a:rPr lang="en-US" smtClean="0"/>
              <a:t>10/19/2025</a:t>
            </a:fld>
            <a:endParaRPr lang="en-US" dirty="0"/>
          </a:p>
        </p:txBody>
      </p:sp>
      <p:sp>
        <p:nvSpPr>
          <p:cNvPr id="5" name="Footer Placeholder 4">
            <a:extLst>
              <a:ext uri="{FF2B5EF4-FFF2-40B4-BE49-F238E27FC236}">
                <a16:creationId xmlns:a16="http://schemas.microsoft.com/office/drawing/2014/main" id="{E02FDE33-C2D0-D4F6-EAAA-A488810A2E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C8FE39-57E6-D643-C66C-E7E08577E78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41888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D8A6B-1E11-870F-9FAE-5F56E95ADF2C}"/>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D043E874-1809-994C-1A1C-71FBD4C102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C7495F5-B24E-3EA4-F069-C12D2EB8BC50}"/>
              </a:ext>
            </a:extLst>
          </p:cNvPr>
          <p:cNvSpPr>
            <a:spLocks noGrp="1"/>
          </p:cNvSpPr>
          <p:nvPr>
            <p:ph type="dt" sz="half" idx="10"/>
          </p:nvPr>
        </p:nvSpPr>
        <p:spPr/>
        <p:txBody>
          <a:bodyPr/>
          <a:lstStyle/>
          <a:p>
            <a:fld id="{C764DE79-268F-4C1A-8933-263129D2AF90}" type="datetimeFigureOut">
              <a:rPr lang="en-US" smtClean="0"/>
              <a:t>10/19/2025</a:t>
            </a:fld>
            <a:endParaRPr lang="en-US" dirty="0"/>
          </a:p>
        </p:txBody>
      </p:sp>
      <p:sp>
        <p:nvSpPr>
          <p:cNvPr id="5" name="Footer Placeholder 4">
            <a:extLst>
              <a:ext uri="{FF2B5EF4-FFF2-40B4-BE49-F238E27FC236}">
                <a16:creationId xmlns:a16="http://schemas.microsoft.com/office/drawing/2014/main" id="{B37D4A93-2CE3-ADCB-17D7-0FBE13DC50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8BFBB78-6BEA-E840-0A5D-083B8A88AD00}"/>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58343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0F97-283A-2E91-C2FB-6C3C8E8FA5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28409C5A-541D-22D5-A72C-8E6A4D789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DF1F9F-ADD7-201E-D3FF-A57E7DDDFDDE}"/>
              </a:ext>
            </a:extLst>
          </p:cNvPr>
          <p:cNvSpPr>
            <a:spLocks noGrp="1"/>
          </p:cNvSpPr>
          <p:nvPr>
            <p:ph type="dt" sz="half" idx="10"/>
          </p:nvPr>
        </p:nvSpPr>
        <p:spPr/>
        <p:txBody>
          <a:bodyPr/>
          <a:lstStyle/>
          <a:p>
            <a:fld id="{C764DE79-268F-4C1A-8933-263129D2AF90}" type="datetimeFigureOut">
              <a:rPr lang="en-US" smtClean="0"/>
              <a:t>10/19/2025</a:t>
            </a:fld>
            <a:endParaRPr lang="en-US" dirty="0"/>
          </a:p>
        </p:txBody>
      </p:sp>
      <p:sp>
        <p:nvSpPr>
          <p:cNvPr id="5" name="Footer Placeholder 4">
            <a:extLst>
              <a:ext uri="{FF2B5EF4-FFF2-40B4-BE49-F238E27FC236}">
                <a16:creationId xmlns:a16="http://schemas.microsoft.com/office/drawing/2014/main" id="{F58669C8-EDEF-71B5-7F05-57EA7F29F65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64C73C-01AE-9964-C171-BA515DEB03F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25265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985C-B3E8-59F0-0A1B-0E58FD5E020F}"/>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2C7F5C37-5D35-168A-6287-1045828A75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69FFE33F-F5DF-ED04-102A-19B214AC32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5154C9C0-B282-BD74-3406-5D998E6CCCF6}"/>
              </a:ext>
            </a:extLst>
          </p:cNvPr>
          <p:cNvSpPr>
            <a:spLocks noGrp="1"/>
          </p:cNvSpPr>
          <p:nvPr>
            <p:ph type="dt" sz="half" idx="10"/>
          </p:nvPr>
        </p:nvSpPr>
        <p:spPr/>
        <p:txBody>
          <a:bodyPr/>
          <a:lstStyle/>
          <a:p>
            <a:fld id="{C764DE79-268F-4C1A-8933-263129D2AF90}" type="datetimeFigureOut">
              <a:rPr lang="en-US" smtClean="0"/>
              <a:t>10/19/2025</a:t>
            </a:fld>
            <a:endParaRPr lang="en-US" dirty="0"/>
          </a:p>
        </p:txBody>
      </p:sp>
      <p:sp>
        <p:nvSpPr>
          <p:cNvPr id="6" name="Footer Placeholder 5">
            <a:extLst>
              <a:ext uri="{FF2B5EF4-FFF2-40B4-BE49-F238E27FC236}">
                <a16:creationId xmlns:a16="http://schemas.microsoft.com/office/drawing/2014/main" id="{5C36DBE1-CF19-6AF5-3942-DF86F81C022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95DA522-355E-848B-C1AA-56D7D32AA60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03554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71B30-AB59-DB1E-9512-A8BF9D72FC36}"/>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D0C9C621-12ED-E7E5-7DA5-6B92926DAF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D76A62-5089-248D-5FA7-C8E878BFCC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00AB2717-E7C8-DD23-AE64-B7F07A87CF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C2E7CB-8AAA-9AA1-C634-EE04119EC9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1EA63780-30AA-EB4E-D62B-9DA53363A6AD}"/>
              </a:ext>
            </a:extLst>
          </p:cNvPr>
          <p:cNvSpPr>
            <a:spLocks noGrp="1"/>
          </p:cNvSpPr>
          <p:nvPr>
            <p:ph type="dt" sz="half" idx="10"/>
          </p:nvPr>
        </p:nvSpPr>
        <p:spPr/>
        <p:txBody>
          <a:bodyPr/>
          <a:lstStyle/>
          <a:p>
            <a:fld id="{C764DE79-268F-4C1A-8933-263129D2AF90}" type="datetimeFigureOut">
              <a:rPr lang="en-US" smtClean="0"/>
              <a:t>10/19/2025</a:t>
            </a:fld>
            <a:endParaRPr lang="en-US" dirty="0"/>
          </a:p>
        </p:txBody>
      </p:sp>
      <p:sp>
        <p:nvSpPr>
          <p:cNvPr id="8" name="Footer Placeholder 7">
            <a:extLst>
              <a:ext uri="{FF2B5EF4-FFF2-40B4-BE49-F238E27FC236}">
                <a16:creationId xmlns:a16="http://schemas.microsoft.com/office/drawing/2014/main" id="{F35B88E4-3CEE-DDDE-8FE0-148480AA7F3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658B8B-6386-633C-C5A7-4F917BDD7C5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16349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A755C-B6ED-2EA4-FD6A-2D06A03996F8}"/>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577D81E1-091A-DEB6-D4E5-C5E8E846ACE8}"/>
              </a:ext>
            </a:extLst>
          </p:cNvPr>
          <p:cNvSpPr>
            <a:spLocks noGrp="1"/>
          </p:cNvSpPr>
          <p:nvPr>
            <p:ph type="dt" sz="half" idx="10"/>
          </p:nvPr>
        </p:nvSpPr>
        <p:spPr/>
        <p:txBody>
          <a:bodyPr/>
          <a:lstStyle/>
          <a:p>
            <a:fld id="{C764DE79-268F-4C1A-8933-263129D2AF90}" type="datetimeFigureOut">
              <a:rPr lang="en-US" smtClean="0"/>
              <a:t>10/19/2025</a:t>
            </a:fld>
            <a:endParaRPr lang="en-US" dirty="0"/>
          </a:p>
        </p:txBody>
      </p:sp>
      <p:sp>
        <p:nvSpPr>
          <p:cNvPr id="4" name="Footer Placeholder 3">
            <a:extLst>
              <a:ext uri="{FF2B5EF4-FFF2-40B4-BE49-F238E27FC236}">
                <a16:creationId xmlns:a16="http://schemas.microsoft.com/office/drawing/2014/main" id="{8577E8E2-6396-0E50-2DE6-16D6B8EDC6C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74B9FEA-A3D6-804D-73DB-8B0840BF3BF8}"/>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56003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451188-EDC2-B162-34A0-9E17EE238E47}"/>
              </a:ext>
            </a:extLst>
          </p:cNvPr>
          <p:cNvSpPr>
            <a:spLocks noGrp="1"/>
          </p:cNvSpPr>
          <p:nvPr>
            <p:ph type="dt" sz="half" idx="10"/>
          </p:nvPr>
        </p:nvSpPr>
        <p:spPr/>
        <p:txBody>
          <a:bodyPr/>
          <a:lstStyle/>
          <a:p>
            <a:fld id="{C764DE79-268F-4C1A-8933-263129D2AF90}" type="datetimeFigureOut">
              <a:rPr lang="en-US" smtClean="0"/>
              <a:t>10/19/2025</a:t>
            </a:fld>
            <a:endParaRPr lang="en-US" dirty="0"/>
          </a:p>
        </p:txBody>
      </p:sp>
      <p:sp>
        <p:nvSpPr>
          <p:cNvPr id="3" name="Footer Placeholder 2">
            <a:extLst>
              <a:ext uri="{FF2B5EF4-FFF2-40B4-BE49-F238E27FC236}">
                <a16:creationId xmlns:a16="http://schemas.microsoft.com/office/drawing/2014/main" id="{7212E1EA-92EE-9019-BA30-02D87EC81A3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5D1EEA5-CF87-0E55-3887-24DE764A19E2}"/>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76782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93434-AD96-3DE3-802A-868C6944C9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47CB1EC8-A45A-1DCD-F225-91DC8202ED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9833F9B4-CF04-2432-168A-BFDA494478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8163DC-642E-96AB-17C1-7FADB55F80BA}"/>
              </a:ext>
            </a:extLst>
          </p:cNvPr>
          <p:cNvSpPr>
            <a:spLocks noGrp="1"/>
          </p:cNvSpPr>
          <p:nvPr>
            <p:ph type="dt" sz="half" idx="10"/>
          </p:nvPr>
        </p:nvSpPr>
        <p:spPr/>
        <p:txBody>
          <a:bodyPr/>
          <a:lstStyle/>
          <a:p>
            <a:fld id="{C764DE79-268F-4C1A-8933-263129D2AF90}" type="datetimeFigureOut">
              <a:rPr lang="en-US" smtClean="0"/>
              <a:t>10/19/2025</a:t>
            </a:fld>
            <a:endParaRPr lang="en-US" dirty="0"/>
          </a:p>
        </p:txBody>
      </p:sp>
      <p:sp>
        <p:nvSpPr>
          <p:cNvPr id="6" name="Footer Placeholder 5">
            <a:extLst>
              <a:ext uri="{FF2B5EF4-FFF2-40B4-BE49-F238E27FC236}">
                <a16:creationId xmlns:a16="http://schemas.microsoft.com/office/drawing/2014/main" id="{56E3A441-A081-9D84-21E3-589481E8F8A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FDD4B59-CFC7-B605-44E0-5F2B52211DC0}"/>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92672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935B2-D6BB-22BD-F152-D8F542CC84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0D616224-C1BB-9A5A-3CF3-C8BAA5823A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7AF7FE61-EEF3-F9D0-D16A-5927F64610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3F1079-BB67-4C46-5E91-6C7CD045D693}"/>
              </a:ext>
            </a:extLst>
          </p:cNvPr>
          <p:cNvSpPr>
            <a:spLocks noGrp="1"/>
          </p:cNvSpPr>
          <p:nvPr>
            <p:ph type="dt" sz="half" idx="10"/>
          </p:nvPr>
        </p:nvSpPr>
        <p:spPr/>
        <p:txBody>
          <a:bodyPr/>
          <a:lstStyle/>
          <a:p>
            <a:fld id="{C764DE79-268F-4C1A-8933-263129D2AF90}" type="datetimeFigureOut">
              <a:rPr lang="en-US" smtClean="0"/>
              <a:t>10/19/2025</a:t>
            </a:fld>
            <a:endParaRPr lang="en-US" dirty="0"/>
          </a:p>
        </p:txBody>
      </p:sp>
      <p:sp>
        <p:nvSpPr>
          <p:cNvPr id="6" name="Footer Placeholder 5">
            <a:extLst>
              <a:ext uri="{FF2B5EF4-FFF2-40B4-BE49-F238E27FC236}">
                <a16:creationId xmlns:a16="http://schemas.microsoft.com/office/drawing/2014/main" id="{0E4196DF-3B78-ECA1-6EF2-C9D978EF7BE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C56EEF0-1296-706E-2F52-66232523087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78632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7228A-090C-D852-9C03-1E3B34A13222}"/>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CF96CDB7-4EA5-263B-CADD-520004FEC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69D9939-8721-B7EF-04FA-9760B69F177D}"/>
              </a:ext>
            </a:extLst>
          </p:cNvPr>
          <p:cNvSpPr>
            <a:spLocks noGrp="1"/>
          </p:cNvSpPr>
          <p:nvPr>
            <p:ph type="dt" sz="half" idx="10"/>
          </p:nvPr>
        </p:nvSpPr>
        <p:spPr/>
        <p:txBody>
          <a:bodyPr/>
          <a:lstStyle/>
          <a:p>
            <a:fld id="{C764DE79-268F-4C1A-8933-263129D2AF90}" type="datetimeFigureOut">
              <a:rPr lang="en-US" smtClean="0"/>
              <a:t>10/19/2025</a:t>
            </a:fld>
            <a:endParaRPr lang="en-US" dirty="0"/>
          </a:p>
        </p:txBody>
      </p:sp>
      <p:sp>
        <p:nvSpPr>
          <p:cNvPr id="5" name="Footer Placeholder 4">
            <a:extLst>
              <a:ext uri="{FF2B5EF4-FFF2-40B4-BE49-F238E27FC236}">
                <a16:creationId xmlns:a16="http://schemas.microsoft.com/office/drawing/2014/main" id="{886995E2-8FC5-F847-FC96-EF4D6021DEE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45A47D4-9CDC-3BDB-E6D9-BFE1BEF1AAFF}"/>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56324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6E64C9-897C-F05A-6F31-A5A1E6E396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486334EC-5B2B-73B3-A601-617D7F252F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912BAA6-37AF-4475-0D7A-A2A2619F13B6}"/>
              </a:ext>
            </a:extLst>
          </p:cNvPr>
          <p:cNvSpPr>
            <a:spLocks noGrp="1"/>
          </p:cNvSpPr>
          <p:nvPr>
            <p:ph type="dt" sz="half" idx="10"/>
          </p:nvPr>
        </p:nvSpPr>
        <p:spPr/>
        <p:txBody>
          <a:bodyPr/>
          <a:lstStyle/>
          <a:p>
            <a:fld id="{C764DE79-268F-4C1A-8933-263129D2AF90}" type="datetimeFigureOut">
              <a:rPr lang="en-US" smtClean="0"/>
              <a:t>10/19/2025</a:t>
            </a:fld>
            <a:endParaRPr lang="en-US" dirty="0"/>
          </a:p>
        </p:txBody>
      </p:sp>
      <p:sp>
        <p:nvSpPr>
          <p:cNvPr id="5" name="Footer Placeholder 4">
            <a:extLst>
              <a:ext uri="{FF2B5EF4-FFF2-40B4-BE49-F238E27FC236}">
                <a16:creationId xmlns:a16="http://schemas.microsoft.com/office/drawing/2014/main" id="{AC293CAC-3170-C993-33AF-CF149D8D1F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9CC1950-80AC-BCAD-6DD8-099CB4EB2DE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20729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1"/>
      </p:bgRef>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347665" y="145144"/>
            <a:ext cx="11234736" cy="706503"/>
          </a:xfrm>
          <a:prstGeom prst="rect">
            <a:avLst/>
          </a:prstGeom>
          <a:gradFill flip="none" rotWithShape="1">
            <a:gsLst>
              <a:gs pos="0">
                <a:schemeClr val="accent1">
                  <a:lumMod val="40000"/>
                  <a:lumOff val="60000"/>
                </a:schemeClr>
              </a:gs>
              <a:gs pos="48000">
                <a:schemeClr val="accent1">
                  <a:lumMod val="60000"/>
                </a:schemeClr>
              </a:gs>
            </a:gsLst>
            <a:path path="circle">
              <a:fillToRect l="100000" t="100000"/>
            </a:path>
            <a:tileRect r="-100000" b="-100000"/>
          </a:gradFill>
          <a:ln>
            <a:noFill/>
          </a:ln>
        </p:spPr>
        <p:style>
          <a:lnRef idx="2">
            <a:schemeClr val="accent6"/>
          </a:lnRef>
          <a:fillRef idx="1">
            <a:schemeClr val="lt1"/>
          </a:fillRef>
          <a:effectRef idx="0">
            <a:schemeClr val="accent6"/>
          </a:effectRef>
          <a:fontRef idx="minor">
            <a:schemeClr val="dk1"/>
          </a:fontRef>
        </p:style>
        <p:txBody>
          <a:bodyPr rtlCol="0" anchor="ctr"/>
          <a:lstStyle/>
          <a:p>
            <a:pPr algn="l"/>
            <a:endParaRPr lang="en-US" sz="2800"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1"/>
            <a:ext cx="11234737" cy="5397404"/>
          </a:xfrm>
        </p:spPr>
        <p:txBody>
          <a:bodyPr/>
          <a:lstStyle>
            <a:lvl1pPr>
              <a:defRPr>
                <a:latin typeface="Cambria" panose="02040503050406030204" pitchFamily="18" charset="0"/>
                <a:ea typeface="Cambria" panose="02040503050406030204" pitchFamily="18" charset="0"/>
                <a:cs typeface="Times New Roman" panose="02020603050405020304" pitchFamily="18" charset="0"/>
              </a:defRPr>
            </a:lvl1pPr>
          </a:lstStyle>
          <a:p>
            <a:pPr lvl="0"/>
            <a:endParaRPr lang="en-US"/>
          </a:p>
        </p:txBody>
      </p:sp>
      <p:sp>
        <p:nvSpPr>
          <p:cNvPr id="5" name="Rectangle: Rounded Corners 3">
            <a:extLst>
              <a:ext uri="{FF2B5EF4-FFF2-40B4-BE49-F238E27FC236}">
                <a16:creationId xmlns:a16="http://schemas.microsoft.com/office/drawing/2014/main" id="{9F3403E1-F657-927A-94DB-C64E7369A5E4}"/>
              </a:ext>
            </a:extLst>
          </p:cNvPr>
          <p:cNvSpPr/>
          <p:nvPr userDrawn="1"/>
        </p:nvSpPr>
        <p:spPr>
          <a:xfrm>
            <a:off x="347665" y="6476290"/>
            <a:ext cx="11234736" cy="45719"/>
          </a:xfrm>
          <a:prstGeom prst="rect">
            <a:avLst/>
          </a:prstGeom>
          <a:gradFill flip="none" rotWithShape="1">
            <a:gsLst>
              <a:gs pos="0">
                <a:schemeClr val="accent1">
                  <a:lumMod val="40000"/>
                  <a:lumOff val="60000"/>
                </a:schemeClr>
              </a:gs>
              <a:gs pos="48000">
                <a:schemeClr val="accent1">
                  <a:lumMod val="60000"/>
                </a:schemeClr>
              </a:gs>
            </a:gsLst>
            <a:path path="circle">
              <a:fillToRect l="100000" t="100000"/>
            </a:path>
            <a:tileRect r="-100000" b="-100000"/>
          </a:gradFill>
          <a:ln>
            <a:noFill/>
          </a:ln>
        </p:spPr>
        <p:style>
          <a:lnRef idx="2">
            <a:schemeClr val="accent6"/>
          </a:lnRef>
          <a:fillRef idx="1">
            <a:schemeClr val="lt1"/>
          </a:fillRef>
          <a:effectRef idx="0">
            <a:schemeClr val="accent6"/>
          </a:effectRef>
          <a:fontRef idx="minor">
            <a:schemeClr val="dk1"/>
          </a:fontRef>
        </p:style>
        <p:txBody>
          <a:bodyPr rtlCol="0" anchor="ctr"/>
          <a:lstStyle/>
          <a:p>
            <a:pPr algn="l"/>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11" name="TextBox 10"/>
          <p:cNvSpPr txBox="1"/>
          <p:nvPr userDrawn="1"/>
        </p:nvSpPr>
        <p:spPr>
          <a:xfrm>
            <a:off x="11134166" y="6499149"/>
            <a:ext cx="475130" cy="369332"/>
          </a:xfrm>
          <a:prstGeom prst="rect">
            <a:avLst/>
          </a:prstGeom>
          <a:solidFill>
            <a:srgbClr val="002060"/>
          </a:solidFill>
        </p:spPr>
        <p:txBody>
          <a:bodyPr wrap="square" rtlCol="0">
            <a:spAutoFit/>
          </a:bodyPr>
          <a:lstStyle/>
          <a:p>
            <a:fld id="{67037DFD-7A2B-4512-A492-6059EDE34B73}" type="slidenum">
              <a:rPr lang="en-US" smtClean="0">
                <a:solidFill>
                  <a:schemeClr val="bg1"/>
                </a:solidFill>
              </a:rPr>
              <a:t>‹#›</a:t>
            </a:fld>
            <a:endParaRPr lang="en-US">
              <a:solidFill>
                <a:schemeClr val="bg1"/>
              </a:solidFill>
            </a:endParaRPr>
          </a:p>
        </p:txBody>
      </p:sp>
      <p:sp>
        <p:nvSpPr>
          <p:cNvPr id="12" name="Title 11"/>
          <p:cNvSpPr>
            <a:spLocks noGrp="1"/>
          </p:cNvSpPr>
          <p:nvPr>
            <p:ph type="title"/>
          </p:nvPr>
        </p:nvSpPr>
        <p:spPr>
          <a:xfrm>
            <a:off x="416858" y="213164"/>
            <a:ext cx="10515600" cy="638484"/>
          </a:xfrm>
        </p:spPr>
        <p:txBody>
          <a:bodyPr>
            <a:normAutofit/>
          </a:bodyPr>
          <a:lstStyle>
            <a:lvl1pPr>
              <a:defRPr sz="3500">
                <a:solidFill>
                  <a:schemeClr val="bg1"/>
                </a:solidFill>
                <a:latin typeface="Cambria" panose="02040503050406030204" pitchFamily="18" charset="0"/>
                <a:ea typeface="Cambria" panose="02040503050406030204" pitchFamily="18" charset="0"/>
              </a:defRPr>
            </a:lvl1pPr>
          </a:lstStyle>
          <a:p>
            <a:r>
              <a:rPr lang="en-US" smtClean="0"/>
              <a:t>Click to edit Master title style</a:t>
            </a:r>
            <a:endParaRPr lang="en-US"/>
          </a:p>
        </p:txBody>
      </p:sp>
    </p:spTree>
    <p:extLst>
      <p:ext uri="{BB962C8B-B14F-4D97-AF65-F5344CB8AC3E}">
        <p14:creationId xmlns:p14="http://schemas.microsoft.com/office/powerpoint/2010/main" val="107302522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5" y="145145"/>
            <a:ext cx="7380609"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2. Các công trình nghiên cứu liên quan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53505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2" y="145145"/>
            <a:ext cx="4961880"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3. Cơ sở lý thuyết</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070906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2" y="145145"/>
            <a:ext cx="7155545"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4. Phương pháp đề xuất</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050940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1" y="145145"/>
            <a:ext cx="8589784"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6. Kết luận và hướng phát triển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866414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1" y="145145"/>
            <a:ext cx="5302348"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5. Kết quả và thảo luận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769744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6420400" y="2630967"/>
            <a:ext cx="51620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40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
        <p:nvSpPr>
          <p:cNvPr id="19" name="Google Shape;19;p4"/>
          <p:cNvSpPr txBox="1">
            <a:spLocks noGrp="1"/>
          </p:cNvSpPr>
          <p:nvPr>
            <p:ph type="subTitle" idx="1"/>
          </p:nvPr>
        </p:nvSpPr>
        <p:spPr>
          <a:xfrm>
            <a:off x="6420400" y="3427433"/>
            <a:ext cx="5162000" cy="1206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867"/>
            </a:lvl1pPr>
            <a:lvl2pPr lvl="1" algn="ctr">
              <a:spcBef>
                <a:spcPts val="2133"/>
              </a:spcBef>
              <a:spcAft>
                <a:spcPts val="0"/>
              </a:spcAft>
              <a:buSzPts val="1400"/>
              <a:buNone/>
              <a:defRPr/>
            </a:lvl2pPr>
            <a:lvl3pPr lvl="2" algn="ctr">
              <a:spcBef>
                <a:spcPts val="2133"/>
              </a:spcBef>
              <a:spcAft>
                <a:spcPts val="0"/>
              </a:spcAft>
              <a:buSzPts val="1400"/>
              <a:buNone/>
              <a:defRPr/>
            </a:lvl3pPr>
            <a:lvl4pPr lvl="3" algn="ctr">
              <a:spcBef>
                <a:spcPts val="2133"/>
              </a:spcBef>
              <a:spcAft>
                <a:spcPts val="0"/>
              </a:spcAft>
              <a:buSzPts val="1400"/>
              <a:buNone/>
              <a:defRPr/>
            </a:lvl4pPr>
            <a:lvl5pPr lvl="4" algn="ctr">
              <a:spcBef>
                <a:spcPts val="2133"/>
              </a:spcBef>
              <a:spcAft>
                <a:spcPts val="0"/>
              </a:spcAft>
              <a:buSzPts val="1400"/>
              <a:buNone/>
              <a:defRPr/>
            </a:lvl5pPr>
            <a:lvl6pPr lvl="5" algn="ctr">
              <a:spcBef>
                <a:spcPts val="2133"/>
              </a:spcBef>
              <a:spcAft>
                <a:spcPts val="0"/>
              </a:spcAft>
              <a:buSzPts val="1400"/>
              <a:buNone/>
              <a:defRPr/>
            </a:lvl6pPr>
            <a:lvl7pPr lvl="6" algn="ctr">
              <a:spcBef>
                <a:spcPts val="2133"/>
              </a:spcBef>
              <a:spcAft>
                <a:spcPts val="0"/>
              </a:spcAft>
              <a:buSzPts val="1400"/>
              <a:buNone/>
              <a:defRPr/>
            </a:lvl7pPr>
            <a:lvl8pPr lvl="7" algn="ctr">
              <a:spcBef>
                <a:spcPts val="2133"/>
              </a:spcBef>
              <a:spcAft>
                <a:spcPts val="0"/>
              </a:spcAft>
              <a:buSzPts val="1400"/>
              <a:buNone/>
              <a:defRPr/>
            </a:lvl8pPr>
            <a:lvl9pPr lvl="8" algn="ctr">
              <a:spcBef>
                <a:spcPts val="2133"/>
              </a:spcBef>
              <a:spcAft>
                <a:spcPts val="2133"/>
              </a:spcAft>
              <a:buSzPts val="1400"/>
              <a:buNone/>
              <a:defRPr/>
            </a:lvl9pPr>
          </a:lstStyle>
          <a:p>
            <a:endParaRPr/>
          </a:p>
        </p:txBody>
      </p:sp>
    </p:spTree>
    <p:extLst>
      <p:ext uri="{BB962C8B-B14F-4D97-AF65-F5344CB8AC3E}">
        <p14:creationId xmlns:p14="http://schemas.microsoft.com/office/powerpoint/2010/main" val="40684649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0" name="Google Shape;30;p6"/>
          <p:cNvSpPr txBox="1">
            <a:spLocks noGrp="1"/>
          </p:cNvSpPr>
          <p:nvPr>
            <p:ph type="sldNum" idx="12"/>
          </p:nvPr>
        </p:nvSpPr>
        <p:spPr>
          <a:xfrm>
            <a:off x="11281345" y="6208524"/>
            <a:ext cx="731600" cy="524800"/>
          </a:xfrm>
          <a:prstGeom prst="rect">
            <a:avLst/>
          </a:prstGeom>
          <a:noFill/>
          <a:ln>
            <a:noFill/>
          </a:ln>
        </p:spPr>
        <p:txBody>
          <a:bodyPr spcFirstLastPara="1" wrap="square" lIns="91425" tIns="91425" rIns="91425" bIns="91425" anchor="ctr" anchorCtr="0">
            <a:noAutofit/>
          </a:bodyPr>
          <a:lstStyle>
            <a:lvl1pPr lvl="0">
              <a:buNone/>
              <a:defRPr sz="1600" b="1">
                <a:latin typeface="Montserrat" pitchFamily="2" charset="77"/>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0653593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003737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able of Contents ">
  <p:cSld name="Table of Contents ">
    <p:spTree>
      <p:nvGrpSpPr>
        <p:cNvPr id="1" name="Shape 59"/>
        <p:cNvGrpSpPr/>
        <p:nvPr/>
      </p:nvGrpSpPr>
      <p:grpSpPr>
        <a:xfrm>
          <a:off x="0" y="0"/>
          <a:ext cx="0" cy="0"/>
          <a:chOff x="0" y="0"/>
          <a:chExt cx="0" cy="0"/>
        </a:xfrm>
      </p:grpSpPr>
      <p:sp>
        <p:nvSpPr>
          <p:cNvPr id="60" name="Google Shape;60;p13"/>
          <p:cNvSpPr txBox="1">
            <a:spLocks noGrp="1"/>
          </p:cNvSpPr>
          <p:nvPr>
            <p:ph type="title"/>
          </p:nvPr>
        </p:nvSpPr>
        <p:spPr>
          <a:xfrm>
            <a:off x="609600" y="593367"/>
            <a:ext cx="10972800" cy="6460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4000"/>
            </a:lvl1pPr>
            <a:lvl2pPr lvl="1">
              <a:spcBef>
                <a:spcPts val="0"/>
              </a:spcBef>
              <a:spcAft>
                <a:spcPts val="0"/>
              </a:spcAft>
              <a:buSzPts val="3000"/>
              <a:buNone/>
              <a:defRPr>
                <a:latin typeface="Ubuntu"/>
                <a:ea typeface="Ubuntu"/>
                <a:cs typeface="Ubuntu"/>
                <a:sym typeface="Ubuntu"/>
              </a:defRPr>
            </a:lvl2pPr>
            <a:lvl3pPr lvl="2">
              <a:spcBef>
                <a:spcPts val="0"/>
              </a:spcBef>
              <a:spcAft>
                <a:spcPts val="0"/>
              </a:spcAft>
              <a:buSzPts val="3000"/>
              <a:buNone/>
              <a:defRPr>
                <a:latin typeface="Ubuntu"/>
                <a:ea typeface="Ubuntu"/>
                <a:cs typeface="Ubuntu"/>
                <a:sym typeface="Ubuntu"/>
              </a:defRPr>
            </a:lvl3pPr>
            <a:lvl4pPr lvl="3">
              <a:spcBef>
                <a:spcPts val="0"/>
              </a:spcBef>
              <a:spcAft>
                <a:spcPts val="0"/>
              </a:spcAft>
              <a:buSzPts val="3000"/>
              <a:buNone/>
              <a:defRPr>
                <a:latin typeface="Ubuntu"/>
                <a:ea typeface="Ubuntu"/>
                <a:cs typeface="Ubuntu"/>
                <a:sym typeface="Ubuntu"/>
              </a:defRPr>
            </a:lvl4pPr>
            <a:lvl5pPr lvl="4">
              <a:spcBef>
                <a:spcPts val="0"/>
              </a:spcBef>
              <a:spcAft>
                <a:spcPts val="0"/>
              </a:spcAft>
              <a:buSzPts val="3000"/>
              <a:buNone/>
              <a:defRPr>
                <a:latin typeface="Ubuntu"/>
                <a:ea typeface="Ubuntu"/>
                <a:cs typeface="Ubuntu"/>
                <a:sym typeface="Ubuntu"/>
              </a:defRPr>
            </a:lvl5pPr>
            <a:lvl6pPr lvl="5">
              <a:spcBef>
                <a:spcPts val="0"/>
              </a:spcBef>
              <a:spcAft>
                <a:spcPts val="0"/>
              </a:spcAft>
              <a:buSzPts val="3000"/>
              <a:buNone/>
              <a:defRPr>
                <a:latin typeface="Ubuntu"/>
                <a:ea typeface="Ubuntu"/>
                <a:cs typeface="Ubuntu"/>
                <a:sym typeface="Ubuntu"/>
              </a:defRPr>
            </a:lvl6pPr>
            <a:lvl7pPr lvl="6">
              <a:spcBef>
                <a:spcPts val="0"/>
              </a:spcBef>
              <a:spcAft>
                <a:spcPts val="0"/>
              </a:spcAft>
              <a:buSzPts val="3000"/>
              <a:buNone/>
              <a:defRPr>
                <a:latin typeface="Ubuntu"/>
                <a:ea typeface="Ubuntu"/>
                <a:cs typeface="Ubuntu"/>
                <a:sym typeface="Ubuntu"/>
              </a:defRPr>
            </a:lvl7pPr>
            <a:lvl8pPr lvl="7">
              <a:spcBef>
                <a:spcPts val="0"/>
              </a:spcBef>
              <a:spcAft>
                <a:spcPts val="0"/>
              </a:spcAft>
              <a:buSzPts val="3000"/>
              <a:buNone/>
              <a:defRPr>
                <a:latin typeface="Ubuntu"/>
                <a:ea typeface="Ubuntu"/>
                <a:cs typeface="Ubuntu"/>
                <a:sym typeface="Ubuntu"/>
              </a:defRPr>
            </a:lvl8pPr>
            <a:lvl9pPr lvl="8">
              <a:spcBef>
                <a:spcPts val="0"/>
              </a:spcBef>
              <a:spcAft>
                <a:spcPts val="0"/>
              </a:spcAft>
              <a:buSzPts val="3000"/>
              <a:buNone/>
              <a:defRPr>
                <a:latin typeface="Ubuntu"/>
                <a:ea typeface="Ubuntu"/>
                <a:cs typeface="Ubuntu"/>
                <a:sym typeface="Ubuntu"/>
              </a:defRPr>
            </a:lvl9pPr>
          </a:lstStyle>
          <a:p>
            <a:endParaRPr/>
          </a:p>
        </p:txBody>
      </p:sp>
      <p:sp>
        <p:nvSpPr>
          <p:cNvPr id="61" name="Google Shape;61;p13"/>
          <p:cNvSpPr txBox="1">
            <a:spLocks noGrp="1"/>
          </p:cNvSpPr>
          <p:nvPr>
            <p:ph type="title" idx="2"/>
          </p:nvPr>
        </p:nvSpPr>
        <p:spPr>
          <a:xfrm>
            <a:off x="1493400" y="2436867"/>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2" name="Google Shape;62;p13"/>
          <p:cNvSpPr txBox="1">
            <a:spLocks noGrp="1"/>
          </p:cNvSpPr>
          <p:nvPr>
            <p:ph type="subTitle" idx="1"/>
          </p:nvPr>
        </p:nvSpPr>
        <p:spPr>
          <a:xfrm>
            <a:off x="1515400" y="2944337"/>
            <a:ext cx="2986800" cy="92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 name="Google Shape;63;p13"/>
          <p:cNvSpPr txBox="1">
            <a:spLocks noGrp="1"/>
          </p:cNvSpPr>
          <p:nvPr>
            <p:ph type="title" idx="3" hasCustomPrompt="1"/>
          </p:nvPr>
        </p:nvSpPr>
        <p:spPr>
          <a:xfrm>
            <a:off x="1515400" y="1681369"/>
            <a:ext cx="2986800" cy="88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64" name="Google Shape;64;p13"/>
          <p:cNvSpPr txBox="1">
            <a:spLocks noGrp="1"/>
          </p:cNvSpPr>
          <p:nvPr>
            <p:ph type="title" idx="4"/>
          </p:nvPr>
        </p:nvSpPr>
        <p:spPr>
          <a:xfrm>
            <a:off x="1402233" y="4805333"/>
            <a:ext cx="32132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5" name="Google Shape;65;p13"/>
          <p:cNvSpPr txBox="1">
            <a:spLocks noGrp="1"/>
          </p:cNvSpPr>
          <p:nvPr>
            <p:ph type="subTitle" idx="5"/>
          </p:nvPr>
        </p:nvSpPr>
        <p:spPr>
          <a:xfrm>
            <a:off x="1515400" y="5260197"/>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6" name="Google Shape;66;p13"/>
          <p:cNvSpPr txBox="1">
            <a:spLocks noGrp="1"/>
          </p:cNvSpPr>
          <p:nvPr>
            <p:ph type="title" idx="6" hasCustomPrompt="1"/>
          </p:nvPr>
        </p:nvSpPr>
        <p:spPr>
          <a:xfrm>
            <a:off x="1515400" y="4048375"/>
            <a:ext cx="2986800" cy="84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67" name="Google Shape;67;p13"/>
          <p:cNvSpPr txBox="1">
            <a:spLocks noGrp="1"/>
          </p:cNvSpPr>
          <p:nvPr>
            <p:ph type="title" idx="7"/>
          </p:nvPr>
        </p:nvSpPr>
        <p:spPr>
          <a:xfrm>
            <a:off x="4704967" y="2423233"/>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8" name="Google Shape;68;p13"/>
          <p:cNvSpPr txBox="1">
            <a:spLocks noGrp="1"/>
          </p:cNvSpPr>
          <p:nvPr>
            <p:ph type="subTitle" idx="8"/>
          </p:nvPr>
        </p:nvSpPr>
        <p:spPr>
          <a:xfrm>
            <a:off x="4589769" y="2944337"/>
            <a:ext cx="2986800" cy="85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 name="Google Shape;69;p13"/>
          <p:cNvSpPr txBox="1">
            <a:spLocks noGrp="1"/>
          </p:cNvSpPr>
          <p:nvPr>
            <p:ph type="title" idx="9" hasCustomPrompt="1"/>
          </p:nvPr>
        </p:nvSpPr>
        <p:spPr>
          <a:xfrm>
            <a:off x="4589769" y="1647267"/>
            <a:ext cx="2986800" cy="9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0" name="Google Shape;70;p13"/>
          <p:cNvSpPr txBox="1">
            <a:spLocks noGrp="1"/>
          </p:cNvSpPr>
          <p:nvPr>
            <p:ph type="title" idx="13"/>
          </p:nvPr>
        </p:nvSpPr>
        <p:spPr>
          <a:xfrm>
            <a:off x="4589769" y="4805337"/>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1" name="Google Shape;71;p13"/>
          <p:cNvSpPr txBox="1">
            <a:spLocks noGrp="1"/>
          </p:cNvSpPr>
          <p:nvPr>
            <p:ph type="subTitle" idx="14"/>
          </p:nvPr>
        </p:nvSpPr>
        <p:spPr>
          <a:xfrm>
            <a:off x="4589769" y="5260197"/>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 name="Google Shape;72;p13"/>
          <p:cNvSpPr txBox="1">
            <a:spLocks noGrp="1"/>
          </p:cNvSpPr>
          <p:nvPr>
            <p:ph type="title" idx="15" hasCustomPrompt="1"/>
          </p:nvPr>
        </p:nvSpPr>
        <p:spPr>
          <a:xfrm>
            <a:off x="4589769" y="4016067"/>
            <a:ext cx="2986800" cy="87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3" name="Google Shape;73;p13"/>
          <p:cNvSpPr txBox="1">
            <a:spLocks noGrp="1"/>
          </p:cNvSpPr>
          <p:nvPr>
            <p:ph type="title" idx="16"/>
          </p:nvPr>
        </p:nvSpPr>
        <p:spPr>
          <a:xfrm>
            <a:off x="7576567" y="2434900"/>
            <a:ext cx="32132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4" name="Google Shape;74;p13"/>
          <p:cNvSpPr txBox="1">
            <a:spLocks noGrp="1"/>
          </p:cNvSpPr>
          <p:nvPr>
            <p:ph type="subTitle" idx="17"/>
          </p:nvPr>
        </p:nvSpPr>
        <p:spPr>
          <a:xfrm>
            <a:off x="7691936" y="2881703"/>
            <a:ext cx="2986800" cy="92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 name="Google Shape;75;p13"/>
          <p:cNvSpPr txBox="1">
            <a:spLocks noGrp="1"/>
          </p:cNvSpPr>
          <p:nvPr>
            <p:ph type="title" idx="18" hasCustomPrompt="1"/>
          </p:nvPr>
        </p:nvSpPr>
        <p:spPr>
          <a:xfrm>
            <a:off x="7691935" y="1686008"/>
            <a:ext cx="2986800" cy="88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6" name="Google Shape;76;p13"/>
          <p:cNvSpPr txBox="1">
            <a:spLocks noGrp="1"/>
          </p:cNvSpPr>
          <p:nvPr>
            <p:ph type="title" idx="19"/>
          </p:nvPr>
        </p:nvSpPr>
        <p:spPr>
          <a:xfrm>
            <a:off x="7691936" y="4803391"/>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7" name="Google Shape;77;p13"/>
          <p:cNvSpPr txBox="1">
            <a:spLocks noGrp="1"/>
          </p:cNvSpPr>
          <p:nvPr>
            <p:ph type="subTitle" idx="20"/>
          </p:nvPr>
        </p:nvSpPr>
        <p:spPr>
          <a:xfrm>
            <a:off x="7691936" y="5250176"/>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 name="Google Shape;78;p13"/>
          <p:cNvSpPr txBox="1">
            <a:spLocks noGrp="1"/>
          </p:cNvSpPr>
          <p:nvPr>
            <p:ph type="title" idx="21" hasCustomPrompt="1"/>
          </p:nvPr>
        </p:nvSpPr>
        <p:spPr>
          <a:xfrm>
            <a:off x="7691935" y="4052819"/>
            <a:ext cx="2986800" cy="84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9" name="Google Shape;79;p13"/>
          <p:cNvSpPr/>
          <p:nvPr/>
        </p:nvSpPr>
        <p:spPr>
          <a:xfrm>
            <a:off x="2286784"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80;p13"/>
          <p:cNvSpPr/>
          <p:nvPr/>
        </p:nvSpPr>
        <p:spPr>
          <a:xfrm>
            <a:off x="2130018" y="1551549"/>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81;p13"/>
          <p:cNvSpPr/>
          <p:nvPr/>
        </p:nvSpPr>
        <p:spPr>
          <a:xfrm>
            <a:off x="5204352" y="1560251"/>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82;p13"/>
          <p:cNvSpPr/>
          <p:nvPr/>
        </p:nvSpPr>
        <p:spPr>
          <a:xfrm>
            <a:off x="5408719"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83;p13"/>
          <p:cNvSpPr/>
          <p:nvPr/>
        </p:nvSpPr>
        <p:spPr>
          <a:xfrm>
            <a:off x="8393520"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84;p13"/>
          <p:cNvSpPr/>
          <p:nvPr/>
        </p:nvSpPr>
        <p:spPr>
          <a:xfrm>
            <a:off x="8306520" y="1551549"/>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58;p12"/>
          <p:cNvSpPr txBox="1">
            <a:spLocks noGrp="1"/>
          </p:cNvSpPr>
          <p:nvPr>
            <p:ph type="sldNum" idx="22"/>
          </p:nvPr>
        </p:nvSpPr>
        <p:spPr>
          <a:xfrm>
            <a:off x="11296611" y="6235820"/>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3843180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7">
  <p:cSld name="Title and Text 7">
    <p:spTree>
      <p:nvGrpSpPr>
        <p:cNvPr id="1" name="Shape 195"/>
        <p:cNvGrpSpPr/>
        <p:nvPr/>
      </p:nvGrpSpPr>
      <p:grpSpPr>
        <a:xfrm>
          <a:off x="0" y="0"/>
          <a:ext cx="0" cy="0"/>
          <a:chOff x="0" y="0"/>
          <a:chExt cx="0" cy="0"/>
        </a:xfrm>
      </p:grpSpPr>
      <p:sp>
        <p:nvSpPr>
          <p:cNvPr id="196" name="Google Shape;196;p33"/>
          <p:cNvSpPr txBox="1">
            <a:spLocks noGrp="1"/>
          </p:cNvSpPr>
          <p:nvPr>
            <p:ph type="title"/>
          </p:nvPr>
        </p:nvSpPr>
        <p:spPr>
          <a:xfrm>
            <a:off x="6420412" y="1719000"/>
            <a:ext cx="5162000" cy="186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5333"/>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97" name="Google Shape;197;p33"/>
          <p:cNvSpPr txBox="1">
            <a:spLocks noGrp="1"/>
          </p:cNvSpPr>
          <p:nvPr>
            <p:ph type="subTitle" idx="1"/>
          </p:nvPr>
        </p:nvSpPr>
        <p:spPr>
          <a:xfrm>
            <a:off x="6420400" y="3317221"/>
            <a:ext cx="5162000" cy="89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Tree>
    <p:extLst>
      <p:ext uri="{BB962C8B-B14F-4D97-AF65-F5344CB8AC3E}">
        <p14:creationId xmlns:p14="http://schemas.microsoft.com/office/powerpoint/2010/main" val="26883447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Google Shape;58;p12"/>
          <p:cNvSpPr txBox="1">
            <a:spLocks noGrp="1"/>
          </p:cNvSpPr>
          <p:nvPr>
            <p:ph type="sldNum" idx="4"/>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2907290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52E368-DA95-4E0E-69B7-070546B76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709E9B9C-DB00-4016-0EAD-39BB7BBD34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02FD6CD-82E8-A568-FEFC-19C346B766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10/19/2025</a:t>
            </a:fld>
            <a:endParaRPr lang="en-US" dirty="0"/>
          </a:p>
        </p:txBody>
      </p:sp>
      <p:sp>
        <p:nvSpPr>
          <p:cNvPr id="5" name="Footer Placeholder 4">
            <a:extLst>
              <a:ext uri="{FF2B5EF4-FFF2-40B4-BE49-F238E27FC236}">
                <a16:creationId xmlns:a16="http://schemas.microsoft.com/office/drawing/2014/main" id="{93C9C013-B326-BD05-156D-A3D6289AFF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9BFB734-D57E-5259-379D-D6F0B8A640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93158113"/>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 id="2147483792" r:id="rId12"/>
    <p:sldLayoutId id="2147483793" r:id="rId13"/>
    <p:sldLayoutId id="2147483794" r:id="rId14"/>
    <p:sldLayoutId id="2147483795" r:id="rId15"/>
    <p:sldLayoutId id="2147483796" r:id="rId16"/>
    <p:sldLayoutId id="2147483826"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1pPr>
            <a:lvl2pPr lvl="1">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2pPr>
            <a:lvl3pPr lvl="2">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3pPr>
            <a:lvl4pPr lvl="3">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4pPr>
            <a:lvl5pPr lvl="4">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5pPr>
            <a:lvl6pPr lvl="5">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6pPr>
            <a:lvl7pPr lvl="6">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7pPr>
            <a:lvl8pPr lvl="7">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8pPr>
            <a:lvl9pPr lvl="8">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58;p12"/>
          <p:cNvSpPr txBox="1">
            <a:spLocks noGrp="1"/>
          </p:cNvSpPr>
          <p:nvPr>
            <p:ph type="sldNum" idx="4"/>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sz="1600" b="1" i="0">
                <a:latin typeface="Montserrat" pitchFamily="2" charset="77"/>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3811400055"/>
      </p:ext>
    </p:extLst>
  </p:cSld>
  <p:clrMap bg1="lt1" tx1="dk1" bg2="dk2" tx2="lt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1.xml"/><Relationship Id="rId16"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hyperlink" Target="https://www.physionet.org/content/vindr-mammo/1.0.0/" TargetMode="Externa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2" name="Subtitle 1"/>
          <p:cNvSpPr>
            <a:spLocks noGrp="1"/>
          </p:cNvSpPr>
          <p:nvPr>
            <p:ph type="subTitle" idx="1"/>
          </p:nvPr>
        </p:nvSpPr>
        <p:spPr>
          <a:xfrm>
            <a:off x="4347337" y="5056856"/>
            <a:ext cx="7370618" cy="886744"/>
          </a:xfrm>
        </p:spPr>
        <p:txBody>
          <a:bodyPr/>
          <a:lstStyle/>
          <a:p>
            <a:r>
              <a:rPr lang="en-US" b="1"/>
              <a:t>Ho-Dat </a:t>
            </a:r>
            <a:r>
              <a:rPr lang="en-US" b="1" smtClean="0"/>
              <a:t>TRAN, </a:t>
            </a:r>
            <a:r>
              <a:rPr lang="en-US" b="1"/>
              <a:t>Thuong-Cang PHAN</a:t>
            </a:r>
            <a:r>
              <a:rPr lang="en-US" b="1" smtClean="0"/>
              <a:t>, </a:t>
            </a:r>
          </a:p>
          <a:p>
            <a:r>
              <a:rPr lang="en-US" b="1" smtClean="0"/>
              <a:t>Van-Kha VO, Anh-Cang PHAN</a:t>
            </a:r>
            <a:r>
              <a:rPr lang="en-US" b="1" baseline="30000" smtClean="0">
                <a:sym typeface="Wingdings" panose="05000000000000000000" pitchFamily="2" charset="2"/>
              </a:rPr>
              <a:t></a:t>
            </a:r>
            <a:r>
              <a:rPr lang="en-US" b="1" smtClean="0"/>
              <a:t> </a:t>
            </a:r>
            <a:endParaRPr lang="en-US" b="1"/>
          </a:p>
        </p:txBody>
      </p:sp>
      <p:sp>
        <p:nvSpPr>
          <p:cNvPr id="5" name="Google Shape;764;p41"/>
          <p:cNvSpPr txBox="1">
            <a:spLocks/>
          </p:cNvSpPr>
          <p:nvPr/>
        </p:nvSpPr>
        <p:spPr>
          <a:xfrm>
            <a:off x="4143782" y="2704405"/>
            <a:ext cx="7777727" cy="15699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3000"/>
              <a:buFont typeface="Montserrat"/>
              <a:buNone/>
              <a:defRPr sz="3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pPr defTabSz="1219170">
              <a:buClr>
                <a:srgbClr val="07105C"/>
              </a:buClr>
            </a:pPr>
            <a:r>
              <a:rPr lang="en-US" sz="3200" kern="0">
                <a:solidFill>
                  <a:srgbClr val="C00000"/>
                </a:solidFill>
                <a:latin typeface="Open Sans" panose="020B0606030504020204" pitchFamily="34" charset="0"/>
                <a:ea typeface="Open Sans" panose="020B0606030504020204" pitchFamily="34" charset="0"/>
                <a:cs typeface="Open Sans" panose="020B0606030504020204" pitchFamily="34" charset="0"/>
              </a:rPr>
              <a:t>Breast Cancer Classification Using </a:t>
            </a:r>
            <a:r>
              <a:rPr lang="en-US" sz="3200" kern="0" smtClean="0">
                <a:solidFill>
                  <a:srgbClr val="C00000"/>
                </a:solidFill>
                <a:latin typeface="Open Sans" panose="020B0606030504020204" pitchFamily="34" charset="0"/>
                <a:ea typeface="Open Sans" panose="020B0606030504020204" pitchFamily="34" charset="0"/>
                <a:cs typeface="Open Sans" panose="020B0606030504020204" pitchFamily="34" charset="0"/>
              </a:rPr>
              <a:t>Ensemble Deep </a:t>
            </a:r>
            <a:r>
              <a:rPr lang="en-US" sz="3200" kern="0">
                <a:solidFill>
                  <a:srgbClr val="C00000"/>
                </a:solidFill>
                <a:latin typeface="Open Sans" panose="020B0606030504020204" pitchFamily="34" charset="0"/>
                <a:ea typeface="Open Sans" panose="020B0606030504020204" pitchFamily="34" charset="0"/>
                <a:cs typeface="Open Sans" panose="020B0606030504020204" pitchFamily="34" charset="0"/>
              </a:rPr>
              <a:t>Learning with RIDOPT-Net</a:t>
            </a:r>
            <a:endParaRPr lang="en-US" sz="3200" kern="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Subtitle 1"/>
          <p:cNvSpPr txBox="1">
            <a:spLocks/>
          </p:cNvSpPr>
          <p:nvPr/>
        </p:nvSpPr>
        <p:spPr>
          <a:xfrm>
            <a:off x="4022743" y="6246064"/>
            <a:ext cx="8019809" cy="61193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pPr marL="609585" indent="-457189" defTabSz="1219170">
              <a:buClr>
                <a:srgbClr val="07105C"/>
              </a:buClr>
            </a:pPr>
            <a:r>
              <a:rPr lang="en-US" sz="1867" i="1" kern="0" smtClean="0">
                <a:solidFill>
                  <a:srgbClr val="07105C"/>
                </a:solidFill>
              </a:rPr>
              <a:t>CanTho, Nov-19-2025</a:t>
            </a:r>
            <a:endParaRPr lang="en-US" sz="1867" i="1" kern="0">
              <a:solidFill>
                <a:srgbClr val="07105C"/>
              </a:solidFill>
            </a:endParaRPr>
          </a:p>
        </p:txBody>
      </p:sp>
      <p:sp>
        <p:nvSpPr>
          <p:cNvPr id="10" name="Subtitle 1"/>
          <p:cNvSpPr txBox="1">
            <a:spLocks/>
          </p:cNvSpPr>
          <p:nvPr/>
        </p:nvSpPr>
        <p:spPr>
          <a:xfrm>
            <a:off x="2626658" y="73152"/>
            <a:ext cx="9565341" cy="6119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1pPr>
            <a:lvl2pPr marL="914400" marR="0" lvl="1"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2pPr>
            <a:lvl3pPr marL="1371600" marR="0" lvl="2"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3pPr>
            <a:lvl4pPr marL="1828800" marR="0" lvl="3"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4pPr>
            <a:lvl5pPr marL="2286000" marR="0" lvl="4"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5pPr>
            <a:lvl6pPr marL="2743200" marR="0" lvl="5"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6pPr>
            <a:lvl7pPr marL="3200400" marR="0" lvl="6"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7pPr>
            <a:lvl8pPr marL="3657600" marR="0" lvl="7"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8pPr>
            <a:lvl9pPr marL="4114800" marR="0" lvl="8" indent="-317500" algn="ctr" rtl="0">
              <a:lnSpc>
                <a:spcPct val="115000"/>
              </a:lnSpc>
              <a:spcBef>
                <a:spcPts val="2133"/>
              </a:spcBef>
              <a:spcAft>
                <a:spcPts val="2133"/>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9pPr>
          </a:lstStyle>
          <a:p>
            <a:r>
              <a:rPr lang="en-US" sz="2800" b="1" kern="0"/>
              <a:t>The 3rd International Conference on Intelligent Systems and Data Science (ISDS 2025)</a:t>
            </a:r>
          </a:p>
        </p:txBody>
      </p:sp>
      <p:sp>
        <p:nvSpPr>
          <p:cNvPr id="8" name="AutoShape 2" descr="http://localhost/wordpress/wp-content/uploads/2025/02/scopus.png"/>
          <p:cNvSpPr>
            <a:spLocks noChangeAspect="1" noChangeArrowheads="1"/>
          </p:cNvSpPr>
          <p:nvPr/>
        </p:nvSpPr>
        <p:spPr bwMode="auto">
          <a:xfrm>
            <a:off x="155575" y="-457200"/>
            <a:ext cx="3028950" cy="95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lowchart: Delay 12"/>
          <p:cNvSpPr/>
          <p:nvPr/>
        </p:nvSpPr>
        <p:spPr>
          <a:xfrm>
            <a:off x="0" y="1025652"/>
            <a:ext cx="4143782" cy="4842163"/>
          </a:xfrm>
          <a:prstGeom prst="flowChartDelay">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SDS 20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5965" y="1528645"/>
            <a:ext cx="4981575" cy="72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5096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0"/>
            <p:extLst>
              <p:ext uri="{D42A27DB-BD31-4B8C-83A1-F6EECF244321}">
                <p14:modId xmlns:p14="http://schemas.microsoft.com/office/powerpoint/2010/main" val="2922396422"/>
              </p:ext>
            </p:extLst>
          </p:nvPr>
        </p:nvGraphicFramePr>
        <p:xfrm>
          <a:off x="416859" y="1213168"/>
          <a:ext cx="11136710" cy="42610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p:nvPr>
        </p:nvSpPr>
        <p:spPr/>
        <p:txBody>
          <a:bodyPr/>
          <a:lstStyle/>
          <a:p>
            <a:r>
              <a:rPr lang="en-US" smtClean="0"/>
              <a:t>CONTENT</a:t>
            </a:r>
            <a:endParaRPr lang="en-US"/>
          </a:p>
        </p:txBody>
      </p:sp>
    </p:spTree>
    <p:extLst>
      <p:ext uri="{BB962C8B-B14F-4D97-AF65-F5344CB8AC3E}">
        <p14:creationId xmlns:p14="http://schemas.microsoft.com/office/powerpoint/2010/main" val="35878007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1. Introduction</a:t>
            </a:r>
            <a:endParaRPr lang="en-US"/>
          </a:p>
        </p:txBody>
      </p:sp>
      <p:sp>
        <p:nvSpPr>
          <p:cNvPr id="7" name="Text Placeholder 3">
            <a:extLst>
              <a:ext uri="{FF2B5EF4-FFF2-40B4-BE49-F238E27FC236}">
                <a16:creationId xmlns:a16="http://schemas.microsoft.com/office/drawing/2014/main" id="{3566F4D3-DCF0-21B4-78C8-7C68967D3402}"/>
              </a:ext>
            </a:extLst>
          </p:cNvPr>
          <p:cNvSpPr txBox="1">
            <a:spLocks/>
          </p:cNvSpPr>
          <p:nvPr/>
        </p:nvSpPr>
        <p:spPr>
          <a:xfrm>
            <a:off x="416858" y="1303590"/>
            <a:ext cx="11283950" cy="16417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mtClean="0"/>
              <a:t>Breast cancer is one of the most common cancers affecting women worldwide.</a:t>
            </a:r>
          </a:p>
          <a:p>
            <a:pPr algn="just"/>
            <a:r>
              <a:rPr lang="en-US" smtClean="0"/>
              <a:t>Early detection and accurate staging of breast cancer can significantly improve survival rates and quality of life for patients.</a:t>
            </a:r>
            <a:endParaRPr lang="en-US"/>
          </a:p>
        </p:txBody>
      </p:sp>
      <p:sp>
        <p:nvSpPr>
          <p:cNvPr id="8" name="Text Placeholder 3">
            <a:extLst>
              <a:ext uri="{FF2B5EF4-FFF2-40B4-BE49-F238E27FC236}">
                <a16:creationId xmlns:a16="http://schemas.microsoft.com/office/drawing/2014/main" id="{BA70E0D6-5866-D359-1561-35D9D396DE6F}"/>
              </a:ext>
            </a:extLst>
          </p:cNvPr>
          <p:cNvSpPr txBox="1">
            <a:spLocks/>
          </p:cNvSpPr>
          <p:nvPr/>
        </p:nvSpPr>
        <p:spPr>
          <a:xfrm>
            <a:off x="1108750" y="6072774"/>
            <a:ext cx="9974500" cy="36512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rgbClr val="003399"/>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003399"/>
                </a:solidFill>
                <a:latin typeface="Cambria" panose="02040503050406030204" pitchFamily="18" charset="0"/>
                <a:ea typeface="Cambria" panose="02040503050406030204" pitchFamily="18" charset="0"/>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600">
                <a:solidFill>
                  <a:schemeClr val="tx1"/>
                </a:solidFill>
              </a:rPr>
              <a:t>Fig 1. Images on 2 views a) RMLO b) LMLO c) RCC d) LCC with the mass location localized in </a:t>
            </a:r>
            <a:r>
              <a:rPr lang="en-US" sz="1600" smtClean="0">
                <a:solidFill>
                  <a:schemeClr val="tx1"/>
                </a:solidFill>
              </a:rPr>
              <a:t>images </a:t>
            </a:r>
            <a:r>
              <a:rPr lang="en-US" sz="1600">
                <a:solidFill>
                  <a:schemeClr val="tx1"/>
                </a:solidFill>
              </a:rPr>
              <a:t>a) and c)</a:t>
            </a:r>
          </a:p>
        </p:txBody>
      </p:sp>
      <p:sp>
        <p:nvSpPr>
          <p:cNvPr id="9" name="Text Placeholder 2">
            <a:extLst>
              <a:ext uri="{FF2B5EF4-FFF2-40B4-BE49-F238E27FC236}">
                <a16:creationId xmlns:a16="http://schemas.microsoft.com/office/drawing/2014/main" id="{C6EBFF3D-01F7-94FA-CA6D-6914A5A5A030}"/>
              </a:ext>
            </a:extLst>
          </p:cNvPr>
          <p:cNvSpPr txBox="1">
            <a:spLocks/>
          </p:cNvSpPr>
          <p:nvPr/>
        </p:nvSpPr>
        <p:spPr>
          <a:xfrm>
            <a:off x="440296" y="849800"/>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a:solidFill>
                  <a:srgbClr val="C00000"/>
                </a:solidFill>
              </a:rPr>
              <a:t>Challenges</a:t>
            </a:r>
          </a:p>
        </p:txBody>
      </p:sp>
      <p:pic>
        <p:nvPicPr>
          <p:cNvPr id="10" name="Picture 9">
            <a:extLst>
              <a:ext uri="{FF2B5EF4-FFF2-40B4-BE49-F238E27FC236}">
                <a16:creationId xmlns:a16="http://schemas.microsoft.com/office/drawing/2014/main" id="{DC42A336-B1F2-CC32-E162-5761E3E505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6575" y="3253725"/>
            <a:ext cx="4416166" cy="2683798"/>
          </a:xfrm>
          <a:prstGeom prst="rect">
            <a:avLst/>
          </a:prstGeom>
        </p:spPr>
      </p:pic>
    </p:spTree>
    <p:extLst>
      <p:ext uri="{BB962C8B-B14F-4D97-AF65-F5344CB8AC3E}">
        <p14:creationId xmlns:p14="http://schemas.microsoft.com/office/powerpoint/2010/main" val="4007023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1. Introduction</a:t>
            </a:r>
            <a:endParaRPr lang="en-US"/>
          </a:p>
        </p:txBody>
      </p:sp>
      <p:pic>
        <p:nvPicPr>
          <p:cNvPr id="4" name="Picture 3"/>
          <p:cNvPicPr>
            <a:picLocks noChangeAspect="1"/>
          </p:cNvPicPr>
          <p:nvPr/>
        </p:nvPicPr>
        <p:blipFill>
          <a:blip r:embed="rId3"/>
          <a:stretch>
            <a:fillRect/>
          </a:stretch>
        </p:blipFill>
        <p:spPr>
          <a:xfrm>
            <a:off x="1476659" y="2350417"/>
            <a:ext cx="3822789" cy="3788400"/>
          </a:xfrm>
          <a:prstGeom prst="rect">
            <a:avLst/>
          </a:prstGeom>
        </p:spPr>
      </p:pic>
      <p:pic>
        <p:nvPicPr>
          <p:cNvPr id="5" name="Picture 4"/>
          <p:cNvPicPr>
            <a:picLocks noChangeAspect="1"/>
          </p:cNvPicPr>
          <p:nvPr/>
        </p:nvPicPr>
        <p:blipFill rotWithShape="1">
          <a:blip r:embed="rId4"/>
          <a:srcRect t="11084"/>
          <a:stretch/>
        </p:blipFill>
        <p:spPr>
          <a:xfrm>
            <a:off x="5497304" y="2857500"/>
            <a:ext cx="5269396" cy="3281317"/>
          </a:xfrm>
          <a:prstGeom prst="rect">
            <a:avLst/>
          </a:prstGeom>
        </p:spPr>
      </p:pic>
      <p:sp>
        <p:nvSpPr>
          <p:cNvPr id="6" name="TextBox 5"/>
          <p:cNvSpPr txBox="1"/>
          <p:nvPr/>
        </p:nvSpPr>
        <p:spPr>
          <a:xfrm>
            <a:off x="0" y="6133186"/>
            <a:ext cx="12191999" cy="369332"/>
          </a:xfrm>
          <a:prstGeom prst="rect">
            <a:avLst/>
          </a:prstGeom>
          <a:noFill/>
        </p:spPr>
        <p:txBody>
          <a:bodyPr wrap="square" rtlCol="0">
            <a:spAutoFit/>
          </a:bodyPr>
          <a:lstStyle/>
          <a:p>
            <a:pPr algn="ctr"/>
            <a:r>
              <a:rPr lang="en-US">
                <a:latin typeface="Cambria" panose="02040503050406030204" pitchFamily="18" charset="0"/>
                <a:ea typeface="Cambria" panose="02040503050406030204" pitchFamily="18" charset="0"/>
              </a:rPr>
              <a:t>Fig 2. Cancer statistics in Vietnam[15]</a:t>
            </a:r>
          </a:p>
        </p:txBody>
      </p:sp>
      <p:sp>
        <p:nvSpPr>
          <p:cNvPr id="7" name="Text Placeholder 3"/>
          <p:cNvSpPr txBox="1">
            <a:spLocks/>
          </p:cNvSpPr>
          <p:nvPr/>
        </p:nvSpPr>
        <p:spPr>
          <a:xfrm>
            <a:off x="466725" y="1272500"/>
            <a:ext cx="11173587" cy="1088145"/>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mtClean="0"/>
              <a:t>Breast cancer (BC) predicted has affected 2.3 million women worldwide in 2020, with 685,000 fatalities. Breast cancer had been detected in 7.8 million females in the previous five years as of 2020, making it the most common cancer on the planet. It causes more disability adjusted life years (DALYs) in women worldwidethan any other form of cancer[1].</a:t>
            </a:r>
            <a:endParaRPr lang="en-US"/>
          </a:p>
        </p:txBody>
      </p:sp>
      <p:sp>
        <p:nvSpPr>
          <p:cNvPr id="8" name="Text Placeholder 2">
            <a:extLst>
              <a:ext uri="{FF2B5EF4-FFF2-40B4-BE49-F238E27FC236}">
                <a16:creationId xmlns:a16="http://schemas.microsoft.com/office/drawing/2014/main" id="{7FAB9184-9F82-0A15-9420-C7CB676F04E4}"/>
              </a:ext>
            </a:extLst>
          </p:cNvPr>
          <p:cNvSpPr txBox="1">
            <a:spLocks/>
          </p:cNvSpPr>
          <p:nvPr/>
        </p:nvSpPr>
        <p:spPr>
          <a:xfrm>
            <a:off x="440296" y="869981"/>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a:solidFill>
                  <a:srgbClr val="C00000"/>
                </a:solidFill>
              </a:rPr>
              <a:t>Challenges</a:t>
            </a:r>
          </a:p>
        </p:txBody>
      </p:sp>
    </p:spTree>
    <p:extLst>
      <p:ext uri="{BB962C8B-B14F-4D97-AF65-F5344CB8AC3E}">
        <p14:creationId xmlns:p14="http://schemas.microsoft.com/office/powerpoint/2010/main" val="34227023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1. Introduction</a:t>
            </a:r>
          </a:p>
        </p:txBody>
      </p:sp>
      <p:sp>
        <p:nvSpPr>
          <p:cNvPr id="4" name="Freeform: Shape 6">
            <a:extLst>
              <a:ext uri="{FF2B5EF4-FFF2-40B4-BE49-F238E27FC236}">
                <a16:creationId xmlns:a16="http://schemas.microsoft.com/office/drawing/2014/main" id="{73376055-55FE-412B-65E9-9C0166160F17}"/>
              </a:ext>
            </a:extLst>
          </p:cNvPr>
          <p:cNvSpPr/>
          <p:nvPr/>
        </p:nvSpPr>
        <p:spPr>
          <a:xfrm>
            <a:off x="3682297" y="2678396"/>
            <a:ext cx="2724470" cy="2359422"/>
          </a:xfrm>
          <a:custGeom>
            <a:avLst/>
            <a:gdLst>
              <a:gd name="connsiteX0" fmla="*/ 2147452 w 2863388"/>
              <a:gd name="connsiteY0" fmla="*/ 0 h 2479727"/>
              <a:gd name="connsiteX1" fmla="*/ 715817 w 2863388"/>
              <a:gd name="connsiteY1" fmla="*/ 0 h 2479727"/>
              <a:gd name="connsiteX2" fmla="*/ 0 w 2863388"/>
              <a:gd name="connsiteY2" fmla="*/ 1239804 h 2479727"/>
              <a:gd name="connsiteX3" fmla="*/ 715817 w 2863388"/>
              <a:gd name="connsiteY3" fmla="*/ 2479728 h 2479727"/>
              <a:gd name="connsiteX4" fmla="*/ 2147452 w 2863388"/>
              <a:gd name="connsiteY4" fmla="*/ 2479728 h 2479727"/>
              <a:gd name="connsiteX5" fmla="*/ 2863389 w 2863388"/>
              <a:gd name="connsiteY5" fmla="*/ 1239804 h 2479727"/>
              <a:gd name="connsiteX6" fmla="*/ 2147452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2147452" y="0"/>
                </a:moveTo>
                <a:lnTo>
                  <a:pt x="715817" y="0"/>
                </a:lnTo>
                <a:lnTo>
                  <a:pt x="0" y="1239804"/>
                </a:lnTo>
                <a:lnTo>
                  <a:pt x="715817" y="2479728"/>
                </a:lnTo>
                <a:lnTo>
                  <a:pt x="2147452" y="2479728"/>
                </a:lnTo>
                <a:lnTo>
                  <a:pt x="2863389" y="1239804"/>
                </a:lnTo>
                <a:lnTo>
                  <a:pt x="2147452" y="0"/>
                </a:lnTo>
                <a:close/>
              </a:path>
            </a:pathLst>
          </a:custGeom>
          <a:gradFill>
            <a:gsLst>
              <a:gs pos="0">
                <a:srgbClr val="5FB7A2">
                  <a:lumMod val="75000"/>
                </a:srgbClr>
              </a:gs>
              <a:gs pos="100000">
                <a:srgbClr val="5FB7A2"/>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5" name="Freeform: Shape 8">
            <a:extLst>
              <a:ext uri="{FF2B5EF4-FFF2-40B4-BE49-F238E27FC236}">
                <a16:creationId xmlns:a16="http://schemas.microsoft.com/office/drawing/2014/main" id="{6CBBA946-F3B2-E57F-478F-BBDF0E578D52}"/>
              </a:ext>
            </a:extLst>
          </p:cNvPr>
          <p:cNvSpPr/>
          <p:nvPr/>
        </p:nvSpPr>
        <p:spPr>
          <a:xfrm>
            <a:off x="5782057" y="1462896"/>
            <a:ext cx="2724470" cy="2359422"/>
          </a:xfrm>
          <a:custGeom>
            <a:avLst/>
            <a:gdLst>
              <a:gd name="connsiteX0" fmla="*/ 715937 w 2863388"/>
              <a:gd name="connsiteY0" fmla="*/ 0 h 2479727"/>
              <a:gd name="connsiteX1" fmla="*/ 2147572 w 2863388"/>
              <a:gd name="connsiteY1" fmla="*/ 0 h 2479727"/>
              <a:gd name="connsiteX2" fmla="*/ 2863389 w 2863388"/>
              <a:gd name="connsiteY2" fmla="*/ 1239924 h 2479727"/>
              <a:gd name="connsiteX3" fmla="*/ 2147572 w 2863388"/>
              <a:gd name="connsiteY3" fmla="*/ 2479728 h 2479727"/>
              <a:gd name="connsiteX4" fmla="*/ 715937 w 2863388"/>
              <a:gd name="connsiteY4" fmla="*/ 2479728 h 2479727"/>
              <a:gd name="connsiteX5" fmla="*/ 0 w 2863388"/>
              <a:gd name="connsiteY5" fmla="*/ 1239924 h 2479727"/>
              <a:gd name="connsiteX6" fmla="*/ 715937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715937" y="0"/>
                </a:moveTo>
                <a:lnTo>
                  <a:pt x="2147572" y="0"/>
                </a:lnTo>
                <a:lnTo>
                  <a:pt x="2863389" y="1239924"/>
                </a:lnTo>
                <a:lnTo>
                  <a:pt x="2147572" y="2479728"/>
                </a:lnTo>
                <a:lnTo>
                  <a:pt x="715937" y="2479728"/>
                </a:lnTo>
                <a:lnTo>
                  <a:pt x="0" y="1239924"/>
                </a:lnTo>
                <a:lnTo>
                  <a:pt x="715937" y="0"/>
                </a:lnTo>
                <a:close/>
              </a:path>
            </a:pathLst>
          </a:custGeom>
          <a:gradFill>
            <a:gsLst>
              <a:gs pos="0">
                <a:srgbClr val="E35A35">
                  <a:lumMod val="75000"/>
                </a:srgbClr>
              </a:gs>
              <a:gs pos="100000">
                <a:srgbClr val="E35A35"/>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6" name="Freeform: Shape 10">
            <a:extLst>
              <a:ext uri="{FF2B5EF4-FFF2-40B4-BE49-F238E27FC236}">
                <a16:creationId xmlns:a16="http://schemas.microsoft.com/office/drawing/2014/main" id="{E194C910-DF3A-D00E-1F01-74BDF1BEBDD1}"/>
              </a:ext>
            </a:extLst>
          </p:cNvPr>
          <p:cNvSpPr/>
          <p:nvPr/>
        </p:nvSpPr>
        <p:spPr>
          <a:xfrm>
            <a:off x="5782057" y="3893784"/>
            <a:ext cx="2724470" cy="2359422"/>
          </a:xfrm>
          <a:custGeom>
            <a:avLst/>
            <a:gdLst>
              <a:gd name="connsiteX0" fmla="*/ 715937 w 2863388"/>
              <a:gd name="connsiteY0" fmla="*/ 0 h 2479727"/>
              <a:gd name="connsiteX1" fmla="*/ 2147572 w 2863388"/>
              <a:gd name="connsiteY1" fmla="*/ 0 h 2479727"/>
              <a:gd name="connsiteX2" fmla="*/ 2863389 w 2863388"/>
              <a:gd name="connsiteY2" fmla="*/ 1239804 h 2479727"/>
              <a:gd name="connsiteX3" fmla="*/ 2147572 w 2863388"/>
              <a:gd name="connsiteY3" fmla="*/ 2479728 h 2479727"/>
              <a:gd name="connsiteX4" fmla="*/ 715937 w 2863388"/>
              <a:gd name="connsiteY4" fmla="*/ 2479728 h 2479727"/>
              <a:gd name="connsiteX5" fmla="*/ 0 w 2863388"/>
              <a:gd name="connsiteY5" fmla="*/ 1239804 h 2479727"/>
              <a:gd name="connsiteX6" fmla="*/ 715937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715937" y="0"/>
                </a:moveTo>
                <a:lnTo>
                  <a:pt x="2147572" y="0"/>
                </a:lnTo>
                <a:lnTo>
                  <a:pt x="2863389" y="1239804"/>
                </a:lnTo>
                <a:lnTo>
                  <a:pt x="2147572" y="2479728"/>
                </a:lnTo>
                <a:lnTo>
                  <a:pt x="715937" y="2479728"/>
                </a:lnTo>
                <a:lnTo>
                  <a:pt x="0" y="1239804"/>
                </a:lnTo>
                <a:lnTo>
                  <a:pt x="715937" y="0"/>
                </a:lnTo>
                <a:close/>
              </a:path>
            </a:pathLst>
          </a:custGeom>
          <a:gradFill>
            <a:gsLst>
              <a:gs pos="0">
                <a:srgbClr val="3081AC">
                  <a:lumMod val="75000"/>
                </a:srgbClr>
              </a:gs>
              <a:gs pos="100000">
                <a:srgbClr val="3081AC"/>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7" name="Group 6">
            <a:extLst>
              <a:ext uri="{FF2B5EF4-FFF2-40B4-BE49-F238E27FC236}">
                <a16:creationId xmlns:a16="http://schemas.microsoft.com/office/drawing/2014/main" id="{C3C221D3-13F6-F34D-5030-EFA718B22469}"/>
              </a:ext>
            </a:extLst>
          </p:cNvPr>
          <p:cNvGrpSpPr/>
          <p:nvPr/>
        </p:nvGrpSpPr>
        <p:grpSpPr>
          <a:xfrm>
            <a:off x="6102599" y="4279364"/>
            <a:ext cx="5138268" cy="1825667"/>
            <a:chOff x="6102599" y="4279364"/>
            <a:chExt cx="5138268" cy="1825667"/>
          </a:xfrm>
        </p:grpSpPr>
        <p:sp>
          <p:nvSpPr>
            <p:cNvPr id="8" name="Freeform: Shape 15">
              <a:extLst>
                <a:ext uri="{FF2B5EF4-FFF2-40B4-BE49-F238E27FC236}">
                  <a16:creationId xmlns:a16="http://schemas.microsoft.com/office/drawing/2014/main" id="{81BFC488-FF31-32FC-9639-6813421C1427}"/>
                </a:ext>
              </a:extLst>
            </p:cNvPr>
            <p:cNvSpPr/>
            <p:nvPr/>
          </p:nvSpPr>
          <p:spPr>
            <a:xfrm>
              <a:off x="6102599" y="4419615"/>
              <a:ext cx="4953211" cy="1685416"/>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9" name="Group 8">
              <a:extLst>
                <a:ext uri="{FF2B5EF4-FFF2-40B4-BE49-F238E27FC236}">
                  <a16:creationId xmlns:a16="http://schemas.microsoft.com/office/drawing/2014/main" id="{19AAC97A-D4A1-1041-71D0-067BA3E4BE11}"/>
                </a:ext>
              </a:extLst>
            </p:cNvPr>
            <p:cNvGrpSpPr/>
            <p:nvPr/>
          </p:nvGrpSpPr>
          <p:grpSpPr>
            <a:xfrm>
              <a:off x="6287656" y="4279364"/>
              <a:ext cx="4953211" cy="1588148"/>
              <a:chOff x="6287656" y="4279364"/>
              <a:chExt cx="4953211" cy="1588148"/>
            </a:xfrm>
          </p:grpSpPr>
          <p:sp>
            <p:nvSpPr>
              <p:cNvPr id="10" name="Freeform: Shape 11">
                <a:extLst>
                  <a:ext uri="{FF2B5EF4-FFF2-40B4-BE49-F238E27FC236}">
                    <a16:creationId xmlns:a16="http://schemas.microsoft.com/office/drawing/2014/main" id="{A86169BC-9CB5-466B-4202-BAF205EAA8E4}"/>
                  </a:ext>
                </a:extLst>
              </p:cNvPr>
              <p:cNvSpPr/>
              <p:nvPr/>
            </p:nvSpPr>
            <p:spPr>
              <a:xfrm>
                <a:off x="6287656" y="4279364"/>
                <a:ext cx="4953211" cy="1588148"/>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gradFill>
                <a:gsLst>
                  <a:gs pos="0">
                    <a:sysClr val="window" lastClr="FFFFFF"/>
                  </a:gs>
                  <a:gs pos="100000">
                    <a:sysClr val="window" lastClr="FFFFFF">
                      <a:lumMod val="95000"/>
                    </a:sysClr>
                  </a:gs>
                </a:gsLst>
                <a:lin ang="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13" name="TextBox 12">
                <a:extLst>
                  <a:ext uri="{FF2B5EF4-FFF2-40B4-BE49-F238E27FC236}">
                    <a16:creationId xmlns:a16="http://schemas.microsoft.com/office/drawing/2014/main" id="{6B903497-ED4F-823C-42CB-8EDB73A7BEB0}"/>
                  </a:ext>
                </a:extLst>
              </p:cNvPr>
              <p:cNvSpPr txBox="1"/>
              <p:nvPr/>
            </p:nvSpPr>
            <p:spPr>
              <a:xfrm>
                <a:off x="7917914" y="4409655"/>
                <a:ext cx="3014544" cy="1121570"/>
              </a:xfrm>
              <a:prstGeom prst="rect">
                <a:avLst/>
              </a:prstGeom>
              <a:noFill/>
            </p:spPr>
            <p:txBody>
              <a:bodyPr wrap="square" lIns="0" tIns="0" rIns="0" bIns="0" rtlCol="0" anchor="ctr">
                <a:noAutofit/>
              </a:bodyPr>
              <a:lstStyle/>
              <a:p>
                <a:pPr lvl="0" defTabSz="1218987"/>
                <a:r>
                  <a:rPr lang="en-US" b="1" kern="0" smtClean="0">
                    <a:solidFill>
                      <a:prstClr val="black">
                        <a:lumMod val="95000"/>
                        <a:lumOff val="5000"/>
                      </a:prstClr>
                    </a:solidFill>
                    <a:latin typeface="Segoe UI"/>
                    <a:ea typeface="Segoe UI Black" panose="020B0A02040204020203" pitchFamily="34" charset="0"/>
                  </a:rPr>
                  <a:t>Optimizing weights of ensemble model </a:t>
                </a:r>
                <a:r>
                  <a:rPr lang="en-US" b="1" kern="0">
                    <a:solidFill>
                      <a:prstClr val="black">
                        <a:lumMod val="95000"/>
                        <a:lumOff val="5000"/>
                      </a:prstClr>
                    </a:solidFill>
                    <a:latin typeface="Segoe UI"/>
                    <a:ea typeface="Segoe UI Black" panose="020B0A02040204020203" pitchFamily="34" charset="0"/>
                  </a:rPr>
                  <a:t>to reduce </a:t>
                </a:r>
                <a:r>
                  <a:rPr lang="en-US" b="1" kern="0" smtClean="0">
                    <a:solidFill>
                      <a:prstClr val="black">
                        <a:lumMod val="95000"/>
                        <a:lumOff val="5000"/>
                      </a:prstClr>
                    </a:solidFill>
                    <a:latin typeface="Segoe UI"/>
                    <a:ea typeface="Segoe UI Black" panose="020B0A02040204020203" pitchFamily="34" charset="0"/>
                  </a:rPr>
                  <a:t>the classification </a:t>
                </a:r>
                <a:r>
                  <a:rPr lang="en-US" b="1" kern="0">
                    <a:solidFill>
                      <a:prstClr val="black">
                        <a:lumMod val="95000"/>
                        <a:lumOff val="5000"/>
                      </a:prstClr>
                    </a:solidFill>
                    <a:latin typeface="Segoe UI"/>
                    <a:ea typeface="Segoe UI Black" panose="020B0A02040204020203" pitchFamily="34" charset="0"/>
                  </a:rPr>
                  <a:t>error rate</a:t>
                </a:r>
                <a:endParaRPr lang="en-US" b="1" kern="0" dirty="0">
                  <a:solidFill>
                    <a:prstClr val="black">
                      <a:lumMod val="95000"/>
                      <a:lumOff val="5000"/>
                    </a:prstClr>
                  </a:solidFill>
                  <a:latin typeface="Segoe UI"/>
                  <a:ea typeface="Segoe UI Black" panose="020B0A02040204020203" pitchFamily="34" charset="0"/>
                </a:endParaRPr>
              </a:p>
            </p:txBody>
          </p:sp>
        </p:grpSp>
      </p:grpSp>
      <p:grpSp>
        <p:nvGrpSpPr>
          <p:cNvPr id="15" name="Group 14">
            <a:extLst>
              <a:ext uri="{FF2B5EF4-FFF2-40B4-BE49-F238E27FC236}">
                <a16:creationId xmlns:a16="http://schemas.microsoft.com/office/drawing/2014/main" id="{376DF98B-D7F2-56AE-D18B-FAC8E23999CC}"/>
              </a:ext>
            </a:extLst>
          </p:cNvPr>
          <p:cNvGrpSpPr/>
          <p:nvPr/>
        </p:nvGrpSpPr>
        <p:grpSpPr>
          <a:xfrm>
            <a:off x="762900" y="3063977"/>
            <a:ext cx="5138268" cy="1825667"/>
            <a:chOff x="762900" y="3063977"/>
            <a:chExt cx="5138268" cy="1825667"/>
          </a:xfrm>
        </p:grpSpPr>
        <p:sp>
          <p:nvSpPr>
            <p:cNvPr id="16" name="Freeform: Shape 13">
              <a:extLst>
                <a:ext uri="{FF2B5EF4-FFF2-40B4-BE49-F238E27FC236}">
                  <a16:creationId xmlns:a16="http://schemas.microsoft.com/office/drawing/2014/main" id="{C2215B71-9FB4-ABF7-3F21-F43E6B482D18}"/>
                </a:ext>
              </a:extLst>
            </p:cNvPr>
            <p:cNvSpPr/>
            <p:nvPr/>
          </p:nvSpPr>
          <p:spPr>
            <a:xfrm>
              <a:off x="762900" y="3204228"/>
              <a:ext cx="4953211" cy="1685416"/>
            </a:xfrm>
            <a:custGeom>
              <a:avLst/>
              <a:gdLst>
                <a:gd name="connsiteX0" fmla="*/ 4723871 w 5205771"/>
                <a:gd name="connsiteY0" fmla="*/ 0 h 1669127"/>
                <a:gd name="connsiteX1" fmla="*/ 481782 w 5205771"/>
                <a:gd name="connsiteY1" fmla="*/ 0 h 1669127"/>
                <a:gd name="connsiteX2" fmla="*/ 0 w 5205771"/>
                <a:gd name="connsiteY2" fmla="*/ 834564 h 1669127"/>
                <a:gd name="connsiteX3" fmla="*/ 481782 w 5205771"/>
                <a:gd name="connsiteY3" fmla="*/ 1669128 h 1669127"/>
                <a:gd name="connsiteX4" fmla="*/ 4723871 w 5205771"/>
                <a:gd name="connsiteY4" fmla="*/ 1669128 h 1669127"/>
                <a:gd name="connsiteX5" fmla="*/ 5205772 w 5205771"/>
                <a:gd name="connsiteY5" fmla="*/ 834564 h 1669127"/>
                <a:gd name="connsiteX6" fmla="*/ 472387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723871" y="0"/>
                  </a:moveTo>
                  <a:lnTo>
                    <a:pt x="481782" y="0"/>
                  </a:lnTo>
                  <a:lnTo>
                    <a:pt x="0" y="834564"/>
                  </a:lnTo>
                  <a:lnTo>
                    <a:pt x="481782" y="1669128"/>
                  </a:lnTo>
                  <a:lnTo>
                    <a:pt x="4723871" y="1669128"/>
                  </a:lnTo>
                  <a:lnTo>
                    <a:pt x="5205772" y="834564"/>
                  </a:lnTo>
                  <a:lnTo>
                    <a:pt x="472387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17" name="Freeform: Shape 7">
              <a:extLst>
                <a:ext uri="{FF2B5EF4-FFF2-40B4-BE49-F238E27FC236}">
                  <a16:creationId xmlns:a16="http://schemas.microsoft.com/office/drawing/2014/main" id="{A5B488C9-B71E-BF57-F43D-43FB341A9510}"/>
                </a:ext>
              </a:extLst>
            </p:cNvPr>
            <p:cNvSpPr/>
            <p:nvPr/>
          </p:nvSpPr>
          <p:spPr>
            <a:xfrm>
              <a:off x="947957" y="3063977"/>
              <a:ext cx="4953211" cy="1588148"/>
            </a:xfrm>
            <a:custGeom>
              <a:avLst/>
              <a:gdLst>
                <a:gd name="connsiteX0" fmla="*/ 4723871 w 5205771"/>
                <a:gd name="connsiteY0" fmla="*/ 0 h 1669127"/>
                <a:gd name="connsiteX1" fmla="*/ 481782 w 5205771"/>
                <a:gd name="connsiteY1" fmla="*/ 0 h 1669127"/>
                <a:gd name="connsiteX2" fmla="*/ 0 w 5205771"/>
                <a:gd name="connsiteY2" fmla="*/ 834564 h 1669127"/>
                <a:gd name="connsiteX3" fmla="*/ 481782 w 5205771"/>
                <a:gd name="connsiteY3" fmla="*/ 1669128 h 1669127"/>
                <a:gd name="connsiteX4" fmla="*/ 4723871 w 5205771"/>
                <a:gd name="connsiteY4" fmla="*/ 1669128 h 1669127"/>
                <a:gd name="connsiteX5" fmla="*/ 5205772 w 5205771"/>
                <a:gd name="connsiteY5" fmla="*/ 834564 h 1669127"/>
                <a:gd name="connsiteX6" fmla="*/ 472387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723871" y="0"/>
                  </a:moveTo>
                  <a:lnTo>
                    <a:pt x="481782" y="0"/>
                  </a:lnTo>
                  <a:lnTo>
                    <a:pt x="0" y="834564"/>
                  </a:lnTo>
                  <a:lnTo>
                    <a:pt x="481782" y="1669128"/>
                  </a:lnTo>
                  <a:lnTo>
                    <a:pt x="4723871" y="1669128"/>
                  </a:lnTo>
                  <a:lnTo>
                    <a:pt x="5205772" y="834564"/>
                  </a:lnTo>
                  <a:lnTo>
                    <a:pt x="4723871" y="0"/>
                  </a:lnTo>
                  <a:close/>
                </a:path>
              </a:pathLst>
            </a:custGeom>
            <a:gradFill flip="none" rotWithShape="1">
              <a:gsLst>
                <a:gs pos="0">
                  <a:sysClr val="window" lastClr="FFFFFF"/>
                </a:gs>
                <a:gs pos="100000">
                  <a:sysClr val="window" lastClr="FFFFFF">
                    <a:lumMod val="95000"/>
                  </a:sysClr>
                </a:gs>
              </a:gsLst>
              <a:lin ang="10800000" scaled="1"/>
              <a:tileRect/>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20" name="TextBox 19">
              <a:extLst>
                <a:ext uri="{FF2B5EF4-FFF2-40B4-BE49-F238E27FC236}">
                  <a16:creationId xmlns:a16="http://schemas.microsoft.com/office/drawing/2014/main" id="{A3350A8D-9C8D-6877-F67A-4D92B29B0353}"/>
                </a:ext>
              </a:extLst>
            </p:cNvPr>
            <p:cNvSpPr txBox="1"/>
            <p:nvPr/>
          </p:nvSpPr>
          <p:spPr>
            <a:xfrm>
              <a:off x="1705980" y="3425135"/>
              <a:ext cx="2495908" cy="994479"/>
            </a:xfrm>
            <a:prstGeom prst="rect">
              <a:avLst/>
            </a:prstGeom>
            <a:noFill/>
          </p:spPr>
          <p:txBody>
            <a:bodyPr wrap="square" lIns="0" tIns="0" rIns="0" bIns="0" rtlCol="0" anchor="ctr">
              <a:noAutofit/>
            </a:bodyPr>
            <a:lstStyle/>
            <a:p>
              <a:pPr lvl="0" algn="r" defTabSz="1218987"/>
              <a:r>
                <a:rPr lang="en-US" b="1" kern="0">
                  <a:solidFill>
                    <a:prstClr val="black">
                      <a:lumMod val="95000"/>
                      <a:lumOff val="5000"/>
                    </a:prstClr>
                  </a:solidFill>
                  <a:latin typeface="Segoe UI"/>
                  <a:ea typeface="Segoe UI Black" panose="020B0A02040204020203" pitchFamily="34" charset="0"/>
                </a:rPr>
                <a:t>Install and experiment with the model, test, evaluate and compare the results.</a:t>
              </a:r>
              <a:endParaRPr lang="en-US" b="1" kern="0" dirty="0">
                <a:solidFill>
                  <a:prstClr val="black">
                    <a:lumMod val="95000"/>
                    <a:lumOff val="5000"/>
                  </a:prstClr>
                </a:solidFill>
                <a:latin typeface="Segoe UI"/>
                <a:ea typeface="Segoe UI Black" panose="020B0A02040204020203" pitchFamily="34" charset="0"/>
              </a:endParaRPr>
            </a:p>
          </p:txBody>
        </p:sp>
        <p:pic>
          <p:nvPicPr>
            <p:cNvPr id="19" name="Graphic 28" descr="Gears outline">
              <a:extLst>
                <a:ext uri="{FF2B5EF4-FFF2-40B4-BE49-F238E27FC236}">
                  <a16:creationId xmlns:a16="http://schemas.microsoft.com/office/drawing/2014/main" id="{4B73FE0E-1DF0-11B1-163B-7A80CF32BAF1}"/>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4556650" y="3479617"/>
              <a:ext cx="756868" cy="756868"/>
            </a:xfrm>
            <a:prstGeom prst="rect">
              <a:avLst/>
            </a:prstGeom>
          </p:spPr>
        </p:pic>
      </p:grpSp>
      <p:grpSp>
        <p:nvGrpSpPr>
          <p:cNvPr id="22" name="Group 21">
            <a:extLst>
              <a:ext uri="{FF2B5EF4-FFF2-40B4-BE49-F238E27FC236}">
                <a16:creationId xmlns:a16="http://schemas.microsoft.com/office/drawing/2014/main" id="{27F430EC-ECD2-7C8D-BA48-E521C43BAA8F}"/>
              </a:ext>
            </a:extLst>
          </p:cNvPr>
          <p:cNvGrpSpPr/>
          <p:nvPr/>
        </p:nvGrpSpPr>
        <p:grpSpPr>
          <a:xfrm>
            <a:off x="6102599" y="1848589"/>
            <a:ext cx="5138268" cy="1825667"/>
            <a:chOff x="6102599" y="1848589"/>
            <a:chExt cx="5138268" cy="1825667"/>
          </a:xfrm>
        </p:grpSpPr>
        <p:sp>
          <p:nvSpPr>
            <p:cNvPr id="23" name="Freeform: Shape 14">
              <a:extLst>
                <a:ext uri="{FF2B5EF4-FFF2-40B4-BE49-F238E27FC236}">
                  <a16:creationId xmlns:a16="http://schemas.microsoft.com/office/drawing/2014/main" id="{8C93AB23-A1B5-E974-00AB-47D1331715DD}"/>
                </a:ext>
              </a:extLst>
            </p:cNvPr>
            <p:cNvSpPr/>
            <p:nvPr/>
          </p:nvSpPr>
          <p:spPr>
            <a:xfrm>
              <a:off x="6102599" y="1988840"/>
              <a:ext cx="4953211" cy="1685416"/>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24" name="Group 23">
              <a:extLst>
                <a:ext uri="{FF2B5EF4-FFF2-40B4-BE49-F238E27FC236}">
                  <a16:creationId xmlns:a16="http://schemas.microsoft.com/office/drawing/2014/main" id="{0710448D-1A34-489D-574C-6BC1C9E258E1}"/>
                </a:ext>
              </a:extLst>
            </p:cNvPr>
            <p:cNvGrpSpPr/>
            <p:nvPr/>
          </p:nvGrpSpPr>
          <p:grpSpPr>
            <a:xfrm>
              <a:off x="6287656" y="1848589"/>
              <a:ext cx="4953211" cy="1588148"/>
              <a:chOff x="6287656" y="1848589"/>
              <a:chExt cx="4953211" cy="1588148"/>
            </a:xfrm>
          </p:grpSpPr>
          <p:sp>
            <p:nvSpPr>
              <p:cNvPr id="25" name="Freeform: Shape 9">
                <a:extLst>
                  <a:ext uri="{FF2B5EF4-FFF2-40B4-BE49-F238E27FC236}">
                    <a16:creationId xmlns:a16="http://schemas.microsoft.com/office/drawing/2014/main" id="{86209F18-D929-9875-9B3D-06B8715E2246}"/>
                  </a:ext>
                </a:extLst>
              </p:cNvPr>
              <p:cNvSpPr/>
              <p:nvPr/>
            </p:nvSpPr>
            <p:spPr>
              <a:xfrm>
                <a:off x="6287656" y="1848589"/>
                <a:ext cx="4953211" cy="1588148"/>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gradFill>
                <a:gsLst>
                  <a:gs pos="0">
                    <a:sysClr val="window" lastClr="FFFFFF"/>
                  </a:gs>
                  <a:gs pos="100000">
                    <a:sysClr val="window" lastClr="FFFFFF">
                      <a:lumMod val="95000"/>
                    </a:sysClr>
                  </a:gs>
                </a:gsLst>
                <a:lin ang="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28" name="TextBox 27">
                <a:extLst>
                  <a:ext uri="{FF2B5EF4-FFF2-40B4-BE49-F238E27FC236}">
                    <a16:creationId xmlns:a16="http://schemas.microsoft.com/office/drawing/2014/main" id="{7511CFC1-9FD2-E407-B865-8E7D095E3ED3}"/>
                  </a:ext>
                </a:extLst>
              </p:cNvPr>
              <p:cNvSpPr txBox="1"/>
              <p:nvPr/>
            </p:nvSpPr>
            <p:spPr>
              <a:xfrm>
                <a:off x="7997921" y="2070659"/>
                <a:ext cx="2495908" cy="1133569"/>
              </a:xfrm>
              <a:prstGeom prst="rect">
                <a:avLst/>
              </a:prstGeom>
              <a:noFill/>
            </p:spPr>
            <p:txBody>
              <a:bodyPr wrap="square" lIns="0" tIns="0" rIns="0" bIns="0" rtlCol="0" anchor="ctr">
                <a:noAutofit/>
              </a:bodyPr>
              <a:lstStyle/>
              <a:p>
                <a:pPr lvl="0" defTabSz="1218987"/>
                <a:r>
                  <a:rPr lang="en-US" b="1" kern="0" smtClean="0">
                    <a:solidFill>
                      <a:prstClr val="black">
                        <a:lumMod val="95000"/>
                        <a:lumOff val="5000"/>
                      </a:prstClr>
                    </a:solidFill>
                    <a:latin typeface="Segoe UI"/>
                    <a:ea typeface="Segoe UI Black" panose="020B0A02040204020203" pitchFamily="34" charset="0"/>
                  </a:rPr>
                  <a:t>Detection </a:t>
                </a:r>
                <a:r>
                  <a:rPr lang="en-US" b="1" kern="0">
                    <a:solidFill>
                      <a:prstClr val="black">
                        <a:lumMod val="95000"/>
                        <a:lumOff val="5000"/>
                      </a:prstClr>
                    </a:solidFill>
                    <a:latin typeface="Segoe UI"/>
                    <a:ea typeface="Segoe UI Black" panose="020B0A02040204020203" pitchFamily="34" charset="0"/>
                  </a:rPr>
                  <a:t>and </a:t>
                </a:r>
                <a:r>
                  <a:rPr lang="en-US" b="1" kern="0" smtClean="0">
                    <a:solidFill>
                      <a:prstClr val="black">
                        <a:lumMod val="95000"/>
                        <a:lumOff val="5000"/>
                      </a:prstClr>
                    </a:solidFill>
                    <a:latin typeface="Segoe UI"/>
                    <a:ea typeface="Segoe UI Black" panose="020B0A02040204020203" pitchFamily="34" charset="0"/>
                  </a:rPr>
                  <a:t>classification on </a:t>
                </a:r>
                <a:r>
                  <a:rPr lang="en-US" b="1" kern="0">
                    <a:solidFill>
                      <a:prstClr val="black">
                        <a:lumMod val="95000"/>
                        <a:lumOff val="5000"/>
                      </a:prstClr>
                    </a:solidFill>
                    <a:latin typeface="Segoe UI"/>
                    <a:ea typeface="Segoe UI Black" panose="020B0A02040204020203" pitchFamily="34" charset="0"/>
                  </a:rPr>
                  <a:t>mammograms based on deep learning techniques</a:t>
                </a:r>
                <a:endParaRPr lang="en-US" b="1" kern="0" dirty="0">
                  <a:solidFill>
                    <a:prstClr val="black">
                      <a:lumMod val="95000"/>
                      <a:lumOff val="5000"/>
                    </a:prstClr>
                  </a:solidFill>
                  <a:latin typeface="Segoe UI"/>
                  <a:ea typeface="Segoe UI Black" panose="020B0A02040204020203" pitchFamily="34" charset="0"/>
                </a:endParaRPr>
              </a:p>
            </p:txBody>
          </p:sp>
        </p:grpSp>
      </p:grpSp>
      <p:sp>
        <p:nvSpPr>
          <p:cNvPr id="30" name="Content Placeholder 1"/>
          <p:cNvSpPr>
            <a:spLocks noGrp="1"/>
          </p:cNvSpPr>
          <p:nvPr>
            <p:ph sz="quarter" idx="10"/>
          </p:nvPr>
        </p:nvSpPr>
        <p:spPr>
          <a:xfrm>
            <a:off x="347665" y="911419"/>
            <a:ext cx="11234737" cy="633409"/>
          </a:xfrm>
        </p:spPr>
        <p:txBody>
          <a:bodyPr/>
          <a:lstStyle/>
          <a:p>
            <a:pPr marL="0" lvl="0" indent="0" algn="just">
              <a:lnSpc>
                <a:spcPct val="120000"/>
              </a:lnSpc>
              <a:spcBef>
                <a:spcPts val="600"/>
              </a:spcBef>
              <a:buNone/>
            </a:pPr>
            <a:r>
              <a:rPr lang="en" b="1" smtClean="0">
                <a:solidFill>
                  <a:srgbClr val="C00000"/>
                </a:solidFill>
              </a:rPr>
              <a:t>Targets:</a:t>
            </a:r>
          </a:p>
        </p:txBody>
      </p:sp>
      <p:pic>
        <p:nvPicPr>
          <p:cNvPr id="31" name="Picture 30"/>
          <p:cNvPicPr>
            <a:picLocks noChangeAspect="1"/>
          </p:cNvPicPr>
          <p:nvPr/>
        </p:nvPicPr>
        <p:blipFill>
          <a:blip r:embed="rId6"/>
          <a:stretch>
            <a:fillRect/>
          </a:stretch>
        </p:blipFill>
        <p:spPr>
          <a:xfrm>
            <a:off x="6658313" y="2349225"/>
            <a:ext cx="1115623" cy="658891"/>
          </a:xfrm>
          <a:prstGeom prst="rect">
            <a:avLst/>
          </a:prstGeom>
        </p:spPr>
      </p:pic>
      <p:pic>
        <p:nvPicPr>
          <p:cNvPr id="32" name="Picture 31"/>
          <p:cNvPicPr>
            <a:picLocks noChangeAspect="1"/>
          </p:cNvPicPr>
          <p:nvPr/>
        </p:nvPicPr>
        <p:blipFill>
          <a:blip r:embed="rId7"/>
          <a:stretch>
            <a:fillRect/>
          </a:stretch>
        </p:blipFill>
        <p:spPr>
          <a:xfrm>
            <a:off x="6727309" y="4440378"/>
            <a:ext cx="989173" cy="898531"/>
          </a:xfrm>
          <a:prstGeom prst="rect">
            <a:avLst/>
          </a:prstGeom>
        </p:spPr>
      </p:pic>
    </p:spTree>
    <p:extLst>
      <p:ext uri="{BB962C8B-B14F-4D97-AF65-F5344CB8AC3E}">
        <p14:creationId xmlns:p14="http://schemas.microsoft.com/office/powerpoint/2010/main" val="5340799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7" name="Picture 6"/>
          <p:cNvPicPr>
            <a:picLocks noChangeAspect="1"/>
          </p:cNvPicPr>
          <p:nvPr/>
        </p:nvPicPr>
        <p:blipFill>
          <a:blip r:embed="rId3"/>
          <a:stretch>
            <a:fillRect/>
          </a:stretch>
        </p:blipFill>
        <p:spPr>
          <a:xfrm>
            <a:off x="696367" y="1064481"/>
            <a:ext cx="8328708" cy="3696926"/>
          </a:xfrm>
          <a:prstGeom prst="rect">
            <a:avLst/>
          </a:prstGeom>
        </p:spPr>
      </p:pic>
      <p:sp>
        <p:nvSpPr>
          <p:cNvPr id="8" name="Rectangle 7"/>
          <p:cNvSpPr/>
          <p:nvPr/>
        </p:nvSpPr>
        <p:spPr>
          <a:xfrm>
            <a:off x="696368" y="4774048"/>
            <a:ext cx="9476092" cy="923330"/>
          </a:xfrm>
          <a:prstGeom prst="rect">
            <a:avLst/>
          </a:prstGeom>
        </p:spPr>
        <p:txBody>
          <a:bodyPr wrap="square">
            <a:spAutoFit/>
          </a:bodyPr>
          <a:lstStyle/>
          <a:p>
            <a:r>
              <a:rPr lang="en-US" smtClean="0">
                <a:latin typeface="Cambria" panose="02040503050406030204" pitchFamily="18" charset="0"/>
                <a:ea typeface="Cambria" panose="02040503050406030204" pitchFamily="18" charset="0"/>
              </a:rPr>
              <a:t>- Architecture network: AlexNet, VGG, SquezzeNet, ResNet, DenseNet</a:t>
            </a:r>
          </a:p>
          <a:p>
            <a:r>
              <a:rPr lang="en-US" smtClean="0">
                <a:latin typeface="Cambria" panose="02040503050406030204" pitchFamily="18" charset="0"/>
                <a:ea typeface="Cambria" panose="02040503050406030204" pitchFamily="18" charset="0"/>
              </a:rPr>
              <a:t>- Dataset: CBIS-DDSM</a:t>
            </a:r>
          </a:p>
          <a:p>
            <a:r>
              <a:rPr lang="en-US" smtClean="0">
                <a:latin typeface="Cambria" panose="02040503050406030204" pitchFamily="18" charset="0"/>
                <a:ea typeface="Cambria" panose="02040503050406030204" pitchFamily="18" charset="0"/>
              </a:rPr>
              <a:t>- Accuracy: 99.8% </a:t>
            </a:r>
            <a:endParaRPr lang="en-US">
              <a:latin typeface="Cambria" panose="02040503050406030204" pitchFamily="18" charset="0"/>
              <a:ea typeface="Cambria" panose="02040503050406030204" pitchFamily="18" charset="0"/>
            </a:endParaRPr>
          </a:p>
        </p:txBody>
      </p:sp>
      <p:sp>
        <p:nvSpPr>
          <p:cNvPr id="9" name="Rectangle 8"/>
          <p:cNvSpPr/>
          <p:nvPr/>
        </p:nvSpPr>
        <p:spPr>
          <a:xfrm>
            <a:off x="486137" y="5987018"/>
            <a:ext cx="11354764"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Fig 3. </a:t>
            </a:r>
            <a:r>
              <a:rPr lang="en-US">
                <a:latin typeface="Cambria" panose="02040503050406030204" pitchFamily="18" charset="0"/>
                <a:ea typeface="Cambria" panose="02040503050406030204" pitchFamily="18" charset="0"/>
              </a:rPr>
              <a:t>Performance Evaluation of Deep Learning Models </a:t>
            </a:r>
            <a:r>
              <a:rPr lang="en-US" smtClean="0">
                <a:latin typeface="Cambria" panose="02040503050406030204" pitchFamily="18" charset="0"/>
                <a:ea typeface="Cambria" panose="02040503050406030204" pitchFamily="18" charset="0"/>
              </a:rPr>
              <a:t>on Mammogram </a:t>
            </a:r>
            <a:r>
              <a:rPr lang="en-US">
                <a:latin typeface="Cambria" panose="02040503050406030204" pitchFamily="18" charset="0"/>
                <a:ea typeface="Cambria" panose="02040503050406030204" pitchFamily="18" charset="0"/>
              </a:rPr>
              <a:t>Classification Using Small </a:t>
            </a:r>
            <a:r>
              <a:rPr lang="en-US" smtClean="0">
                <a:latin typeface="Cambria" panose="02040503050406030204" pitchFamily="18" charset="0"/>
                <a:ea typeface="Cambria" panose="02040503050406030204" pitchFamily="18" charset="0"/>
              </a:rPr>
              <a:t>Dataset [3]</a:t>
            </a:r>
            <a:endParaRPr lang="en-US">
              <a:latin typeface="Cambria" panose="02040503050406030204" pitchFamily="18" charset="0"/>
              <a:ea typeface="Cambria" panose="02040503050406030204" pitchFamily="18" charset="0"/>
            </a:endParaRPr>
          </a:p>
        </p:txBody>
      </p:sp>
      <p:pic>
        <p:nvPicPr>
          <p:cNvPr id="10" name="Picture 9"/>
          <p:cNvPicPr>
            <a:picLocks noChangeAspect="1"/>
          </p:cNvPicPr>
          <p:nvPr/>
        </p:nvPicPr>
        <p:blipFill>
          <a:blip r:embed="rId4"/>
          <a:stretch>
            <a:fillRect/>
          </a:stretch>
        </p:blipFill>
        <p:spPr>
          <a:xfrm>
            <a:off x="9439836" y="1129478"/>
            <a:ext cx="1913964" cy="3566932"/>
          </a:xfrm>
          <a:prstGeom prst="rect">
            <a:avLst/>
          </a:prstGeom>
        </p:spPr>
      </p:pic>
    </p:spTree>
    <p:extLst>
      <p:ext uri="{BB962C8B-B14F-4D97-AF65-F5344CB8AC3E}">
        <p14:creationId xmlns:p14="http://schemas.microsoft.com/office/powerpoint/2010/main" val="11909961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5" name="Picture 4"/>
          <p:cNvPicPr>
            <a:picLocks noChangeAspect="1"/>
          </p:cNvPicPr>
          <p:nvPr/>
        </p:nvPicPr>
        <p:blipFill>
          <a:blip r:embed="rId3"/>
          <a:stretch>
            <a:fillRect/>
          </a:stretch>
        </p:blipFill>
        <p:spPr>
          <a:xfrm>
            <a:off x="151998" y="775343"/>
            <a:ext cx="3211219" cy="5946132"/>
          </a:xfrm>
          <a:prstGeom prst="rect">
            <a:avLst/>
          </a:prstGeom>
        </p:spPr>
      </p:pic>
      <p:pic>
        <p:nvPicPr>
          <p:cNvPr id="7" name="Picture 6"/>
          <p:cNvPicPr>
            <a:picLocks noChangeAspect="1"/>
          </p:cNvPicPr>
          <p:nvPr/>
        </p:nvPicPr>
        <p:blipFill>
          <a:blip r:embed="rId4"/>
          <a:stretch>
            <a:fillRect/>
          </a:stretch>
        </p:blipFill>
        <p:spPr>
          <a:xfrm>
            <a:off x="3562410" y="1022437"/>
            <a:ext cx="4144299" cy="4076360"/>
          </a:xfrm>
          <a:prstGeom prst="rect">
            <a:avLst/>
          </a:prstGeom>
        </p:spPr>
      </p:pic>
      <p:sp>
        <p:nvSpPr>
          <p:cNvPr id="8" name="Rectangle 7"/>
          <p:cNvSpPr/>
          <p:nvPr/>
        </p:nvSpPr>
        <p:spPr>
          <a:xfrm>
            <a:off x="7706709" y="1279661"/>
            <a:ext cx="4165198" cy="1477328"/>
          </a:xfrm>
          <a:prstGeom prst="rect">
            <a:avLst/>
          </a:prstGeom>
        </p:spPr>
        <p:txBody>
          <a:bodyPr wrap="square">
            <a:spAutoFit/>
          </a:bodyPr>
          <a:lstStyle/>
          <a:p>
            <a:r>
              <a:rPr lang="en-US" smtClean="0">
                <a:latin typeface="Cambria" panose="02040503050406030204" pitchFamily="18" charset="0"/>
                <a:ea typeface="Cambria" panose="02040503050406030204" pitchFamily="18" charset="0"/>
              </a:rPr>
              <a:t>- Ensemble method: </a:t>
            </a:r>
            <a:r>
              <a:rPr lang="en-US">
                <a:latin typeface="Cambria" panose="02040503050406030204" pitchFamily="18" charset="0"/>
                <a:ea typeface="Cambria" panose="02040503050406030204" pitchFamily="18" charset="0"/>
              </a:rPr>
              <a:t>Decision Tree, Logistic Regression </a:t>
            </a:r>
            <a:r>
              <a:rPr lang="en-US" smtClean="0">
                <a:latin typeface="Cambria" panose="02040503050406030204" pitchFamily="18" charset="0"/>
                <a:ea typeface="Cambria" panose="02040503050406030204" pitchFamily="18" charset="0"/>
              </a:rPr>
              <a:t>and </a:t>
            </a:r>
            <a:r>
              <a:rPr lang="en-US">
                <a:latin typeface="Cambria" panose="02040503050406030204" pitchFamily="18" charset="0"/>
                <a:ea typeface="Cambria" panose="02040503050406030204" pitchFamily="18" charset="0"/>
              </a:rPr>
              <a:t>Support Vector </a:t>
            </a:r>
            <a:r>
              <a:rPr lang="en-US" smtClean="0">
                <a:latin typeface="Cambria" panose="02040503050406030204" pitchFamily="18" charset="0"/>
                <a:ea typeface="Cambria" panose="02040503050406030204" pitchFamily="18" charset="0"/>
              </a:rPr>
              <a:t>Machine</a:t>
            </a:r>
            <a:endParaRPr lang="en-US">
              <a:latin typeface="Cambria" panose="02040503050406030204" pitchFamily="18" charset="0"/>
              <a:ea typeface="Cambria" panose="02040503050406030204" pitchFamily="18" charset="0"/>
            </a:endParaRPr>
          </a:p>
          <a:p>
            <a:r>
              <a:rPr lang="en-US" smtClean="0">
                <a:latin typeface="Cambria" panose="02040503050406030204" pitchFamily="18" charset="0"/>
                <a:ea typeface="Cambria" panose="02040503050406030204" pitchFamily="18" charset="0"/>
              </a:rPr>
              <a:t>- Dataset: WDBC</a:t>
            </a:r>
          </a:p>
          <a:p>
            <a:r>
              <a:rPr lang="en-US" smtClean="0">
                <a:latin typeface="Cambria" panose="02040503050406030204" pitchFamily="18" charset="0"/>
                <a:ea typeface="Cambria" panose="02040503050406030204" pitchFamily="18" charset="0"/>
              </a:rPr>
              <a:t>- Accuracy: 98.25% (Hard voting) </a:t>
            </a:r>
            <a:endParaRPr lang="en-US">
              <a:latin typeface="Cambria" panose="02040503050406030204" pitchFamily="18" charset="0"/>
              <a:ea typeface="Cambria" panose="02040503050406030204" pitchFamily="18" charset="0"/>
            </a:endParaRPr>
          </a:p>
        </p:txBody>
      </p:sp>
      <p:sp>
        <p:nvSpPr>
          <p:cNvPr id="9" name="Rectangle 8"/>
          <p:cNvSpPr/>
          <p:nvPr/>
        </p:nvSpPr>
        <p:spPr>
          <a:xfrm>
            <a:off x="3970115" y="5697378"/>
            <a:ext cx="7094759" cy="646331"/>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Fig 4. </a:t>
            </a:r>
            <a:r>
              <a:rPr lang="en-US">
                <a:latin typeface="Cambria" panose="02040503050406030204" pitchFamily="18" charset="0"/>
                <a:ea typeface="Cambria" panose="02040503050406030204" pitchFamily="18" charset="0"/>
              </a:rPr>
              <a:t>Breast Cancer Prediction Using Soft Voting Classifier Based on Machine Learning </a:t>
            </a:r>
            <a:r>
              <a:rPr lang="en-US" smtClean="0">
                <a:latin typeface="Cambria" panose="02040503050406030204" pitchFamily="18" charset="0"/>
                <a:ea typeface="Cambria" panose="02040503050406030204" pitchFamily="18" charset="0"/>
              </a:rPr>
              <a:t>Models [4]</a:t>
            </a: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243567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10" name="Rectangle 9"/>
          <p:cNvSpPr/>
          <p:nvPr/>
        </p:nvSpPr>
        <p:spPr>
          <a:xfrm>
            <a:off x="5023231" y="3201877"/>
            <a:ext cx="6330569" cy="1631216"/>
          </a:xfrm>
          <a:prstGeom prst="rect">
            <a:avLst/>
          </a:prstGeom>
        </p:spPr>
        <p:txBody>
          <a:bodyPr wrap="square">
            <a:spAutoFit/>
          </a:bodyPr>
          <a:lstStyle/>
          <a:p>
            <a:pPr algn="just"/>
            <a:r>
              <a:rPr lang="en-US" sz="2000" smtClean="0">
                <a:latin typeface="Cambria" panose="02040503050406030204" pitchFamily="18" charset="0"/>
                <a:ea typeface="Cambria" panose="02040503050406030204" pitchFamily="18" charset="0"/>
              </a:rPr>
              <a:t>- </a:t>
            </a:r>
            <a:r>
              <a:rPr lang="en-US" sz="2000">
                <a:latin typeface="Cambria" panose="02040503050406030204" pitchFamily="18" charset="0"/>
                <a:ea typeface="Cambria" panose="02040503050406030204" pitchFamily="18" charset="0"/>
              </a:rPr>
              <a:t>Mammographic density classification (A, B, C, D) using a combined model (ResNet18, ResNet50, EfficientNet-B0</a:t>
            </a:r>
            <a:r>
              <a:rPr lang="en-US" sz="2000" smtClean="0">
                <a:latin typeface="Cambria" panose="02040503050406030204" pitchFamily="18" charset="0"/>
                <a:ea typeface="Cambria" panose="02040503050406030204" pitchFamily="18" charset="0"/>
              </a:rPr>
              <a:t>, </a:t>
            </a:r>
            <a:r>
              <a:rPr lang="en-US" sz="2000">
                <a:latin typeface="Cambria" panose="02040503050406030204" pitchFamily="18" charset="0"/>
                <a:ea typeface="Cambria" panose="02040503050406030204" pitchFamily="18" charset="0"/>
              </a:rPr>
              <a:t>DenseNet121</a:t>
            </a:r>
            <a:r>
              <a:rPr lang="en-US" sz="2000" smtClean="0">
                <a:latin typeface="Cambria" panose="02040503050406030204" pitchFamily="18" charset="0"/>
                <a:ea typeface="Cambria" panose="02040503050406030204" pitchFamily="18" charset="0"/>
              </a:rPr>
              <a:t>)</a:t>
            </a:r>
          </a:p>
          <a:p>
            <a:pPr algn="just"/>
            <a:r>
              <a:rPr lang="en-US" sz="2000" smtClean="0">
                <a:latin typeface="Cambria" panose="02040503050406030204" pitchFamily="18" charset="0"/>
                <a:ea typeface="Cambria" panose="02040503050406030204" pitchFamily="18" charset="0"/>
              </a:rPr>
              <a:t>- Dataset: VinDr-Mammo</a:t>
            </a:r>
          </a:p>
          <a:p>
            <a:pPr algn="just"/>
            <a:r>
              <a:rPr lang="en-US" sz="2000" smtClean="0">
                <a:latin typeface="Cambria" panose="02040503050406030204" pitchFamily="18" charset="0"/>
                <a:ea typeface="Cambria" panose="02040503050406030204" pitchFamily="18" charset="0"/>
              </a:rPr>
              <a:t>- Accuracy: </a:t>
            </a:r>
            <a:r>
              <a:rPr lang="en-US" sz="2000">
                <a:latin typeface="Cambria" panose="02040503050406030204" pitchFamily="18" charset="0"/>
                <a:ea typeface="Cambria" panose="02040503050406030204" pitchFamily="18" charset="0"/>
              </a:rPr>
              <a:t>AUC: 0.963, F1-score: </a:t>
            </a:r>
            <a:r>
              <a:rPr lang="en-US" sz="2000" smtClean="0">
                <a:latin typeface="Cambria" panose="02040503050406030204" pitchFamily="18" charset="0"/>
                <a:ea typeface="Cambria" panose="02040503050406030204" pitchFamily="18" charset="0"/>
              </a:rPr>
              <a:t>0.952 (Soft voting)</a:t>
            </a:r>
            <a:endParaRPr lang="en-US" sz="2000">
              <a:latin typeface="Cambria" panose="02040503050406030204" pitchFamily="18" charset="0"/>
              <a:ea typeface="Cambria" panose="02040503050406030204" pitchFamily="18" charset="0"/>
            </a:endParaRPr>
          </a:p>
        </p:txBody>
      </p:sp>
      <p:pic>
        <p:nvPicPr>
          <p:cNvPr id="11" name="Picture 10"/>
          <p:cNvPicPr>
            <a:picLocks noChangeAspect="1"/>
          </p:cNvPicPr>
          <p:nvPr/>
        </p:nvPicPr>
        <p:blipFill>
          <a:blip r:embed="rId3"/>
          <a:stretch>
            <a:fillRect/>
          </a:stretch>
        </p:blipFill>
        <p:spPr>
          <a:xfrm>
            <a:off x="5023231" y="871567"/>
            <a:ext cx="6219825" cy="1971675"/>
          </a:xfrm>
          <a:prstGeom prst="rect">
            <a:avLst/>
          </a:prstGeom>
        </p:spPr>
      </p:pic>
      <p:pic>
        <p:nvPicPr>
          <p:cNvPr id="12" name="Picture 11"/>
          <p:cNvPicPr>
            <a:picLocks noChangeAspect="1"/>
          </p:cNvPicPr>
          <p:nvPr/>
        </p:nvPicPr>
        <p:blipFill>
          <a:blip r:embed="rId4"/>
          <a:stretch>
            <a:fillRect/>
          </a:stretch>
        </p:blipFill>
        <p:spPr>
          <a:xfrm>
            <a:off x="356404" y="871567"/>
            <a:ext cx="4227171" cy="5368507"/>
          </a:xfrm>
          <a:prstGeom prst="rect">
            <a:avLst/>
          </a:prstGeom>
        </p:spPr>
      </p:pic>
      <p:sp>
        <p:nvSpPr>
          <p:cNvPr id="13" name="Rectangle 12"/>
          <p:cNvSpPr/>
          <p:nvPr/>
        </p:nvSpPr>
        <p:spPr>
          <a:xfrm>
            <a:off x="5023231" y="5593743"/>
            <a:ext cx="6481299" cy="646331"/>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Fig 5. </a:t>
            </a:r>
            <a:r>
              <a:rPr lang="en-US">
                <a:latin typeface="Cambria" panose="02040503050406030204" pitchFamily="18" charset="0"/>
                <a:ea typeface="Cambria" panose="02040503050406030204" pitchFamily="18" charset="0"/>
              </a:rPr>
              <a:t>Attention-Enhanced Deep Learning Ensemble for Breast Density Classification in </a:t>
            </a:r>
            <a:r>
              <a:rPr lang="en-US" smtClean="0">
                <a:latin typeface="Cambria" panose="02040503050406030204" pitchFamily="18" charset="0"/>
                <a:ea typeface="Cambria" panose="02040503050406030204" pitchFamily="18" charset="0"/>
              </a:rPr>
              <a:t>Mammography</a:t>
            </a: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523535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4" name="Picture 3"/>
          <p:cNvPicPr>
            <a:picLocks noChangeAspect="1"/>
          </p:cNvPicPr>
          <p:nvPr/>
        </p:nvPicPr>
        <p:blipFill>
          <a:blip r:embed="rId3"/>
          <a:stretch>
            <a:fillRect/>
          </a:stretch>
        </p:blipFill>
        <p:spPr>
          <a:xfrm>
            <a:off x="1228233" y="1051032"/>
            <a:ext cx="3505402" cy="3573519"/>
          </a:xfrm>
          <a:prstGeom prst="rect">
            <a:avLst/>
          </a:prstGeom>
        </p:spPr>
      </p:pic>
      <p:pic>
        <p:nvPicPr>
          <p:cNvPr id="5" name="Picture 4"/>
          <p:cNvPicPr>
            <a:picLocks noChangeAspect="1"/>
          </p:cNvPicPr>
          <p:nvPr/>
        </p:nvPicPr>
        <p:blipFill>
          <a:blip r:embed="rId4"/>
          <a:stretch>
            <a:fillRect/>
          </a:stretch>
        </p:blipFill>
        <p:spPr>
          <a:xfrm>
            <a:off x="4733635" y="1051032"/>
            <a:ext cx="3441557" cy="3573519"/>
          </a:xfrm>
          <a:prstGeom prst="rect">
            <a:avLst/>
          </a:prstGeom>
        </p:spPr>
      </p:pic>
      <p:pic>
        <p:nvPicPr>
          <p:cNvPr id="6" name="Picture 5"/>
          <p:cNvPicPr>
            <a:picLocks noChangeAspect="1"/>
          </p:cNvPicPr>
          <p:nvPr/>
        </p:nvPicPr>
        <p:blipFill>
          <a:blip r:embed="rId5"/>
          <a:stretch>
            <a:fillRect/>
          </a:stretch>
        </p:blipFill>
        <p:spPr>
          <a:xfrm>
            <a:off x="8380358" y="1051032"/>
            <a:ext cx="2366796" cy="3668112"/>
          </a:xfrm>
          <a:prstGeom prst="rect">
            <a:avLst/>
          </a:prstGeom>
        </p:spPr>
      </p:pic>
      <p:sp>
        <p:nvSpPr>
          <p:cNvPr id="7" name="Rectangle 6"/>
          <p:cNvSpPr/>
          <p:nvPr/>
        </p:nvSpPr>
        <p:spPr>
          <a:xfrm>
            <a:off x="1162772" y="4644781"/>
            <a:ext cx="4304705" cy="923330"/>
          </a:xfrm>
          <a:prstGeom prst="rect">
            <a:avLst/>
          </a:prstGeom>
        </p:spPr>
        <p:txBody>
          <a:bodyPr wrap="none">
            <a:spAutoFit/>
          </a:bodyPr>
          <a:lstStyle/>
          <a:p>
            <a:pPr marL="285750" indent="-285750">
              <a:buFontTx/>
              <a:buChar char="-"/>
            </a:pPr>
            <a:r>
              <a:rPr lang="en-US" smtClean="0">
                <a:latin typeface="Cambria" panose="02040503050406030204" pitchFamily="18" charset="0"/>
                <a:ea typeface="Cambria" panose="02040503050406030204" pitchFamily="18" charset="0"/>
              </a:rPr>
              <a:t>Model: VGG16, InceptionV3, Res-Net18</a:t>
            </a:r>
          </a:p>
          <a:p>
            <a:pPr marL="285750" indent="-285750">
              <a:buFontTx/>
              <a:buChar char="-"/>
            </a:pPr>
            <a:r>
              <a:rPr lang="en-US" smtClean="0">
                <a:latin typeface="Cambria" panose="02040503050406030204" pitchFamily="18" charset="0"/>
                <a:ea typeface="Cambria" panose="02040503050406030204" pitchFamily="18" charset="0"/>
              </a:rPr>
              <a:t>Dataset: CIBS-DDSM</a:t>
            </a:r>
          </a:p>
          <a:p>
            <a:pPr marL="285750" indent="-285750">
              <a:buFontTx/>
              <a:buChar char="-"/>
            </a:pPr>
            <a:r>
              <a:rPr lang="en-US" smtClean="0">
                <a:latin typeface="Cambria" panose="02040503050406030204" pitchFamily="18" charset="0"/>
                <a:ea typeface="Cambria" panose="02040503050406030204" pitchFamily="18" charset="0"/>
              </a:rPr>
              <a:t>Accuracy: 76%</a:t>
            </a:r>
            <a:endParaRPr lang="en-US">
              <a:latin typeface="Cambria" panose="02040503050406030204" pitchFamily="18" charset="0"/>
              <a:ea typeface="Cambria" panose="02040503050406030204" pitchFamily="18" charset="0"/>
            </a:endParaRPr>
          </a:p>
        </p:txBody>
      </p:sp>
      <p:sp>
        <p:nvSpPr>
          <p:cNvPr id="8" name="Rectangle 7"/>
          <p:cNvSpPr/>
          <p:nvPr/>
        </p:nvSpPr>
        <p:spPr>
          <a:xfrm>
            <a:off x="735550" y="5662769"/>
            <a:ext cx="11119753" cy="646331"/>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Fig 6. Enhancing </a:t>
            </a:r>
            <a:r>
              <a:rPr lang="en-US">
                <a:latin typeface="Cambria" panose="02040503050406030204" pitchFamily="18" charset="0"/>
                <a:ea typeface="Cambria" panose="02040503050406030204" pitchFamily="18" charset="0"/>
              </a:rPr>
              <a:t>Breast Cancer Diagnosis in </a:t>
            </a:r>
            <a:r>
              <a:rPr lang="en-US" smtClean="0">
                <a:latin typeface="Cambria" panose="02040503050406030204" pitchFamily="18" charset="0"/>
                <a:ea typeface="Cambria" panose="02040503050406030204" pitchFamily="18" charset="0"/>
              </a:rPr>
              <a:t>Mammography: Evaluation </a:t>
            </a:r>
            <a:r>
              <a:rPr lang="en-US">
                <a:latin typeface="Cambria" panose="02040503050406030204" pitchFamily="18" charset="0"/>
                <a:ea typeface="Cambria" panose="02040503050406030204" pitchFamily="18" charset="0"/>
              </a:rPr>
              <a:t>and Integration of Convolutional Neural </a:t>
            </a:r>
            <a:r>
              <a:rPr lang="en-US" smtClean="0">
                <a:latin typeface="Cambria" panose="02040503050406030204" pitchFamily="18" charset="0"/>
                <a:ea typeface="Cambria" panose="02040503050406030204" pitchFamily="18" charset="0"/>
              </a:rPr>
              <a:t>Networks and </a:t>
            </a:r>
            <a:r>
              <a:rPr lang="en-US">
                <a:latin typeface="Cambria" panose="02040503050406030204" pitchFamily="18" charset="0"/>
                <a:ea typeface="Cambria" panose="02040503050406030204" pitchFamily="18" charset="0"/>
              </a:rPr>
              <a:t>Explainable AI (</a:t>
            </a:r>
            <a:r>
              <a:rPr lang="en-US" smtClean="0">
                <a:latin typeface="Cambria" panose="02040503050406030204" pitchFamily="18" charset="0"/>
                <a:ea typeface="Cambria" panose="02040503050406030204" pitchFamily="18" charset="0"/>
              </a:rPr>
              <a:t>Ahmed et al. 2024)</a:t>
            </a: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29876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5" name="Rectangle 4"/>
          <p:cNvSpPr/>
          <p:nvPr/>
        </p:nvSpPr>
        <p:spPr>
          <a:xfrm>
            <a:off x="266218" y="5809192"/>
            <a:ext cx="11484457" cy="461665"/>
          </a:xfrm>
          <a:prstGeom prst="rect">
            <a:avLst/>
          </a:prstGeom>
        </p:spPr>
        <p:txBody>
          <a:bodyPr wrap="square">
            <a:spAutoFit/>
          </a:bodyPr>
          <a:lstStyle/>
          <a:p>
            <a:pPr algn="ctr"/>
            <a:r>
              <a:rPr lang="en-US" sz="2400" smtClean="0">
                <a:latin typeface="Cambria" panose="02040503050406030204" pitchFamily="18" charset="0"/>
                <a:ea typeface="Cambria" panose="02040503050406030204" pitchFamily="18" charset="0"/>
              </a:rPr>
              <a:t>Fig 7. Illustration </a:t>
            </a:r>
            <a:r>
              <a:rPr lang="en-US" sz="2400">
                <a:latin typeface="Cambria" panose="02040503050406030204" pitchFamily="18" charset="0"/>
                <a:ea typeface="Cambria" panose="02040503050406030204" pitchFamily="18" charset="0"/>
              </a:rPr>
              <a:t>of </a:t>
            </a:r>
            <a:r>
              <a:rPr lang="en-US" sz="2400" smtClean="0">
                <a:latin typeface="Cambria" panose="02040503050406030204" pitchFamily="18" charset="0"/>
                <a:ea typeface="Cambria" panose="02040503050406030204" pitchFamily="18" charset="0"/>
              </a:rPr>
              <a:t>Hard </a:t>
            </a:r>
            <a:r>
              <a:rPr lang="en-US" sz="2400">
                <a:latin typeface="Cambria" panose="02040503050406030204" pitchFamily="18" charset="0"/>
                <a:ea typeface="Cambria" panose="02040503050406030204" pitchFamily="18" charset="0"/>
              </a:rPr>
              <a:t>voting and Soft voting</a:t>
            </a:r>
          </a:p>
        </p:txBody>
      </p:sp>
      <p:sp>
        <p:nvSpPr>
          <p:cNvPr id="6" name="Text Placeholder 2"/>
          <p:cNvSpPr txBox="1">
            <a:spLocks/>
          </p:cNvSpPr>
          <p:nvPr/>
        </p:nvSpPr>
        <p:spPr>
          <a:xfrm>
            <a:off x="466725" y="1014413"/>
            <a:ext cx="11283950" cy="4384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399"/>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smtClean="0">
                <a:ln>
                  <a:noFill/>
                </a:ln>
                <a:solidFill>
                  <a:srgbClr val="C00000"/>
                </a:solidFill>
                <a:effectLst/>
                <a:uLnTx/>
                <a:uFillTx/>
                <a:latin typeface="Cambria" panose="02040503050406030204" pitchFamily="18" charset="0"/>
                <a:ea typeface="Cambria" panose="02040503050406030204" pitchFamily="18" charset="0"/>
                <a:cs typeface="+mn-cs"/>
              </a:rPr>
              <a:t>Hard/soft</a:t>
            </a:r>
            <a:r>
              <a:rPr kumimoji="0" lang="en-US" sz="2400" b="1" i="0" u="none" strike="noStrike" kern="1200" cap="none" spc="0" normalizeH="0" noProof="0" smtClean="0">
                <a:ln>
                  <a:noFill/>
                </a:ln>
                <a:solidFill>
                  <a:srgbClr val="C00000"/>
                </a:solidFill>
                <a:effectLst/>
                <a:uLnTx/>
                <a:uFillTx/>
                <a:latin typeface="Cambria" panose="02040503050406030204" pitchFamily="18" charset="0"/>
                <a:ea typeface="Cambria" panose="02040503050406030204" pitchFamily="18" charset="0"/>
                <a:cs typeface="+mn-cs"/>
              </a:rPr>
              <a:t> voting</a:t>
            </a:r>
            <a:r>
              <a:rPr kumimoji="0" lang="en-US" sz="2400" b="1" i="0" u="none" strike="noStrike" kern="1200" cap="none" spc="0" normalizeH="0" baseline="0" noProof="0" smtClean="0">
                <a:ln>
                  <a:noFill/>
                </a:ln>
                <a:solidFill>
                  <a:srgbClr val="C00000"/>
                </a:solidFill>
                <a:effectLst/>
                <a:uLnTx/>
                <a:uFillTx/>
                <a:latin typeface="Cambria" panose="02040503050406030204" pitchFamily="18" charset="0"/>
                <a:ea typeface="Cambria" panose="02040503050406030204" pitchFamily="18" charset="0"/>
                <a:cs typeface="+mn-cs"/>
              </a:rPr>
              <a:t>:</a:t>
            </a:r>
            <a:endParaRPr kumimoji="0" lang="en-US" sz="2400" b="1" i="0" u="none" strike="noStrike" kern="1200" cap="none" spc="0" normalizeH="0" baseline="0" noProof="0">
              <a:ln>
                <a:noFill/>
              </a:ln>
              <a:solidFill>
                <a:srgbClr val="C00000"/>
              </a:solidFill>
              <a:effectLst/>
              <a:uLnTx/>
              <a:uFillTx/>
              <a:latin typeface="Cambria" panose="02040503050406030204" pitchFamily="18" charset="0"/>
              <a:ea typeface="Cambria" panose="02040503050406030204" pitchFamily="18" charset="0"/>
              <a:cs typeface="+mn-cs"/>
            </a:endParaRPr>
          </a:p>
        </p:txBody>
      </p:sp>
      <p:pic>
        <p:nvPicPr>
          <p:cNvPr id="7" name="Picture 6"/>
          <p:cNvPicPr>
            <a:picLocks noChangeAspect="1"/>
          </p:cNvPicPr>
          <p:nvPr/>
        </p:nvPicPr>
        <p:blipFill>
          <a:blip r:embed="rId3"/>
          <a:stretch>
            <a:fillRect/>
          </a:stretch>
        </p:blipFill>
        <p:spPr>
          <a:xfrm>
            <a:off x="1435100" y="1432560"/>
            <a:ext cx="9517380" cy="4265017"/>
          </a:xfrm>
          <a:prstGeom prst="rect">
            <a:avLst/>
          </a:prstGeom>
        </p:spPr>
      </p:pic>
    </p:spTree>
    <p:extLst>
      <p:ext uri="{BB962C8B-B14F-4D97-AF65-F5344CB8AC3E}">
        <p14:creationId xmlns:p14="http://schemas.microsoft.com/office/powerpoint/2010/main" val="11279608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4" name="Text Placeholder 2"/>
          <p:cNvSpPr txBox="1">
            <a:spLocks/>
          </p:cNvSpPr>
          <p:nvPr/>
        </p:nvSpPr>
        <p:spPr>
          <a:xfrm>
            <a:off x="466725" y="1014413"/>
            <a:ext cx="11283950" cy="4384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399"/>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smtClean="0">
                <a:ln>
                  <a:noFill/>
                </a:ln>
                <a:solidFill>
                  <a:srgbClr val="C00000"/>
                </a:solidFill>
                <a:effectLst/>
                <a:uLnTx/>
                <a:uFillTx/>
                <a:latin typeface="Cambria" panose="02040503050406030204" pitchFamily="18" charset="0"/>
                <a:ea typeface="Cambria" panose="02040503050406030204" pitchFamily="18" charset="0"/>
                <a:cs typeface="+mn-cs"/>
              </a:rPr>
              <a:t>Evaluation metrics:</a:t>
            </a:r>
            <a:endParaRPr kumimoji="0" lang="en-US" sz="2400" b="1" i="0" u="none" strike="noStrike" kern="1200" cap="none" spc="0" normalizeH="0" baseline="0" noProof="0">
              <a:ln>
                <a:noFill/>
              </a:ln>
              <a:solidFill>
                <a:srgbClr val="C00000"/>
              </a:solidFill>
              <a:effectLst/>
              <a:uLnTx/>
              <a:uFillTx/>
              <a:latin typeface="Cambria" panose="02040503050406030204" pitchFamily="18" charset="0"/>
              <a:ea typeface="Cambria" panose="02040503050406030204" pitchFamily="18" charset="0"/>
              <a:cs typeface="+mn-cs"/>
            </a:endParaRPr>
          </a:p>
        </p:txBody>
      </p:sp>
      <mc:AlternateContent xmlns:mc="http://schemas.openxmlformats.org/markup-compatibility/2006" xmlns:a14="http://schemas.microsoft.com/office/drawing/2010/main">
        <mc:Choice Requires="a14">
          <p:sp>
            <p:nvSpPr>
              <p:cNvPr id="16" name="TextBox 15"/>
              <p:cNvSpPr txBox="1"/>
              <p:nvPr/>
            </p:nvSpPr>
            <p:spPr>
              <a:xfrm>
                <a:off x="744025" y="1771449"/>
                <a:ext cx="3357009"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rPr>
                        <m:t>𝐴</m:t>
                      </m:r>
                      <m:r>
                        <a:rPr lang="en-US" sz="2200" b="0" i="1" smtClean="0">
                          <a:latin typeface="Cambria Math" panose="02040503050406030204" pitchFamily="18" charset="0"/>
                        </a:rPr>
                        <m:t>𝑐𝑐</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𝑇𝑁</m:t>
                          </m:r>
                        </m:num>
                        <m:den>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𝑇𝑁</m:t>
                          </m:r>
                          <m:r>
                            <a:rPr lang="en-US" sz="2200" b="0" i="1" smtClean="0">
                              <a:latin typeface="Cambria Math" panose="02040503050406030204" pitchFamily="18" charset="0"/>
                            </a:rPr>
                            <m:t>+</m:t>
                          </m:r>
                          <m:r>
                            <a:rPr lang="en-US" sz="2200" b="0" i="1" smtClean="0">
                              <a:latin typeface="Cambria Math" panose="02040503050406030204" pitchFamily="18" charset="0"/>
                            </a:rPr>
                            <m:t>𝐹𝑃</m:t>
                          </m:r>
                          <m:r>
                            <a:rPr lang="en-US" sz="2200" b="0" i="1" smtClean="0">
                              <a:latin typeface="Cambria Math" panose="02040503050406030204" pitchFamily="18" charset="0"/>
                            </a:rPr>
                            <m:t>+</m:t>
                          </m:r>
                          <m:r>
                            <a:rPr lang="en-US" sz="2200" b="0" i="1" smtClean="0">
                              <a:latin typeface="Cambria Math" panose="02040503050406030204" pitchFamily="18" charset="0"/>
                            </a:rPr>
                            <m:t>𝐹𝑁</m:t>
                          </m:r>
                        </m:den>
                      </m:f>
                    </m:oMath>
                  </m:oMathPara>
                </a14:m>
                <a:endParaRPr lang="en-US" sz="2200"/>
              </a:p>
            </p:txBody>
          </p:sp>
        </mc:Choice>
        <mc:Fallback xmlns="">
          <p:sp>
            <p:nvSpPr>
              <p:cNvPr id="16" name="TextBox 15"/>
              <p:cNvSpPr txBox="1">
                <a:spLocks noRot="1" noChangeAspect="1" noMove="1" noResize="1" noEditPoints="1" noAdjustHandles="1" noChangeArrowheads="1" noChangeShapeType="1" noTextEdit="1"/>
              </p:cNvSpPr>
              <p:nvPr/>
            </p:nvSpPr>
            <p:spPr>
              <a:xfrm>
                <a:off x="744025" y="1771449"/>
                <a:ext cx="3357009" cy="63953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744025" y="4261454"/>
                <a:ext cx="2455826" cy="521553"/>
              </a:xfrm>
              <a:prstGeom prst="rect">
                <a:avLst/>
              </a:prstGeom>
              <a:noFill/>
            </p:spPr>
            <p:txBody>
              <a:bodyPr wrap="square" lIns="0" tIns="0" rIns="0" bIns="0" rtlCol="0">
                <a:spAutoFit/>
              </a:bodyPr>
              <a:lstStyle/>
              <a:p>
                <a14:m>
                  <m:oMath xmlns:m="http://schemas.openxmlformats.org/officeDocument/2006/math">
                    <m:r>
                      <a:rPr lang="en-US" sz="2400" b="0" i="1" smtClean="0">
                        <a:latin typeface="Cambria Math" panose="02040503050406030204" pitchFamily="18" charset="0"/>
                      </a:rPr>
                      <m:t>𝑚𝐴𝑃</m:t>
                    </m:r>
                  </m:oMath>
                </a14:m>
                <a:r>
                  <a:rPr lang="en-US" sz="2400" smtClean="0"/>
                  <a:t>=</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nary>
                      <m:naryPr>
                        <m:chr m:val="∑"/>
                        <m:ctrlPr>
                          <a:rPr lang="en-US" sz="2400" i="1">
                            <a:latin typeface="Cambria Math" panose="02040503050406030204" pitchFamily="18" charset="0"/>
                          </a:rPr>
                        </m:ctrlPr>
                      </m:naryPr>
                      <m:sub>
                        <m: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𝑁</m:t>
                        </m:r>
                      </m:sup>
                      <m:e>
                        <m:sSub>
                          <m:sSubPr>
                            <m:ctrlPr>
                              <a:rPr lang="en-US" sz="2400" i="1">
                                <a:latin typeface="Cambria Math" panose="02040503050406030204" pitchFamily="18" charset="0"/>
                              </a:rPr>
                            </m:ctrlPr>
                          </m:sSubPr>
                          <m:e>
                            <m:r>
                              <a:rPr lang="en-US" sz="2400" i="1">
                                <a:latin typeface="Cambria Math" panose="02040503050406030204" pitchFamily="18" charset="0"/>
                              </a:rPr>
                              <m:t>𝐴𝑃</m:t>
                            </m:r>
                          </m:e>
                          <m:sub>
                            <m:r>
                              <a:rPr lang="en-US" sz="2400" i="1">
                                <a:latin typeface="Cambria Math" panose="02040503050406030204" pitchFamily="18" charset="0"/>
                              </a:rPr>
                              <m:t>𝑖</m:t>
                            </m:r>
                          </m:sub>
                        </m:sSub>
                      </m:e>
                    </m:nary>
                  </m:oMath>
                </a14:m>
                <a:endParaRPr lang="en-US" sz="2400"/>
              </a:p>
            </p:txBody>
          </p:sp>
        </mc:Choice>
        <mc:Fallback xmlns="">
          <p:sp>
            <p:nvSpPr>
              <p:cNvPr id="17" name="TextBox 16"/>
              <p:cNvSpPr txBox="1">
                <a:spLocks noRot="1" noChangeAspect="1" noMove="1" noResize="1" noEditPoints="1" noAdjustHandles="1" noChangeArrowheads="1" noChangeShapeType="1" noTextEdit="1"/>
              </p:cNvSpPr>
              <p:nvPr/>
            </p:nvSpPr>
            <p:spPr>
              <a:xfrm>
                <a:off x="744025" y="4261454"/>
                <a:ext cx="2455826" cy="521553"/>
              </a:xfrm>
              <a:prstGeom prst="rect">
                <a:avLst/>
              </a:prstGeom>
              <a:blipFill>
                <a:blip r:embed="rId4"/>
                <a:stretch>
                  <a:fillRect t="-2326"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902612" y="1952716"/>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(1)</m:t>
                      </m:r>
                    </m:oMath>
                  </m:oMathPara>
                </a14:m>
                <a:endParaRPr lang="en-US"/>
              </a:p>
            </p:txBody>
          </p:sp>
        </mc:Choice>
        <mc:Fallback xmlns="">
          <p:sp>
            <p:nvSpPr>
              <p:cNvPr id="18" name="TextBox 17"/>
              <p:cNvSpPr txBox="1">
                <a:spLocks noRot="1" noChangeAspect="1" noMove="1" noResize="1" noEditPoints="1" noAdjustHandles="1" noChangeArrowheads="1" noChangeShapeType="1" noTextEdit="1"/>
              </p:cNvSpPr>
              <p:nvPr/>
            </p:nvSpPr>
            <p:spPr>
              <a:xfrm>
                <a:off x="4902612" y="1952716"/>
                <a:ext cx="424796" cy="276999"/>
              </a:xfrm>
              <a:prstGeom prst="rect">
                <a:avLst/>
              </a:prstGeom>
              <a:blipFill>
                <a:blip r:embed="rId5"/>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4902612" y="3323150"/>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(3)</m:t>
                      </m:r>
                    </m:oMath>
                  </m:oMathPara>
                </a14:m>
                <a:endParaRPr lang="en-US"/>
              </a:p>
            </p:txBody>
          </p:sp>
        </mc:Choice>
        <mc:Fallback xmlns="">
          <p:sp>
            <p:nvSpPr>
              <p:cNvPr id="19" name="TextBox 18"/>
              <p:cNvSpPr txBox="1">
                <a:spLocks noRot="1" noChangeAspect="1" noMove="1" noResize="1" noEditPoints="1" noAdjustHandles="1" noChangeArrowheads="1" noChangeShapeType="1" noTextEdit="1"/>
              </p:cNvSpPr>
              <p:nvPr/>
            </p:nvSpPr>
            <p:spPr>
              <a:xfrm>
                <a:off x="4902612" y="3323150"/>
                <a:ext cx="424796" cy="276999"/>
              </a:xfrm>
              <a:prstGeom prst="rect">
                <a:avLst/>
              </a:prstGeom>
              <a:blipFill>
                <a:blip r:embed="rId6"/>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902612" y="4383732"/>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(5)</m:t>
                      </m:r>
                    </m:oMath>
                  </m:oMathPara>
                </a14:m>
                <a:endParaRPr lang="en-US"/>
              </a:p>
            </p:txBody>
          </p:sp>
        </mc:Choice>
        <mc:Fallback xmlns="">
          <p:sp>
            <p:nvSpPr>
              <p:cNvPr id="20" name="TextBox 19"/>
              <p:cNvSpPr txBox="1">
                <a:spLocks noRot="1" noChangeAspect="1" noMove="1" noResize="1" noEditPoints="1" noAdjustHandles="1" noChangeArrowheads="1" noChangeShapeType="1" noTextEdit="1"/>
              </p:cNvSpPr>
              <p:nvPr/>
            </p:nvSpPr>
            <p:spPr>
              <a:xfrm>
                <a:off x="4902612" y="4383732"/>
                <a:ext cx="424796" cy="276999"/>
              </a:xfrm>
              <a:prstGeom prst="rect">
                <a:avLst/>
              </a:prstGeom>
              <a:blipFill>
                <a:blip r:embed="rId7"/>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744025" y="3072635"/>
                <a:ext cx="2676310"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𝑃𝑟𝑒𝑐𝑖𝑠𝑖𝑜𝑛</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𝑇𝑃</m:t>
                          </m:r>
                        </m:num>
                        <m:den>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𝐹𝑃</m:t>
                          </m:r>
                        </m:den>
                      </m:f>
                    </m:oMath>
                  </m:oMathPara>
                </a14:m>
                <a:endParaRPr lang="en-US" sz="2200"/>
              </a:p>
            </p:txBody>
          </p:sp>
        </mc:Choice>
        <mc:Fallback xmlns="">
          <p:sp>
            <p:nvSpPr>
              <p:cNvPr id="21" name="TextBox 20"/>
              <p:cNvSpPr txBox="1">
                <a:spLocks noRot="1" noChangeAspect="1" noMove="1" noResize="1" noEditPoints="1" noAdjustHandles="1" noChangeArrowheads="1" noChangeShapeType="1" noTextEdit="1"/>
              </p:cNvSpPr>
              <p:nvPr/>
            </p:nvSpPr>
            <p:spPr>
              <a:xfrm>
                <a:off x="744025" y="3072635"/>
                <a:ext cx="2676310" cy="63953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11165145" y="3206660"/>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(4)</m:t>
                      </m:r>
                    </m:oMath>
                  </m:oMathPara>
                </a14:m>
                <a:endParaRPr lang="en-US"/>
              </a:p>
            </p:txBody>
          </p:sp>
        </mc:Choice>
        <mc:Fallback xmlns="">
          <p:sp>
            <p:nvSpPr>
              <p:cNvPr id="22" name="TextBox 21"/>
              <p:cNvSpPr txBox="1">
                <a:spLocks noRot="1" noChangeAspect="1" noMove="1" noResize="1" noEditPoints="1" noAdjustHandles="1" noChangeArrowheads="1" noChangeShapeType="1" noTextEdit="1"/>
              </p:cNvSpPr>
              <p:nvPr/>
            </p:nvSpPr>
            <p:spPr>
              <a:xfrm>
                <a:off x="11165145" y="3206660"/>
                <a:ext cx="424796" cy="276999"/>
              </a:xfrm>
              <a:prstGeom prst="rect">
                <a:avLst/>
              </a:prstGeom>
              <a:blipFill>
                <a:blip r:embed="rId9"/>
                <a:stretch>
                  <a:fillRect l="-7246" t="-2222" r="-21739"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744025" y="5202164"/>
                <a:ext cx="2297360"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𝑅𝑒𝑐𝑎𝑙𝑙</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𝑇𝑃</m:t>
                          </m:r>
                        </m:num>
                        <m:den>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𝐹𝑁</m:t>
                          </m:r>
                        </m:den>
                      </m:f>
                    </m:oMath>
                  </m:oMathPara>
                </a14:m>
                <a:endParaRPr lang="en-US" sz="2200"/>
              </a:p>
            </p:txBody>
          </p:sp>
        </mc:Choice>
        <mc:Fallback xmlns="">
          <p:sp>
            <p:nvSpPr>
              <p:cNvPr id="23" name="TextBox 22"/>
              <p:cNvSpPr txBox="1">
                <a:spLocks noRot="1" noChangeAspect="1" noMove="1" noResize="1" noEditPoints="1" noAdjustHandles="1" noChangeArrowheads="1" noChangeShapeType="1" noTextEdit="1"/>
              </p:cNvSpPr>
              <p:nvPr/>
            </p:nvSpPr>
            <p:spPr>
              <a:xfrm>
                <a:off x="744025" y="5202164"/>
                <a:ext cx="2297360" cy="63953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10929004" y="4383732"/>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(6)</m:t>
                      </m:r>
                    </m:oMath>
                  </m:oMathPara>
                </a14:m>
                <a:endParaRPr lang="en-US"/>
              </a:p>
            </p:txBody>
          </p:sp>
        </mc:Choice>
        <mc:Fallback xmlns="">
          <p:sp>
            <p:nvSpPr>
              <p:cNvPr id="24" name="TextBox 23"/>
              <p:cNvSpPr txBox="1">
                <a:spLocks noRot="1" noChangeAspect="1" noMove="1" noResize="1" noEditPoints="1" noAdjustHandles="1" noChangeArrowheads="1" noChangeShapeType="1" noTextEdit="1"/>
              </p:cNvSpPr>
              <p:nvPr/>
            </p:nvSpPr>
            <p:spPr>
              <a:xfrm>
                <a:off x="10929004" y="4383732"/>
                <a:ext cx="424796" cy="276999"/>
              </a:xfrm>
              <a:prstGeom prst="rect">
                <a:avLst/>
              </a:prstGeom>
              <a:blipFill>
                <a:blip r:embed="rId11"/>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6231243" y="4168550"/>
                <a:ext cx="4482574" cy="648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𝐹</m:t>
                      </m:r>
                      <m:r>
                        <a:rPr lang="en-US" sz="2200" b="0" i="1" smtClean="0">
                          <a:latin typeface="Cambria Math" panose="02040503050406030204" pitchFamily="18" charset="0"/>
                        </a:rPr>
                        <m:t>1−</m:t>
                      </m:r>
                      <m:r>
                        <a:rPr lang="en-US" sz="2200" b="0" i="1" smtClean="0">
                          <a:latin typeface="Cambria Math" panose="02040503050406030204" pitchFamily="18" charset="0"/>
                        </a:rPr>
                        <m:t>𝑠𝑐𝑜𝑟𝑒</m:t>
                      </m:r>
                      <m:r>
                        <a:rPr lang="en-US" sz="2200" b="0" i="1" smtClean="0">
                          <a:latin typeface="Cambria Math" panose="02040503050406030204" pitchFamily="18" charset="0"/>
                        </a:rPr>
                        <m:t>=2</m:t>
                      </m:r>
                      <m:r>
                        <a:rPr lang="en-US" sz="2200" b="0" i="1" smtClean="0">
                          <a:latin typeface="Cambria Math" panose="02040503050406030204" pitchFamily="18" charset="0"/>
                        </a:rPr>
                        <m:t>𝑥</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𝑃𝑟𝑒𝑐𝑖𝑠𝑖𝑜𝑛</m:t>
                          </m:r>
                          <m:r>
                            <a:rPr lang="en-US" sz="2200" b="0" i="1" smtClean="0">
                              <a:latin typeface="Cambria Math" panose="02040503050406030204" pitchFamily="18" charset="0"/>
                            </a:rPr>
                            <m:t>∗</m:t>
                          </m:r>
                          <m:r>
                            <a:rPr lang="en-US" sz="2200" b="0" i="1" smtClean="0">
                              <a:latin typeface="Cambria Math" panose="02040503050406030204" pitchFamily="18" charset="0"/>
                            </a:rPr>
                            <m:t>𝑅𝑒𝑐𝑎𝑙𝑙</m:t>
                          </m:r>
                        </m:num>
                        <m:den>
                          <m:r>
                            <a:rPr lang="en-US" sz="2200" b="0" i="1" smtClean="0">
                              <a:latin typeface="Cambria Math" panose="02040503050406030204" pitchFamily="18" charset="0"/>
                            </a:rPr>
                            <m:t>𝑃𝑟𝑒𝑐𝑖𝑠𝑖𝑜𝑛</m:t>
                          </m:r>
                          <m:r>
                            <a:rPr lang="en-US" sz="2200" b="0" i="1" smtClean="0">
                              <a:latin typeface="Cambria Math" panose="02040503050406030204" pitchFamily="18" charset="0"/>
                            </a:rPr>
                            <m:t>+</m:t>
                          </m:r>
                          <m:r>
                            <a:rPr lang="en-US" sz="2200" b="0" i="1" smtClean="0">
                              <a:latin typeface="Cambria Math" panose="02040503050406030204" pitchFamily="18" charset="0"/>
                            </a:rPr>
                            <m:t>𝑅𝑒𝑐𝑎𝑙𝑙</m:t>
                          </m:r>
                        </m:den>
                      </m:f>
                    </m:oMath>
                  </m:oMathPara>
                </a14:m>
                <a:endParaRPr lang="en-US" sz="2200"/>
              </a:p>
            </p:txBody>
          </p:sp>
        </mc:Choice>
        <mc:Fallback xmlns="">
          <p:sp>
            <p:nvSpPr>
              <p:cNvPr id="25" name="TextBox 24"/>
              <p:cNvSpPr txBox="1">
                <a:spLocks noRot="1" noChangeAspect="1" noMove="1" noResize="1" noEditPoints="1" noAdjustHandles="1" noChangeArrowheads="1" noChangeShapeType="1" noTextEdit="1"/>
              </p:cNvSpPr>
              <p:nvPr/>
            </p:nvSpPr>
            <p:spPr>
              <a:xfrm>
                <a:off x="6231243" y="4168550"/>
                <a:ext cx="4482574" cy="64844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5557947" y="1552478"/>
                <a:ext cx="5795853" cy="107747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𝑡</m:t>
                              </m:r>
                            </m:e>
                          </m:acc>
                        </m:e>
                        <m:sub>
                          <m:r>
                            <a:rPr lang="en-US" sz="2400" b="0" i="1" smtClean="0">
                              <a:latin typeface="Cambria Math" panose="02040503050406030204" pitchFamily="18" charset="0"/>
                            </a:rPr>
                            <m:t>𝑤𝑒𝑖𝑔h𝑡</m:t>
                          </m:r>
                          <m:r>
                            <a:rPr lang="en-US" sz="2400" b="0" i="1" smtClean="0">
                              <a:latin typeface="Cambria Math" panose="02040503050406030204" pitchFamily="18" charset="0"/>
                            </a:rPr>
                            <m:t>.</m:t>
                          </m:r>
                          <m:r>
                            <a:rPr lang="en-US" sz="2400" b="0" i="1" smtClean="0">
                              <a:latin typeface="Cambria Math" panose="02040503050406030204" pitchFamily="18" charset="0"/>
                            </a:rPr>
                            <m:t>h𝑎𝑟𝑑</m:t>
                          </m:r>
                        </m:sub>
                      </m:sSub>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arg</m:t>
                          </m:r>
                        </m:fNa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𝑚𝑎𝑥</m:t>
                              </m:r>
                            </m:e>
                            <m:sub>
                              <m:r>
                                <a:rPr lang="en-US" sz="2400" b="0" i="1" smtClean="0">
                                  <a:latin typeface="Cambria Math" panose="02040503050406030204" pitchFamily="18" charset="0"/>
                                </a:rPr>
                                <m:t>𝑐</m:t>
                              </m:r>
                            </m:sub>
                          </m:sSub>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𝑘</m:t>
                              </m:r>
                            </m:sub>
                            <m:sup>
                              <m:r>
                                <a:rPr lang="en-US" sz="2400" b="0" i="1" smtClean="0">
                                  <a:latin typeface="Cambria Math" panose="02040503050406030204" pitchFamily="18" charset="0"/>
                                </a:rPr>
                                <m:t>𝑘</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1</m:t>
                                  </m:r>
                                </m:e>
                                <m: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𝑖</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𝑐</m:t>
                                  </m:r>
                                  <m:r>
                                    <a:rPr lang="en-US" sz="2400" b="0" i="1" smtClean="0">
                                      <a:latin typeface="Cambria Math" panose="02040503050406030204" pitchFamily="18" charset="0"/>
                                    </a:rPr>
                                    <m:t>}</m:t>
                                  </m:r>
                                </m:sub>
                              </m:sSub>
                            </m:e>
                          </m:nary>
                          <m:r>
                            <a:rPr lang="en-US" sz="2400" b="0" i="1" smtClean="0">
                              <a:latin typeface="Cambria Math" panose="02040503050406030204" pitchFamily="18" charset="0"/>
                            </a:rPr>
                            <m:t>)</m:t>
                          </m:r>
                        </m:e>
                      </m:func>
                    </m:oMath>
                  </m:oMathPara>
                </a14:m>
                <a:endParaRPr lang="en-US" sz="2400"/>
              </a:p>
            </p:txBody>
          </p:sp>
        </mc:Choice>
        <mc:Fallback xmlns="">
          <p:sp>
            <p:nvSpPr>
              <p:cNvPr id="5" name="TextBox 4"/>
              <p:cNvSpPr txBox="1">
                <a:spLocks noRot="1" noChangeAspect="1" noMove="1" noResize="1" noEditPoints="1" noAdjustHandles="1" noChangeArrowheads="1" noChangeShapeType="1" noTextEdit="1"/>
              </p:cNvSpPr>
              <p:nvPr/>
            </p:nvSpPr>
            <p:spPr>
              <a:xfrm>
                <a:off x="5557947" y="1552478"/>
                <a:ext cx="5795853" cy="107747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11159543" y="1985758"/>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(2)</m:t>
                      </m:r>
                    </m:oMath>
                  </m:oMathPara>
                </a14:m>
                <a:endParaRPr lang="en-US"/>
              </a:p>
            </p:txBody>
          </p:sp>
        </mc:Choice>
        <mc:Fallback xmlns="">
          <p:sp>
            <p:nvSpPr>
              <p:cNvPr id="26" name="TextBox 25"/>
              <p:cNvSpPr txBox="1">
                <a:spLocks noRot="1" noChangeAspect="1" noMove="1" noResize="1" noEditPoints="1" noAdjustHandles="1" noChangeArrowheads="1" noChangeShapeType="1" noTextEdit="1"/>
              </p:cNvSpPr>
              <p:nvPr/>
            </p:nvSpPr>
            <p:spPr>
              <a:xfrm>
                <a:off x="11159543" y="1985758"/>
                <a:ext cx="424796" cy="276999"/>
              </a:xfrm>
              <a:prstGeom prst="rect">
                <a:avLst/>
              </a:prstGeom>
              <a:blipFill>
                <a:blip r:embed="rId14"/>
                <a:stretch>
                  <a:fillRect l="-7246" t="-4444" r="-21739"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4902612" y="5305814"/>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(7)</m:t>
                      </m:r>
                    </m:oMath>
                  </m:oMathPara>
                </a14:m>
                <a:endParaRPr lang="en-US"/>
              </a:p>
            </p:txBody>
          </p:sp>
        </mc:Choice>
        <mc:Fallback xmlns="">
          <p:sp>
            <p:nvSpPr>
              <p:cNvPr id="27" name="TextBox 26"/>
              <p:cNvSpPr txBox="1">
                <a:spLocks noRot="1" noChangeAspect="1" noMove="1" noResize="1" noEditPoints="1" noAdjustHandles="1" noChangeArrowheads="1" noChangeShapeType="1" noTextEdit="1"/>
              </p:cNvSpPr>
              <p:nvPr/>
            </p:nvSpPr>
            <p:spPr>
              <a:xfrm>
                <a:off x="4902612" y="5305814"/>
                <a:ext cx="424796" cy="276999"/>
              </a:xfrm>
              <a:prstGeom prst="rect">
                <a:avLst/>
              </a:prstGeom>
              <a:blipFill>
                <a:blip r:embed="rId15"/>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5576088" y="2806422"/>
                <a:ext cx="5795853" cy="100822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𝑡</m:t>
                              </m:r>
                            </m:e>
                          </m:acc>
                        </m:e>
                        <m:sub>
                          <m:r>
                            <a:rPr lang="en-US" sz="2400" b="0" i="1" smtClean="0">
                              <a:latin typeface="Cambria Math" panose="02040503050406030204" pitchFamily="18" charset="0"/>
                            </a:rPr>
                            <m:t>𝑤𝑒𝑖𝑔h𝑡</m:t>
                          </m:r>
                          <m:r>
                            <a:rPr lang="en-US" sz="2400" b="0" i="1" smtClean="0">
                              <a:latin typeface="Cambria Math" panose="02040503050406030204" pitchFamily="18" charset="0"/>
                            </a:rPr>
                            <m:t>.</m:t>
                          </m:r>
                          <m:r>
                            <a:rPr lang="en-US" sz="2400" b="0" i="1" smtClean="0">
                              <a:latin typeface="Cambria Math" panose="02040503050406030204" pitchFamily="18" charset="0"/>
                            </a:rPr>
                            <m:t>𝑠𝑜𝑓𝑡</m:t>
                          </m:r>
                        </m:sub>
                      </m:sSub>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arg</m:t>
                          </m:r>
                        </m:fNa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𝑚𝑎𝑥</m:t>
                              </m:r>
                            </m:e>
                            <m:sub>
                              <m:r>
                                <a:rPr lang="en-US" sz="2400" b="0" i="1" smtClean="0">
                                  <a:latin typeface="Cambria Math" panose="02040503050406030204" pitchFamily="18" charset="0"/>
                                </a:rPr>
                                <m:t>𝑐</m:t>
                              </m:r>
                            </m:sub>
                          </m:sSub>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𝑛</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𝑐</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 </m:t>
                              </m:r>
                            </m:e>
                          </m:nary>
                          <m:r>
                            <a:rPr lang="en-US" sz="2400" b="0" i="1" smtClean="0">
                              <a:latin typeface="Cambria Math" panose="02040503050406030204" pitchFamily="18" charset="0"/>
                            </a:rPr>
                            <m:t>)</m:t>
                          </m:r>
                        </m:e>
                      </m:func>
                    </m:oMath>
                  </m:oMathPara>
                </a14:m>
                <a:endParaRPr lang="en-US" sz="2400"/>
              </a:p>
            </p:txBody>
          </p:sp>
        </mc:Choice>
        <mc:Fallback xmlns="">
          <p:sp>
            <p:nvSpPr>
              <p:cNvPr id="28" name="TextBox 27"/>
              <p:cNvSpPr txBox="1">
                <a:spLocks noRot="1" noChangeAspect="1" noMove="1" noResize="1" noEditPoints="1" noAdjustHandles="1" noChangeArrowheads="1" noChangeShapeType="1" noTextEdit="1"/>
              </p:cNvSpPr>
              <p:nvPr/>
            </p:nvSpPr>
            <p:spPr>
              <a:xfrm>
                <a:off x="5576088" y="2806422"/>
                <a:ext cx="5795853" cy="1008225"/>
              </a:xfrm>
              <a:prstGeom prst="rect">
                <a:avLst/>
              </a:prstGeom>
              <a:blipFill>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246826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32776" y="5430543"/>
            <a:ext cx="11596466" cy="399115"/>
          </a:xfrm>
        </p:spPr>
        <p:txBody>
          <a:bodyPr>
            <a:noAutofit/>
          </a:bodyPr>
          <a:lstStyle/>
          <a:p>
            <a:pPr marL="0" indent="0" algn="ctr">
              <a:buNone/>
            </a:pPr>
            <a:r>
              <a:rPr lang="en-US" sz="2400"/>
              <a:t>Fig </a:t>
            </a:r>
            <a:r>
              <a:rPr lang="en-US" sz="2400" smtClean="0"/>
              <a:t>8. </a:t>
            </a:r>
            <a:r>
              <a:rPr lang="en-US" sz="2400"/>
              <a:t>A general model is proposed for breast cancer classification using </a:t>
            </a:r>
            <a:r>
              <a:rPr lang="en-US" sz="2400" smtClean="0"/>
              <a:t>RIDOPT-Net</a:t>
            </a:r>
          </a:p>
        </p:txBody>
      </p:sp>
      <p:sp>
        <p:nvSpPr>
          <p:cNvPr id="3" name="Title 2"/>
          <p:cNvSpPr>
            <a:spLocks noGrp="1"/>
          </p:cNvSpPr>
          <p:nvPr>
            <p:ph type="title"/>
          </p:nvPr>
        </p:nvSpPr>
        <p:spPr/>
        <p:txBody>
          <a:bodyPr/>
          <a:lstStyle/>
          <a:p>
            <a:r>
              <a:rPr lang="en-US" smtClean="0"/>
              <a:t>3. Proposed Method</a:t>
            </a:r>
            <a:endParaRPr lang="en-US"/>
          </a:p>
        </p:txBody>
      </p:sp>
      <p:pic>
        <p:nvPicPr>
          <p:cNvPr id="4" name="Picture 3"/>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577" y="1131457"/>
            <a:ext cx="11969819" cy="4019277"/>
          </a:xfrm>
          <a:prstGeom prst="rect">
            <a:avLst/>
          </a:prstGeom>
        </p:spPr>
      </p:pic>
    </p:spTree>
    <p:extLst>
      <p:ext uri="{BB962C8B-B14F-4D97-AF65-F5344CB8AC3E}">
        <p14:creationId xmlns:p14="http://schemas.microsoft.com/office/powerpoint/2010/main" val="7078088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3. Proposed Method</a:t>
            </a:r>
            <a:endParaRPr lang="en-US"/>
          </a:p>
        </p:txBody>
      </p:sp>
      <p:sp>
        <p:nvSpPr>
          <p:cNvPr id="5" name="Content Placeholder 1"/>
          <p:cNvSpPr txBox="1">
            <a:spLocks/>
          </p:cNvSpPr>
          <p:nvPr/>
        </p:nvSpPr>
        <p:spPr>
          <a:xfrm>
            <a:off x="235993" y="1046210"/>
            <a:ext cx="11596466" cy="32420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b="1" smtClean="0"/>
              <a:t>- Data </a:t>
            </a:r>
            <a:r>
              <a:rPr lang="en-US" sz="2400" b="1"/>
              <a:t>preprocessing:</a:t>
            </a:r>
            <a:r>
              <a:rPr lang="en-US" sz="2400"/>
              <a:t> the input data is preprocessed using a number of techniques such as cropping, image enhancement, and data augmentation (flip, rotate, zoom, etc.).</a:t>
            </a:r>
            <a:endParaRPr lang="en-US" sz="2400" smtClean="0"/>
          </a:p>
          <a:p>
            <a:pPr marL="0" indent="0" algn="just">
              <a:buNone/>
            </a:pPr>
            <a:r>
              <a:rPr lang="en-US" sz="2400" b="1" smtClean="0"/>
              <a:t>- Training phase: </a:t>
            </a:r>
            <a:r>
              <a:rPr lang="en-US" sz="2400"/>
              <a:t>Each model is trained independently on the same dataset and unified parameters. We use the early stopping technique during training to limit the </a:t>
            </a:r>
            <a:r>
              <a:rPr lang="en-US" sz="2400" smtClean="0"/>
              <a:t>model from </a:t>
            </a:r>
            <a:r>
              <a:rPr lang="en-US" sz="2400"/>
              <a:t>overfitting. The best training results of each model are saved for testing.</a:t>
            </a:r>
            <a:endParaRPr lang="en-US" sz="2400" smtClean="0"/>
          </a:p>
          <a:p>
            <a:pPr marL="0" indent="0" algn="just">
              <a:buNone/>
            </a:pPr>
            <a:r>
              <a:rPr lang="en-US" sz="2400" b="1" smtClean="0"/>
              <a:t>- Testing </a:t>
            </a:r>
            <a:r>
              <a:rPr lang="en-US" sz="2400" b="1"/>
              <a:t>phase: </a:t>
            </a:r>
            <a:r>
              <a:rPr lang="en-US" sz="2400"/>
              <a:t>The test image is processed similarly through data preprocessing steps, </a:t>
            </a:r>
            <a:r>
              <a:rPr lang="en-US" sz="2400" smtClean="0"/>
              <a:t>feature extraction</a:t>
            </a:r>
            <a:r>
              <a:rPr lang="en-US" sz="2400"/>
              <a:t>, then hard voting and soft voting techniques are applied, </a:t>
            </a:r>
            <a:r>
              <a:rPr lang="en-US" sz="2400" smtClean="0"/>
              <a:t>combined with </a:t>
            </a:r>
            <a:r>
              <a:rPr lang="en-US" sz="2400"/>
              <a:t>weights optimized by Optuna technique on 3 models, to give the final </a:t>
            </a:r>
            <a:r>
              <a:rPr lang="en-US" sz="2400" smtClean="0"/>
              <a:t>result as </a:t>
            </a:r>
            <a:r>
              <a:rPr lang="en-US" sz="2400"/>
              <a:t>benign or malignant.</a:t>
            </a:r>
          </a:p>
          <a:p>
            <a:pPr marL="0" indent="0" algn="just">
              <a:buNone/>
            </a:pPr>
            <a:endParaRPr lang="en-US" sz="2400"/>
          </a:p>
        </p:txBody>
      </p:sp>
    </p:spTree>
    <p:extLst>
      <p:ext uri="{BB962C8B-B14F-4D97-AF65-F5344CB8AC3E}">
        <p14:creationId xmlns:p14="http://schemas.microsoft.com/office/powerpoint/2010/main" val="12015152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3. Proposed Method</a:t>
            </a:r>
            <a:endParaRPr lang="en-US"/>
          </a:p>
        </p:txBody>
      </p:sp>
      <p:sp>
        <p:nvSpPr>
          <p:cNvPr id="5" name="Content Placeholder 1"/>
          <p:cNvSpPr txBox="1">
            <a:spLocks/>
          </p:cNvSpPr>
          <p:nvPr/>
        </p:nvSpPr>
        <p:spPr>
          <a:xfrm>
            <a:off x="235993" y="907312"/>
            <a:ext cx="11596466" cy="4237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b="1"/>
              <a:t>RIDOPT-Net algorithm</a:t>
            </a:r>
            <a:endParaRPr lang="en-US" sz="2400"/>
          </a:p>
        </p:txBody>
      </p:sp>
      <p:pic>
        <p:nvPicPr>
          <p:cNvPr id="2" name="Picture 1"/>
          <p:cNvPicPr>
            <a:picLocks noChangeAspect="1"/>
          </p:cNvPicPr>
          <p:nvPr/>
        </p:nvPicPr>
        <p:blipFill>
          <a:blip r:embed="rId3"/>
          <a:stretch>
            <a:fillRect/>
          </a:stretch>
        </p:blipFill>
        <p:spPr>
          <a:xfrm>
            <a:off x="1084223" y="1354235"/>
            <a:ext cx="7936868" cy="5058140"/>
          </a:xfrm>
          <a:prstGeom prst="rect">
            <a:avLst/>
          </a:prstGeom>
        </p:spPr>
      </p:pic>
    </p:spTree>
    <p:extLst>
      <p:ext uri="{BB962C8B-B14F-4D97-AF65-F5344CB8AC3E}">
        <p14:creationId xmlns:p14="http://schemas.microsoft.com/office/powerpoint/2010/main" val="37887862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96865" y="851648"/>
            <a:ext cx="11234737" cy="2375985"/>
          </a:xfrm>
        </p:spPr>
        <p:txBody>
          <a:bodyPr>
            <a:normAutofit fontScale="62500" lnSpcReduction="20000"/>
          </a:bodyPr>
          <a:lstStyle/>
          <a:p>
            <a:pPr algn="just">
              <a:lnSpc>
                <a:spcPct val="140000"/>
              </a:lnSpc>
            </a:pPr>
            <a:r>
              <a:rPr lang="en-US" b="1" smtClean="0">
                <a:solidFill>
                  <a:srgbClr val="C00000"/>
                </a:solidFill>
              </a:rPr>
              <a:t>Environment</a:t>
            </a:r>
            <a:r>
              <a:rPr lang="en-US" b="1">
                <a:solidFill>
                  <a:srgbClr val="C00000"/>
                </a:solidFill>
              </a:rPr>
              <a:t>:</a:t>
            </a:r>
            <a:r>
              <a:rPr lang="en-US" b="1"/>
              <a:t> </a:t>
            </a:r>
            <a:r>
              <a:rPr lang="en-US"/>
              <a:t>The system runs in a Python environment </a:t>
            </a:r>
            <a:r>
              <a:rPr lang="en-US" smtClean="0"/>
              <a:t>on Kaggle</a:t>
            </a:r>
            <a:r>
              <a:rPr lang="en-US"/>
              <a:t>, using an Intel Xeon 2.00 GHz processor with 30GB RAM. It also </a:t>
            </a:r>
            <a:r>
              <a:rPr lang="en-US" smtClean="0"/>
              <a:t>utilizes a </a:t>
            </a:r>
            <a:r>
              <a:rPr lang="en-US"/>
              <a:t>graphics processor with a 16GB RAM configuration and the Nvidia Tesla </a:t>
            </a:r>
            <a:r>
              <a:rPr lang="en-US" smtClean="0"/>
              <a:t>P100 GPU</a:t>
            </a:r>
            <a:r>
              <a:rPr lang="en-US"/>
              <a:t>. Tensorflow v1.5 is the library used for network model training</a:t>
            </a:r>
            <a:r>
              <a:rPr lang="en-US" smtClean="0"/>
              <a:t>.</a:t>
            </a:r>
            <a:endParaRPr lang="en-US"/>
          </a:p>
          <a:p>
            <a:pPr algn="just">
              <a:lnSpc>
                <a:spcPct val="140000"/>
              </a:lnSpc>
            </a:pPr>
            <a:r>
              <a:rPr lang="en-US" b="1">
                <a:solidFill>
                  <a:srgbClr val="C00000"/>
                </a:solidFill>
              </a:rPr>
              <a:t>Dataset:  </a:t>
            </a:r>
            <a:r>
              <a:rPr lang="en-US"/>
              <a:t>The dataset is compiled from the VinDr </a:t>
            </a:r>
            <a:r>
              <a:rPr lang="en-US" smtClean="0"/>
              <a:t>dataset, supplemented </a:t>
            </a:r>
            <a:r>
              <a:rPr lang="en-US"/>
              <a:t>with data from several hospitals. The number of images we </a:t>
            </a:r>
            <a:r>
              <a:rPr lang="en-US" smtClean="0"/>
              <a:t>use in </a:t>
            </a:r>
            <a:r>
              <a:rPr lang="en-US"/>
              <a:t>the paper includes 6940 </a:t>
            </a:r>
            <a:r>
              <a:rPr lang="en-US" smtClean="0"/>
              <a:t>images (5862 </a:t>
            </a:r>
            <a:r>
              <a:rPr lang="en-US"/>
              <a:t>images were used for training and 1078 images for </a:t>
            </a:r>
            <a:r>
              <a:rPr lang="en-US" smtClean="0"/>
              <a:t>testing). The </a:t>
            </a:r>
            <a:r>
              <a:rPr lang="en-US"/>
              <a:t>dataset is divided in the ratio of </a:t>
            </a:r>
            <a:r>
              <a:rPr lang="en-US" smtClean="0"/>
              <a:t>80:20</a:t>
            </a:r>
            <a:r>
              <a:rPr lang="en-US"/>
              <a:t>.</a:t>
            </a:r>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5" name="Content Placeholder 1"/>
          <p:cNvSpPr txBox="1">
            <a:spLocks/>
          </p:cNvSpPr>
          <p:nvPr/>
        </p:nvSpPr>
        <p:spPr>
          <a:xfrm>
            <a:off x="296865" y="2987128"/>
            <a:ext cx="11234737" cy="4810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200" smtClean="0">
                <a:solidFill>
                  <a:srgbClr val="0070C0"/>
                </a:solidFill>
              </a:rPr>
              <a:t>Table 1: Proposed scenarios and training parameters</a:t>
            </a:r>
            <a:endParaRPr lang="en-US" sz="2200">
              <a:solidFill>
                <a:srgbClr val="0070C0"/>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4266046986"/>
              </p:ext>
            </p:extLst>
          </p:nvPr>
        </p:nvGraphicFramePr>
        <p:xfrm>
          <a:off x="1677064" y="3410262"/>
          <a:ext cx="9029517" cy="3017520"/>
        </p:xfrm>
        <a:graphic>
          <a:graphicData uri="http://schemas.openxmlformats.org/drawingml/2006/table">
            <a:tbl>
              <a:tblPr firstRow="1" firstCol="1" bandRow="1">
                <a:tableStyleId>{5C22544A-7EE6-4342-B048-85BDC9FD1C3A}</a:tableStyleId>
              </a:tblPr>
              <a:tblGrid>
                <a:gridCol w="773614">
                  <a:extLst>
                    <a:ext uri="{9D8B030D-6E8A-4147-A177-3AD203B41FA5}">
                      <a16:colId xmlns:a16="http://schemas.microsoft.com/office/drawing/2014/main" val="2713728009"/>
                    </a:ext>
                  </a:extLst>
                </a:gridCol>
                <a:gridCol w="2202344">
                  <a:extLst>
                    <a:ext uri="{9D8B030D-6E8A-4147-A177-3AD203B41FA5}">
                      <a16:colId xmlns:a16="http://schemas.microsoft.com/office/drawing/2014/main" val="4187331770"/>
                    </a:ext>
                  </a:extLst>
                </a:gridCol>
                <a:gridCol w="1076446">
                  <a:extLst>
                    <a:ext uri="{9D8B030D-6E8A-4147-A177-3AD203B41FA5}">
                      <a16:colId xmlns:a16="http://schemas.microsoft.com/office/drawing/2014/main" val="4276031540"/>
                    </a:ext>
                  </a:extLst>
                </a:gridCol>
                <a:gridCol w="1458410">
                  <a:extLst>
                    <a:ext uri="{9D8B030D-6E8A-4147-A177-3AD203B41FA5}">
                      <a16:colId xmlns:a16="http://schemas.microsoft.com/office/drawing/2014/main" val="3399763567"/>
                    </a:ext>
                  </a:extLst>
                </a:gridCol>
                <a:gridCol w="1493463">
                  <a:extLst>
                    <a:ext uri="{9D8B030D-6E8A-4147-A177-3AD203B41FA5}">
                      <a16:colId xmlns:a16="http://schemas.microsoft.com/office/drawing/2014/main" val="200730112"/>
                    </a:ext>
                  </a:extLst>
                </a:gridCol>
                <a:gridCol w="2025240">
                  <a:extLst>
                    <a:ext uri="{9D8B030D-6E8A-4147-A177-3AD203B41FA5}">
                      <a16:colId xmlns:a16="http://schemas.microsoft.com/office/drawing/2014/main" val="2354496494"/>
                    </a:ext>
                  </a:extLst>
                </a:gridCol>
              </a:tblGrid>
              <a:tr h="0">
                <a:tc>
                  <a:txBody>
                    <a:bodyPr/>
                    <a:lstStyle/>
                    <a:p>
                      <a:pPr indent="-635" algn="just">
                        <a:spcAft>
                          <a:spcPts val="0"/>
                        </a:spcAft>
                      </a:pPr>
                      <a:r>
                        <a:rPr lang="en-US" sz="2200">
                          <a:effectLst/>
                          <a:latin typeface="+mn-lt"/>
                        </a:rPr>
                        <a:t>Sce.</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Model</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Epochs</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Batch size</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Learning rate</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b="1" kern="1200" smtClean="0">
                          <a:solidFill>
                            <a:schemeClr val="lt1"/>
                          </a:solidFill>
                          <a:effectLst/>
                          <a:latin typeface="+mn-lt"/>
                          <a:ea typeface="+mn-ea"/>
                          <a:cs typeface="+mn-cs"/>
                        </a:rPr>
                        <a:t>Optimizer</a:t>
                      </a:r>
                      <a:endParaRPr lang="en-US" sz="2200" b="1" kern="1200">
                        <a:solidFill>
                          <a:schemeClr val="lt1"/>
                        </a:solidFill>
                        <a:effectLst/>
                        <a:latin typeface="+mn-lt"/>
                        <a:ea typeface="+mn-ea"/>
                        <a:cs typeface="+mn-cs"/>
                      </a:endParaRPr>
                    </a:p>
                  </a:txBody>
                  <a:tcPr marL="68580" marR="68580" marT="0" marB="0"/>
                </a:tc>
                <a:extLst>
                  <a:ext uri="{0D108BD9-81ED-4DB2-BD59-A6C34878D82A}">
                    <a16:rowId xmlns:a16="http://schemas.microsoft.com/office/drawing/2014/main" val="1291509472"/>
                  </a:ext>
                </a:extLst>
              </a:tr>
              <a:tr h="0">
                <a:tc>
                  <a:txBody>
                    <a:bodyPr/>
                    <a:lstStyle/>
                    <a:p>
                      <a:pPr indent="-635" algn="ctr">
                        <a:spcAft>
                          <a:spcPts val="0"/>
                        </a:spcAft>
                      </a:pPr>
                      <a:r>
                        <a:rPr lang="en-US" sz="2200">
                          <a:effectLst/>
                          <a:latin typeface="+mn-lt"/>
                        </a:rPr>
                        <a:t>1</a:t>
                      </a:r>
                      <a:endParaRPr lang="en-US" sz="2200">
                        <a:effectLst/>
                        <a:latin typeface="+mn-lt"/>
                        <a:ea typeface="Times" panose="02020603050405020304" pitchFamily="18" charset="0"/>
                      </a:endParaRPr>
                    </a:p>
                  </a:txBody>
                  <a:tcPr marL="68580" marR="68580" marT="0" marB="0"/>
                </a:tc>
                <a:tc>
                  <a:txBody>
                    <a:bodyPr/>
                    <a:lstStyle/>
                    <a:p>
                      <a:pPr indent="-635" algn="just">
                        <a:spcAft>
                          <a:spcPts val="0"/>
                        </a:spcAft>
                      </a:pPr>
                      <a:r>
                        <a:rPr lang="en-US" sz="2200" smtClean="0">
                          <a:effectLst/>
                          <a:latin typeface="+mn-lt"/>
                        </a:rPr>
                        <a:t>InceptionV3</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100</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32</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0.0001</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smtClean="0">
                          <a:effectLst/>
                          <a:latin typeface="+mn-lt"/>
                          <a:ea typeface="Times" panose="02020603050405020304" pitchFamily="18" charset="0"/>
                        </a:rPr>
                        <a:t>Adam</a:t>
                      </a:r>
                      <a:endParaRPr lang="en-US" sz="2200">
                        <a:effectLst/>
                        <a:latin typeface="+mn-lt"/>
                        <a:ea typeface="Times" panose="02020603050405020304" pitchFamily="18" charset="0"/>
                      </a:endParaRPr>
                    </a:p>
                  </a:txBody>
                  <a:tcPr marL="68580" marR="68580" marT="0" marB="0"/>
                </a:tc>
                <a:extLst>
                  <a:ext uri="{0D108BD9-81ED-4DB2-BD59-A6C34878D82A}">
                    <a16:rowId xmlns:a16="http://schemas.microsoft.com/office/drawing/2014/main" val="1666475600"/>
                  </a:ext>
                </a:extLst>
              </a:tr>
              <a:tr h="0">
                <a:tc>
                  <a:txBody>
                    <a:bodyPr/>
                    <a:lstStyle/>
                    <a:p>
                      <a:pPr indent="-635" algn="ctr">
                        <a:spcAft>
                          <a:spcPts val="0"/>
                        </a:spcAft>
                      </a:pPr>
                      <a:r>
                        <a:rPr lang="en-US" sz="2200">
                          <a:effectLst/>
                          <a:latin typeface="+mn-lt"/>
                        </a:rPr>
                        <a:t>2</a:t>
                      </a:r>
                      <a:endParaRPr lang="en-US" sz="2200">
                        <a:effectLst/>
                        <a:latin typeface="+mn-lt"/>
                        <a:ea typeface="Times" panose="02020603050405020304" pitchFamily="18" charset="0"/>
                      </a:endParaRPr>
                    </a:p>
                  </a:txBody>
                  <a:tcPr marL="68580" marR="68580" marT="0" marB="0"/>
                </a:tc>
                <a:tc>
                  <a:txBody>
                    <a:bodyPr/>
                    <a:lstStyle/>
                    <a:p>
                      <a:pPr indent="-635" algn="just">
                        <a:spcAft>
                          <a:spcPts val="0"/>
                        </a:spcAft>
                      </a:pPr>
                      <a:r>
                        <a:rPr lang="en-US" sz="2200" smtClean="0">
                          <a:effectLst/>
                          <a:latin typeface="+mn-lt"/>
                          <a:ea typeface="+mn-ea"/>
                        </a:rPr>
                        <a:t>ResNet152</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100</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32</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0.0001</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smtClean="0">
                          <a:effectLst/>
                          <a:latin typeface="+mn-lt"/>
                          <a:ea typeface="Times" panose="02020603050405020304" pitchFamily="18" charset="0"/>
                        </a:rPr>
                        <a:t>Adam</a:t>
                      </a:r>
                      <a:endParaRPr lang="en-US" sz="2200">
                        <a:effectLst/>
                        <a:latin typeface="+mn-lt"/>
                        <a:ea typeface="Times" panose="02020603050405020304" pitchFamily="18" charset="0"/>
                      </a:endParaRPr>
                    </a:p>
                  </a:txBody>
                  <a:tcPr marL="68580" marR="68580" marT="0" marB="0"/>
                </a:tc>
                <a:extLst>
                  <a:ext uri="{0D108BD9-81ED-4DB2-BD59-A6C34878D82A}">
                    <a16:rowId xmlns:a16="http://schemas.microsoft.com/office/drawing/2014/main" val="3654594207"/>
                  </a:ext>
                </a:extLst>
              </a:tr>
              <a:tr h="0">
                <a:tc>
                  <a:txBody>
                    <a:bodyPr/>
                    <a:lstStyle/>
                    <a:p>
                      <a:pPr indent="-635" algn="ctr">
                        <a:spcAft>
                          <a:spcPts val="0"/>
                        </a:spcAft>
                      </a:pPr>
                      <a:r>
                        <a:rPr lang="en-US" sz="2200">
                          <a:effectLst/>
                          <a:latin typeface="+mn-lt"/>
                        </a:rPr>
                        <a:t>3</a:t>
                      </a:r>
                      <a:endParaRPr lang="en-US" sz="2200">
                        <a:effectLst/>
                        <a:latin typeface="+mn-lt"/>
                        <a:ea typeface="Times" panose="02020603050405020304" pitchFamily="18" charset="0"/>
                      </a:endParaRPr>
                    </a:p>
                  </a:txBody>
                  <a:tcPr marL="68580" marR="68580" marT="0" marB="0"/>
                </a:tc>
                <a:tc>
                  <a:txBody>
                    <a:bodyPr/>
                    <a:lstStyle/>
                    <a:p>
                      <a:pPr indent="-635" algn="just">
                        <a:spcAft>
                          <a:spcPts val="0"/>
                        </a:spcAft>
                      </a:pPr>
                      <a:r>
                        <a:rPr lang="en-US" sz="2200" smtClean="0">
                          <a:effectLst/>
                          <a:latin typeface="+mn-lt"/>
                        </a:rPr>
                        <a:t>DenseNet121</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100</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32</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0.0001</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smtClean="0">
                          <a:effectLst/>
                          <a:latin typeface="+mn-lt"/>
                          <a:ea typeface="Times" panose="02020603050405020304" pitchFamily="18" charset="0"/>
                        </a:rPr>
                        <a:t>Adam</a:t>
                      </a:r>
                      <a:endParaRPr lang="en-US" sz="2200">
                        <a:effectLst/>
                        <a:latin typeface="+mn-lt"/>
                        <a:ea typeface="Times" panose="02020603050405020304" pitchFamily="18" charset="0"/>
                      </a:endParaRPr>
                    </a:p>
                  </a:txBody>
                  <a:tcPr marL="68580" marR="68580" marT="0" marB="0"/>
                </a:tc>
                <a:extLst>
                  <a:ext uri="{0D108BD9-81ED-4DB2-BD59-A6C34878D82A}">
                    <a16:rowId xmlns:a16="http://schemas.microsoft.com/office/drawing/2014/main" val="3680500343"/>
                  </a:ext>
                </a:extLst>
              </a:tr>
              <a:tr h="0">
                <a:tc>
                  <a:txBody>
                    <a:bodyPr/>
                    <a:lstStyle/>
                    <a:p>
                      <a:pPr indent="-635" algn="ctr">
                        <a:spcAft>
                          <a:spcPts val="0"/>
                        </a:spcAft>
                      </a:pPr>
                      <a:r>
                        <a:rPr lang="en-US" sz="2200" smtClean="0">
                          <a:effectLst/>
                          <a:latin typeface="+mn-lt"/>
                          <a:ea typeface="Times" panose="02020603050405020304" pitchFamily="18" charset="0"/>
                        </a:rPr>
                        <a:t>4</a:t>
                      </a:r>
                      <a:endParaRPr lang="en-US" sz="2200">
                        <a:effectLst/>
                        <a:latin typeface="+mn-lt"/>
                        <a:ea typeface="Times" panose="02020603050405020304" pitchFamily="18" charset="0"/>
                      </a:endParaRPr>
                    </a:p>
                  </a:txBody>
                  <a:tcPr marL="68580" marR="68580" marT="0" marB="0"/>
                </a:tc>
                <a:tc gridSpan="5">
                  <a:txBody>
                    <a:bodyPr/>
                    <a:lstStyle/>
                    <a:p>
                      <a:pPr indent="-635" algn="ctr">
                        <a:spcAft>
                          <a:spcPts val="0"/>
                        </a:spcAft>
                      </a:pPr>
                      <a:r>
                        <a:rPr lang="en-US" sz="2200" smtClean="0">
                          <a:effectLst/>
                          <a:latin typeface="+mn-lt"/>
                          <a:ea typeface="Times" panose="02020603050405020304" pitchFamily="18" charset="0"/>
                        </a:rPr>
                        <a:t>Ensemble Deep Learning (Hard voting)</a:t>
                      </a:r>
                      <a:endParaRPr lang="en-US" sz="2200">
                        <a:effectLst/>
                        <a:latin typeface="+mn-lt"/>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1998099237"/>
                  </a:ext>
                </a:extLst>
              </a:tr>
              <a:tr h="0">
                <a:tc>
                  <a:txBody>
                    <a:bodyPr/>
                    <a:lstStyle/>
                    <a:p>
                      <a:pPr indent="-635" algn="ctr">
                        <a:spcAft>
                          <a:spcPts val="0"/>
                        </a:spcAft>
                      </a:pPr>
                      <a:r>
                        <a:rPr lang="en-US" sz="2200" smtClean="0">
                          <a:effectLst/>
                          <a:latin typeface="+mn-lt"/>
                          <a:ea typeface="Times" panose="02020603050405020304" pitchFamily="18" charset="0"/>
                        </a:rPr>
                        <a:t>5</a:t>
                      </a:r>
                      <a:endParaRPr lang="en-US" sz="2200">
                        <a:effectLst/>
                        <a:latin typeface="+mn-lt"/>
                        <a:ea typeface="Times" panose="02020603050405020304" pitchFamily="18" charset="0"/>
                      </a:endParaRPr>
                    </a:p>
                  </a:txBody>
                  <a:tcPr marL="68580" marR="68580" marT="0" marB="0"/>
                </a:tc>
                <a:tc gridSpan="5">
                  <a:txBody>
                    <a:bodyPr/>
                    <a:lstStyle/>
                    <a:p>
                      <a:pPr indent="-635" algn="ctr">
                        <a:spcAft>
                          <a:spcPts val="0"/>
                        </a:spcAft>
                      </a:pPr>
                      <a:r>
                        <a:rPr lang="en-US" sz="2200" smtClean="0">
                          <a:effectLst/>
                          <a:latin typeface="+mn-lt"/>
                          <a:ea typeface="Times" panose="02020603050405020304" pitchFamily="18" charset="0"/>
                        </a:rPr>
                        <a:t>Ensemble Deep Learning (Soft voting)</a:t>
                      </a:r>
                      <a:endParaRPr lang="en-US" sz="2200">
                        <a:effectLst/>
                        <a:latin typeface="+mn-lt"/>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2123281619"/>
                  </a:ext>
                </a:extLst>
              </a:tr>
              <a:tr h="0">
                <a:tc>
                  <a:txBody>
                    <a:bodyPr/>
                    <a:lstStyle/>
                    <a:p>
                      <a:pPr indent="-635" algn="ctr">
                        <a:spcAft>
                          <a:spcPts val="0"/>
                        </a:spcAft>
                      </a:pPr>
                      <a:r>
                        <a:rPr lang="en-US" sz="2200" smtClean="0">
                          <a:effectLst/>
                          <a:latin typeface="+mn-lt"/>
                          <a:ea typeface="Times" panose="02020603050405020304" pitchFamily="18" charset="0"/>
                        </a:rPr>
                        <a:t>6</a:t>
                      </a:r>
                      <a:endParaRPr lang="en-US" sz="2200">
                        <a:effectLst/>
                        <a:latin typeface="+mn-lt"/>
                        <a:ea typeface="Times" panose="02020603050405020304" pitchFamily="18" charset="0"/>
                      </a:endParaRPr>
                    </a:p>
                  </a:txBody>
                  <a:tcPr marL="68580" marR="68580" marT="0" marB="0"/>
                </a:tc>
                <a:tc gridSpan="5">
                  <a:txBody>
                    <a:bodyPr/>
                    <a:lstStyle/>
                    <a:p>
                      <a:pPr indent="-635" algn="ctr">
                        <a:spcAft>
                          <a:spcPts val="0"/>
                        </a:spcAft>
                      </a:pPr>
                      <a:r>
                        <a:rPr lang="en-US" sz="2200" smtClean="0">
                          <a:effectLst/>
                          <a:latin typeface="+mn-lt"/>
                          <a:ea typeface="Times" panose="02020603050405020304" pitchFamily="18" charset="0"/>
                        </a:rPr>
                        <a:t>RIDOPT-Net (Hard voting)</a:t>
                      </a:r>
                      <a:endParaRPr lang="en-US" sz="2200">
                        <a:effectLst/>
                        <a:latin typeface="+mn-lt"/>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3839886913"/>
                  </a:ext>
                </a:extLst>
              </a:tr>
              <a:tr h="0">
                <a:tc>
                  <a:txBody>
                    <a:bodyPr/>
                    <a:lstStyle/>
                    <a:p>
                      <a:pPr indent="-635" algn="ctr">
                        <a:spcAft>
                          <a:spcPts val="0"/>
                        </a:spcAft>
                      </a:pPr>
                      <a:r>
                        <a:rPr lang="en-US" sz="2200" smtClean="0">
                          <a:effectLst/>
                          <a:latin typeface="+mn-lt"/>
                          <a:ea typeface="Times" panose="02020603050405020304" pitchFamily="18" charset="0"/>
                        </a:rPr>
                        <a:t>7</a:t>
                      </a:r>
                      <a:endParaRPr lang="en-US" sz="2200">
                        <a:effectLst/>
                        <a:latin typeface="+mn-lt"/>
                        <a:ea typeface="Times" panose="02020603050405020304" pitchFamily="18" charset="0"/>
                      </a:endParaRPr>
                    </a:p>
                  </a:txBody>
                  <a:tcPr marL="68580" marR="68580" marT="0" marB="0"/>
                </a:tc>
                <a:tc gridSpan="5">
                  <a:txBody>
                    <a:bodyPr/>
                    <a:lstStyle/>
                    <a:p>
                      <a:pPr indent="-635" algn="ctr">
                        <a:spcAft>
                          <a:spcPts val="0"/>
                        </a:spcAft>
                      </a:pPr>
                      <a:r>
                        <a:rPr lang="en-US" sz="2200" smtClean="0">
                          <a:effectLst/>
                          <a:latin typeface="+mn-lt"/>
                          <a:ea typeface="Times" panose="02020603050405020304" pitchFamily="18" charset="0"/>
                        </a:rPr>
                        <a:t>RIDOPT-Net (Soft voting)</a:t>
                      </a:r>
                      <a:endParaRPr lang="en-US" sz="2200">
                        <a:effectLst/>
                        <a:latin typeface="+mn-lt"/>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2646801891"/>
                  </a:ext>
                </a:extLst>
              </a:tr>
            </a:tbl>
          </a:graphicData>
        </a:graphic>
      </p:graphicFrame>
    </p:spTree>
    <p:extLst>
      <p:ext uri="{BB962C8B-B14F-4D97-AF65-F5344CB8AC3E}">
        <p14:creationId xmlns:p14="http://schemas.microsoft.com/office/powerpoint/2010/main" val="19522973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47665" y="1030291"/>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Fig </a:t>
            </a:r>
            <a:r>
              <a:rPr lang="en-US" smtClean="0"/>
              <a:t>9a. </a:t>
            </a:r>
            <a:r>
              <a:rPr lang="en-US"/>
              <a:t>The chart compares the accuracy and </a:t>
            </a:r>
            <a:r>
              <a:rPr lang="en-US" smtClean="0"/>
              <a:t>loss of Sce.1.</a:t>
            </a:r>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287" y="1626394"/>
            <a:ext cx="10695008" cy="4290439"/>
          </a:xfrm>
          <a:prstGeom prst="rect">
            <a:avLst/>
          </a:prstGeom>
        </p:spPr>
      </p:pic>
    </p:spTree>
    <p:extLst>
      <p:ext uri="{BB962C8B-B14F-4D97-AF65-F5344CB8AC3E}">
        <p14:creationId xmlns:p14="http://schemas.microsoft.com/office/powerpoint/2010/main" val="9435644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66912" y="1095774"/>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Fig </a:t>
            </a:r>
            <a:r>
              <a:rPr lang="en-US" smtClean="0"/>
              <a:t>9b. </a:t>
            </a:r>
            <a:r>
              <a:rPr lang="en-US"/>
              <a:t>The chart compares the accuracy and </a:t>
            </a:r>
            <a:r>
              <a:rPr lang="en-US" smtClean="0"/>
              <a:t>loss of Sce.2.</a:t>
            </a:r>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944" y="1606429"/>
            <a:ext cx="10932458" cy="4395852"/>
          </a:xfrm>
          <a:prstGeom prst="rect">
            <a:avLst/>
          </a:prstGeom>
        </p:spPr>
      </p:pic>
    </p:spTree>
    <p:extLst>
      <p:ext uri="{BB962C8B-B14F-4D97-AF65-F5344CB8AC3E}">
        <p14:creationId xmlns:p14="http://schemas.microsoft.com/office/powerpoint/2010/main" val="12922063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66912" y="1095774"/>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Fig </a:t>
            </a:r>
            <a:r>
              <a:rPr lang="en-US" smtClean="0"/>
              <a:t>9c. </a:t>
            </a:r>
            <a:r>
              <a:rPr lang="en-US"/>
              <a:t>The chart compares the accuracy and </a:t>
            </a:r>
            <a:r>
              <a:rPr lang="en-US" smtClean="0"/>
              <a:t>loss of Sce.3.</a:t>
            </a:r>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858" y="1515911"/>
            <a:ext cx="11111696" cy="4475634"/>
          </a:xfrm>
          <a:prstGeom prst="rect">
            <a:avLst/>
          </a:prstGeom>
        </p:spPr>
      </p:pic>
    </p:spTree>
    <p:extLst>
      <p:ext uri="{BB962C8B-B14F-4D97-AF65-F5344CB8AC3E}">
        <p14:creationId xmlns:p14="http://schemas.microsoft.com/office/powerpoint/2010/main" val="19473874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66912" y="1095774"/>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212" y="1760037"/>
            <a:ext cx="3831220" cy="383122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8132" y="1760037"/>
            <a:ext cx="3837725" cy="3831220"/>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29352" y="1760037"/>
            <a:ext cx="3990957" cy="3990957"/>
          </a:xfrm>
          <a:prstGeom prst="rect">
            <a:avLst/>
          </a:prstGeom>
        </p:spPr>
      </p:pic>
    </p:spTree>
    <p:extLst>
      <p:ext uri="{BB962C8B-B14F-4D97-AF65-F5344CB8AC3E}">
        <p14:creationId xmlns:p14="http://schemas.microsoft.com/office/powerpoint/2010/main" val="22815924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mtClean="0"/>
              <a:t>4. Experimental results</a:t>
            </a:r>
            <a:endParaRPr lang="en-US"/>
          </a:p>
        </p:txBody>
      </p:sp>
      <p:pic>
        <p:nvPicPr>
          <p:cNvPr id="513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4127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33338"/>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3492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429" y="1627071"/>
            <a:ext cx="6903926" cy="3257445"/>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85229" y="2509220"/>
            <a:ext cx="4520947" cy="1900238"/>
          </a:xfrm>
          <a:prstGeom prst="rect">
            <a:avLst/>
          </a:prstGeom>
        </p:spPr>
      </p:pic>
      <p:sp>
        <p:nvSpPr>
          <p:cNvPr id="10" name="Content Placeholder 1"/>
          <p:cNvSpPr txBox="1">
            <a:spLocks/>
          </p:cNvSpPr>
          <p:nvPr/>
        </p:nvSpPr>
        <p:spPr>
          <a:xfrm>
            <a:off x="416858" y="5847976"/>
            <a:ext cx="11234737" cy="4556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mtClean="0"/>
              <a:t>Fig 10a. Correlation and importance of parameters in Sce. 6.</a:t>
            </a:r>
            <a:r>
              <a:rPr lang="en-US" sz="1800" smtClean="0"/>
              <a:t> </a:t>
            </a:r>
            <a:br>
              <a:rPr lang="en-US" sz="1800" smtClean="0"/>
            </a:br>
            <a:endParaRPr lang="en-US" sz="1800"/>
          </a:p>
        </p:txBody>
      </p:sp>
    </p:spTree>
    <p:extLst>
      <p:ext uri="{BB962C8B-B14F-4D97-AF65-F5344CB8AC3E}">
        <p14:creationId xmlns:p14="http://schemas.microsoft.com/office/powerpoint/2010/main" val="8126221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mtClean="0"/>
              <a:t>4. Experimental results</a:t>
            </a:r>
            <a:endParaRPr lang="en-US"/>
          </a:p>
        </p:txBody>
      </p:sp>
      <p:sp>
        <p:nvSpPr>
          <p:cNvPr id="53" name="Content Placeholder 1"/>
          <p:cNvSpPr>
            <a:spLocks noGrp="1"/>
          </p:cNvSpPr>
          <p:nvPr>
            <p:ph sz="quarter" idx="10"/>
          </p:nvPr>
        </p:nvSpPr>
        <p:spPr>
          <a:xfrm>
            <a:off x="416858" y="5847976"/>
            <a:ext cx="11234737" cy="455609"/>
          </a:xfrm>
        </p:spPr>
        <p:txBody>
          <a:bodyPr>
            <a:noAutofit/>
          </a:bodyPr>
          <a:lstStyle/>
          <a:p>
            <a:pPr marL="0" indent="0" algn="ctr">
              <a:buNone/>
            </a:pPr>
            <a:r>
              <a:rPr lang="en-US" smtClean="0"/>
              <a:t>Fig 10b. Correlation </a:t>
            </a:r>
            <a:r>
              <a:rPr lang="en-US"/>
              <a:t>and importance of parameters in Sce. </a:t>
            </a:r>
            <a:r>
              <a:rPr lang="en-US" smtClean="0"/>
              <a:t>7.</a:t>
            </a:r>
            <a:r>
              <a:rPr lang="en-US" sz="1800" smtClean="0"/>
              <a:t> </a:t>
            </a:r>
            <a:r>
              <a:rPr lang="en-US" sz="1800"/>
              <a:t/>
            </a:r>
            <a:br>
              <a:rPr lang="en-US" sz="1800"/>
            </a:br>
            <a:endParaRPr lang="en-US" sz="1800"/>
          </a:p>
        </p:txBody>
      </p:sp>
      <p:pic>
        <p:nvPicPr>
          <p:cNvPr id="513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4127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33338"/>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3492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81" y="1634691"/>
            <a:ext cx="7258860" cy="3342424"/>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73941" y="2505552"/>
            <a:ext cx="4555386" cy="1939422"/>
          </a:xfrm>
          <a:prstGeom prst="rect">
            <a:avLst/>
          </a:prstGeom>
        </p:spPr>
      </p:pic>
    </p:spTree>
    <p:extLst>
      <p:ext uri="{BB962C8B-B14F-4D97-AF65-F5344CB8AC3E}">
        <p14:creationId xmlns:p14="http://schemas.microsoft.com/office/powerpoint/2010/main" val="14305133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16857" y="4655552"/>
            <a:ext cx="11234737" cy="506409"/>
          </a:xfrm>
        </p:spPr>
        <p:txBody>
          <a:bodyPr>
            <a:normAutofit/>
          </a:bodyPr>
          <a:lstStyle/>
          <a:p>
            <a:pPr marL="0" indent="0" algn="ctr">
              <a:buNone/>
            </a:pPr>
            <a:r>
              <a:rPr lang="en-US" sz="2200" smtClean="0">
                <a:solidFill>
                  <a:srgbClr val="0070C0"/>
                </a:solidFill>
              </a:rPr>
              <a:t>Fig 11. Confusion matrix of Sce. 4, 5, 6, 7</a:t>
            </a:r>
            <a:endParaRPr lang="en-US" sz="2200">
              <a:solidFill>
                <a:srgbClr val="0070C0"/>
              </a:solidFill>
            </a:endParaRPr>
          </a:p>
        </p:txBody>
      </p:sp>
      <p:sp>
        <p:nvSpPr>
          <p:cNvPr id="3" name="Title 2"/>
          <p:cNvSpPr>
            <a:spLocks noGrp="1"/>
          </p:cNvSpPr>
          <p:nvPr>
            <p:ph type="title"/>
          </p:nvPr>
        </p:nvSpPr>
        <p:spPr/>
        <p:txBody>
          <a:bodyPr>
            <a:normAutofit/>
          </a:bodyPr>
          <a:lstStyle/>
          <a:p>
            <a:r>
              <a:rPr lang="en-US" smtClean="0"/>
              <a:t>4. Experimental results</a:t>
            </a:r>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310" y="1491869"/>
            <a:ext cx="11597832" cy="3029871"/>
          </a:xfrm>
          <a:prstGeom prst="rect">
            <a:avLst/>
          </a:prstGeom>
        </p:spPr>
      </p:pic>
    </p:spTree>
    <p:extLst>
      <p:ext uri="{BB962C8B-B14F-4D97-AF65-F5344CB8AC3E}">
        <p14:creationId xmlns:p14="http://schemas.microsoft.com/office/powerpoint/2010/main" val="17778453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16858" y="918554"/>
            <a:ext cx="11234737" cy="506409"/>
          </a:xfrm>
        </p:spPr>
        <p:txBody>
          <a:bodyPr>
            <a:normAutofit/>
          </a:bodyPr>
          <a:lstStyle/>
          <a:p>
            <a:pPr marL="0" indent="0" algn="ctr">
              <a:buNone/>
            </a:pPr>
            <a:r>
              <a:rPr lang="en-US" sz="2200" smtClean="0">
                <a:solidFill>
                  <a:srgbClr val="0070C0"/>
                </a:solidFill>
              </a:rPr>
              <a:t>Tab 2. Evaluation results on test dataset</a:t>
            </a:r>
            <a:endParaRPr lang="en-US" sz="2200">
              <a:solidFill>
                <a:srgbClr val="0070C0"/>
              </a:solidFill>
            </a:endParaRPr>
          </a:p>
        </p:txBody>
      </p:sp>
      <p:sp>
        <p:nvSpPr>
          <p:cNvPr id="3" name="Title 2"/>
          <p:cNvSpPr>
            <a:spLocks noGrp="1"/>
          </p:cNvSpPr>
          <p:nvPr>
            <p:ph type="title"/>
          </p:nvPr>
        </p:nvSpPr>
        <p:spPr/>
        <p:txBody>
          <a:bodyPr>
            <a:normAutofit/>
          </a:bodyPr>
          <a:lstStyle/>
          <a:p>
            <a:r>
              <a:rPr lang="en-US" smtClean="0"/>
              <a:t>4. Experimental results</a:t>
            </a:r>
            <a:endParaRPr lang="en-US"/>
          </a:p>
        </p:txBody>
      </p:sp>
      <p:pic>
        <p:nvPicPr>
          <p:cNvPr id="5" name="Picture 4"/>
          <p:cNvPicPr>
            <a:picLocks noChangeAspect="1"/>
          </p:cNvPicPr>
          <p:nvPr/>
        </p:nvPicPr>
        <p:blipFill>
          <a:blip r:embed="rId3"/>
          <a:stretch>
            <a:fillRect/>
          </a:stretch>
        </p:blipFill>
        <p:spPr>
          <a:xfrm>
            <a:off x="1901745" y="1424963"/>
            <a:ext cx="8029334" cy="4619617"/>
          </a:xfrm>
          <a:prstGeom prst="rect">
            <a:avLst/>
          </a:prstGeom>
        </p:spPr>
      </p:pic>
    </p:spTree>
    <p:extLst>
      <p:ext uri="{BB962C8B-B14F-4D97-AF65-F5344CB8AC3E}">
        <p14:creationId xmlns:p14="http://schemas.microsoft.com/office/powerpoint/2010/main" val="7781640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717801" y="6496508"/>
            <a:ext cx="11234737" cy="361492"/>
          </a:xfrm>
        </p:spPr>
        <p:txBody>
          <a:bodyPr>
            <a:noAutofit/>
          </a:bodyPr>
          <a:lstStyle/>
          <a:p>
            <a:pPr marL="0" indent="0" algn="ctr">
              <a:buNone/>
            </a:pPr>
            <a:r>
              <a:rPr lang="en-US" sz="2000" smtClean="0"/>
              <a:t>Fig 12. Prediction </a:t>
            </a:r>
            <a:r>
              <a:rPr lang="en-US" sz="2000"/>
              <a:t>results on the test dataset of Sce. 6 and 7. </a:t>
            </a:r>
            <a:endParaRPr lang="en-US" sz="2000">
              <a:solidFill>
                <a:srgbClr val="0070C0"/>
              </a:solidFill>
            </a:endParaRPr>
          </a:p>
        </p:txBody>
      </p:sp>
      <p:sp>
        <p:nvSpPr>
          <p:cNvPr id="3" name="Title 2"/>
          <p:cNvSpPr>
            <a:spLocks noGrp="1"/>
          </p:cNvSpPr>
          <p:nvPr>
            <p:ph type="title"/>
          </p:nvPr>
        </p:nvSpPr>
        <p:spPr/>
        <p:txBody>
          <a:bodyPr>
            <a:normAutofit/>
          </a:bodyPr>
          <a:lstStyle/>
          <a:p>
            <a:r>
              <a:rPr lang="en-US" smtClean="0"/>
              <a:t>4. Experimental results</a:t>
            </a:r>
            <a:endParaRPr lang="en-US"/>
          </a:p>
        </p:txBody>
      </p:sp>
      <p:pic>
        <p:nvPicPr>
          <p:cNvPr id="4" name="Picture 3"/>
          <p:cNvPicPr>
            <a:picLocks noChangeAspect="1"/>
          </p:cNvPicPr>
          <p:nvPr/>
        </p:nvPicPr>
        <p:blipFill>
          <a:blip r:embed="rId3"/>
          <a:stretch>
            <a:fillRect/>
          </a:stretch>
        </p:blipFill>
        <p:spPr>
          <a:xfrm>
            <a:off x="2402530" y="851648"/>
            <a:ext cx="7621146" cy="5613225"/>
          </a:xfrm>
          <a:prstGeom prst="rect">
            <a:avLst/>
          </a:prstGeom>
        </p:spPr>
      </p:pic>
    </p:spTree>
    <p:extLst>
      <p:ext uri="{BB962C8B-B14F-4D97-AF65-F5344CB8AC3E}">
        <p14:creationId xmlns:p14="http://schemas.microsoft.com/office/powerpoint/2010/main" val="370540800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pPr algn="just"/>
            <a:r>
              <a:rPr lang="en-US" sz="2200"/>
              <a:t>W</a:t>
            </a:r>
            <a:r>
              <a:rPr lang="en-US" sz="2200" smtClean="0"/>
              <a:t>e </a:t>
            </a:r>
            <a:r>
              <a:rPr lang="en-US" sz="2200"/>
              <a:t>propose a comprehensive method for detecting and classifying breast cancer using deep learning ensemble models. </a:t>
            </a:r>
            <a:endParaRPr lang="en-US" sz="2200" smtClean="0"/>
          </a:p>
          <a:p>
            <a:pPr algn="just"/>
            <a:r>
              <a:rPr lang="en-US" sz="2200"/>
              <a:t>We propose RIDOPTNet, a deep learning ensemble framework that leverages the </a:t>
            </a:r>
            <a:r>
              <a:rPr lang="en-US" sz="2200" smtClean="0"/>
              <a:t>complementary strengths </a:t>
            </a:r>
            <a:r>
              <a:rPr lang="en-US" sz="2200"/>
              <a:t>of multiple models to improve classification performance. </a:t>
            </a:r>
            <a:endParaRPr lang="en-US" sz="2200" smtClean="0"/>
          </a:p>
          <a:p>
            <a:pPr algn="just"/>
            <a:r>
              <a:rPr lang="en-US" sz="2200"/>
              <a:t>Optuna techniques to help the model automatically optimize the voting process in both hard and soft methods. </a:t>
            </a:r>
            <a:endParaRPr lang="en-US" sz="2200" smtClean="0"/>
          </a:p>
          <a:p>
            <a:pPr algn="just"/>
            <a:r>
              <a:rPr lang="en-US" sz="2200" smtClean="0"/>
              <a:t>The proposed </a:t>
            </a:r>
            <a:r>
              <a:rPr lang="en-US" sz="2200"/>
              <a:t>model improves classification on both classes compared to the </a:t>
            </a:r>
            <a:r>
              <a:rPr lang="en-US" sz="2200" smtClean="0"/>
              <a:t>baseline model </a:t>
            </a:r>
            <a:r>
              <a:rPr lang="en-US" sz="2200"/>
              <a:t>and helps to increase the classification effciency on both classes, achieving 97.68% on the experimental dataset. </a:t>
            </a:r>
          </a:p>
        </p:txBody>
      </p:sp>
      <p:sp>
        <p:nvSpPr>
          <p:cNvPr id="3" name="Title 2"/>
          <p:cNvSpPr>
            <a:spLocks noGrp="1"/>
          </p:cNvSpPr>
          <p:nvPr>
            <p:ph type="title"/>
          </p:nvPr>
        </p:nvSpPr>
        <p:spPr/>
        <p:txBody>
          <a:bodyPr>
            <a:normAutofit/>
          </a:bodyPr>
          <a:lstStyle/>
          <a:p>
            <a:pPr lvl="0"/>
            <a:r>
              <a:rPr lang="en-US" sz="3600" smtClean="0"/>
              <a:t>5. Conclusion</a:t>
            </a:r>
            <a:endParaRPr lang="en-US"/>
          </a:p>
        </p:txBody>
      </p:sp>
    </p:spTree>
    <p:extLst>
      <p:ext uri="{BB962C8B-B14F-4D97-AF65-F5344CB8AC3E}">
        <p14:creationId xmlns:p14="http://schemas.microsoft.com/office/powerpoint/2010/main" val="21651382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pPr marL="0" indent="0" algn="just">
              <a:buNone/>
            </a:pPr>
            <a:r>
              <a:rPr lang="en-US" sz="2000"/>
              <a:t>[</a:t>
            </a:r>
            <a:r>
              <a:rPr lang="en-US" sz="2000" smtClean="0"/>
              <a:t>1] W</a:t>
            </a:r>
            <a:r>
              <a:rPr lang="en-US" sz="2000"/>
              <a:t>. H. Organization, WHO guidelines for screening and treatment of precancerous lesions for cervical cancer prevention. World Health Organization, 2021. Accessed: May 30, 2025. [Online]. Available: https://books.google.com/books?hl=en&amp;lr=&amp;id=eo5FEAAAQBAJ&amp;oi=fnd&amp;pg=PR3&amp;dq=World+Health+Organization.+Preventing+Cancer.+2021&amp;ots=w1Lq6GLTc-&amp;sig=igSf5EdoHGhK2o10aPIj6-AbJNQ</a:t>
            </a:r>
          </a:p>
          <a:p>
            <a:pPr marL="0" indent="0" algn="just">
              <a:buNone/>
            </a:pPr>
            <a:r>
              <a:rPr lang="en-US" sz="2000" smtClean="0"/>
              <a:t>[</a:t>
            </a:r>
            <a:r>
              <a:rPr lang="en-US" sz="2000"/>
              <a:t>2</a:t>
            </a:r>
            <a:r>
              <a:rPr lang="en-US" sz="2000" smtClean="0"/>
              <a:t>] H</a:t>
            </a:r>
            <a:r>
              <a:rPr lang="en-US" sz="2000"/>
              <a:t>. H. Pham, H. N. Trung, and H. Q. Nguyen, “Vindr-mammo: A large-scale benchmark dataset for computer-aided detection and diagnosis in full-field digital mammography,” Sci Data, 2022, Accessed: Jun. 09, 2025. [Online]. Available: </a:t>
            </a:r>
            <a:r>
              <a:rPr lang="en-US" sz="2000">
                <a:hlinkClick r:id="rId2"/>
              </a:rPr>
              <a:t>https://www.physionet.org/content/vindr-mammo/1.0.0</a:t>
            </a:r>
            <a:r>
              <a:rPr lang="en-US" sz="2000" smtClean="0">
                <a:hlinkClick r:id="rId2"/>
              </a:rPr>
              <a:t>/</a:t>
            </a:r>
            <a:r>
              <a:rPr lang="en-US" sz="2000" smtClean="0"/>
              <a:t>.</a:t>
            </a:r>
          </a:p>
          <a:p>
            <a:pPr marL="0" indent="0" algn="just">
              <a:buNone/>
            </a:pPr>
            <a:r>
              <a:rPr lang="en-US" sz="2000"/>
              <a:t>[3] Y. Eroğlu, M. Yildirim, and A. Çinar, “Convolutional Neural Networks based classification of breast ultrasonography images by hybrid method with respect to </a:t>
            </a:r>
            <a:r>
              <a:rPr lang="en-US" sz="2000" smtClean="0"/>
              <a:t>benign, malignant</a:t>
            </a:r>
            <a:r>
              <a:rPr lang="en-US" sz="2000"/>
              <a:t>, and normal using mRMR,” Computers in biology and medicine, vol. </a:t>
            </a:r>
            <a:r>
              <a:rPr lang="en-US" sz="2000" smtClean="0"/>
              <a:t>133, p</a:t>
            </a:r>
            <a:r>
              <a:rPr lang="en-US" sz="2000"/>
              <a:t>. 104407, 2021</a:t>
            </a:r>
            <a:r>
              <a:rPr lang="en-US" sz="2000" smtClean="0"/>
              <a:t>.</a:t>
            </a:r>
          </a:p>
          <a:p>
            <a:pPr marL="0" indent="0" algn="just">
              <a:buNone/>
            </a:pPr>
            <a:r>
              <a:rPr lang="en-US" sz="2000"/>
              <a:t>[4] A. P. Adedigba, S. A. Adeshina, and A. M. Aibinu, “Performance Evaluation </a:t>
            </a:r>
            <a:r>
              <a:rPr lang="en-US" sz="2000" smtClean="0"/>
              <a:t>of Deep </a:t>
            </a:r>
            <a:r>
              <a:rPr lang="en-US" sz="2000"/>
              <a:t>Learning Models on Mammogram Classification Using Small Dataset. Bioengineering 2022, 9, 161.” s Note: MDPI stays neutral with regard to jurisdictional claims in </a:t>
            </a:r>
            <a:r>
              <a:rPr lang="en-US" sz="2000" smtClean="0"/>
              <a:t>published, </a:t>
            </a:r>
            <a:r>
              <a:rPr lang="en-US" sz="2000"/>
              <a:t>2022. Accessed: Jun. 10, 2025. [Online]. </a:t>
            </a:r>
            <a:r>
              <a:rPr lang="en-US" sz="2000" smtClean="0"/>
              <a:t>Available: https</a:t>
            </a:r>
            <a:r>
              <a:rPr lang="en-US" sz="2000"/>
              <a:t>://www.academia.edu/download/91821754/pdf.pdf</a:t>
            </a:r>
          </a:p>
          <a:p>
            <a:pPr marL="0" indent="0" algn="just">
              <a:buNone/>
            </a:pPr>
            <a:r>
              <a:rPr lang="en-US" sz="2000"/>
              <a:t>[5] M. S. Hashim and A. A. Yassin, “Breast Cancer Prediction Using </a:t>
            </a:r>
            <a:r>
              <a:rPr lang="en-US" sz="2000" smtClean="0"/>
              <a:t>Soft Voting </a:t>
            </a:r>
            <a:r>
              <a:rPr lang="en-US" sz="2000"/>
              <a:t>Classifier Based on Machine Learning Models.,” IAENG International Journal of Computer Science, vol. 50, no. 2, 2023</a:t>
            </a:r>
          </a:p>
        </p:txBody>
      </p:sp>
      <p:sp>
        <p:nvSpPr>
          <p:cNvPr id="3" name="Title 2"/>
          <p:cNvSpPr>
            <a:spLocks noGrp="1"/>
          </p:cNvSpPr>
          <p:nvPr>
            <p:ph type="title"/>
          </p:nvPr>
        </p:nvSpPr>
        <p:spPr/>
        <p:txBody>
          <a:bodyPr/>
          <a:lstStyle/>
          <a:p>
            <a:r>
              <a:rPr lang="en-US" smtClean="0"/>
              <a:t>References</a:t>
            </a:r>
            <a:endParaRPr lang="en-US"/>
          </a:p>
        </p:txBody>
      </p:sp>
    </p:spTree>
    <p:extLst>
      <p:ext uri="{BB962C8B-B14F-4D97-AF65-F5344CB8AC3E}">
        <p14:creationId xmlns:p14="http://schemas.microsoft.com/office/powerpoint/2010/main" val="7117486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ings to do in can th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86922"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a:xfrm>
            <a:off x="4414055" y="1700084"/>
            <a:ext cx="7467600" cy="638484"/>
          </a:xfrm>
        </p:spPr>
        <p:txBody>
          <a:bodyPr>
            <a:noAutofit/>
          </a:bodyPr>
          <a:lstStyle/>
          <a:p>
            <a:pPr algn="ctr"/>
            <a:r>
              <a:rPr lang="en-US" sz="4800" smtClean="0"/>
              <a:t>THANK YOU FOR </a:t>
            </a:r>
            <a:br>
              <a:rPr lang="en-US" sz="4800" smtClean="0"/>
            </a:br>
            <a:r>
              <a:rPr lang="en-US" sz="4800" smtClean="0"/>
              <a:t>YOUR ATTENTION !!!</a:t>
            </a:r>
            <a:endParaRPr lang="en-US" sz="4800"/>
          </a:p>
        </p:txBody>
      </p:sp>
    </p:spTree>
    <p:extLst>
      <p:ext uri="{BB962C8B-B14F-4D97-AF65-F5344CB8AC3E}">
        <p14:creationId xmlns:p14="http://schemas.microsoft.com/office/powerpoint/2010/main" val="25309953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vestor Social Media by Slidesgo">
  <a:themeElements>
    <a:clrScheme name="Simple Light">
      <a:dk1>
        <a:srgbClr val="07105C"/>
      </a:dk1>
      <a:lt1>
        <a:srgbClr val="FFFFFF"/>
      </a:lt1>
      <a:dk2>
        <a:srgbClr val="FDE571"/>
      </a:dk2>
      <a:lt2>
        <a:srgbClr val="8FCEF9"/>
      </a:lt2>
      <a:accent1>
        <a:srgbClr val="07105C"/>
      </a:accent1>
      <a:accent2>
        <a:srgbClr val="5664E1"/>
      </a:accent2>
      <a:accent3>
        <a:srgbClr val="1226DB"/>
      </a:accent3>
      <a:accent4>
        <a:srgbClr val="23295C"/>
      </a:accent4>
      <a:accent5>
        <a:srgbClr val="0E1DA8"/>
      </a:accent5>
      <a:accent6>
        <a:srgbClr val="FFB127"/>
      </a:accent6>
      <a:hlink>
        <a:srgbClr val="E1D45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18504</TotalTime>
  <Words>2666</Words>
  <Application>Microsoft Office PowerPoint</Application>
  <PresentationFormat>Widescreen</PresentationFormat>
  <Paragraphs>208</Paragraphs>
  <Slides>27</Slides>
  <Notes>26</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27</vt:i4>
      </vt:variant>
    </vt:vector>
  </HeadingPairs>
  <TitlesOfParts>
    <vt:vector size="42" baseType="lpstr">
      <vt:lpstr>Arial</vt:lpstr>
      <vt:lpstr>Calibri</vt:lpstr>
      <vt:lpstr>Calibri Light</vt:lpstr>
      <vt:lpstr>Cambria</vt:lpstr>
      <vt:lpstr>Cambria Math</vt:lpstr>
      <vt:lpstr>Montserrat</vt:lpstr>
      <vt:lpstr>Open Sans</vt:lpstr>
      <vt:lpstr>Segoe UI</vt:lpstr>
      <vt:lpstr>Segoe UI Black</vt:lpstr>
      <vt:lpstr>Times</vt:lpstr>
      <vt:lpstr>Times New Roman</vt:lpstr>
      <vt:lpstr>Ubuntu</vt:lpstr>
      <vt:lpstr>Wingdings</vt:lpstr>
      <vt:lpstr>Office Theme</vt:lpstr>
      <vt:lpstr>Investor Social Media by Slidesgo</vt:lpstr>
      <vt:lpstr>PowerPoint Presentation</vt:lpstr>
      <vt:lpstr>CONTENT</vt:lpstr>
      <vt:lpstr>1. Introduction</vt:lpstr>
      <vt:lpstr>1. Introduction</vt:lpstr>
      <vt:lpstr>1. Introduction</vt:lpstr>
      <vt:lpstr>2. Related works</vt:lpstr>
      <vt:lpstr>2. Related works</vt:lpstr>
      <vt:lpstr>2. Related works</vt:lpstr>
      <vt:lpstr>2. Related works</vt:lpstr>
      <vt:lpstr>2. Related works</vt:lpstr>
      <vt:lpstr>2. Related works</vt:lpstr>
      <vt:lpstr>3. Proposed Method</vt:lpstr>
      <vt:lpstr>3. Proposed Method</vt:lpstr>
      <vt:lpstr>3. Proposed Method</vt:lpstr>
      <vt:lpstr>4. Experimental results</vt:lpstr>
      <vt:lpstr>4. Experimental results</vt:lpstr>
      <vt:lpstr>4. Experimental results</vt:lpstr>
      <vt:lpstr>4. Experimental results</vt:lpstr>
      <vt:lpstr>4. Experimental results</vt:lpstr>
      <vt:lpstr>4. Experimental results</vt:lpstr>
      <vt:lpstr>4. Experimental results</vt:lpstr>
      <vt:lpstr>4. Experimental results</vt:lpstr>
      <vt:lpstr>4. Experimental results</vt:lpstr>
      <vt:lpstr>4. Experimental results</vt:lpstr>
      <vt:lpstr>5. Conclusion</vt:lpstr>
      <vt:lpstr>References</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SƯ PHẠM KỸ THUẬT VĨNH LONG KHOA CÔNG NGHỆ THÔNG TIN</dc:title>
  <dc:creator>HienDo</dc:creator>
  <cp:lastModifiedBy>dat</cp:lastModifiedBy>
  <cp:revision>305</cp:revision>
  <dcterms:created xsi:type="dcterms:W3CDTF">2023-08-27T11:42:50Z</dcterms:created>
  <dcterms:modified xsi:type="dcterms:W3CDTF">2025-10-19T16:10:32Z</dcterms:modified>
</cp:coreProperties>
</file>