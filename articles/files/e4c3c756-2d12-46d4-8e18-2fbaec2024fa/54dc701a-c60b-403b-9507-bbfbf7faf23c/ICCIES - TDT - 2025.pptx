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 id="2147483863" r:id="rId2"/>
  </p:sldMasterIdLst>
  <p:notesMasterIdLst>
    <p:notesMasterId r:id="rId32"/>
  </p:notesMasterIdLst>
  <p:sldIdLst>
    <p:sldId id="291" r:id="rId3"/>
    <p:sldId id="338" r:id="rId4"/>
    <p:sldId id="292" r:id="rId5"/>
    <p:sldId id="323" r:id="rId6"/>
    <p:sldId id="337" r:id="rId7"/>
    <p:sldId id="324" r:id="rId8"/>
    <p:sldId id="325" r:id="rId9"/>
    <p:sldId id="326" r:id="rId10"/>
    <p:sldId id="302" r:id="rId11"/>
    <p:sldId id="327" r:id="rId12"/>
    <p:sldId id="328" r:id="rId13"/>
    <p:sldId id="329" r:id="rId14"/>
    <p:sldId id="300" r:id="rId15"/>
    <p:sldId id="301" r:id="rId16"/>
    <p:sldId id="330" r:id="rId17"/>
    <p:sldId id="336" r:id="rId18"/>
    <p:sldId id="304" r:id="rId19"/>
    <p:sldId id="306" r:id="rId20"/>
    <p:sldId id="331" r:id="rId21"/>
    <p:sldId id="332" r:id="rId22"/>
    <p:sldId id="333" r:id="rId23"/>
    <p:sldId id="314" r:id="rId24"/>
    <p:sldId id="334" r:id="rId25"/>
    <p:sldId id="335" r:id="rId26"/>
    <p:sldId id="320" r:id="rId27"/>
    <p:sldId id="316" r:id="rId28"/>
    <p:sldId id="318" r:id="rId29"/>
    <p:sldId id="319" r:id="rId30"/>
    <p:sldId id="317" r:id="rId31"/>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1" autoAdjust="0"/>
    <p:restoredTop sz="95332" autoAdjust="0"/>
  </p:normalViewPr>
  <p:slideViewPr>
    <p:cSldViewPr snapToGrid="0">
      <p:cViewPr varScale="1">
        <p:scale>
          <a:sx n="84" d="100"/>
          <a:sy n="84" d="100"/>
        </p:scale>
        <p:origin x="398" y="77"/>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321E-919F-40A1-8B4F-ED3C173FFBB6}" type="doc">
      <dgm:prSet loTypeId="urn:microsoft.com/office/officeart/2008/layout/LinedList" loCatId="list" qsTypeId="urn:microsoft.com/office/officeart/2005/8/quickstyle/simple5" qsCatId="simple" csTypeId="urn:microsoft.com/office/officeart/2005/8/colors/colorful4" csCatId="colorful" phldr="1"/>
      <dgm:spPr/>
      <dgm:t>
        <a:bodyPr/>
        <a:lstStyle/>
        <a:p>
          <a:endParaRPr lang="en-US"/>
        </a:p>
      </dgm:t>
    </dgm:pt>
    <dgm:pt modelId="{4BA853E3-6B37-4EEE-B870-270D9575B883}">
      <dgm:prSet phldrT="[Text]" custT="1"/>
      <dgm:spPr/>
      <dgm:t>
        <a:bodyPr/>
        <a:lstStyle/>
        <a:p>
          <a:r>
            <a:rPr lang="en-US" sz="3000" smtClean="0">
              <a:latin typeface="Cambria" panose="02040503050406030204" pitchFamily="18" charset="0"/>
              <a:ea typeface="Cambria" panose="02040503050406030204" pitchFamily="18" charset="0"/>
            </a:rPr>
            <a:t>1. Introduction</a:t>
          </a:r>
          <a:endParaRPr lang="en-US" sz="3000">
            <a:latin typeface="Cambria" panose="02040503050406030204" pitchFamily="18" charset="0"/>
            <a:ea typeface="Cambria" panose="02040503050406030204" pitchFamily="18" charset="0"/>
          </a:endParaRPr>
        </a:p>
      </dgm:t>
    </dgm:pt>
    <dgm:pt modelId="{B938A720-C0A3-4115-8161-C8FCE398629C}" type="par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071A486A-321D-4A92-BE28-65AAC3811270}" type="sib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CB6C174C-AD39-4F32-A69C-1943F6FCA0AD}">
      <dgm:prSet phldrT="[Text]" custT="1"/>
      <dgm:spPr/>
      <dgm:t>
        <a:bodyPr/>
        <a:lstStyle/>
        <a:p>
          <a:r>
            <a:rPr lang="en-US" sz="3000" smtClean="0">
              <a:latin typeface="Cambria" panose="02040503050406030204" pitchFamily="18" charset="0"/>
              <a:ea typeface="Cambria" panose="02040503050406030204" pitchFamily="18" charset="0"/>
            </a:rPr>
            <a:t>2. Related works</a:t>
          </a:r>
          <a:endParaRPr lang="en-US" sz="3000">
            <a:latin typeface="Cambria" panose="02040503050406030204" pitchFamily="18" charset="0"/>
            <a:ea typeface="Cambria" panose="02040503050406030204" pitchFamily="18" charset="0"/>
          </a:endParaRPr>
        </a:p>
      </dgm:t>
    </dgm:pt>
    <dgm:pt modelId="{0AA1EE46-3B6A-4F62-B357-F1F7AF7FC0BC}" type="par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83720B8D-FA55-4AE0-A459-962B549F5280}" type="sib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37067F57-594D-497F-A5AB-F04E94E155CB}">
      <dgm:prSet phldrT="[Text]" custT="1"/>
      <dgm:spPr/>
      <dgm:t>
        <a:bodyPr/>
        <a:lstStyle/>
        <a:p>
          <a:r>
            <a:rPr lang="en-US" sz="3000" smtClean="0">
              <a:latin typeface="Cambria" panose="02040503050406030204" pitchFamily="18" charset="0"/>
              <a:ea typeface="Cambria" panose="02040503050406030204" pitchFamily="18" charset="0"/>
            </a:rPr>
            <a:t>3. Proposed method</a:t>
          </a:r>
          <a:endParaRPr lang="en-US" sz="3000">
            <a:latin typeface="Cambria" panose="02040503050406030204" pitchFamily="18" charset="0"/>
            <a:ea typeface="Cambria" panose="02040503050406030204" pitchFamily="18" charset="0"/>
          </a:endParaRPr>
        </a:p>
      </dgm:t>
    </dgm:pt>
    <dgm:pt modelId="{1E020827-09FF-4E02-B615-50794545DE9F}" type="par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533DCD23-C3A5-41AD-AD95-529064A32B00}" type="sib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84B520AF-6E48-49D1-8641-105A3D363435}">
      <dgm:prSet phldrT="[Text]" custT="1"/>
      <dgm:spPr/>
      <dgm:t>
        <a:bodyPr/>
        <a:lstStyle/>
        <a:p>
          <a:r>
            <a:rPr lang="en-US" sz="3000" smtClean="0">
              <a:latin typeface="Cambria" panose="02040503050406030204" pitchFamily="18" charset="0"/>
              <a:ea typeface="Cambria" panose="02040503050406030204" pitchFamily="18" charset="0"/>
            </a:rPr>
            <a:t>5. Conclusion</a:t>
          </a:r>
          <a:endParaRPr lang="en-US" sz="3000">
            <a:latin typeface="Cambria" panose="02040503050406030204" pitchFamily="18" charset="0"/>
            <a:ea typeface="Cambria" panose="02040503050406030204" pitchFamily="18" charset="0"/>
          </a:endParaRPr>
        </a:p>
      </dgm:t>
    </dgm:pt>
    <dgm:pt modelId="{508F2D6B-B0B0-4897-8C35-3A5B28264CC6}" type="par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B64573C5-9254-4F89-A13E-F786D9BAAC1E}" type="sib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0D8CC914-4B79-45E6-9C9B-673327DDFF32}">
      <dgm:prSet phldrT="[Text]" custT="1"/>
      <dgm:spPr/>
      <dgm:t>
        <a:bodyPr/>
        <a:lstStyle/>
        <a:p>
          <a:r>
            <a:rPr lang="en-US" sz="3000" smtClean="0">
              <a:latin typeface="Cambria" panose="02040503050406030204" pitchFamily="18" charset="0"/>
              <a:ea typeface="Cambria" panose="02040503050406030204" pitchFamily="18" charset="0"/>
            </a:rPr>
            <a:t>4. Experimental results</a:t>
          </a:r>
          <a:endParaRPr lang="en-US" sz="3000">
            <a:latin typeface="Cambria" panose="02040503050406030204" pitchFamily="18" charset="0"/>
            <a:ea typeface="Cambria" panose="02040503050406030204" pitchFamily="18" charset="0"/>
          </a:endParaRPr>
        </a:p>
      </dgm:t>
    </dgm:pt>
    <dgm:pt modelId="{025631BD-4CEA-49DE-8217-3B1DD224ADBF}" type="par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C4509E76-E84D-4436-8DEB-B59749AF7C35}" type="sib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B5E66452-C6DE-444C-B18C-B6A371B1653C}" type="pres">
      <dgm:prSet presAssocID="{AEDC321E-919F-40A1-8B4F-ED3C173FFBB6}" presName="vert0" presStyleCnt="0">
        <dgm:presLayoutVars>
          <dgm:dir/>
          <dgm:animOne val="branch"/>
          <dgm:animLvl val="lvl"/>
        </dgm:presLayoutVars>
      </dgm:prSet>
      <dgm:spPr/>
      <dgm:t>
        <a:bodyPr/>
        <a:lstStyle/>
        <a:p>
          <a:endParaRPr lang="en-US"/>
        </a:p>
      </dgm:t>
    </dgm:pt>
    <dgm:pt modelId="{D15B6E73-FB71-4972-95FD-77CC89B41F9B}" type="pres">
      <dgm:prSet presAssocID="{4BA853E3-6B37-4EEE-B870-270D9575B883}" presName="thickLine" presStyleLbl="alignNode1" presStyleIdx="0" presStyleCnt="5"/>
      <dgm:spPr/>
      <dgm:t>
        <a:bodyPr/>
        <a:lstStyle/>
        <a:p>
          <a:endParaRPr lang="en-US"/>
        </a:p>
      </dgm:t>
    </dgm:pt>
    <dgm:pt modelId="{DCE577C6-78D9-4E48-B19F-F1E4B645F0BB}" type="pres">
      <dgm:prSet presAssocID="{4BA853E3-6B37-4EEE-B870-270D9575B883}" presName="horz1" presStyleCnt="0"/>
      <dgm:spPr/>
      <dgm:t>
        <a:bodyPr/>
        <a:lstStyle/>
        <a:p>
          <a:endParaRPr lang="en-US"/>
        </a:p>
      </dgm:t>
    </dgm:pt>
    <dgm:pt modelId="{02C8D4F3-BF6D-4972-A216-41FFBF8E4EA3}" type="pres">
      <dgm:prSet presAssocID="{4BA853E3-6B37-4EEE-B870-270D9575B883}" presName="tx1" presStyleLbl="revTx" presStyleIdx="0" presStyleCnt="5"/>
      <dgm:spPr/>
      <dgm:t>
        <a:bodyPr/>
        <a:lstStyle/>
        <a:p>
          <a:endParaRPr lang="en-US"/>
        </a:p>
      </dgm:t>
    </dgm:pt>
    <dgm:pt modelId="{816935F0-8156-4157-AC70-B5E9DB1E570D}" type="pres">
      <dgm:prSet presAssocID="{4BA853E3-6B37-4EEE-B870-270D9575B883}" presName="vert1" presStyleCnt="0"/>
      <dgm:spPr/>
      <dgm:t>
        <a:bodyPr/>
        <a:lstStyle/>
        <a:p>
          <a:endParaRPr lang="en-US"/>
        </a:p>
      </dgm:t>
    </dgm:pt>
    <dgm:pt modelId="{4E808DA8-2AE3-4AFB-953F-585D5A7EB9C1}" type="pres">
      <dgm:prSet presAssocID="{CB6C174C-AD39-4F32-A69C-1943F6FCA0AD}" presName="thickLine" presStyleLbl="alignNode1" presStyleIdx="1" presStyleCnt="5"/>
      <dgm:spPr/>
      <dgm:t>
        <a:bodyPr/>
        <a:lstStyle/>
        <a:p>
          <a:endParaRPr lang="en-US"/>
        </a:p>
      </dgm:t>
    </dgm:pt>
    <dgm:pt modelId="{B7BC5993-A808-4A3C-BF44-6614B68AFDDB}" type="pres">
      <dgm:prSet presAssocID="{CB6C174C-AD39-4F32-A69C-1943F6FCA0AD}" presName="horz1" presStyleCnt="0"/>
      <dgm:spPr/>
      <dgm:t>
        <a:bodyPr/>
        <a:lstStyle/>
        <a:p>
          <a:endParaRPr lang="en-US"/>
        </a:p>
      </dgm:t>
    </dgm:pt>
    <dgm:pt modelId="{6938AA73-F497-4DF4-AE51-AE7EEAD34742}" type="pres">
      <dgm:prSet presAssocID="{CB6C174C-AD39-4F32-A69C-1943F6FCA0AD}" presName="tx1" presStyleLbl="revTx" presStyleIdx="1" presStyleCnt="5"/>
      <dgm:spPr/>
      <dgm:t>
        <a:bodyPr/>
        <a:lstStyle/>
        <a:p>
          <a:endParaRPr lang="en-US"/>
        </a:p>
      </dgm:t>
    </dgm:pt>
    <dgm:pt modelId="{FEDB7669-F822-4BF0-88A3-48DCB4B25957}" type="pres">
      <dgm:prSet presAssocID="{CB6C174C-AD39-4F32-A69C-1943F6FCA0AD}" presName="vert1" presStyleCnt="0"/>
      <dgm:spPr/>
      <dgm:t>
        <a:bodyPr/>
        <a:lstStyle/>
        <a:p>
          <a:endParaRPr lang="en-US"/>
        </a:p>
      </dgm:t>
    </dgm:pt>
    <dgm:pt modelId="{4308F9AB-48F2-46B1-9CA8-1959138D1D80}" type="pres">
      <dgm:prSet presAssocID="{37067F57-594D-497F-A5AB-F04E94E155CB}" presName="thickLine" presStyleLbl="alignNode1" presStyleIdx="2" presStyleCnt="5"/>
      <dgm:spPr/>
      <dgm:t>
        <a:bodyPr/>
        <a:lstStyle/>
        <a:p>
          <a:endParaRPr lang="en-US"/>
        </a:p>
      </dgm:t>
    </dgm:pt>
    <dgm:pt modelId="{04E80DB8-55DE-4361-B26F-7C55C61822EA}" type="pres">
      <dgm:prSet presAssocID="{37067F57-594D-497F-A5AB-F04E94E155CB}" presName="horz1" presStyleCnt="0"/>
      <dgm:spPr/>
      <dgm:t>
        <a:bodyPr/>
        <a:lstStyle/>
        <a:p>
          <a:endParaRPr lang="en-US"/>
        </a:p>
      </dgm:t>
    </dgm:pt>
    <dgm:pt modelId="{8576C280-DD3B-4AAF-8437-2548F119716B}" type="pres">
      <dgm:prSet presAssocID="{37067F57-594D-497F-A5AB-F04E94E155CB}" presName="tx1" presStyleLbl="revTx" presStyleIdx="2" presStyleCnt="5"/>
      <dgm:spPr/>
      <dgm:t>
        <a:bodyPr/>
        <a:lstStyle/>
        <a:p>
          <a:endParaRPr lang="en-US"/>
        </a:p>
      </dgm:t>
    </dgm:pt>
    <dgm:pt modelId="{561966BE-2A67-4FC7-9E61-4B327F7BDBBD}" type="pres">
      <dgm:prSet presAssocID="{37067F57-594D-497F-A5AB-F04E94E155CB}" presName="vert1" presStyleCnt="0"/>
      <dgm:spPr/>
      <dgm:t>
        <a:bodyPr/>
        <a:lstStyle/>
        <a:p>
          <a:endParaRPr lang="en-US"/>
        </a:p>
      </dgm:t>
    </dgm:pt>
    <dgm:pt modelId="{96B7D6FF-2747-46D5-93BF-1905EBD4904C}" type="pres">
      <dgm:prSet presAssocID="{0D8CC914-4B79-45E6-9C9B-673327DDFF32}" presName="thickLine" presStyleLbl="alignNode1" presStyleIdx="3" presStyleCnt="5"/>
      <dgm:spPr/>
      <dgm:t>
        <a:bodyPr/>
        <a:lstStyle/>
        <a:p>
          <a:endParaRPr lang="en-US"/>
        </a:p>
      </dgm:t>
    </dgm:pt>
    <dgm:pt modelId="{346F5498-54F7-4D76-9C9E-E64BA5E6463A}" type="pres">
      <dgm:prSet presAssocID="{0D8CC914-4B79-45E6-9C9B-673327DDFF32}" presName="horz1" presStyleCnt="0"/>
      <dgm:spPr/>
      <dgm:t>
        <a:bodyPr/>
        <a:lstStyle/>
        <a:p>
          <a:endParaRPr lang="en-US"/>
        </a:p>
      </dgm:t>
    </dgm:pt>
    <dgm:pt modelId="{21A1ACD9-52D2-437A-9BD0-3C4F0E44D96C}" type="pres">
      <dgm:prSet presAssocID="{0D8CC914-4B79-45E6-9C9B-673327DDFF32}" presName="tx1" presStyleLbl="revTx" presStyleIdx="3" presStyleCnt="5"/>
      <dgm:spPr/>
      <dgm:t>
        <a:bodyPr/>
        <a:lstStyle/>
        <a:p>
          <a:endParaRPr lang="en-US"/>
        </a:p>
      </dgm:t>
    </dgm:pt>
    <dgm:pt modelId="{77018FBE-4480-4F5B-ADE0-12E8E068DA54}" type="pres">
      <dgm:prSet presAssocID="{0D8CC914-4B79-45E6-9C9B-673327DDFF32}" presName="vert1" presStyleCnt="0"/>
      <dgm:spPr/>
      <dgm:t>
        <a:bodyPr/>
        <a:lstStyle/>
        <a:p>
          <a:endParaRPr lang="en-US"/>
        </a:p>
      </dgm:t>
    </dgm:pt>
    <dgm:pt modelId="{7DBE17F3-C781-428E-B04E-23DCB85D206A}" type="pres">
      <dgm:prSet presAssocID="{84B520AF-6E48-49D1-8641-105A3D363435}" presName="thickLine" presStyleLbl="alignNode1" presStyleIdx="4" presStyleCnt="5"/>
      <dgm:spPr/>
      <dgm:t>
        <a:bodyPr/>
        <a:lstStyle/>
        <a:p>
          <a:endParaRPr lang="en-US"/>
        </a:p>
      </dgm:t>
    </dgm:pt>
    <dgm:pt modelId="{BBF4FC03-4390-4184-A6A4-52832F83DDC2}" type="pres">
      <dgm:prSet presAssocID="{84B520AF-6E48-49D1-8641-105A3D363435}" presName="horz1" presStyleCnt="0"/>
      <dgm:spPr/>
      <dgm:t>
        <a:bodyPr/>
        <a:lstStyle/>
        <a:p>
          <a:endParaRPr lang="en-US"/>
        </a:p>
      </dgm:t>
    </dgm:pt>
    <dgm:pt modelId="{09946E45-62C8-4278-B199-DF9B4ED47DEA}" type="pres">
      <dgm:prSet presAssocID="{84B520AF-6E48-49D1-8641-105A3D363435}" presName="tx1" presStyleLbl="revTx" presStyleIdx="4" presStyleCnt="5"/>
      <dgm:spPr/>
      <dgm:t>
        <a:bodyPr/>
        <a:lstStyle/>
        <a:p>
          <a:endParaRPr lang="en-US"/>
        </a:p>
      </dgm:t>
    </dgm:pt>
    <dgm:pt modelId="{066009DE-787B-4FB9-A67F-DA8CF24EA028}" type="pres">
      <dgm:prSet presAssocID="{84B520AF-6E48-49D1-8641-105A3D363435}" presName="vert1" presStyleCnt="0"/>
      <dgm:spPr/>
      <dgm:t>
        <a:bodyPr/>
        <a:lstStyle/>
        <a:p>
          <a:endParaRPr lang="en-US"/>
        </a:p>
      </dgm:t>
    </dgm:pt>
  </dgm:ptLst>
  <dgm:cxnLst>
    <dgm:cxn modelId="{5ABD5B5D-5DCE-4921-89AE-23D957E0BBD8}" type="presOf" srcId="{0D8CC914-4B79-45E6-9C9B-673327DDFF32}" destId="{21A1ACD9-52D2-437A-9BD0-3C4F0E44D96C}" srcOrd="0" destOrd="0" presId="urn:microsoft.com/office/officeart/2008/layout/LinedList"/>
    <dgm:cxn modelId="{FC182781-9477-4EB9-9FA0-4C7D5B1C629C}" srcId="{AEDC321E-919F-40A1-8B4F-ED3C173FFBB6}" destId="{4BA853E3-6B37-4EEE-B870-270D9575B883}" srcOrd="0" destOrd="0" parTransId="{B938A720-C0A3-4115-8161-C8FCE398629C}" sibTransId="{071A486A-321D-4A92-BE28-65AAC3811270}"/>
    <dgm:cxn modelId="{1655883E-C540-4AAD-8440-095E15845157}" type="presOf" srcId="{84B520AF-6E48-49D1-8641-105A3D363435}" destId="{09946E45-62C8-4278-B199-DF9B4ED47DEA}" srcOrd="0" destOrd="0" presId="urn:microsoft.com/office/officeart/2008/layout/LinedList"/>
    <dgm:cxn modelId="{3AA3E95A-EC8E-4F3D-B5EE-E17DFA3741F3}" srcId="{AEDC321E-919F-40A1-8B4F-ED3C173FFBB6}" destId="{37067F57-594D-497F-A5AB-F04E94E155CB}" srcOrd="2" destOrd="0" parTransId="{1E020827-09FF-4E02-B615-50794545DE9F}" sibTransId="{533DCD23-C3A5-41AD-AD95-529064A32B00}"/>
    <dgm:cxn modelId="{CC9C8BCC-1D4C-4132-8C8E-BA6FC3A35174}" srcId="{AEDC321E-919F-40A1-8B4F-ED3C173FFBB6}" destId="{0D8CC914-4B79-45E6-9C9B-673327DDFF32}" srcOrd="3" destOrd="0" parTransId="{025631BD-4CEA-49DE-8217-3B1DD224ADBF}" sibTransId="{C4509E76-E84D-4436-8DEB-B59749AF7C35}"/>
    <dgm:cxn modelId="{BAB1171B-ADD5-4B64-8E17-BC8FC85E8BC7}" type="presOf" srcId="{37067F57-594D-497F-A5AB-F04E94E155CB}" destId="{8576C280-DD3B-4AAF-8437-2548F119716B}" srcOrd="0" destOrd="0" presId="urn:microsoft.com/office/officeart/2008/layout/LinedList"/>
    <dgm:cxn modelId="{6CA9DCE7-CFAE-4B71-AF54-55DDA423ACAE}" type="presOf" srcId="{CB6C174C-AD39-4F32-A69C-1943F6FCA0AD}" destId="{6938AA73-F497-4DF4-AE51-AE7EEAD34742}" srcOrd="0" destOrd="0" presId="urn:microsoft.com/office/officeart/2008/layout/LinedList"/>
    <dgm:cxn modelId="{E031A03C-7106-4831-935A-C2802363C003}" type="presOf" srcId="{4BA853E3-6B37-4EEE-B870-270D9575B883}" destId="{02C8D4F3-BF6D-4972-A216-41FFBF8E4EA3}" srcOrd="0" destOrd="0" presId="urn:microsoft.com/office/officeart/2008/layout/LinedList"/>
    <dgm:cxn modelId="{677F619D-B3EA-476F-BEBF-B926C1E99BD2}" srcId="{AEDC321E-919F-40A1-8B4F-ED3C173FFBB6}" destId="{CB6C174C-AD39-4F32-A69C-1943F6FCA0AD}" srcOrd="1" destOrd="0" parTransId="{0AA1EE46-3B6A-4F62-B357-F1F7AF7FC0BC}" sibTransId="{83720B8D-FA55-4AE0-A459-962B549F5280}"/>
    <dgm:cxn modelId="{643C0F74-3A63-4DB7-AA3A-8378660E7FE8}" type="presOf" srcId="{AEDC321E-919F-40A1-8B4F-ED3C173FFBB6}" destId="{B5E66452-C6DE-444C-B18C-B6A371B1653C}" srcOrd="0" destOrd="0" presId="urn:microsoft.com/office/officeart/2008/layout/LinedList"/>
    <dgm:cxn modelId="{BA6BDDE7-BFE1-4D90-BC18-81266B27FE9B}" srcId="{AEDC321E-919F-40A1-8B4F-ED3C173FFBB6}" destId="{84B520AF-6E48-49D1-8641-105A3D363435}" srcOrd="4" destOrd="0" parTransId="{508F2D6B-B0B0-4897-8C35-3A5B28264CC6}" sibTransId="{B64573C5-9254-4F89-A13E-F786D9BAAC1E}"/>
    <dgm:cxn modelId="{E10B6AF9-7F0F-4C06-8698-C7630D4C5A12}" type="presParOf" srcId="{B5E66452-C6DE-444C-B18C-B6A371B1653C}" destId="{D15B6E73-FB71-4972-95FD-77CC89B41F9B}" srcOrd="0" destOrd="0" presId="urn:microsoft.com/office/officeart/2008/layout/LinedList"/>
    <dgm:cxn modelId="{8824BB02-D5EA-46D9-8154-11B1BF817A7D}" type="presParOf" srcId="{B5E66452-C6DE-444C-B18C-B6A371B1653C}" destId="{DCE577C6-78D9-4E48-B19F-F1E4B645F0BB}" srcOrd="1" destOrd="0" presId="urn:microsoft.com/office/officeart/2008/layout/LinedList"/>
    <dgm:cxn modelId="{F33E1AC1-8A7B-4C3B-9E87-EC571ED8D343}" type="presParOf" srcId="{DCE577C6-78D9-4E48-B19F-F1E4B645F0BB}" destId="{02C8D4F3-BF6D-4972-A216-41FFBF8E4EA3}" srcOrd="0" destOrd="0" presId="urn:microsoft.com/office/officeart/2008/layout/LinedList"/>
    <dgm:cxn modelId="{BC6D25FF-048D-4288-B9EE-67F9D02718C6}" type="presParOf" srcId="{DCE577C6-78D9-4E48-B19F-F1E4B645F0BB}" destId="{816935F0-8156-4157-AC70-B5E9DB1E570D}" srcOrd="1" destOrd="0" presId="urn:microsoft.com/office/officeart/2008/layout/LinedList"/>
    <dgm:cxn modelId="{DBA504DD-FBAF-4E02-9A1E-82C96630079A}" type="presParOf" srcId="{B5E66452-C6DE-444C-B18C-B6A371B1653C}" destId="{4E808DA8-2AE3-4AFB-953F-585D5A7EB9C1}" srcOrd="2" destOrd="0" presId="urn:microsoft.com/office/officeart/2008/layout/LinedList"/>
    <dgm:cxn modelId="{8B2858F5-F6EE-42A8-B220-A2FB6FFEA8E6}" type="presParOf" srcId="{B5E66452-C6DE-444C-B18C-B6A371B1653C}" destId="{B7BC5993-A808-4A3C-BF44-6614B68AFDDB}" srcOrd="3" destOrd="0" presId="urn:microsoft.com/office/officeart/2008/layout/LinedList"/>
    <dgm:cxn modelId="{268A3F19-A6CD-422B-9892-F33687A540CB}" type="presParOf" srcId="{B7BC5993-A808-4A3C-BF44-6614B68AFDDB}" destId="{6938AA73-F497-4DF4-AE51-AE7EEAD34742}" srcOrd="0" destOrd="0" presId="urn:microsoft.com/office/officeart/2008/layout/LinedList"/>
    <dgm:cxn modelId="{3858CE33-EF1C-46D2-B30E-3F52C3ACF545}" type="presParOf" srcId="{B7BC5993-A808-4A3C-BF44-6614B68AFDDB}" destId="{FEDB7669-F822-4BF0-88A3-48DCB4B25957}" srcOrd="1" destOrd="0" presId="urn:microsoft.com/office/officeart/2008/layout/LinedList"/>
    <dgm:cxn modelId="{F4A6F874-970A-4B7A-8242-3A8200E31609}" type="presParOf" srcId="{B5E66452-C6DE-444C-B18C-B6A371B1653C}" destId="{4308F9AB-48F2-46B1-9CA8-1959138D1D80}" srcOrd="4" destOrd="0" presId="urn:microsoft.com/office/officeart/2008/layout/LinedList"/>
    <dgm:cxn modelId="{B41BE792-DD9E-4C6A-A096-0CC21D7B0D70}" type="presParOf" srcId="{B5E66452-C6DE-444C-B18C-B6A371B1653C}" destId="{04E80DB8-55DE-4361-B26F-7C55C61822EA}" srcOrd="5" destOrd="0" presId="urn:microsoft.com/office/officeart/2008/layout/LinedList"/>
    <dgm:cxn modelId="{A36ED9BD-359B-4D67-A5FA-765659160F5A}" type="presParOf" srcId="{04E80DB8-55DE-4361-B26F-7C55C61822EA}" destId="{8576C280-DD3B-4AAF-8437-2548F119716B}" srcOrd="0" destOrd="0" presId="urn:microsoft.com/office/officeart/2008/layout/LinedList"/>
    <dgm:cxn modelId="{4F93CCED-48D1-44C9-A180-67D5ABC362CE}" type="presParOf" srcId="{04E80DB8-55DE-4361-B26F-7C55C61822EA}" destId="{561966BE-2A67-4FC7-9E61-4B327F7BDBBD}" srcOrd="1" destOrd="0" presId="urn:microsoft.com/office/officeart/2008/layout/LinedList"/>
    <dgm:cxn modelId="{F8F8CC36-FE93-4D7E-A413-948FE5D69007}" type="presParOf" srcId="{B5E66452-C6DE-444C-B18C-B6A371B1653C}" destId="{96B7D6FF-2747-46D5-93BF-1905EBD4904C}" srcOrd="6" destOrd="0" presId="urn:microsoft.com/office/officeart/2008/layout/LinedList"/>
    <dgm:cxn modelId="{DCB5B190-9EA4-4787-BF8C-4F3C690EA74E}" type="presParOf" srcId="{B5E66452-C6DE-444C-B18C-B6A371B1653C}" destId="{346F5498-54F7-4D76-9C9E-E64BA5E6463A}" srcOrd="7" destOrd="0" presId="urn:microsoft.com/office/officeart/2008/layout/LinedList"/>
    <dgm:cxn modelId="{0B14A7ED-0AD4-48A6-A666-DCE334CFCC5E}" type="presParOf" srcId="{346F5498-54F7-4D76-9C9E-E64BA5E6463A}" destId="{21A1ACD9-52D2-437A-9BD0-3C4F0E44D96C}" srcOrd="0" destOrd="0" presId="urn:microsoft.com/office/officeart/2008/layout/LinedList"/>
    <dgm:cxn modelId="{FB28AB9F-A310-41EA-B001-9EA00114EEA2}" type="presParOf" srcId="{346F5498-54F7-4D76-9C9E-E64BA5E6463A}" destId="{77018FBE-4480-4F5B-ADE0-12E8E068DA54}" srcOrd="1" destOrd="0" presId="urn:microsoft.com/office/officeart/2008/layout/LinedList"/>
    <dgm:cxn modelId="{39398FEC-1682-4033-A294-A5509F8B1A8B}" type="presParOf" srcId="{B5E66452-C6DE-444C-B18C-B6A371B1653C}" destId="{7DBE17F3-C781-428E-B04E-23DCB85D206A}" srcOrd="8" destOrd="0" presId="urn:microsoft.com/office/officeart/2008/layout/LinedList"/>
    <dgm:cxn modelId="{83016289-CC6A-4A8C-B51C-669722A46995}" type="presParOf" srcId="{B5E66452-C6DE-444C-B18C-B6A371B1653C}" destId="{BBF4FC03-4390-4184-A6A4-52832F83DDC2}" srcOrd="9" destOrd="0" presId="urn:microsoft.com/office/officeart/2008/layout/LinedList"/>
    <dgm:cxn modelId="{18D3EE9F-9353-4025-AF55-55F189BE4DA1}" type="presParOf" srcId="{BBF4FC03-4390-4184-A6A4-52832F83DDC2}" destId="{09946E45-62C8-4278-B199-DF9B4ED47DEA}" srcOrd="0" destOrd="0" presId="urn:microsoft.com/office/officeart/2008/layout/LinedList"/>
    <dgm:cxn modelId="{E9DD9C23-C223-445B-BEEA-9F88FC985F7C}" type="presParOf" srcId="{BBF4FC03-4390-4184-A6A4-52832F83DDC2}" destId="{066009DE-787B-4FB9-A67F-DA8CF24EA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B6E73-FB71-4972-95FD-77CC89B41F9B}">
      <dsp:nvSpPr>
        <dsp:cNvPr id="0" name=""/>
        <dsp:cNvSpPr/>
      </dsp:nvSpPr>
      <dsp:spPr>
        <a:xfrm>
          <a:off x="0" y="520"/>
          <a:ext cx="111367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2C8D4F3-BF6D-4972-A216-41FFBF8E4EA3}">
      <dsp:nvSpPr>
        <dsp:cNvPr id="0" name=""/>
        <dsp:cNvSpPr/>
      </dsp:nvSpPr>
      <dsp:spPr>
        <a:xfrm>
          <a:off x="0" y="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1. Introduction</a:t>
          </a:r>
          <a:endParaRPr lang="en-US" sz="3000" kern="1200">
            <a:latin typeface="Cambria" panose="02040503050406030204" pitchFamily="18" charset="0"/>
            <a:ea typeface="Cambria" panose="02040503050406030204" pitchFamily="18" charset="0"/>
          </a:endParaRPr>
        </a:p>
      </dsp:txBody>
      <dsp:txXfrm>
        <a:off x="0" y="520"/>
        <a:ext cx="11136710" cy="851999"/>
      </dsp:txXfrm>
    </dsp:sp>
    <dsp:sp modelId="{4E808DA8-2AE3-4AFB-953F-585D5A7EB9C1}">
      <dsp:nvSpPr>
        <dsp:cNvPr id="0" name=""/>
        <dsp:cNvSpPr/>
      </dsp:nvSpPr>
      <dsp:spPr>
        <a:xfrm>
          <a:off x="0" y="852520"/>
          <a:ext cx="11136710" cy="0"/>
        </a:xfrm>
        <a:prstGeom prst="line">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w="6350" cap="flat" cmpd="sng" algn="ctr">
          <a:solidFill>
            <a:schemeClr val="accent4">
              <a:hueOff val="2450223"/>
              <a:satOff val="-10194"/>
              <a:lumOff val="2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938AA73-F497-4DF4-AE51-AE7EEAD34742}">
      <dsp:nvSpPr>
        <dsp:cNvPr id="0" name=""/>
        <dsp:cNvSpPr/>
      </dsp:nvSpPr>
      <dsp:spPr>
        <a:xfrm>
          <a:off x="0" y="852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2. Related works</a:t>
          </a:r>
          <a:endParaRPr lang="en-US" sz="3000" kern="1200">
            <a:latin typeface="Cambria" panose="02040503050406030204" pitchFamily="18" charset="0"/>
            <a:ea typeface="Cambria" panose="02040503050406030204" pitchFamily="18" charset="0"/>
          </a:endParaRPr>
        </a:p>
      </dsp:txBody>
      <dsp:txXfrm>
        <a:off x="0" y="852520"/>
        <a:ext cx="11136710" cy="851999"/>
      </dsp:txXfrm>
    </dsp:sp>
    <dsp:sp modelId="{4308F9AB-48F2-46B1-9CA8-1959138D1D80}">
      <dsp:nvSpPr>
        <dsp:cNvPr id="0" name=""/>
        <dsp:cNvSpPr/>
      </dsp:nvSpPr>
      <dsp:spPr>
        <a:xfrm>
          <a:off x="0" y="1704520"/>
          <a:ext cx="11136710" cy="0"/>
        </a:xfrm>
        <a:prstGeom prst="lin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576C280-DD3B-4AAF-8437-2548F119716B}">
      <dsp:nvSpPr>
        <dsp:cNvPr id="0" name=""/>
        <dsp:cNvSpPr/>
      </dsp:nvSpPr>
      <dsp:spPr>
        <a:xfrm>
          <a:off x="0" y="1704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3. Proposed method</a:t>
          </a:r>
          <a:endParaRPr lang="en-US" sz="3000" kern="1200">
            <a:latin typeface="Cambria" panose="02040503050406030204" pitchFamily="18" charset="0"/>
            <a:ea typeface="Cambria" panose="02040503050406030204" pitchFamily="18" charset="0"/>
          </a:endParaRPr>
        </a:p>
      </dsp:txBody>
      <dsp:txXfrm>
        <a:off x="0" y="1704520"/>
        <a:ext cx="11136710" cy="851999"/>
      </dsp:txXfrm>
    </dsp:sp>
    <dsp:sp modelId="{96B7D6FF-2747-46D5-93BF-1905EBD4904C}">
      <dsp:nvSpPr>
        <dsp:cNvPr id="0" name=""/>
        <dsp:cNvSpPr/>
      </dsp:nvSpPr>
      <dsp:spPr>
        <a:xfrm>
          <a:off x="0" y="2556519"/>
          <a:ext cx="11136710" cy="0"/>
        </a:xfrm>
        <a:prstGeom prst="line">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w="6350" cap="flat" cmpd="sng" algn="ctr">
          <a:solidFill>
            <a:schemeClr val="accent4">
              <a:hueOff val="7350668"/>
              <a:satOff val="-30583"/>
              <a:lumOff val="720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1A1ACD9-52D2-437A-9BD0-3C4F0E44D96C}">
      <dsp:nvSpPr>
        <dsp:cNvPr id="0" name=""/>
        <dsp:cNvSpPr/>
      </dsp:nvSpPr>
      <dsp:spPr>
        <a:xfrm>
          <a:off x="0" y="2556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4. Experimental results</a:t>
          </a:r>
          <a:endParaRPr lang="en-US" sz="3000" kern="1200">
            <a:latin typeface="Cambria" panose="02040503050406030204" pitchFamily="18" charset="0"/>
            <a:ea typeface="Cambria" panose="02040503050406030204" pitchFamily="18" charset="0"/>
          </a:endParaRPr>
        </a:p>
      </dsp:txBody>
      <dsp:txXfrm>
        <a:off x="0" y="2556519"/>
        <a:ext cx="11136710" cy="851999"/>
      </dsp:txXfrm>
    </dsp:sp>
    <dsp:sp modelId="{7DBE17F3-C781-428E-B04E-23DCB85D206A}">
      <dsp:nvSpPr>
        <dsp:cNvPr id="0" name=""/>
        <dsp:cNvSpPr/>
      </dsp:nvSpPr>
      <dsp:spPr>
        <a:xfrm>
          <a:off x="0" y="3408519"/>
          <a:ext cx="11136710" cy="0"/>
        </a:xfrm>
        <a:prstGeom prst="lin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9946E45-62C8-4278-B199-DF9B4ED47DEA}">
      <dsp:nvSpPr>
        <dsp:cNvPr id="0" name=""/>
        <dsp:cNvSpPr/>
      </dsp:nvSpPr>
      <dsp:spPr>
        <a:xfrm>
          <a:off x="0" y="3408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lvl="0" algn="l" defTabSz="1333500">
            <a:lnSpc>
              <a:spcPct val="90000"/>
            </a:lnSpc>
            <a:spcBef>
              <a:spcPct val="0"/>
            </a:spcBef>
            <a:spcAft>
              <a:spcPct val="35000"/>
            </a:spcAft>
          </a:pPr>
          <a:r>
            <a:rPr lang="en-US" sz="3000" kern="1200" smtClean="0">
              <a:latin typeface="Cambria" panose="02040503050406030204" pitchFamily="18" charset="0"/>
              <a:ea typeface="Cambria" panose="02040503050406030204" pitchFamily="18" charset="0"/>
            </a:rPr>
            <a:t>5. Conclusion</a:t>
          </a:r>
          <a:endParaRPr lang="en-US" sz="3000" kern="1200">
            <a:latin typeface="Cambria" panose="02040503050406030204" pitchFamily="18" charset="0"/>
            <a:ea typeface="Cambria" panose="02040503050406030204" pitchFamily="18" charset="0"/>
          </a:endParaRPr>
        </a:p>
      </dsp:txBody>
      <dsp:txXfrm>
        <a:off x="0" y="3408519"/>
        <a:ext cx="11136710" cy="8519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7/22/2025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ace7fa64f5_1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ace7fa64f5_1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defTabSz="1219170">
              <a:buClr>
                <a:srgbClr val="07105C"/>
              </a:buClr>
            </a:pPr>
            <a:r>
              <a:rPr lang="en-US" smtClean="0"/>
              <a:t>Good</a:t>
            </a:r>
            <a:r>
              <a:rPr lang="en-US" baseline="0" smtClean="0"/>
              <a:t> morning everyone</a:t>
            </a:r>
            <a:r>
              <a:rPr lang="en-US" smtClean="0"/>
              <a:t>, I’m very</a:t>
            </a:r>
            <a:r>
              <a:rPr lang="en-US" baseline="0" smtClean="0"/>
              <a:t> please present my research ,</a:t>
            </a:r>
            <a:r>
              <a:rPr lang="en-US" smtClean="0"/>
              <a:t> </a:t>
            </a:r>
            <a:r>
              <a:rPr lang="en-US" sz="1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rules and deep learning techniques</a:t>
            </a:r>
          </a:p>
          <a:p>
            <a:pPr marL="0" lvl="0" indent="0" algn="l" rtl="0">
              <a:spcBef>
                <a:spcPts val="0"/>
              </a:spcBef>
              <a:spcAft>
                <a:spcPts val="0"/>
              </a:spcAft>
              <a:buNone/>
            </a:pPr>
            <a:endParaRPr/>
          </a:p>
        </p:txBody>
      </p:sp>
    </p:spTree>
    <p:extLst>
      <p:ext uri="{BB962C8B-B14F-4D97-AF65-F5344CB8AC3E}">
        <p14:creationId xmlns:p14="http://schemas.microsoft.com/office/powerpoint/2010/main" val="391191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mtClean="0"/>
              <a:t>The</a:t>
            </a:r>
            <a:r>
              <a:rPr lang="en-US" baseline="0" smtClean="0"/>
              <a:t> following is the content for my presentation. Section 2 introduces and summarizes related work. In Sections 3, we provide a detailed description of the main components of our approach. We describe the experimental setup to validate our approach along with a discussion of the results in Section 4. Finally, we conclude with a summary of our findings and comment on possible future directions in Section 5.</a:t>
            </a:r>
            <a:endParaRPr lang="en-US" smtClean="0"/>
          </a:p>
          <a:p>
            <a:pPr marL="0" lvl="0" indent="0" algn="l" rtl="0">
              <a:spcBef>
                <a:spcPts val="0"/>
              </a:spcBef>
              <a:spcAft>
                <a:spcPts val="0"/>
              </a:spcAft>
              <a:buNone/>
            </a:pP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55924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As we know, cancer is one of the most common diseases in the world and takes the lives of millions of people every year. Breast cancer is one of the most common cancers affecting women worldwide. </a:t>
            </a:r>
          </a:p>
          <a:p>
            <a:r>
              <a:rPr lang="en-US" smtClean="0"/>
              <a:t>Early detection and accurate staging of breast cancer can significantly improve survival rates and quality of life for patients..Figure 1 is an image of a breast with a mass of unusual brightness.</a:t>
            </a:r>
          </a:p>
          <a:p>
            <a:endParaRPr lang="en-US" smtClean="0"/>
          </a:p>
          <a:p>
            <a:r>
              <a:rPr lang="en-US" smtClean="0"/>
              <a:t>Như chúng ta đã biết thì ung thư là một trong những căn bệnh phổ biến trên toàn thế giới và hằng năm cướp đi sinh mạng của hang triệu người, </a:t>
            </a:r>
            <a:r>
              <a:rPr lang="vi-VN" smtClean="0"/>
              <a:t>Ung thư vú là một trong những loại ung thư phổ biến nhất ảnh hưởng đến phụ nữ trên toàn thế giới</a:t>
            </a:r>
            <a:r>
              <a:rPr lang="en-US" smtClean="0"/>
              <a:t>. Việc chẩn đoán và phát hiện sớm ung thư sẽ giúp gia tăng khả năng phục hồi và điều trị cho bệnh nhân. </a:t>
            </a:r>
          </a:p>
          <a:p>
            <a:r>
              <a:rPr lang="en-US" smtClean="0"/>
              <a:t>Hình 1 là hình ảnh vú với khối u có đậm độ sáng bất thường.</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6075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According to GLOBOCAN statistics in 2020, the world is estimated to have about 19.3 million cases and 10 million deaths caused by cancer. Of which, breast cancer in women is 2.26 million cases, accounting for 11.7%. </a:t>
            </a:r>
          </a:p>
          <a:p>
            <a:r>
              <a:rPr lang="en-US" smtClean="0"/>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smtClean="0"/>
          </a:p>
          <a:p>
            <a:r>
              <a:rPr lang="en-US" smtClean="0"/>
              <a:t>Because of its popularity, there have been many research projects related to this disease in recent times.</a:t>
            </a:r>
          </a:p>
          <a:p>
            <a:endParaRPr lang="en-US" smtClean="0"/>
          </a:p>
          <a:p>
            <a:r>
              <a:rPr lang="vi-VN" smtClean="0"/>
              <a:t>Theo số liệu thống kê của GLOBOCAN trong năm 2020 cả thế giới ước tính có khoảng 19.3 triệu ca mắc và 10 triệu ca tử vong do ung thư gây nên. Trong đó, ung thư vú ở phụ nữ là 2.26 triệu ca chiếm 11.7%</a:t>
            </a:r>
            <a:r>
              <a:rPr lang="en-US" smtClean="0"/>
              <a:t>.</a:t>
            </a:r>
          </a:p>
          <a:p>
            <a:r>
              <a:rPr lang="en-US" smtClean="0"/>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97529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of the key points our research covers are:</a:t>
            </a:r>
          </a:p>
          <a:p>
            <a:endParaRPr lang="en-US" smtClean="0"/>
          </a:p>
          <a:p>
            <a:endParaRPr lang="en-US" smtClean="0"/>
          </a:p>
          <a:p>
            <a:r>
              <a:rPr lang="en-US" smtClean="0"/>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39171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r>
              <a:rPr lang="en-US" smtClean="0"/>
              <a:t>Samrudh developing a new Fuzzy Inference System to enhance the contrast of the  low resolution images  overcoming the shortcomings of the traditional methods.</a:t>
            </a:r>
          </a:p>
          <a:p>
            <a:pPr marL="0" indent="0" algn="just">
              <a:lnSpc>
                <a:spcPct val="120000"/>
              </a:lnSpc>
              <a:spcBef>
                <a:spcPts val="600"/>
              </a:spcBef>
              <a:buNone/>
            </a:pPr>
            <a:r>
              <a:rPr lang="en-US" smtClean="0"/>
              <a:t>The research results show the effectiveness of applying fuzzy logic in improving the quality of input images, helping to reduce noise and improve recognition ability.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07790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r>
              <a:rPr lang="en-US" smtClean="0"/>
              <a:t>Omolbanin proposed deep neuro-fuzzy network and investigate its application for image classification. Two new operations are developed based on definitions of Takagi-Sugeno-Kang (TSK) fuzzy model namely fuzzy inference operation and fuzzy pooling </a:t>
            </a:r>
            <a:r>
              <a:rPr lang="en-US" smtClean="0"/>
              <a:t>operations.</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5680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20000"/>
              </a:lnSpc>
              <a:spcBef>
                <a:spcPts val="600"/>
              </a:spcBef>
              <a:buNone/>
            </a:pPr>
            <a:r>
              <a:rPr lang="en-US" smtClean="0"/>
              <a:t>Baharuddin et. al[5] developed a BIRADS (Breast Imaging Reporting and Data System) classification model based on Type-2 fuzzy logic, using data from mammography reports. BIRADS is a standardized system for preparing mammography reports, aiming to reduce confusion in the image evaluation process. However, BIRADS classification can be challenging due to inter-individual and intra-individual variability. Therefore, this study aims to use Type-2 fuzzy logic to handle these uncertainties.</a:t>
            </a:r>
          </a:p>
          <a:p>
            <a:pPr marL="0" indent="0" algn="just">
              <a:lnSpc>
                <a:spcPct val="120000"/>
              </a:lnSpc>
              <a:spcBef>
                <a:spcPts val="600"/>
              </a:spcBef>
              <a:buNone/>
            </a:pPr>
            <a:endParaRPr lang="en-US" smtClean="0"/>
          </a:p>
          <a:p>
            <a:pPr marL="0" indent="0" algn="just">
              <a:lnSpc>
                <a:spcPct val="120000"/>
              </a:lnSpc>
              <a:spcBef>
                <a:spcPts val="600"/>
              </a:spcBef>
              <a:buNone/>
            </a:pPr>
            <a:r>
              <a:rPr lang="en-US" smtClean="0"/>
              <a:t>From some related research works, it is shown that applying fuzzy logic helps to improve classification efficiency, therefore, we take advantage of the strengths of fuzzy logic in the </a:t>
            </a:r>
            <a:r>
              <a:rPr lang="en-US" smtClean="0"/>
              <a:t>content </a:t>
            </a:r>
            <a:r>
              <a:rPr lang="en-US" smtClean="0"/>
              <a:t>of the article with the aim of improving the efficiency of classifying normal,</a:t>
            </a:r>
            <a:r>
              <a:rPr lang="en-US" baseline="0" smtClean="0"/>
              <a:t> </a:t>
            </a:r>
            <a:r>
              <a:rPr lang="en-US" smtClean="0"/>
              <a:t>benign and malignant on mammograms using deep learning models</a:t>
            </a:r>
            <a:r>
              <a:rPr lang="en-US" smtClean="0"/>
              <a:t>.</a:t>
            </a:r>
          </a:p>
          <a:p>
            <a:pPr marL="0" indent="0" algn="just">
              <a:lnSpc>
                <a:spcPct val="120000"/>
              </a:lnSpc>
              <a:spcBef>
                <a:spcPts val="600"/>
              </a:spcBef>
              <a:buNone/>
            </a:pPr>
            <a:endParaRPr lang="en-US" smtClean="0"/>
          </a:p>
          <a:p>
            <a:pPr marL="0" indent="0" algn="just">
              <a:lnSpc>
                <a:spcPct val="120000"/>
              </a:lnSpc>
              <a:spcBef>
                <a:spcPts val="600"/>
              </a:spcBef>
              <a:buNone/>
            </a:pPr>
            <a:endParaRPr lang="en-US" smtClean="0"/>
          </a:p>
          <a:p>
            <a:pPr marL="0" indent="0" algn="just">
              <a:lnSpc>
                <a:spcPct val="120000"/>
              </a:lnSpc>
              <a:spcBef>
                <a:spcPts val="600"/>
              </a:spcBef>
              <a:buNone/>
            </a:pPr>
            <a:r>
              <a:rPr lang="vi-VN" smtClean="0"/>
              <a:t>Baharuddin và cộng sự[5] đã phát triển mô hình phân loại BIRADS (Hệ thống Báo cáo và Dữ liệu Hình ảnh Vú) dựa trên logic mờ Loại 2, sử dụng dữ liệu từ các báo cáo chụp nhũ ảnh. BIRADS là một hệ thống chuẩn hóa để chuẩn bị báo cáo chụp nhũ ảnh, nhằm mục đích giảm thiểu nhầm lẫn trong quá trình đánh giá hình ảnh. nghiên cứu này hướng đến việc sử dụng logic mờ Loại 2 để xử lý những bất định này.</a:t>
            </a:r>
            <a:endParaRPr lang="en-US" smtClean="0"/>
          </a:p>
          <a:p>
            <a:pPr marL="0" indent="0" algn="just">
              <a:lnSpc>
                <a:spcPct val="120000"/>
              </a:lnSpc>
              <a:spcBef>
                <a:spcPts val="600"/>
              </a:spcBef>
              <a:buNone/>
            </a:pPr>
            <a:endParaRPr lang="en-US" smtClean="0"/>
          </a:p>
          <a:p>
            <a:pPr marL="0" indent="0" algn="just">
              <a:lnSpc>
                <a:spcPct val="120000"/>
              </a:lnSpc>
              <a:spcBef>
                <a:spcPts val="600"/>
              </a:spcBef>
              <a:buNone/>
            </a:pPr>
            <a:r>
              <a:rPr lang="vi-VN" smtClean="0"/>
              <a:t>Từ một số công trình nghiên cứu liên quan, việc áp dụng logic mờ giúp cải thiện hiệu quả phân loại, do đó, chúng tôi tận dụng những điểm mạnh của logic mờ trong nội dung bài báo với mục tiêu nâng cao hiệu quả phân loại bình thường, lành tính và ác tính trên nhũ ảnh bằng các mô hình học sâu.</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2301626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Two network models that are commonly used and highly effective in classification are vgg19 and resnet.</a:t>
            </a:r>
          </a:p>
          <a:p>
            <a:endParaRPr lang="en-US" smtClean="0"/>
          </a:p>
          <a:p>
            <a:r>
              <a:rPr lang="en-US" smtClean="0"/>
              <a:t>VGG-19 VGG-19 [16] is a convolutional neural network architecture introduced by K. Simonyan and A. Zisserman. The VGG-19 model is a variant of the VGG network, which has 19 layers including 16 convolutional layers and 3 fully connected layers. It gained popularity for its simplicity and high performance in large-scale image recognition tasks. It was designed with the goal of exploring the effect of network depth on performance in image classification tasks. VGG family, including VGG19, has achieved excellent performance on a variety of benchmark datasets. Researchers often use VGG19 pre-trained weights, which are trained on large-scale image datasets, as a starting point for computer vision tasks.</a:t>
            </a:r>
          </a:p>
          <a:p>
            <a:endParaRPr lang="en-US" smtClean="0"/>
          </a:p>
          <a:p>
            <a:r>
              <a:rPr lang="en-US" smtClean="0"/>
              <a:t>ResNet-50[7] is a deep convolutional neural network architecture developed by Kaiming He and colleagues in 2015. It belongs to the ResNet (Residual Net-work) family, a family of models designed to address the problem of performance degradation as the depth of the network increases. ResNet-50 specifically has 50 convolutional layers and uses residual connections to help information flow through the network efficiently.</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769203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algorithm in the figure is the RIPPER algorithm (Repeated Incremental Pruning to Produce Error Reduction) – a rule learning method commonly used in data classification. The algorithm starts by arranging the classes in the training dataset in increasing order of the number of samples, then initializing an empty rule set. For each class, the algorithm iterates to find the best rule to cover the samples of that class, then optimizes the rule using the IREP (Incremental Reduced Error Pruning) method to reduce the error. The optimized rule will be added to the rule set, and the samples covered by this rule will be removed from the dataset. The process repeats until there are no more samples of the current class that have not been covered.</a:t>
            </a:r>
          </a:p>
          <a:p>
            <a:endParaRPr lang="en-US" smtClean="0"/>
          </a:p>
          <a:p>
            <a:r>
              <a:rPr lang="vi-VN" smtClean="0"/>
              <a:t>Thuật toán trong hình là thuật toán RIPPER (Repeated Incremental Pruning to Produce Error Reduction) – một phương pháp học luật được sử dụng phổ biến trong phân loại dữ liệu. Thuật toán bắt đầu bằng cách sắp xếp các lớp trong tập dữ liệu huấn luyện theo thứ tự tăng dần về số lượng mẫu, sau đó khởi tạo tập luật rỗng. Với mỗi lớp, thuật toán lặp lại việc tìm ra luật tốt nhất để bao phủ các mẫu thuộc lớp đó, sau đó tối ưu hóa luật bằng phương pháp IREP (Incremental Reduced Error Pruning) nhằm giảm sai số. Luật sau khi tối ưu sẽ được thêm vào tập luật, và các mẫu đã được phủ bởi luật này sẽ bị loại khỏi tập dữ liệu. Quá trình lặp lại cho đến khi không còn mẫu nào của lớp hiện tại chưa được bao phủ. </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173325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PART algorithm is a classification rule learning algorithm built on the combination of decision trees and “if–then” rules. The algorithm starts by initializing an empty rule set and copying the entire training data to a temporary data set M_remaining. While this data set still has unclassified examples, the algorithm builds a partial decision tree from M_remaining. From this tree, the algorithm selects the best leaf — a candidate rule — and adds it to the rule set R. The data samples covered by this rule are then removed from M_remaining. The remaining parts of the decision tree are removed, and the algorithm continues this process until all the examples have been processed. The final result is a set of clear, understandable and interpretable classification rules, suitable for problems that require model interpretability.</a:t>
            </a:r>
          </a:p>
          <a:p>
            <a:endParaRPr lang="en-US" smtClean="0"/>
          </a:p>
          <a:p>
            <a:r>
              <a:rPr lang="vi-VN" smtClean="0"/>
              <a:t>Thuật toán PART là một thuật toán học luật phân loại được xây dựng dựa trên sự kết hợp giữa cây quyết định và luật “nếu–thì”. Thuật toán bắt đầu bằng cách khởi tạo tập luật rỗng và sao chép toàn bộ dữ liệu huấn luyện vào tập dữ liệu tạm M_remaining. Trong khi tập dữ liệu này vẫn còn mẫu chưa được phân loại, thuật toán sẽ xây dựng một cây quyết định từng phần (partial decision tree) từ M_remaining. Từ cây này, thuật toán chọn ra một lá tốt nhất — chính là một luật ứng viên — và thêm luật đó vào tập luật R. Sau đó, các mẫu dữ liệu được bao phủ bởi luật này sẽ bị loại khỏi M_remaining. Các phần còn lại của cây quyết định sẽ bị loại bỏ, và thuật toán tiếp tục lặp lại quá trình này cho đến khi tất cả mẫu đều được xử lý. Kết quả cuối cùng là một tập hợp các luật phân loại rõ ràng, có tính chất dễ hiểu và giải thích tốt, phù hợp với các bài toán yêu cầu khả năng diễn giải mô hình.</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100223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Fuzzy machine learning models are suitable for dealing with uncertain information that often appears in medical images, allowing inference and analysis on abnormal image regions, resulting in high efficiency in diagnosis and classification. The fuzzy inference system Figure </a:t>
            </a:r>
            <a:r>
              <a:rPr lang="en-US" smtClean="0"/>
              <a:t>8. </a:t>
            </a:r>
            <a:r>
              <a:rPr lang="en-US" smtClean="0"/>
              <a:t>helps make decisions based on fuzzy rules and knowledge bases.</a:t>
            </a:r>
          </a:p>
          <a:p>
            <a:endParaRPr lang="en-US" smtClean="0"/>
          </a:p>
          <a:p>
            <a:endParaRPr lang="en-US" smtClean="0"/>
          </a:p>
          <a:p>
            <a:r>
              <a:rPr lang="en-US" smtClean="0"/>
              <a:t>Each membership function is shown graphically to illustrate how much each input participates in a set. The triangular membership function, used in this paper, offers mathematical simplicity. It is defined by three parameters {a, b, c}, where the membership function δM(x) for each value x is described in Eq. 1.</a:t>
            </a:r>
          </a:p>
          <a:p>
            <a:endParaRPr lang="en-US" smtClean="0"/>
          </a:p>
          <a:p>
            <a:r>
              <a:rPr lang="vi-VN" smtClean="0"/>
              <a:t>Mô hình máy học mờ</a:t>
            </a:r>
            <a:r>
              <a:rPr lang="en-US" smtClean="0"/>
              <a:t> </a:t>
            </a:r>
            <a:r>
              <a:rPr lang="vi-VN" smtClean="0"/>
              <a:t>phù hợp trong việc giải quyết các thông tin trong</a:t>
            </a:r>
            <a:r>
              <a:rPr lang="en-US" smtClean="0"/>
              <a:t> </a:t>
            </a:r>
            <a:r>
              <a:rPr lang="vi-VN" smtClean="0"/>
              <a:t>chắc chắn thường xuất hiện trong hình ảnh y tế cho</a:t>
            </a:r>
            <a:r>
              <a:rPr lang="en-US" smtClean="0"/>
              <a:t> </a:t>
            </a:r>
            <a:r>
              <a:rPr lang="vi-VN" smtClean="0"/>
              <a:t>phép suy luận và phân tích trên các vùng ảnh bất</a:t>
            </a:r>
            <a:r>
              <a:rPr lang="en-US" smtClean="0"/>
              <a:t> </a:t>
            </a:r>
            <a:r>
              <a:rPr lang="vi-VN" smtClean="0"/>
              <a:t>thường mang lại hiệu quả cao trong chẩn đoán và</a:t>
            </a:r>
            <a:r>
              <a:rPr lang="en-US" smtClean="0"/>
              <a:t> </a:t>
            </a:r>
            <a:r>
              <a:rPr lang="vi-VN" smtClean="0"/>
              <a:t>phân loại. Hệ thống suy luận mờ Hình </a:t>
            </a:r>
            <a:r>
              <a:rPr lang="en-US" smtClean="0"/>
              <a:t>7</a:t>
            </a:r>
            <a:r>
              <a:rPr lang="vi-VN" smtClean="0"/>
              <a:t>. giúp đưa ra các quyết định dựa trên các luật</a:t>
            </a:r>
            <a:r>
              <a:rPr lang="en-US" smtClean="0"/>
              <a:t> </a:t>
            </a:r>
            <a:r>
              <a:rPr lang="vi-VN" smtClean="0"/>
              <a:t>mờ và cơ sở tri thức.</a:t>
            </a:r>
            <a:endParaRPr lang="en-US" smtClean="0"/>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464164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Some metrics we use in evaluating proposed models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2291722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 Pre-processing data: The input image will be normalized, stored in .jpg format and sized at 224x224. Image pre-processing is performed on the input data by normalizing the image size and enhancing the image using histogram algorithms.</a:t>
            </a:r>
          </a:p>
          <a:p>
            <a:r>
              <a:rPr lang="en-US" smtClean="0"/>
              <a:t>- Feature extraction and convert to fuzzy rules: The processed im-ages are passed through network models to extract features. The features after the process are extracted into rule sets using the JRIP and PART algorithms presented in Section 2.3. Convert the threshold values in the rule set into fuzzy membership functions. The fuzzy dependency function in the paper presented</a:t>
            </a:r>
          </a:p>
          <a:p>
            <a:r>
              <a:rPr lang="en-US" smtClean="0"/>
              <a:t>in Section 2.4.</a:t>
            </a:r>
          </a:p>
          <a:p>
            <a:r>
              <a:rPr lang="en-US" smtClean="0"/>
              <a:t>The FIS system will apply the learned fuzzy rules to calculate the fuzzy outputs based on the features of the test images. Then, the defuzzifi-cation process will be performed, converting the fuzzy values into deterministic values through the weighted average method.</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3128589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Classification using fuzzy rules is a method that combines a Fuzzy Inference System (FIS) and fuzzy rules to make classification decisions. The algorithm begins by normalizing the test data set to ensure consistency with the domain of the fuzzy membership functions. Then, for each feature in the data, the algorithm calculates the membership of that feature with the corresponding fuzzy sets and saves it in a list of fuzzy values. Next, the algorithm calculates the activation of each rule in the FIS based on the existing fuzzy values, then synthesizes these activations to calculate the score for each class. These scores are defuzzified using the Centroid method to convert them to a clear form. Finally, the algorithm selects the class with the highest score as the classification result</a:t>
            </a:r>
            <a:r>
              <a:rPr lang="en-US" smtClean="0"/>
              <a:t>.</a:t>
            </a:r>
          </a:p>
          <a:p>
            <a:endParaRPr lang="en-US" smtClean="0"/>
          </a:p>
          <a:p>
            <a:endParaRPr lang="en-US" smtClean="0"/>
          </a:p>
          <a:p>
            <a:r>
              <a:rPr lang="en-US" smtClean="0"/>
              <a:t>The second phase involves fuzzy inference, where the system processes input values. Using IF-THEN linguistic rules from a knowledge base, the fuzzy infer-ence system draws conclusions. These rules apply input membership values as weights to influence the fuzzy output sets and final conclusions. In the final phase, defuzzification converts the fuzzy results back into precise, crisp values.This defuzzification process takes a weighted average of the x values, where the weights are the membership function values δ(x).</a:t>
            </a:r>
            <a:endParaRPr lang="en-US" smtClean="0"/>
          </a:p>
          <a:p>
            <a:endParaRPr lang="en-US" smtClean="0"/>
          </a:p>
          <a:p>
            <a:r>
              <a:rPr lang="vi-VN" smtClean="0"/>
              <a:t>Thuật toán phân loại sử dụng luật mờ (Classification using fuzzy rules) là một phương pháp kết hợp giữa hệ suy luận mờ (Fuzzy Inference System – FIS) và các luật mờ để đưa ra quyết định phân loại. Thuật toán bắt đầu bằng cách chuẩn hóa tập dữ liệu kiểm tra để đảm bảo tính nhất quán với miền xác định của các hàm thành viên mờ. Sau đó, với mỗi đặc trưng trong dữ liệu, thuật toán tính độ thuộc của đặc trưng đó với các tập mờ tương ứng và lưu lại vào danh sách giá trị mờ. Tiếp theo, thuật toán tính toán độ kích hoạt của từng luật trong hệ FIS dựa trên các giá trị mờ đã có, rồi tổng hợp các độ kích hoạt này để tính điểm số cho từng lớp. Các điểm số này được giải mờ bằng phương pháp trọng tâm (Centroid method) nhằm chuyển về dạng rõ ràng. Cuối cùng, thuật toán chọn lớp có điểm số cao nhất làm kết quả phân loại</a:t>
            </a:r>
            <a:r>
              <a:rPr lang="vi-VN" smtClean="0"/>
              <a:t>.</a:t>
            </a:r>
            <a:endParaRPr lang="en-US" smtClean="0"/>
          </a:p>
          <a:p>
            <a:endParaRPr lang="en-US" b="1" smtClean="0"/>
          </a:p>
          <a:p>
            <a:r>
              <a:rPr lang="vi-VN" b="1" smtClean="0"/>
              <a:t>Giai đoạn thứ hai liên quan đến suy luận mờ, trong đó hệ thống xử lý các giá trị đầu vào. Sử dụng các quy tắc ngôn ngữ IF-THEN từ một cơ sở tri thức, hệ thống suy luận mờ rút ra kết luận. Các quy tắc này áp dụng các giá trị thành viên đầu vào làm trọng số để ảnh hưởng đến các tập đầu ra mờ và kết luận cuối cùng. Trong giai đoạn cuối, quá trình giải mờ chuyển đổi các kết quả mờ trở lại thành các giá trị chính xác, rõ ràng. Quá trình giải mờ này lấy giá trị trung bình có trọng số của các giá trị x, trong đó các trọng số là các giá trị hàm thành viên </a:t>
            </a:r>
            <a:r>
              <a:rPr lang="el-GR" b="1" smtClean="0"/>
              <a:t>δ(</a:t>
            </a:r>
            <a:r>
              <a:rPr lang="vi-VN" b="1" smtClean="0"/>
              <a:t>x).</a:t>
            </a:r>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1032119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3819797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dataset is divided into a training dataset and a validation dataset with a ratio of 80% and 20%, respectively. For testing, we build a hypothetical scenario where the students were doing the exam, then recorded a video, and tested it with a number of 15 videos on a cheating action to check the accuracy of the network models. </a:t>
            </a:r>
          </a:p>
          <a:p>
            <a:endParaRPr lang="en-US" smtClean="0"/>
          </a:p>
          <a:p>
            <a:r>
              <a:rPr lang="en-US" smtClean="0"/>
              <a:t>Table 1 presents the scenarios we used with the training parameters</a:t>
            </a:r>
          </a:p>
          <a:p>
            <a:r>
              <a:rPr lang="en-US" smtClean="0"/>
              <a:t>In scenarios 2,3,5,6 we use algorithms to generate rule sets from the data extracted from the network models. The goal of this process is to improve the accuracy of the model by better handling ambiguous or contradictory cases in the data set. After conducting experiments with various sets of parameters, we selected identical parameters for all scenarios. The learning rate is set at 0.0001, with the training being conducted 100 times. The number of classes (Num classes) being 3, corresponding to benign, malignant and normal.</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1212215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24148720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2324307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20</a:t>
            </a:fld>
            <a:endParaRPr lang="en-US"/>
          </a:p>
        </p:txBody>
      </p:sp>
    </p:spTree>
    <p:extLst>
      <p:ext uri="{BB962C8B-B14F-4D97-AF65-F5344CB8AC3E}">
        <p14:creationId xmlns:p14="http://schemas.microsoft.com/office/powerpoint/2010/main" val="3823502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Fig. 12 shows the training time of the proposed scenarios. Through the above results, scenarios 2 and 5 give faster training time than the other scenarios. Scenario 1 has nearly the same training time as scenarios 3 and 4, but achieves higher accuracy than the remaining scenarios.</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21</a:t>
            </a:fld>
            <a:endParaRPr lang="en-US"/>
          </a:p>
        </p:txBody>
      </p:sp>
    </p:spTree>
    <p:extLst>
      <p:ext uri="{BB962C8B-B14F-4D97-AF65-F5344CB8AC3E}">
        <p14:creationId xmlns:p14="http://schemas.microsoft.com/office/powerpoint/2010/main" val="301874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3813800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23</a:t>
            </a:fld>
            <a:endParaRPr lang="en-US"/>
          </a:p>
        </p:txBody>
      </p:sp>
    </p:spTree>
    <p:extLst>
      <p:ext uri="{BB962C8B-B14F-4D97-AF65-F5344CB8AC3E}">
        <p14:creationId xmlns:p14="http://schemas.microsoft.com/office/powerpoint/2010/main" val="40355474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confusion matrix results show that the performance after applying fuzzy rule sets on all three labels normal, benign and malignant is improved compared to the original model.</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24</a:t>
            </a:fld>
            <a:endParaRPr lang="en-US"/>
          </a:p>
        </p:txBody>
      </p:sp>
    </p:spTree>
    <p:extLst>
      <p:ext uri="{BB962C8B-B14F-4D97-AF65-F5344CB8AC3E}">
        <p14:creationId xmlns:p14="http://schemas.microsoft.com/office/powerpoint/2010/main" val="4051510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25</a:t>
            </a:fld>
            <a:endParaRPr lang="en-US"/>
          </a:p>
        </p:txBody>
      </p:sp>
    </p:spTree>
    <p:extLst>
      <p:ext uri="{BB962C8B-B14F-4D97-AF65-F5344CB8AC3E}">
        <p14:creationId xmlns:p14="http://schemas.microsoft.com/office/powerpoint/2010/main" val="38733966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mtClean="0"/>
          </a:p>
        </p:txBody>
      </p:sp>
      <p:sp>
        <p:nvSpPr>
          <p:cNvPr id="4" name="Slide Number Placeholder 3"/>
          <p:cNvSpPr>
            <a:spLocks noGrp="1"/>
          </p:cNvSpPr>
          <p:nvPr>
            <p:ph type="sldNum" sz="quarter" idx="10"/>
          </p:nvPr>
        </p:nvSpPr>
        <p:spPr/>
        <p:txBody>
          <a:bodyPr/>
          <a:lstStyle/>
          <a:p>
            <a:fld id="{157A3CC4-A1AF-4799-818E-6EEBBE945652}" type="slidenum">
              <a:rPr lang="en-US" smtClean="0"/>
              <a:t>26</a:t>
            </a:fld>
            <a:endParaRPr lang="en-US"/>
          </a:p>
        </p:txBody>
      </p:sp>
    </p:spTree>
    <p:extLst>
      <p:ext uri="{BB962C8B-B14F-4D97-AF65-F5344CB8AC3E}">
        <p14:creationId xmlns:p14="http://schemas.microsoft.com/office/powerpoint/2010/main" val="3895732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4048-7A0E-F6D1-CC76-329EE7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0366C70-62AE-505D-6DE2-D11479C4D9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401A95D-256E-3F71-CE7C-40B3859CEA95}"/>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E02FDE33-C2D0-D4F6-EAAA-A488810A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C8FE39-57E6-D643-C66C-E7E08577E78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188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8A6B-1E11-870F-9FAE-5F56E95ADF2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043E874-1809-994C-1A1C-71FBD4C1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7495F5-B24E-3EA4-F069-C12D2EB8BC50}"/>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B37D4A93-2CE3-ADCB-17D7-0FBE13DC5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BFBB78-6BEA-E840-0A5D-083B8A88AD0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834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0F97-283A-2E91-C2FB-6C3C8E8FA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8409C5A-541D-22D5-A72C-8E6A4D789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F1F9F-ADD7-201E-D3FF-A57E7DDDFDDE}"/>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F58669C8-EDEF-71B5-7F05-57EA7F29F6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4C73C-01AE-9964-C171-BA515DEB03F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526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985C-B3E8-59F0-0A1B-0E58FD5E02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C7F5C37-5D35-168A-6287-1045828A7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9FFE33F-F5DF-ED04-102A-19B214AC3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154C9C0-B282-BD74-3406-5D998E6CCCF6}"/>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6" name="Footer Placeholder 5">
            <a:extLst>
              <a:ext uri="{FF2B5EF4-FFF2-40B4-BE49-F238E27FC236}">
                <a16:creationId xmlns:a16="http://schemas.microsoft.com/office/drawing/2014/main" id="{5C36DBE1-CF19-6AF5-3942-DF86F81C02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5DA522-355E-848B-C1AA-56D7D32AA60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355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1B30-AB59-DB1E-9512-A8BF9D72FC3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0C9C621-12ED-E7E5-7DA5-6B92926DAF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76A62-5089-248D-5FA7-C8E878BFC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0AB2717-E7C8-DD23-AE64-B7F07A87CF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2E7CB-8AAA-9AA1-C634-EE04119EC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EA63780-30AA-EB4E-D62B-9DA53363A6AD}"/>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8" name="Footer Placeholder 7">
            <a:extLst>
              <a:ext uri="{FF2B5EF4-FFF2-40B4-BE49-F238E27FC236}">
                <a16:creationId xmlns:a16="http://schemas.microsoft.com/office/drawing/2014/main" id="{F35B88E4-3CEE-DDDE-8FE0-148480AA7F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658B8B-6386-633C-C5A7-4F917BDD7C5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634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755C-B6ED-2EA4-FD6A-2D06A03996F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77D81E1-091A-DEB6-D4E5-C5E8E846ACE8}"/>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4" name="Footer Placeholder 3">
            <a:extLst>
              <a:ext uri="{FF2B5EF4-FFF2-40B4-BE49-F238E27FC236}">
                <a16:creationId xmlns:a16="http://schemas.microsoft.com/office/drawing/2014/main" id="{8577E8E2-6396-0E50-2DE6-16D6B8EDC6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4B9FEA-A3D6-804D-73DB-8B0840BF3B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60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51188-EDC2-B162-34A0-9E17EE238E47}"/>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3" name="Footer Placeholder 2">
            <a:extLst>
              <a:ext uri="{FF2B5EF4-FFF2-40B4-BE49-F238E27FC236}">
                <a16:creationId xmlns:a16="http://schemas.microsoft.com/office/drawing/2014/main" id="{7212E1EA-92EE-9019-BA30-02D87EC81A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D1EEA5-CF87-0E55-3887-24DE764A19E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678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3434-AD96-3DE3-802A-868C6944C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7CB1EC8-A45A-1DCD-F225-91DC8202E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33F9B4-CF04-2432-168A-BFDA4944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163DC-642E-96AB-17C1-7FADB55F80BA}"/>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6" name="Footer Placeholder 5">
            <a:extLst>
              <a:ext uri="{FF2B5EF4-FFF2-40B4-BE49-F238E27FC236}">
                <a16:creationId xmlns:a16="http://schemas.microsoft.com/office/drawing/2014/main" id="{56E3A441-A081-9D84-21E3-589481E8F8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DD4B59-CFC7-B605-44E0-5F2B52211D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267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35B2-D6BB-22BD-F152-D8F542CC8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D616224-C1BB-9A5A-3CF3-C8BAA5823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AF7FE61-EEF3-F9D0-D16A-5927F6461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F1079-BB67-4C46-5E91-6C7CD045D693}"/>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6" name="Footer Placeholder 5">
            <a:extLst>
              <a:ext uri="{FF2B5EF4-FFF2-40B4-BE49-F238E27FC236}">
                <a16:creationId xmlns:a16="http://schemas.microsoft.com/office/drawing/2014/main" id="{0E4196DF-3B78-ECA1-6EF2-C9D978EF7B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56EEF0-1296-706E-2F52-66232523087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863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228A-090C-D852-9C03-1E3B34A132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F96CDB7-4EA5-263B-CADD-520004FEC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9D9939-8721-B7EF-04FA-9760B69F177D}"/>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886995E2-8FC5-F847-FC96-EF4D6021D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5A47D4-9CDC-3BDB-E6D9-BFE1BEF1A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32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64C9-897C-F05A-6F31-A5A1E6E39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86334EC-5B2B-73B3-A601-617D7F252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912BAA6-37AF-4475-0D7A-A2A2619F13B6}"/>
              </a:ext>
            </a:extLst>
          </p:cNvPr>
          <p:cNvSpPr>
            <a:spLocks noGrp="1"/>
          </p:cNvSpPr>
          <p:nvPr>
            <p:ph type="dt" sz="half" idx="10"/>
          </p:nvPr>
        </p:nvSpPr>
        <p:spPr/>
        <p:txBody>
          <a:body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AC293CAC-3170-C993-33AF-CF149D8D1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C1950-80AC-BCAD-6DD8-099CB4EB2DE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072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347665" y="145144"/>
            <a:ext cx="11234736" cy="706503"/>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sp>
        <p:nvSpPr>
          <p:cNvPr id="12" name="Title 11"/>
          <p:cNvSpPr>
            <a:spLocks noGrp="1"/>
          </p:cNvSpPr>
          <p:nvPr>
            <p:ph type="title"/>
          </p:nvPr>
        </p:nvSpPr>
        <p:spPr>
          <a:xfrm>
            <a:off x="416858" y="213164"/>
            <a:ext cx="10515600" cy="638484"/>
          </a:xfrm>
        </p:spPr>
        <p:txBody>
          <a:bodyPr>
            <a:normAutofit/>
          </a:bodyPr>
          <a:lstStyle>
            <a:lvl1pPr>
              <a:defRPr sz="3500">
                <a:solidFill>
                  <a:schemeClr val="bg1"/>
                </a:solidFill>
                <a:latin typeface="Cambria" panose="02040503050406030204" pitchFamily="18" charset="0"/>
                <a:ea typeface="Cambria" panose="02040503050406030204" pitchFamily="18" charset="0"/>
              </a:defRPr>
            </a:lvl1pPr>
          </a:lstStyle>
          <a:p>
            <a:r>
              <a:rPr lang="en-US" smtClean="0"/>
              <a:t>Click to edit Master title style</a:t>
            </a:r>
            <a:endParaRPr lang="en-US"/>
          </a:p>
        </p:txBody>
      </p:sp>
    </p:spTree>
    <p:extLst>
      <p:ext uri="{BB962C8B-B14F-4D97-AF65-F5344CB8AC3E}">
        <p14:creationId xmlns:p14="http://schemas.microsoft.com/office/powerpoint/2010/main" val="107302522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5" y="145145"/>
            <a:ext cx="7380609"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2. Các công trình nghiên cứu liên quan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53505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4961880"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3. Cơ sở lý thuyết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7090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7155545"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4. Phương pháp đề xuất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5094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8589784"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6. Kết luận và hướng phát triển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866414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5302348"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5. Kết quả và thảo luận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76974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20400" y="2630967"/>
            <a:ext cx="5162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19" name="Google Shape;19;p4"/>
          <p:cNvSpPr txBox="1">
            <a:spLocks noGrp="1"/>
          </p:cNvSpPr>
          <p:nvPr>
            <p:ph type="subTitle" idx="1"/>
          </p:nvPr>
        </p:nvSpPr>
        <p:spPr>
          <a:xfrm>
            <a:off x="6420400" y="3427433"/>
            <a:ext cx="5162000" cy="1206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67"/>
            </a:lvl1pPr>
            <a:lvl2pPr lvl="1" algn="ctr">
              <a:spcBef>
                <a:spcPts val="2133"/>
              </a:spcBef>
              <a:spcAft>
                <a:spcPts val="0"/>
              </a:spcAft>
              <a:buSzPts val="1400"/>
              <a:buNone/>
              <a:defRPr/>
            </a:lvl2pPr>
            <a:lvl3pPr lvl="2" algn="ctr">
              <a:spcBef>
                <a:spcPts val="2133"/>
              </a:spcBef>
              <a:spcAft>
                <a:spcPts val="0"/>
              </a:spcAft>
              <a:buSzPts val="1400"/>
              <a:buNone/>
              <a:defRPr/>
            </a:lvl3pPr>
            <a:lvl4pPr lvl="3" algn="ctr">
              <a:spcBef>
                <a:spcPts val="2133"/>
              </a:spcBef>
              <a:spcAft>
                <a:spcPts val="0"/>
              </a:spcAft>
              <a:buSzPts val="1400"/>
              <a:buNone/>
              <a:defRPr/>
            </a:lvl4pPr>
            <a:lvl5pPr lvl="4" algn="ctr">
              <a:spcBef>
                <a:spcPts val="2133"/>
              </a:spcBef>
              <a:spcAft>
                <a:spcPts val="0"/>
              </a:spcAft>
              <a:buSzPts val="1400"/>
              <a:buNone/>
              <a:defRPr/>
            </a:lvl5pPr>
            <a:lvl6pPr lvl="5" algn="ctr">
              <a:spcBef>
                <a:spcPts val="2133"/>
              </a:spcBef>
              <a:spcAft>
                <a:spcPts val="0"/>
              </a:spcAft>
              <a:buSzPts val="1400"/>
              <a:buNone/>
              <a:defRPr/>
            </a:lvl6pPr>
            <a:lvl7pPr lvl="6" algn="ctr">
              <a:spcBef>
                <a:spcPts val="2133"/>
              </a:spcBef>
              <a:spcAft>
                <a:spcPts val="0"/>
              </a:spcAft>
              <a:buSzPts val="1400"/>
              <a:buNone/>
              <a:defRPr/>
            </a:lvl7pPr>
            <a:lvl8pPr lvl="7" algn="ctr">
              <a:spcBef>
                <a:spcPts val="2133"/>
              </a:spcBef>
              <a:spcAft>
                <a:spcPts val="0"/>
              </a:spcAft>
              <a:buSzPts val="1400"/>
              <a:buNone/>
              <a:defRPr/>
            </a:lvl8pPr>
            <a:lvl9pPr lvl="8" algn="ctr">
              <a:spcBef>
                <a:spcPts val="2133"/>
              </a:spcBef>
              <a:spcAft>
                <a:spcPts val="2133"/>
              </a:spcAft>
              <a:buSzPts val="1400"/>
              <a:buNone/>
              <a:defRPr/>
            </a:lvl9pPr>
          </a:lstStyle>
          <a:p>
            <a:endParaRPr/>
          </a:p>
        </p:txBody>
      </p:sp>
    </p:spTree>
    <p:extLst>
      <p:ext uri="{BB962C8B-B14F-4D97-AF65-F5344CB8AC3E}">
        <p14:creationId xmlns:p14="http://schemas.microsoft.com/office/powerpoint/2010/main" val="4068464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txBox="1">
            <a:spLocks noGrp="1"/>
          </p:cNvSpPr>
          <p:nvPr>
            <p:ph type="sldNum" idx="12"/>
          </p:nvPr>
        </p:nvSpPr>
        <p:spPr>
          <a:xfrm>
            <a:off x="11281345" y="6208524"/>
            <a:ext cx="731600" cy="524800"/>
          </a:xfrm>
          <a:prstGeom prst="rect">
            <a:avLst/>
          </a:prstGeom>
          <a:noFill/>
          <a:ln>
            <a:noFill/>
          </a:ln>
        </p:spPr>
        <p:txBody>
          <a:bodyPr spcFirstLastPara="1" wrap="square" lIns="91425" tIns="91425" rIns="91425" bIns="91425" anchor="ctr" anchorCtr="0">
            <a:noAutofit/>
          </a:bodyPr>
          <a:lstStyle>
            <a:lvl1pPr lvl="0">
              <a:buNone/>
              <a:defRPr sz="1600" b="1">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65359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03737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
  <p:cSld name="Table of Contents ">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609600" y="593367"/>
            <a:ext cx="10972800" cy="6460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spcBef>
                <a:spcPts val="0"/>
              </a:spcBef>
              <a:spcAft>
                <a:spcPts val="0"/>
              </a:spcAft>
              <a:buSzPts val="3000"/>
              <a:buNone/>
              <a:defRPr>
                <a:latin typeface="Ubuntu"/>
                <a:ea typeface="Ubuntu"/>
                <a:cs typeface="Ubuntu"/>
                <a:sym typeface="Ubuntu"/>
              </a:defRPr>
            </a:lvl2pPr>
            <a:lvl3pPr lvl="2">
              <a:spcBef>
                <a:spcPts val="0"/>
              </a:spcBef>
              <a:spcAft>
                <a:spcPts val="0"/>
              </a:spcAft>
              <a:buSzPts val="3000"/>
              <a:buNone/>
              <a:defRPr>
                <a:latin typeface="Ubuntu"/>
                <a:ea typeface="Ubuntu"/>
                <a:cs typeface="Ubuntu"/>
                <a:sym typeface="Ubuntu"/>
              </a:defRPr>
            </a:lvl3pPr>
            <a:lvl4pPr lvl="3">
              <a:spcBef>
                <a:spcPts val="0"/>
              </a:spcBef>
              <a:spcAft>
                <a:spcPts val="0"/>
              </a:spcAft>
              <a:buSzPts val="3000"/>
              <a:buNone/>
              <a:defRPr>
                <a:latin typeface="Ubuntu"/>
                <a:ea typeface="Ubuntu"/>
                <a:cs typeface="Ubuntu"/>
                <a:sym typeface="Ubuntu"/>
              </a:defRPr>
            </a:lvl4pPr>
            <a:lvl5pPr lvl="4">
              <a:spcBef>
                <a:spcPts val="0"/>
              </a:spcBef>
              <a:spcAft>
                <a:spcPts val="0"/>
              </a:spcAft>
              <a:buSzPts val="3000"/>
              <a:buNone/>
              <a:defRPr>
                <a:latin typeface="Ubuntu"/>
                <a:ea typeface="Ubuntu"/>
                <a:cs typeface="Ubuntu"/>
                <a:sym typeface="Ubuntu"/>
              </a:defRPr>
            </a:lvl5pPr>
            <a:lvl6pPr lvl="5">
              <a:spcBef>
                <a:spcPts val="0"/>
              </a:spcBef>
              <a:spcAft>
                <a:spcPts val="0"/>
              </a:spcAft>
              <a:buSzPts val="3000"/>
              <a:buNone/>
              <a:defRPr>
                <a:latin typeface="Ubuntu"/>
                <a:ea typeface="Ubuntu"/>
                <a:cs typeface="Ubuntu"/>
                <a:sym typeface="Ubuntu"/>
              </a:defRPr>
            </a:lvl6pPr>
            <a:lvl7pPr lvl="6">
              <a:spcBef>
                <a:spcPts val="0"/>
              </a:spcBef>
              <a:spcAft>
                <a:spcPts val="0"/>
              </a:spcAft>
              <a:buSzPts val="3000"/>
              <a:buNone/>
              <a:defRPr>
                <a:latin typeface="Ubuntu"/>
                <a:ea typeface="Ubuntu"/>
                <a:cs typeface="Ubuntu"/>
                <a:sym typeface="Ubuntu"/>
              </a:defRPr>
            </a:lvl7pPr>
            <a:lvl8pPr lvl="7">
              <a:spcBef>
                <a:spcPts val="0"/>
              </a:spcBef>
              <a:spcAft>
                <a:spcPts val="0"/>
              </a:spcAft>
              <a:buSzPts val="3000"/>
              <a:buNone/>
              <a:defRPr>
                <a:latin typeface="Ubuntu"/>
                <a:ea typeface="Ubuntu"/>
                <a:cs typeface="Ubuntu"/>
                <a:sym typeface="Ubuntu"/>
              </a:defRPr>
            </a:lvl8pPr>
            <a:lvl9pPr lvl="8">
              <a:spcBef>
                <a:spcPts val="0"/>
              </a:spcBef>
              <a:spcAft>
                <a:spcPts val="0"/>
              </a:spcAft>
              <a:buSzPts val="3000"/>
              <a:buNone/>
              <a:defRPr>
                <a:latin typeface="Ubuntu"/>
                <a:ea typeface="Ubuntu"/>
                <a:cs typeface="Ubuntu"/>
                <a:sym typeface="Ubuntu"/>
              </a:defRPr>
            </a:lvl9pPr>
          </a:lstStyle>
          <a:p>
            <a:endParaRPr/>
          </a:p>
        </p:txBody>
      </p:sp>
      <p:sp>
        <p:nvSpPr>
          <p:cNvPr id="61" name="Google Shape;61;p13"/>
          <p:cNvSpPr txBox="1">
            <a:spLocks noGrp="1"/>
          </p:cNvSpPr>
          <p:nvPr>
            <p:ph type="title" idx="2"/>
          </p:nvPr>
        </p:nvSpPr>
        <p:spPr>
          <a:xfrm>
            <a:off x="1493400" y="243686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2" name="Google Shape;62;p13"/>
          <p:cNvSpPr txBox="1">
            <a:spLocks noGrp="1"/>
          </p:cNvSpPr>
          <p:nvPr>
            <p:ph type="subTitle" idx="1"/>
          </p:nvPr>
        </p:nvSpPr>
        <p:spPr>
          <a:xfrm>
            <a:off x="1515400" y="2944337"/>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3" hasCustomPrompt="1"/>
          </p:nvPr>
        </p:nvSpPr>
        <p:spPr>
          <a:xfrm>
            <a:off x="1515400" y="1681369"/>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4" name="Google Shape;64;p13"/>
          <p:cNvSpPr txBox="1">
            <a:spLocks noGrp="1"/>
          </p:cNvSpPr>
          <p:nvPr>
            <p:ph type="title" idx="4"/>
          </p:nvPr>
        </p:nvSpPr>
        <p:spPr>
          <a:xfrm>
            <a:off x="1402233" y="4805333"/>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5" name="Google Shape;65;p13"/>
          <p:cNvSpPr txBox="1">
            <a:spLocks noGrp="1"/>
          </p:cNvSpPr>
          <p:nvPr>
            <p:ph type="subTitle" idx="5"/>
          </p:nvPr>
        </p:nvSpPr>
        <p:spPr>
          <a:xfrm>
            <a:off x="1515400"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6" hasCustomPrompt="1"/>
          </p:nvPr>
        </p:nvSpPr>
        <p:spPr>
          <a:xfrm>
            <a:off x="1515400" y="4048375"/>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3"/>
          <p:cNvSpPr txBox="1">
            <a:spLocks noGrp="1"/>
          </p:cNvSpPr>
          <p:nvPr>
            <p:ph type="title" idx="7"/>
          </p:nvPr>
        </p:nvSpPr>
        <p:spPr>
          <a:xfrm>
            <a:off x="4704967" y="2423233"/>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8" name="Google Shape;68;p13"/>
          <p:cNvSpPr txBox="1">
            <a:spLocks noGrp="1"/>
          </p:cNvSpPr>
          <p:nvPr>
            <p:ph type="subTitle" idx="8"/>
          </p:nvPr>
        </p:nvSpPr>
        <p:spPr>
          <a:xfrm>
            <a:off x="4589769" y="2944337"/>
            <a:ext cx="2986800" cy="85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9" hasCustomPrompt="1"/>
          </p:nvPr>
        </p:nvSpPr>
        <p:spPr>
          <a:xfrm>
            <a:off x="4589769" y="1647267"/>
            <a:ext cx="2986800" cy="9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0" name="Google Shape;70;p13"/>
          <p:cNvSpPr txBox="1">
            <a:spLocks noGrp="1"/>
          </p:cNvSpPr>
          <p:nvPr>
            <p:ph type="title" idx="13"/>
          </p:nvPr>
        </p:nvSpPr>
        <p:spPr>
          <a:xfrm>
            <a:off x="4589769" y="480533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1" name="Google Shape;71;p13"/>
          <p:cNvSpPr txBox="1">
            <a:spLocks noGrp="1"/>
          </p:cNvSpPr>
          <p:nvPr>
            <p:ph type="subTitle" idx="14"/>
          </p:nvPr>
        </p:nvSpPr>
        <p:spPr>
          <a:xfrm>
            <a:off x="4589769"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5" hasCustomPrompt="1"/>
          </p:nvPr>
        </p:nvSpPr>
        <p:spPr>
          <a:xfrm>
            <a:off x="4589769" y="4016067"/>
            <a:ext cx="2986800" cy="8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3" name="Google Shape;73;p13"/>
          <p:cNvSpPr txBox="1">
            <a:spLocks noGrp="1"/>
          </p:cNvSpPr>
          <p:nvPr>
            <p:ph type="title" idx="16"/>
          </p:nvPr>
        </p:nvSpPr>
        <p:spPr>
          <a:xfrm>
            <a:off x="7576567" y="2434900"/>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4" name="Google Shape;74;p13"/>
          <p:cNvSpPr txBox="1">
            <a:spLocks noGrp="1"/>
          </p:cNvSpPr>
          <p:nvPr>
            <p:ph type="subTitle" idx="17"/>
          </p:nvPr>
        </p:nvSpPr>
        <p:spPr>
          <a:xfrm>
            <a:off x="7691936" y="2881703"/>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8" hasCustomPrompt="1"/>
          </p:nvPr>
        </p:nvSpPr>
        <p:spPr>
          <a:xfrm>
            <a:off x="7691935" y="1686008"/>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6" name="Google Shape;76;p13"/>
          <p:cNvSpPr txBox="1">
            <a:spLocks noGrp="1"/>
          </p:cNvSpPr>
          <p:nvPr>
            <p:ph type="title" idx="19"/>
          </p:nvPr>
        </p:nvSpPr>
        <p:spPr>
          <a:xfrm>
            <a:off x="7691936" y="4803391"/>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7" name="Google Shape;77;p13"/>
          <p:cNvSpPr txBox="1">
            <a:spLocks noGrp="1"/>
          </p:cNvSpPr>
          <p:nvPr>
            <p:ph type="subTitle" idx="20"/>
          </p:nvPr>
        </p:nvSpPr>
        <p:spPr>
          <a:xfrm>
            <a:off x="7691936" y="5250176"/>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21" hasCustomPrompt="1"/>
          </p:nvPr>
        </p:nvSpPr>
        <p:spPr>
          <a:xfrm>
            <a:off x="7691935" y="4052819"/>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9" name="Google Shape;79;p13"/>
          <p:cNvSpPr/>
          <p:nvPr/>
        </p:nvSpPr>
        <p:spPr>
          <a:xfrm>
            <a:off x="2286784"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3"/>
          <p:cNvSpPr/>
          <p:nvPr/>
        </p:nvSpPr>
        <p:spPr>
          <a:xfrm>
            <a:off x="2130018"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3"/>
          <p:cNvSpPr/>
          <p:nvPr/>
        </p:nvSpPr>
        <p:spPr>
          <a:xfrm>
            <a:off x="5204352" y="1560251"/>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3"/>
          <p:cNvSpPr/>
          <p:nvPr/>
        </p:nvSpPr>
        <p:spPr>
          <a:xfrm>
            <a:off x="5408719"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3"/>
          <p:cNvSpPr/>
          <p:nvPr/>
        </p:nvSpPr>
        <p:spPr>
          <a:xfrm>
            <a:off x="8393520"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3"/>
          <p:cNvSpPr/>
          <p:nvPr/>
        </p:nvSpPr>
        <p:spPr>
          <a:xfrm>
            <a:off x="8306520"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8;p12"/>
          <p:cNvSpPr txBox="1">
            <a:spLocks noGrp="1"/>
          </p:cNvSpPr>
          <p:nvPr>
            <p:ph type="sldNum" idx="22"/>
          </p:nvPr>
        </p:nvSpPr>
        <p:spPr>
          <a:xfrm>
            <a:off x="11296611" y="6235820"/>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38431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420412" y="1719000"/>
            <a:ext cx="5162000" cy="18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5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33"/>
          <p:cNvSpPr txBox="1">
            <a:spLocks noGrp="1"/>
          </p:cNvSpPr>
          <p:nvPr>
            <p:ph type="subTitle" idx="1"/>
          </p:nvPr>
        </p:nvSpPr>
        <p:spPr>
          <a:xfrm>
            <a:off x="6420400" y="3317221"/>
            <a:ext cx="51620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688344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29072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2E368-DA95-4E0E-69B7-070546B7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09E9B9C-DB00-4016-0EAD-39BB7BBD3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02FD6CD-82E8-A568-FEFC-19C346B76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7/22/2025</a:t>
            </a:fld>
            <a:endParaRPr lang="en-US" dirty="0"/>
          </a:p>
        </p:txBody>
      </p:sp>
      <p:sp>
        <p:nvSpPr>
          <p:cNvPr id="5" name="Footer Placeholder 4">
            <a:extLst>
              <a:ext uri="{FF2B5EF4-FFF2-40B4-BE49-F238E27FC236}">
                <a16:creationId xmlns:a16="http://schemas.microsoft.com/office/drawing/2014/main" id="{93C9C013-B326-BD05-156D-A3D6289AF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9BFB734-D57E-5259-379D-D6F0B8A64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58113"/>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792" r:id="rId12"/>
    <p:sldLayoutId id="2147483793" r:id="rId13"/>
    <p:sldLayoutId id="2147483794" r:id="rId14"/>
    <p:sldLayoutId id="2147483795" r:id="rId15"/>
    <p:sldLayoutId id="2147483796" r:id="rId16"/>
    <p:sldLayoutId id="214748382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sz="1600" b="1" i="0">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3811400055"/>
      </p:ext>
    </p:extLst>
  </p:cSld>
  <p:clrMap bg1="lt1" tx1="dk1" bg2="dk2"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160.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240.png"/><Relationship Id="rId4" Type="http://schemas.openxmlformats.org/officeDocument/2006/relationships/image" Target="../media/image170.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2" name="Subtitle 1"/>
          <p:cNvSpPr>
            <a:spLocks noGrp="1"/>
          </p:cNvSpPr>
          <p:nvPr>
            <p:ph type="subTitle" idx="1"/>
          </p:nvPr>
        </p:nvSpPr>
        <p:spPr>
          <a:xfrm>
            <a:off x="4347339" y="4665468"/>
            <a:ext cx="7370618" cy="611936"/>
          </a:xfrm>
        </p:spPr>
        <p:txBody>
          <a:bodyPr/>
          <a:lstStyle/>
          <a:p>
            <a:r>
              <a:rPr lang="en-US" b="1"/>
              <a:t>Ho-Dat </a:t>
            </a:r>
            <a:r>
              <a:rPr lang="en-US" b="1" smtClean="0"/>
              <a:t>TRAN, </a:t>
            </a:r>
            <a:r>
              <a:rPr lang="en-US" b="1"/>
              <a:t>Thuong-Cang PHAN</a:t>
            </a:r>
            <a:r>
              <a:rPr lang="en-US" b="1" smtClean="0"/>
              <a:t>, </a:t>
            </a:r>
          </a:p>
          <a:p>
            <a:r>
              <a:rPr lang="en-US" b="1" smtClean="0"/>
              <a:t>Vinh-Phong NGUYEN, </a:t>
            </a:r>
            <a:r>
              <a:rPr lang="en-US" b="1"/>
              <a:t>Anh-Cang PHAN, </a:t>
            </a:r>
          </a:p>
        </p:txBody>
      </p:sp>
      <p:sp>
        <p:nvSpPr>
          <p:cNvPr id="5" name="Google Shape;764;p41"/>
          <p:cNvSpPr txBox="1">
            <a:spLocks/>
          </p:cNvSpPr>
          <p:nvPr/>
        </p:nvSpPr>
        <p:spPr>
          <a:xfrm>
            <a:off x="4143785" y="2738758"/>
            <a:ext cx="7777727" cy="15699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defTabSz="1219170">
              <a:buClr>
                <a:srgbClr val="07105C"/>
              </a:buClr>
            </a:pPr>
            <a:r>
              <a:rPr lang="en-US" sz="3200" ker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a:t>
            </a:r>
            <a:r>
              <a:rPr lang="en-US" sz="3200" kern="0" smtClean="0">
                <a:solidFill>
                  <a:srgbClr val="C00000"/>
                </a:solidFill>
                <a:latin typeface="Open Sans" panose="020B0606030504020204" pitchFamily="34" charset="0"/>
                <a:ea typeface="Open Sans" panose="020B0606030504020204" pitchFamily="34" charset="0"/>
                <a:cs typeface="Open Sans" panose="020B0606030504020204" pitchFamily="34" charset="0"/>
              </a:rPr>
              <a:t>rules and </a:t>
            </a:r>
            <a:r>
              <a:rPr lang="en-US" sz="3200" kern="0">
                <a:solidFill>
                  <a:srgbClr val="C00000"/>
                </a:solidFill>
                <a:latin typeface="Open Sans" panose="020B0606030504020204" pitchFamily="34" charset="0"/>
                <a:ea typeface="Open Sans" panose="020B0606030504020204" pitchFamily="34" charset="0"/>
                <a:cs typeface="Open Sans" panose="020B0606030504020204" pitchFamily="34" charset="0"/>
              </a:rPr>
              <a:t>deep learning techniques</a:t>
            </a:r>
            <a:endParaRPr lang="en-US" sz="3200" kern="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ubtitle 1"/>
          <p:cNvSpPr txBox="1">
            <a:spLocks/>
          </p:cNvSpPr>
          <p:nvPr/>
        </p:nvSpPr>
        <p:spPr>
          <a:xfrm>
            <a:off x="4022743" y="6246064"/>
            <a:ext cx="8019809" cy="6119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609585" indent="-457189" defTabSz="1219170">
              <a:buClr>
                <a:srgbClr val="07105C"/>
              </a:buClr>
            </a:pPr>
            <a:r>
              <a:rPr lang="en-US" sz="1867" i="1" kern="0" smtClean="0">
                <a:solidFill>
                  <a:srgbClr val="07105C"/>
                </a:solidFill>
              </a:rPr>
              <a:t>HCM, July 23-25, 2025</a:t>
            </a:r>
            <a:endParaRPr lang="en-US" sz="1867" i="1" kern="0">
              <a:solidFill>
                <a:srgbClr val="07105C"/>
              </a:solidFill>
            </a:endParaRPr>
          </a:p>
        </p:txBody>
      </p:sp>
      <p:grpSp>
        <p:nvGrpSpPr>
          <p:cNvPr id="3" name="Group 2"/>
          <p:cNvGrpSpPr/>
          <p:nvPr/>
        </p:nvGrpSpPr>
        <p:grpSpPr>
          <a:xfrm>
            <a:off x="4925629" y="1567142"/>
            <a:ext cx="5873650" cy="687933"/>
            <a:chOff x="3215486" y="2357937"/>
            <a:chExt cx="5344903" cy="542666"/>
          </a:xfrm>
        </p:grpSpPr>
        <p:pic>
          <p:nvPicPr>
            <p:cNvPr id="4" name="Picture 3"/>
            <p:cNvPicPr>
              <a:picLocks noChangeAspect="1"/>
            </p:cNvPicPr>
            <p:nvPr/>
          </p:nvPicPr>
          <p:blipFill>
            <a:blip r:embed="rId3"/>
            <a:stretch>
              <a:fillRect/>
            </a:stretch>
          </p:blipFill>
          <p:spPr>
            <a:xfrm>
              <a:off x="3215486" y="2357937"/>
              <a:ext cx="595915" cy="542666"/>
            </a:xfrm>
            <a:prstGeom prst="rect">
              <a:avLst/>
            </a:prstGeom>
          </p:spPr>
        </p:pic>
        <p:pic>
          <p:nvPicPr>
            <p:cNvPr id="7" name="Picture 6"/>
            <p:cNvPicPr>
              <a:picLocks noChangeAspect="1"/>
            </p:cNvPicPr>
            <p:nvPr/>
          </p:nvPicPr>
          <p:blipFill>
            <a:blip r:embed="rId4"/>
            <a:stretch>
              <a:fillRect/>
            </a:stretch>
          </p:blipFill>
          <p:spPr>
            <a:xfrm>
              <a:off x="4111461" y="2357937"/>
              <a:ext cx="4448928" cy="542666"/>
            </a:xfrm>
            <a:prstGeom prst="rect">
              <a:avLst/>
            </a:prstGeom>
          </p:spPr>
        </p:pic>
      </p:grpSp>
      <p:sp>
        <p:nvSpPr>
          <p:cNvPr id="10" name="Subtitle 1"/>
          <p:cNvSpPr txBox="1">
            <a:spLocks/>
          </p:cNvSpPr>
          <p:nvPr/>
        </p:nvSpPr>
        <p:spPr>
          <a:xfrm>
            <a:off x="0" y="73152"/>
            <a:ext cx="12192000" cy="6119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2133"/>
              </a:spcBef>
              <a:spcAft>
                <a:spcPts val="2133"/>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9pPr>
          </a:lstStyle>
          <a:p>
            <a:r>
              <a:rPr lang="en-US" sz="2800" b="1" kern="0" smtClean="0"/>
              <a:t>International Conference on Computational Intelligence in Engineering Science</a:t>
            </a:r>
            <a:endParaRPr lang="en-US" sz="2800" b="1" kern="0"/>
          </a:p>
        </p:txBody>
      </p:sp>
      <p:sp>
        <p:nvSpPr>
          <p:cNvPr id="12" name="Freeform 11"/>
          <p:cNvSpPr/>
          <p:nvPr/>
        </p:nvSpPr>
        <p:spPr>
          <a:xfrm>
            <a:off x="28406" y="477982"/>
            <a:ext cx="4115379" cy="6442364"/>
          </a:xfrm>
          <a:custGeom>
            <a:avLst/>
            <a:gdLst>
              <a:gd name="connsiteX0" fmla="*/ 34541 w 3130769"/>
              <a:gd name="connsiteY0" fmla="*/ 0 h 5636870"/>
              <a:gd name="connsiteX1" fmla="*/ 3130769 w 3130769"/>
              <a:gd name="connsiteY1" fmla="*/ 2818435 h 5636870"/>
              <a:gd name="connsiteX2" fmla="*/ 34541 w 3130769"/>
              <a:gd name="connsiteY2" fmla="*/ 5636870 h 5636870"/>
              <a:gd name="connsiteX3" fmla="*/ 0 w 3130769"/>
              <a:gd name="connsiteY3" fmla="*/ 5635283 h 5636870"/>
              <a:gd name="connsiteX4" fmla="*/ 0 w 3130769"/>
              <a:gd name="connsiteY4" fmla="*/ 1588 h 5636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0769" h="5636870">
                <a:moveTo>
                  <a:pt x="34541" y="0"/>
                </a:moveTo>
                <a:cubicBezTo>
                  <a:pt x="1744541" y="0"/>
                  <a:pt x="3130769" y="1261856"/>
                  <a:pt x="3130769" y="2818435"/>
                </a:cubicBezTo>
                <a:cubicBezTo>
                  <a:pt x="3130769" y="4375014"/>
                  <a:pt x="1744541" y="5636870"/>
                  <a:pt x="34541" y="5636870"/>
                </a:cubicBezTo>
                <a:lnTo>
                  <a:pt x="0" y="5635283"/>
                </a:lnTo>
                <a:lnTo>
                  <a:pt x="0" y="1588"/>
                </a:lnTo>
                <a:close/>
              </a:path>
            </a:pathLst>
          </a:cu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8509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2922396422"/>
              </p:ext>
            </p:extLst>
          </p:nvPr>
        </p:nvGraphicFramePr>
        <p:xfrm>
          <a:off x="416859" y="1213168"/>
          <a:ext cx="11136710" cy="4261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r>
              <a:rPr lang="en-US" smtClean="0"/>
              <a:t>CONTENT</a:t>
            </a:r>
            <a:endParaRPr lang="en-US"/>
          </a:p>
        </p:txBody>
      </p:sp>
    </p:spTree>
    <p:extLst>
      <p:ext uri="{BB962C8B-B14F-4D97-AF65-F5344CB8AC3E}">
        <p14:creationId xmlns:p14="http://schemas.microsoft.com/office/powerpoint/2010/main" val="3587800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mtClean="0"/>
              <a:t>Breast cancer is one of the most common cancers affecting women worldwide.</a:t>
            </a:r>
          </a:p>
          <a:p>
            <a:pPr algn="just"/>
            <a:r>
              <a:rPr lang="en-US" smtClean="0"/>
              <a:t>Early detection and accurate staging of breast cancer can significantly improve survival rates and quality of life for patients.</a:t>
            </a:r>
            <a:endParaRPr lang="en-US"/>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08750" y="6072774"/>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a:t>
            </a:r>
            <a:r>
              <a:rPr lang="en-US" sz="1600" smtClean="0">
                <a:solidFill>
                  <a:schemeClr val="tx1"/>
                </a:solidFill>
              </a:rPr>
              <a:t>images</a:t>
            </a:r>
            <a:r>
              <a:rPr lang="en-US" sz="1600" smtClean="0">
                <a:solidFill>
                  <a:schemeClr val="tx1"/>
                </a:solidFill>
              </a:rPr>
              <a:t> </a:t>
            </a:r>
            <a:r>
              <a:rPr lang="en-US" sz="1600">
                <a:solidFill>
                  <a:schemeClr val="tx1"/>
                </a:solidFill>
              </a:rPr>
              <a:t>a) and c)</a:t>
            </a: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575" y="3253725"/>
            <a:ext cx="4416166" cy="2683798"/>
          </a:xfrm>
          <a:prstGeom prst="rect">
            <a:avLst/>
          </a:prstGeom>
        </p:spPr>
      </p:pic>
    </p:spTree>
    <p:extLst>
      <p:ext uri="{BB962C8B-B14F-4D97-AF65-F5344CB8AC3E}">
        <p14:creationId xmlns:p14="http://schemas.microsoft.com/office/powerpoint/2010/main" val="400702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1. Introduction</a:t>
            </a:r>
            <a:endParaRPr lang="en-US"/>
          </a:p>
        </p:txBody>
      </p:sp>
      <p:pic>
        <p:nvPicPr>
          <p:cNvPr id="4" name="Picture 3"/>
          <p:cNvPicPr>
            <a:picLocks noChangeAspect="1"/>
          </p:cNvPicPr>
          <p:nvPr/>
        </p:nvPicPr>
        <p:blipFill>
          <a:blip r:embed="rId3"/>
          <a:stretch>
            <a:fillRect/>
          </a:stretch>
        </p:blipFill>
        <p:spPr>
          <a:xfrm>
            <a:off x="1476659" y="2350417"/>
            <a:ext cx="3822789" cy="3788400"/>
          </a:xfrm>
          <a:prstGeom prst="rect">
            <a:avLst/>
          </a:prstGeom>
        </p:spPr>
      </p:pic>
      <p:pic>
        <p:nvPicPr>
          <p:cNvPr id="5" name="Picture 4"/>
          <p:cNvPicPr>
            <a:picLocks noChangeAspect="1"/>
          </p:cNvPicPr>
          <p:nvPr/>
        </p:nvPicPr>
        <p:blipFill>
          <a:blip r:embed="rId4"/>
          <a:stretch>
            <a:fillRect/>
          </a:stretch>
        </p:blipFill>
        <p:spPr>
          <a:xfrm>
            <a:off x="5497304" y="2448454"/>
            <a:ext cx="5269396" cy="3690363"/>
          </a:xfrm>
          <a:prstGeom prst="rect">
            <a:avLst/>
          </a:prstGeom>
        </p:spPr>
      </p:pic>
      <p:sp>
        <p:nvSpPr>
          <p:cNvPr id="6" name="TextBox 5"/>
          <p:cNvSpPr txBox="1"/>
          <p:nvPr/>
        </p:nvSpPr>
        <p:spPr>
          <a:xfrm>
            <a:off x="0" y="6133186"/>
            <a:ext cx="12191999"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Cancer statistics in Vietnam[15]</a:t>
            </a:r>
          </a:p>
        </p:txBody>
      </p:sp>
      <p:sp>
        <p:nvSpPr>
          <p:cNvPr id="7" name="Text Placeholder 3"/>
          <p:cNvSpPr txBox="1">
            <a:spLocks/>
          </p:cNvSpPr>
          <p:nvPr/>
        </p:nvSpPr>
        <p:spPr>
          <a:xfrm>
            <a:off x="466725" y="1272500"/>
            <a:ext cx="11173587" cy="108814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mtClean="0"/>
              <a:t>Breast cancer (BC) predicted has affected 2.3 million women worldwide in 2020, with 685,000 fatalities. Breast cancer had been detected in 7.8 million </a:t>
            </a:r>
            <a:r>
              <a:rPr lang="en-US" smtClean="0"/>
              <a:t>females in </a:t>
            </a:r>
            <a:r>
              <a:rPr lang="en-US" smtClean="0"/>
              <a:t>the previous five years as of 2020, making it the most common cancer on </a:t>
            </a:r>
            <a:r>
              <a:rPr lang="en-US" smtClean="0"/>
              <a:t>the planet</a:t>
            </a:r>
            <a:r>
              <a:rPr lang="en-US" smtClean="0"/>
              <a:t>. It causes more </a:t>
            </a:r>
            <a:r>
              <a:rPr lang="en-US" smtClean="0"/>
              <a:t>disability adjusted </a:t>
            </a:r>
            <a:r>
              <a:rPr lang="en-US" smtClean="0"/>
              <a:t>life years (DALYs) in women worldwidethan any other form of cancer[1].</a:t>
            </a:r>
            <a:endParaRPr lang="en-US"/>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440296" y="86998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spTree>
    <p:extLst>
      <p:ext uri="{BB962C8B-B14F-4D97-AF65-F5344CB8AC3E}">
        <p14:creationId xmlns:p14="http://schemas.microsoft.com/office/powerpoint/2010/main" val="3422702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4" name="Freeform: Shape 6">
            <a:extLst>
              <a:ext uri="{FF2B5EF4-FFF2-40B4-BE49-F238E27FC236}">
                <a16:creationId xmlns:a16="http://schemas.microsoft.com/office/drawing/2014/main" id="{73376055-55FE-412B-65E9-9C0166160F17}"/>
              </a:ext>
            </a:extLst>
          </p:cNvPr>
          <p:cNvSpPr/>
          <p:nvPr/>
        </p:nvSpPr>
        <p:spPr>
          <a:xfrm>
            <a:off x="3682297" y="2678396"/>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782057" y="1462896"/>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782057" y="3893784"/>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6102599" y="4279364"/>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997921" y="4640523"/>
                <a:ext cx="2495908" cy="293370"/>
              </a:xfrm>
              <a:prstGeom prst="rect">
                <a:avLst/>
              </a:prstGeom>
              <a:noFill/>
            </p:spPr>
            <p:txBody>
              <a:bodyPr wrap="square" lIns="0" tIns="0" rIns="0" bIns="0" rtlCol="0" anchor="ctr">
                <a:noAutofit/>
              </a:bodyPr>
              <a:lstStyle/>
              <a:p>
                <a:pPr lvl="0" defTabSz="1218987"/>
                <a:r>
                  <a:rPr lang="en-US" b="1" kern="0">
                    <a:solidFill>
                      <a:prstClr val="black">
                        <a:lumMod val="95000"/>
                        <a:lumOff val="5000"/>
                      </a:prstClr>
                    </a:solidFill>
                    <a:latin typeface="Segoe UI"/>
                    <a:ea typeface="Segoe UI Black" panose="020B0A02040204020203" pitchFamily="34" charset="0"/>
                  </a:rPr>
                  <a:t>Create image dataset to serve the research of the topic.</a:t>
                </a:r>
                <a:endParaRPr lang="en-US"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762900" y="3063977"/>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b="1" kern="0">
                  <a:solidFill>
                    <a:prstClr val="black">
                      <a:lumMod val="95000"/>
                      <a:lumOff val="5000"/>
                    </a:prstClr>
                  </a:solidFill>
                  <a:latin typeface="Segoe UI"/>
                  <a:ea typeface="Segoe UI Black" panose="020B0A02040204020203" pitchFamily="34" charset="0"/>
                </a:rPr>
                <a:t>Install and experiment with the model, test, evaluate and compare the results.</a:t>
              </a:r>
              <a:endParaRPr lang="en-US"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6102599" y="1848589"/>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smtClean="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1" y="2209747"/>
                <a:ext cx="2495908" cy="854229"/>
              </a:xfrm>
              <a:prstGeom prst="rect">
                <a:avLst/>
              </a:prstGeom>
              <a:noFill/>
            </p:spPr>
            <p:txBody>
              <a:bodyPr wrap="square" lIns="0" tIns="0" rIns="0" bIns="0" rtlCol="0" anchor="ctr">
                <a:noAutofit/>
              </a:bodyPr>
              <a:lstStyle/>
              <a:p>
                <a:pPr lvl="0" defTabSz="1218987"/>
                <a:r>
                  <a:rPr lang="en-US" b="1" kern="0">
                    <a:solidFill>
                      <a:prstClr val="black">
                        <a:lumMod val="95000"/>
                        <a:lumOff val="5000"/>
                      </a:prstClr>
                    </a:solidFill>
                    <a:latin typeface="Segoe UI"/>
                    <a:ea typeface="Segoe UI Black" panose="020B0A02040204020203" pitchFamily="34" charset="0"/>
                  </a:rPr>
                  <a:t>Apply deep learning algorithms and fuzzy rules in breast cancer classification </a:t>
                </a:r>
                <a:endParaRPr lang="en-US"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smtClean="0">
                <a:solidFill>
                  <a:srgbClr val="C00000"/>
                </a:solidFill>
              </a:rPr>
              <a:t>Targets:</a:t>
            </a:r>
          </a:p>
        </p:txBody>
      </p:sp>
      <p:pic>
        <p:nvPicPr>
          <p:cNvPr id="31" name="Picture 30"/>
          <p:cNvPicPr>
            <a:picLocks noChangeAspect="1"/>
          </p:cNvPicPr>
          <p:nvPr/>
        </p:nvPicPr>
        <p:blipFill>
          <a:blip r:embed="rId6"/>
          <a:stretch>
            <a:fillRect/>
          </a:stretch>
        </p:blipFill>
        <p:spPr>
          <a:xfrm>
            <a:off x="6658313" y="2349225"/>
            <a:ext cx="1115623" cy="658891"/>
          </a:xfrm>
          <a:prstGeom prst="rect">
            <a:avLst/>
          </a:prstGeom>
        </p:spPr>
      </p:pic>
      <p:pic>
        <p:nvPicPr>
          <p:cNvPr id="32" name="Picture 31"/>
          <p:cNvPicPr>
            <a:picLocks noChangeAspect="1"/>
          </p:cNvPicPr>
          <p:nvPr/>
        </p:nvPicPr>
        <p:blipFill>
          <a:blip r:embed="rId7"/>
          <a:stretch>
            <a:fillRect/>
          </a:stretch>
        </p:blipFill>
        <p:spPr>
          <a:xfrm>
            <a:off x="6727309" y="4440378"/>
            <a:ext cx="989173" cy="898531"/>
          </a:xfrm>
          <a:prstGeom prst="rect">
            <a:avLst/>
          </a:prstGeom>
        </p:spPr>
      </p:pic>
    </p:spTree>
    <p:extLst>
      <p:ext uri="{BB962C8B-B14F-4D97-AF65-F5344CB8AC3E}">
        <p14:creationId xmlns:p14="http://schemas.microsoft.com/office/powerpoint/2010/main" val="53407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566945" y="1464239"/>
            <a:ext cx="5200650" cy="4029075"/>
          </a:xfrm>
          <a:prstGeom prst="rect">
            <a:avLst/>
          </a:prstGeom>
        </p:spPr>
      </p:pic>
      <p:pic>
        <p:nvPicPr>
          <p:cNvPr id="5" name="Picture 4"/>
          <p:cNvPicPr>
            <a:picLocks noChangeAspect="1"/>
          </p:cNvPicPr>
          <p:nvPr/>
        </p:nvPicPr>
        <p:blipFill>
          <a:blip r:embed="rId4"/>
          <a:stretch>
            <a:fillRect/>
          </a:stretch>
        </p:blipFill>
        <p:spPr>
          <a:xfrm>
            <a:off x="6169958" y="1618006"/>
            <a:ext cx="5412442" cy="3875308"/>
          </a:xfrm>
          <a:prstGeom prst="rect">
            <a:avLst/>
          </a:prstGeom>
        </p:spPr>
      </p:pic>
      <p:sp>
        <p:nvSpPr>
          <p:cNvPr id="6" name="Rectangle 5"/>
          <p:cNvSpPr/>
          <p:nvPr/>
        </p:nvSpPr>
        <p:spPr>
          <a:xfrm>
            <a:off x="566945" y="5921239"/>
            <a:ext cx="10816672" cy="461665"/>
          </a:xfrm>
          <a:prstGeom prst="rect">
            <a:avLst/>
          </a:prstGeom>
        </p:spPr>
        <p:txBody>
          <a:bodyPr wrap="square">
            <a:spAutoFit/>
          </a:bodyPr>
          <a:lstStyle/>
          <a:p>
            <a:pPr algn="ctr"/>
            <a:r>
              <a:rPr lang="en-US" sz="2400" smtClean="0"/>
              <a:t>Fig 3. Image </a:t>
            </a:r>
            <a:r>
              <a:rPr lang="en-US" sz="2400"/>
              <a:t>contrast enhancement using fuzzy </a:t>
            </a:r>
            <a:r>
              <a:rPr lang="en-US" sz="2400" smtClean="0"/>
              <a:t>logic </a:t>
            </a:r>
            <a:endParaRPr lang="en-US" sz="2400"/>
          </a:p>
        </p:txBody>
      </p:sp>
    </p:spTree>
    <p:extLst>
      <p:ext uri="{BB962C8B-B14F-4D97-AF65-F5344CB8AC3E}">
        <p14:creationId xmlns:p14="http://schemas.microsoft.com/office/powerpoint/2010/main" val="1190996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2" name="Picture 1"/>
          <p:cNvPicPr>
            <a:picLocks noChangeAspect="1"/>
          </p:cNvPicPr>
          <p:nvPr/>
        </p:nvPicPr>
        <p:blipFill>
          <a:blip r:embed="rId3"/>
          <a:stretch>
            <a:fillRect/>
          </a:stretch>
        </p:blipFill>
        <p:spPr>
          <a:xfrm>
            <a:off x="721415" y="1110078"/>
            <a:ext cx="7767406" cy="4363072"/>
          </a:xfrm>
          <a:prstGeom prst="rect">
            <a:avLst/>
          </a:prstGeom>
        </p:spPr>
      </p:pic>
      <p:sp>
        <p:nvSpPr>
          <p:cNvPr id="4" name="Rectangle 3"/>
          <p:cNvSpPr/>
          <p:nvPr/>
        </p:nvSpPr>
        <p:spPr>
          <a:xfrm>
            <a:off x="861391" y="5731580"/>
            <a:ext cx="10296939" cy="461665"/>
          </a:xfrm>
          <a:prstGeom prst="rect">
            <a:avLst/>
          </a:prstGeom>
        </p:spPr>
        <p:txBody>
          <a:bodyPr wrap="square">
            <a:spAutoFit/>
          </a:bodyPr>
          <a:lstStyle/>
          <a:p>
            <a:pPr algn="ctr"/>
            <a:r>
              <a:rPr lang="en-US" sz="2400" smtClean="0"/>
              <a:t>Fig 4. Fuzzy </a:t>
            </a:r>
            <a:r>
              <a:rPr lang="en-US" sz="2400"/>
              <a:t>inference operation for TSK rule-based system with multiple outputs</a:t>
            </a:r>
          </a:p>
        </p:txBody>
      </p:sp>
      <p:sp>
        <p:nvSpPr>
          <p:cNvPr id="5" name="Rectangle 4"/>
          <p:cNvSpPr/>
          <p:nvPr/>
        </p:nvSpPr>
        <p:spPr>
          <a:xfrm>
            <a:off x="8488821" y="3492275"/>
            <a:ext cx="2939255" cy="1477328"/>
          </a:xfrm>
          <a:prstGeom prst="rect">
            <a:avLst/>
          </a:prstGeom>
        </p:spPr>
        <p:txBody>
          <a:bodyPr wrap="square">
            <a:spAutoFit/>
          </a:bodyPr>
          <a:lstStyle/>
          <a:p>
            <a:r>
              <a:rPr lang="en-US" smtClean="0"/>
              <a:t>- Method: Fuzzy inference with rule-based</a:t>
            </a:r>
          </a:p>
          <a:p>
            <a:r>
              <a:rPr lang="en-US" smtClean="0"/>
              <a:t>- Dataset: MNIST</a:t>
            </a:r>
            <a:r>
              <a:rPr lang="en-US"/>
              <a:t>, </a:t>
            </a:r>
            <a:r>
              <a:rPr lang="en-US" smtClean="0"/>
              <a:t>CIFAR-10 and </a:t>
            </a:r>
            <a:r>
              <a:rPr lang="en-US"/>
              <a:t>CIFAR-100 </a:t>
            </a:r>
            <a:r>
              <a:rPr lang="en-US" smtClean="0"/>
              <a:t>datasets</a:t>
            </a:r>
          </a:p>
          <a:p>
            <a:r>
              <a:rPr lang="en-US" smtClean="0"/>
              <a:t>- Accuracy: 88.18% - 99.58%</a:t>
            </a:r>
            <a:endParaRPr lang="en-US"/>
          </a:p>
        </p:txBody>
      </p:sp>
    </p:spTree>
    <p:extLst>
      <p:ext uri="{BB962C8B-B14F-4D97-AF65-F5344CB8AC3E}">
        <p14:creationId xmlns:p14="http://schemas.microsoft.com/office/powerpoint/2010/main" val="182435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2" name="Picture 1"/>
          <p:cNvPicPr>
            <a:picLocks noChangeAspect="1"/>
          </p:cNvPicPr>
          <p:nvPr/>
        </p:nvPicPr>
        <p:blipFill>
          <a:blip r:embed="rId3"/>
          <a:stretch>
            <a:fillRect/>
          </a:stretch>
        </p:blipFill>
        <p:spPr>
          <a:xfrm>
            <a:off x="685180" y="1021867"/>
            <a:ext cx="6707212" cy="4438029"/>
          </a:xfrm>
          <a:prstGeom prst="rect">
            <a:avLst/>
          </a:prstGeom>
        </p:spPr>
      </p:pic>
      <p:sp>
        <p:nvSpPr>
          <p:cNvPr id="4" name="Rectangle 3"/>
          <p:cNvSpPr/>
          <p:nvPr/>
        </p:nvSpPr>
        <p:spPr>
          <a:xfrm>
            <a:off x="1046922" y="5630115"/>
            <a:ext cx="10469217" cy="461665"/>
          </a:xfrm>
          <a:prstGeom prst="rect">
            <a:avLst/>
          </a:prstGeom>
        </p:spPr>
        <p:txBody>
          <a:bodyPr wrap="square">
            <a:spAutoFit/>
          </a:bodyPr>
          <a:lstStyle/>
          <a:p>
            <a:pPr algn="ctr"/>
            <a:r>
              <a:rPr lang="en-US" sz="2400" smtClean="0"/>
              <a:t>Fig 5. Detail </a:t>
            </a:r>
            <a:r>
              <a:rPr lang="en-US" sz="2400"/>
              <a:t>steps for proposed model Type-2 fuzzy logic based Rough </a:t>
            </a:r>
            <a:r>
              <a:rPr lang="en-US" sz="2400" smtClean="0"/>
              <a:t>Set [5]</a:t>
            </a:r>
            <a:endParaRPr lang="en-US" sz="2400"/>
          </a:p>
        </p:txBody>
      </p:sp>
      <p:pic>
        <p:nvPicPr>
          <p:cNvPr id="5" name="Picture 4"/>
          <p:cNvPicPr>
            <a:picLocks noChangeAspect="1"/>
          </p:cNvPicPr>
          <p:nvPr/>
        </p:nvPicPr>
        <p:blipFill>
          <a:blip r:embed="rId4"/>
          <a:stretch>
            <a:fillRect/>
          </a:stretch>
        </p:blipFill>
        <p:spPr>
          <a:xfrm>
            <a:off x="7258050" y="3171149"/>
            <a:ext cx="4933950" cy="1981200"/>
          </a:xfrm>
          <a:prstGeom prst="rect">
            <a:avLst/>
          </a:prstGeom>
        </p:spPr>
      </p:pic>
      <p:sp>
        <p:nvSpPr>
          <p:cNvPr id="6" name="Rectangle 5"/>
          <p:cNvSpPr/>
          <p:nvPr/>
        </p:nvSpPr>
        <p:spPr>
          <a:xfrm>
            <a:off x="7733447" y="1547271"/>
            <a:ext cx="3782692" cy="923330"/>
          </a:xfrm>
          <a:prstGeom prst="rect">
            <a:avLst/>
          </a:prstGeom>
        </p:spPr>
        <p:txBody>
          <a:bodyPr wrap="square">
            <a:spAutoFit/>
          </a:bodyPr>
          <a:lstStyle/>
          <a:p>
            <a:r>
              <a:rPr lang="en-US"/>
              <a:t>- Method</a:t>
            </a:r>
            <a:r>
              <a:rPr lang="en-US" smtClean="0"/>
              <a:t>: Type </a:t>
            </a:r>
            <a:r>
              <a:rPr lang="en-US"/>
              <a:t>2 Fuzzy Logic  </a:t>
            </a:r>
          </a:p>
          <a:p>
            <a:r>
              <a:rPr lang="en-US"/>
              <a:t>- Dataset: Hospital UKM</a:t>
            </a:r>
          </a:p>
          <a:p>
            <a:r>
              <a:rPr lang="en-US" smtClean="0"/>
              <a:t>- Accuracy: 98.24%</a:t>
            </a:r>
            <a:endParaRPr lang="en-US"/>
          </a:p>
        </p:txBody>
      </p:sp>
    </p:spTree>
    <p:extLst>
      <p:ext uri="{BB962C8B-B14F-4D97-AF65-F5344CB8AC3E}">
        <p14:creationId xmlns:p14="http://schemas.microsoft.com/office/powerpoint/2010/main" val="538476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3237047" y="2918847"/>
            <a:ext cx="6016134" cy="461665"/>
          </a:xfrm>
          <a:prstGeom prst="rect">
            <a:avLst/>
          </a:prstGeom>
        </p:spPr>
        <p:txBody>
          <a:bodyPr wrap="none">
            <a:spAutoFit/>
          </a:bodyPr>
          <a:lstStyle/>
          <a:p>
            <a:r>
              <a:rPr lang="en-US" sz="2400" smtClean="0">
                <a:latin typeface="Cambria" panose="02040503050406030204" pitchFamily="18" charset="0"/>
                <a:ea typeface="Cambria" panose="02040503050406030204" pitchFamily="18" charset="0"/>
              </a:rPr>
              <a:t>Fig 6. The </a:t>
            </a:r>
            <a:r>
              <a:rPr lang="en-US" sz="2400">
                <a:latin typeface="Cambria" panose="02040503050406030204" pitchFamily="18" charset="0"/>
                <a:ea typeface="Cambria" panose="02040503050406030204" pitchFamily="18" charset="0"/>
              </a:rPr>
              <a:t>architecture of Faster </a:t>
            </a:r>
            <a:r>
              <a:rPr lang="en-US" sz="2400" smtClean="0">
                <a:latin typeface="Cambria" panose="02040503050406030204" pitchFamily="18" charset="0"/>
                <a:ea typeface="Cambria" panose="02040503050406030204" pitchFamily="18" charset="0"/>
              </a:rPr>
              <a:t>VGG-19 [13]</a:t>
            </a:r>
            <a:endParaRPr lang="en-US" sz="240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11447" y="851648"/>
            <a:ext cx="9467335" cy="206719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1447" y="3380512"/>
            <a:ext cx="9493957" cy="2636451"/>
          </a:xfrm>
          <a:prstGeom prst="rect">
            <a:avLst/>
          </a:prstGeom>
        </p:spPr>
      </p:pic>
      <p:sp>
        <p:nvSpPr>
          <p:cNvPr id="7" name="Rectangle 6"/>
          <p:cNvSpPr/>
          <p:nvPr/>
        </p:nvSpPr>
        <p:spPr>
          <a:xfrm>
            <a:off x="3535979" y="5964430"/>
            <a:ext cx="5249963" cy="461665"/>
          </a:xfrm>
          <a:prstGeom prst="rect">
            <a:avLst/>
          </a:prstGeom>
        </p:spPr>
        <p:txBody>
          <a:bodyPr wrap="none">
            <a:spAutoFit/>
          </a:bodyPr>
          <a:lstStyle/>
          <a:p>
            <a:r>
              <a:rPr lang="en-US" sz="2400" smtClean="0">
                <a:latin typeface="Cambria" panose="02040503050406030204" pitchFamily="18" charset="0"/>
                <a:ea typeface="Cambria" panose="02040503050406030204" pitchFamily="18" charset="0"/>
              </a:rPr>
              <a:t>Fig </a:t>
            </a:r>
            <a:r>
              <a:rPr lang="en-US" sz="2400">
                <a:latin typeface="Cambria" panose="02040503050406030204" pitchFamily="18" charset="0"/>
                <a:ea typeface="Cambria" panose="02040503050406030204" pitchFamily="18" charset="0"/>
              </a:rPr>
              <a:t>7. Resnet network architecture[12</a:t>
            </a:r>
            <a:r>
              <a:rPr lang="en-US" sz="2400" smtClean="0">
                <a:latin typeface="Cambria" panose="02040503050406030204" pitchFamily="18" charset="0"/>
                <a:ea typeface="Cambria" panose="02040503050406030204" pitchFamily="18" charset="0"/>
              </a:rPr>
              <a:t>]</a:t>
            </a:r>
            <a:endParaRPr lang="en-US" sz="24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79608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48885"/>
          </a:xfrm>
        </p:spPr>
        <p:txBody>
          <a:bodyPr>
            <a:normAutofit lnSpcReduction="10000"/>
          </a:bodyPr>
          <a:lstStyle/>
          <a:p>
            <a:r>
              <a:rPr lang="en-US" smtClean="0"/>
              <a:t>JRIP algorithm</a:t>
            </a:r>
            <a:endParaRPr lang="en-US"/>
          </a:p>
        </p:txBody>
      </p:sp>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1531145" y="1657819"/>
            <a:ext cx="8867775" cy="4429125"/>
          </a:xfrm>
          <a:prstGeom prst="rect">
            <a:avLst/>
          </a:prstGeom>
        </p:spPr>
      </p:pic>
    </p:spTree>
    <p:extLst>
      <p:ext uri="{BB962C8B-B14F-4D97-AF65-F5344CB8AC3E}">
        <p14:creationId xmlns:p14="http://schemas.microsoft.com/office/powerpoint/2010/main" val="503528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48885"/>
          </a:xfrm>
        </p:spPr>
        <p:txBody>
          <a:bodyPr>
            <a:normAutofit lnSpcReduction="10000"/>
          </a:bodyPr>
          <a:lstStyle/>
          <a:p>
            <a:r>
              <a:rPr lang="en-US" smtClean="0"/>
              <a:t>PART algorithm</a:t>
            </a:r>
            <a:endParaRPr lang="en-US"/>
          </a:p>
        </p:txBody>
      </p:sp>
      <p:sp>
        <p:nvSpPr>
          <p:cNvPr id="3" name="Title 2"/>
          <p:cNvSpPr>
            <a:spLocks noGrp="1"/>
          </p:cNvSpPr>
          <p:nvPr>
            <p:ph type="title"/>
          </p:nvPr>
        </p:nvSpPr>
        <p:spPr/>
        <p:txBody>
          <a:bodyPr/>
          <a:lstStyle/>
          <a:p>
            <a:r>
              <a:rPr lang="en-US"/>
              <a:t>2. Related works</a:t>
            </a:r>
          </a:p>
        </p:txBody>
      </p:sp>
      <p:pic>
        <p:nvPicPr>
          <p:cNvPr id="5" name="Picture 4"/>
          <p:cNvPicPr>
            <a:picLocks noChangeAspect="1"/>
          </p:cNvPicPr>
          <p:nvPr/>
        </p:nvPicPr>
        <p:blipFill>
          <a:blip r:embed="rId3"/>
          <a:stretch>
            <a:fillRect/>
          </a:stretch>
        </p:blipFill>
        <p:spPr>
          <a:xfrm>
            <a:off x="950259" y="1657819"/>
            <a:ext cx="9780893" cy="4268601"/>
          </a:xfrm>
          <a:prstGeom prst="rect">
            <a:avLst/>
          </a:prstGeom>
        </p:spPr>
      </p:pic>
    </p:spTree>
    <p:extLst>
      <p:ext uri="{BB962C8B-B14F-4D97-AF65-F5344CB8AC3E}">
        <p14:creationId xmlns:p14="http://schemas.microsoft.com/office/powerpoint/2010/main" val="3647813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48885"/>
          </a:xfrm>
        </p:spPr>
        <p:txBody>
          <a:bodyPr>
            <a:normAutofit lnSpcReduction="10000"/>
          </a:bodyPr>
          <a:lstStyle/>
          <a:p>
            <a:r>
              <a:rPr lang="en-US" smtClean="0"/>
              <a:t>Fuzzy logic</a:t>
            </a:r>
            <a:endParaRPr lang="en-US"/>
          </a:p>
        </p:txBody>
      </p:sp>
      <p:sp>
        <p:nvSpPr>
          <p:cNvPr id="3" name="Title 2"/>
          <p:cNvSpPr>
            <a:spLocks noGrp="1"/>
          </p:cNvSpPr>
          <p:nvPr>
            <p:ph type="title"/>
          </p:nvPr>
        </p:nvSpPr>
        <p:spPr/>
        <p:txBody>
          <a:bodyPr/>
          <a:lstStyle/>
          <a:p>
            <a:r>
              <a:rPr lang="en-US"/>
              <a:t>2. Related works</a:t>
            </a:r>
          </a:p>
        </p:txBody>
      </p:sp>
      <p:pic>
        <p:nvPicPr>
          <p:cNvPr id="6" name="Picture 5">
            <a:extLst>
              <a:ext uri="{FF2B5EF4-FFF2-40B4-BE49-F238E27FC236}">
                <a16:creationId xmlns:a16="http://schemas.microsoft.com/office/drawing/2014/main" id="{99984626-8595-058C-A931-32F485D58EC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504335" y="1030291"/>
            <a:ext cx="7253809" cy="2668854"/>
          </a:xfrm>
          <a:prstGeom prst="rect">
            <a:avLst/>
          </a:prstGeom>
        </p:spPr>
      </p:pic>
      <p:sp>
        <p:nvSpPr>
          <p:cNvPr id="7" name="TextBox 6">
            <a:extLst>
              <a:ext uri="{FF2B5EF4-FFF2-40B4-BE49-F238E27FC236}">
                <a16:creationId xmlns:a16="http://schemas.microsoft.com/office/drawing/2014/main" id="{8F7D32E5-2590-0108-44F1-78CDA336893B}"/>
              </a:ext>
            </a:extLst>
          </p:cNvPr>
          <p:cNvSpPr txBox="1"/>
          <p:nvPr/>
        </p:nvSpPr>
        <p:spPr>
          <a:xfrm>
            <a:off x="3540382" y="3699145"/>
            <a:ext cx="6098240" cy="461665"/>
          </a:xfrm>
          <a:prstGeom prst="rect">
            <a:avLst/>
          </a:prstGeom>
          <a:noFill/>
        </p:spPr>
        <p:txBody>
          <a:bodyPr wrap="square">
            <a:spAutoFit/>
          </a:bodyPr>
          <a:lstStyle/>
          <a:p>
            <a:pPr algn="ctr"/>
            <a:r>
              <a:rPr lang="en-US" sz="2400">
                <a:latin typeface="Cambria" panose="02040503050406030204" pitchFamily="18" charset="0"/>
                <a:ea typeface="Cambria" panose="02040503050406030204" pitchFamily="18" charset="0"/>
              </a:rPr>
              <a:t>Fig </a:t>
            </a:r>
            <a:r>
              <a:rPr lang="en-US" sz="2400" smtClean="0">
                <a:latin typeface="Cambria" panose="02040503050406030204" pitchFamily="18" charset="0"/>
                <a:ea typeface="Cambria" panose="02040503050406030204" pitchFamily="18" charset="0"/>
              </a:rPr>
              <a:t>8. </a:t>
            </a:r>
            <a:r>
              <a:rPr lang="en-US" sz="2400">
                <a:latin typeface="Cambria" panose="02040503050406030204" pitchFamily="18" charset="0"/>
                <a:ea typeface="Cambria" panose="02040503050406030204" pitchFamily="18" charset="0"/>
              </a:rPr>
              <a:t>Fuzzy inference system (FIS)[12]</a:t>
            </a:r>
          </a:p>
        </p:txBody>
      </p:sp>
      <mc:AlternateContent xmlns:mc="http://schemas.openxmlformats.org/markup-compatibility/2006" xmlns:a14="http://schemas.microsoft.com/office/drawing/2010/main">
        <mc:Choice Requires="a14">
          <p:sp>
            <p:nvSpPr>
              <p:cNvPr id="8" name="Rectangle 7"/>
              <p:cNvSpPr/>
              <p:nvPr/>
            </p:nvSpPr>
            <p:spPr>
              <a:xfrm>
                <a:off x="1073657" y="4405122"/>
                <a:ext cx="3332194" cy="17100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𝑀</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e>
                              <m:f>
                                <m:fPr>
                                  <m:ctrlPr>
                                    <a:rPr lang="en-US"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num>
                                <m:den>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den>
                              </m:f>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𝑏</m:t>
                              </m:r>
                            </m:e>
                            <m:e>
                              <m:f>
                                <m:fPr>
                                  <m:ctrlPr>
                                    <a:rPr lang="en-US" i="1" smtClean="0">
                                      <a:latin typeface="Cambria Math" panose="02040503050406030204" pitchFamily="18" charset="0"/>
                                    </a:rPr>
                                  </m:ctrlPr>
                                </m:fPr>
                                <m:num>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𝑥</m:t>
                                  </m:r>
                                </m:num>
                                <m:den>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𝑏</m:t>
                                  </m:r>
                                </m:den>
                              </m:f>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m:t>
                              </m:r>
                            </m:e>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𝑐</m:t>
                              </m:r>
                            </m:e>
                          </m:eqArr>
                        </m:e>
                      </m:d>
                    </m:oMath>
                  </m:oMathPara>
                </a14:m>
                <a:endParaRPr lang="en-US"/>
              </a:p>
            </p:txBody>
          </p:sp>
        </mc:Choice>
        <mc:Fallback xmlns="">
          <p:sp>
            <p:nvSpPr>
              <p:cNvPr id="8" name="Rectangle 7"/>
              <p:cNvSpPr>
                <a:spLocks noRot="1" noChangeAspect="1" noMove="1" noResize="1" noEditPoints="1" noAdjustHandles="1" noChangeArrowheads="1" noChangeShapeType="1" noTextEdit="1"/>
              </p:cNvSpPr>
              <p:nvPr/>
            </p:nvSpPr>
            <p:spPr>
              <a:xfrm>
                <a:off x="1073657" y="4405122"/>
                <a:ext cx="3332194" cy="17100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958288" y="5121632"/>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(1)</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958288" y="5121632"/>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993611" y="4920390"/>
                <a:ext cx="2385653" cy="6794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𝐶𝑒𝑛𝑡𝑟𝑜𝑖𝑑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𝑑𝑥</m:t>
                              </m:r>
                            </m:e>
                          </m:nary>
                        </m:num>
                        <m:den>
                          <m:nary>
                            <m:naryPr>
                              <m:limLoc m:val="undOvr"/>
                              <m:subHide m:val="on"/>
                              <m:supHide m:val="on"/>
                              <m:ctrlPr>
                                <a:rPr lang="en-US" i="1">
                                  <a:latin typeface="Cambria Math" panose="02040503050406030204" pitchFamily="18" charset="0"/>
                                </a:rPr>
                              </m:ctrlPr>
                            </m:naryPr>
                            <m:sub/>
                            <m:sup/>
                            <m:e>
                              <m:r>
                                <a:rPr lang="en-US" i="1">
                                  <a:latin typeface="Cambria Math" panose="02040503050406030204" pitchFamily="18" charset="0"/>
                                  <a:ea typeface="Cambria Math" panose="02040503050406030204" pitchFamily="18" charset="0"/>
                                </a:rPr>
                                <m:t>𝛿</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𝑑𝑥</m:t>
                              </m:r>
                            </m:e>
                          </m:nary>
                        </m:den>
                      </m:f>
                    </m:oMath>
                  </m:oMathPara>
                </a14:m>
                <a:endParaRPr lang="en-US"/>
              </a:p>
            </p:txBody>
          </p:sp>
        </mc:Choice>
        <mc:Fallback xmlns="">
          <p:sp>
            <p:nvSpPr>
              <p:cNvPr id="10" name="TextBox 9"/>
              <p:cNvSpPr txBox="1">
                <a:spLocks noRot="1" noChangeAspect="1" noMove="1" noResize="1" noEditPoints="1" noAdjustHandles="1" noChangeArrowheads="1" noChangeShapeType="1" noTextEdit="1"/>
              </p:cNvSpPr>
              <p:nvPr/>
            </p:nvSpPr>
            <p:spPr>
              <a:xfrm>
                <a:off x="6993611" y="4920390"/>
                <a:ext cx="2385653" cy="67948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229536" y="5121632"/>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(2)</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0229536" y="5121632"/>
                <a:ext cx="424796" cy="276999"/>
              </a:xfrm>
              <a:prstGeom prst="rect">
                <a:avLst/>
              </a:prstGeom>
              <a:blipFill>
                <a:blip r:embed="rId7"/>
                <a:stretch>
                  <a:fillRect l="-7143" t="-2174" r="-20000" b="-32609"/>
                </a:stretch>
              </a:blipFill>
            </p:spPr>
            <p:txBody>
              <a:bodyPr/>
              <a:lstStyle/>
              <a:p>
                <a:r>
                  <a:rPr lang="en-US">
                    <a:noFill/>
                  </a:rPr>
                  <a:t> </a:t>
                </a:r>
              </a:p>
            </p:txBody>
          </p:sp>
        </mc:Fallback>
      </mc:AlternateContent>
    </p:spTree>
    <p:extLst>
      <p:ext uri="{BB962C8B-B14F-4D97-AF65-F5344CB8AC3E}">
        <p14:creationId xmlns:p14="http://schemas.microsoft.com/office/powerpoint/2010/main" val="404888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4"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smtClean="0">
                <a:ln>
                  <a:noFill/>
                </a:ln>
                <a:solidFill>
                  <a:srgbClr val="C00000"/>
                </a:solidFill>
                <a:effectLst/>
                <a:uLnTx/>
                <a:uFillTx/>
                <a:latin typeface="Cambria" panose="02040503050406030204" pitchFamily="18" charset="0"/>
                <a:ea typeface="Cambria" panose="02040503050406030204" pitchFamily="18" charset="0"/>
                <a:cs typeface="+mn-cs"/>
              </a:rPr>
              <a:t>Evaluation metrics:</a:t>
            </a:r>
            <a:endPar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788550" y="1827221"/>
                <a:ext cx="3357009" cy="63953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𝐴𝑐𝑐</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𝑇𝑁</m:t>
                          </m:r>
                        </m:num>
                        <m:den>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𝑇𝑁</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𝐹𝑁</m:t>
                          </m:r>
                        </m:den>
                      </m:f>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788550" y="1827221"/>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368888" y="1797805"/>
                <a:ext cx="2738827" cy="639534"/>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𝑃𝑟𝑒𝑐𝑖𝑠𝑖𝑜𝑛</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 </m:t>
                      </m:r>
                      <m:f>
                        <m:f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num>
                        <m:den>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𝑇𝑃</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𝐹𝑃</m:t>
                          </m:r>
                        </m:den>
                      </m:f>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368888" y="1797805"/>
                <a:ext cx="2738827" cy="63953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47137" y="2008488"/>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(3)</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947137" y="2008488"/>
                <a:ext cx="424796" cy="276999"/>
              </a:xfrm>
              <a:prstGeom prst="rect">
                <a:avLst/>
              </a:prstGeom>
              <a:blipFill>
                <a:blip r:embed="rId5"/>
                <a:stretch>
                  <a:fillRect l="-7246" t="-2174" r="-21739"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0218385" y="1959965"/>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(4)</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18385" y="1959965"/>
                <a:ext cx="424796" cy="276999"/>
              </a:xfrm>
              <a:prstGeom prst="rect">
                <a:avLst/>
              </a:prstGeom>
              <a:blipFill>
                <a:blip r:embed="rId6"/>
                <a:stretch>
                  <a:fillRect l="-7143" t="-4444" r="-20000"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0202420" y="3358366"/>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(6)</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0202420" y="3358366"/>
                <a:ext cx="424796" cy="276999"/>
              </a:xfrm>
              <a:prstGeom prst="rect">
                <a:avLst/>
              </a:prstGeom>
              <a:blipFill>
                <a:blip r:embed="rId7"/>
                <a:stretch>
                  <a:fillRect l="-7246" t="-2222"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74099" y="3128658"/>
                <a:ext cx="3872855" cy="64844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𝐹</m:t>
                      </m:r>
                      <m:sSub>
                        <m:sSub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1</m:t>
                          </m:r>
                        </m:e>
                        <m:sub>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𝑠𝑐𝑜𝑟𝑒</m:t>
                          </m:r>
                        </m:sub>
                      </m:sSub>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=2</m:t>
                      </m:r>
                      <m:f>
                        <m:f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𝑃𝑟𝑒𝑐𝑖𝑠𝑖𝑜𝑛</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𝑅𝑒𝑐𝑎𝑙𝑙</m:t>
                          </m:r>
                        </m:num>
                        <m:den>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𝑃𝑟𝑒𝑐𝑖𝑠𝑖𝑜𝑛</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𝑅𝑒𝑐𝑎𝑙𝑙</m:t>
                          </m:r>
                        </m:den>
                      </m:f>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974099" y="3128658"/>
                <a:ext cx="3872855" cy="64844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931172" y="3314381"/>
                <a:ext cx="424796" cy="276999"/>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0" cap="none" spc="0" normalizeH="0" baseline="0" noProof="0" smtClean="0">
                          <a:ln>
                            <a:noFill/>
                          </a:ln>
                          <a:solidFill>
                            <a:prstClr val="black"/>
                          </a:solidFill>
                          <a:effectLst/>
                          <a:uLnTx/>
                          <a:uFillTx/>
                          <a:latin typeface="Cambria Math" panose="02040503050406030204" pitchFamily="18" charset="0"/>
                        </a:rPr>
                        <m:t> (5)</m:t>
                      </m:r>
                    </m:oMath>
                  </m:oMathPara>
                </a14:m>
                <a:endParaRPr kumimoji="0" lang="en-US" sz="1800" b="0" i="0" u="none" strike="noStrike" kern="0" cap="none" spc="0" normalizeH="0" baseline="0" noProof="0" smtClean="0">
                  <a:ln>
                    <a:noFill/>
                  </a:ln>
                  <a:solidFill>
                    <a:prstClr val="black"/>
                  </a:solidFill>
                  <a:effectLst/>
                  <a:uLnTx/>
                  <a:uFillTx/>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4931172" y="3314381"/>
                <a:ext cx="424796" cy="276999"/>
              </a:xfrm>
              <a:prstGeom prst="rect">
                <a:avLst/>
              </a:prstGeom>
              <a:blipFill>
                <a:blip r:embed="rId9"/>
                <a:stretch>
                  <a:fillRect l="-7143" t="-4444" r="-20000"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120865" y="2992947"/>
                <a:ext cx="3745064" cy="953915"/>
              </a:xfrm>
              <a:prstGeom prst="rect">
                <a:avLst/>
              </a:prstGeom>
              <a:noFill/>
            </p:spPr>
            <p:txBody>
              <a:bodyPr wrap="non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𝐿𝑜𝑠𝑠</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𝑁</m:t>
                          </m:r>
                        </m:den>
                      </m:f>
                      <m:nary>
                        <m:naryPr>
                          <m:chr m:val="∑"/>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naryPr>
                        <m:sub>
                          <m:r>
                            <m:rPr>
                              <m:brk m:alnAt="23"/>
                            </m:r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𝑖</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=1</m:t>
                          </m:r>
                        </m:sub>
                        <m:sup>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𝑁</m:t>
                          </m:r>
                        </m:sup>
                        <m:e>
                          <m:nary>
                            <m:naryPr>
                              <m:chr m:val="∑"/>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naryPr>
                            <m:sub>
                              <m:r>
                                <m:rPr>
                                  <m:brk m:alnAt="23"/>
                                </m:r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𝑐</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=1</m:t>
                              </m:r>
                            </m:sub>
                            <m:sup>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𝐶</m:t>
                              </m:r>
                            </m:sup>
                            <m:e>
                              <m:sSub>
                                <m:sSubPr>
                                  <m:ctrlP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𝑦</m:t>
                                  </m:r>
                                </m:e>
                                <m:sub>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𝑖</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𝑐</m:t>
                                  </m:r>
                                </m:sub>
                              </m:sSub>
                              <m:r>
                                <m:rPr>
                                  <m:sty m:val="p"/>
                                </m:rPr>
                                <a:rPr kumimoji="0" lang="en-US" sz="2200" b="0" i="0" u="none" strike="noStrike" kern="0" cap="none" spc="0" normalizeH="0" baseline="0" noProof="0" smtClean="0">
                                  <a:ln>
                                    <a:noFill/>
                                  </a:ln>
                                  <a:solidFill>
                                    <a:prstClr val="black"/>
                                  </a:solidFill>
                                  <a:effectLst/>
                                  <a:uLnTx/>
                                  <a:uFillTx/>
                                  <a:latin typeface="Cambria Math" panose="02040503050406030204" pitchFamily="18" charset="0"/>
                                </a:rPr>
                                <m:t>log</m:t>
                              </m:r>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lang="en-US" sz="2200" i="1" kern="0">
                                      <a:solidFill>
                                        <a:prstClr val="black"/>
                                      </a:solidFill>
                                      <a:latin typeface="Cambria Math" panose="02040503050406030204" pitchFamily="18" charset="0"/>
                                    </a:rPr>
                                  </m:ctrlPr>
                                </m:sSubPr>
                                <m:e>
                                  <m:r>
                                    <a:rPr lang="en-US" sz="2200" i="1" kern="0">
                                      <a:solidFill>
                                        <a:prstClr val="black"/>
                                      </a:solidFill>
                                      <a:latin typeface="Cambria Math" panose="02040503050406030204" pitchFamily="18" charset="0"/>
                                    </a:rPr>
                                    <m:t>𝑦</m:t>
                                  </m:r>
                                </m:e>
                                <m:sub>
                                  <m:r>
                                    <a:rPr lang="en-US" sz="2200" i="1" kern="0">
                                      <a:solidFill>
                                        <a:prstClr val="black"/>
                                      </a:solidFill>
                                      <a:latin typeface="Cambria Math" panose="02040503050406030204" pitchFamily="18" charset="0"/>
                                    </a:rPr>
                                    <m:t>𝑖</m:t>
                                  </m:r>
                                  <m:r>
                                    <a:rPr lang="en-US" sz="2200" i="1" kern="0">
                                      <a:solidFill>
                                        <a:prstClr val="black"/>
                                      </a:solidFill>
                                      <a:latin typeface="Cambria Math" panose="02040503050406030204" pitchFamily="18" charset="0"/>
                                    </a:rPr>
                                    <m:t>,</m:t>
                                  </m:r>
                                  <m:r>
                                    <a:rPr lang="en-US" sz="2200" i="1" kern="0">
                                      <a:solidFill>
                                        <a:prstClr val="black"/>
                                      </a:solidFill>
                                      <a:latin typeface="Cambria Math" panose="02040503050406030204" pitchFamily="18" charset="0"/>
                                    </a:rPr>
                                    <m:t>𝑐</m:t>
                                  </m:r>
                                </m:sub>
                              </m:sSub>
                              <m:r>
                                <a:rPr kumimoji="0" lang="en-US" sz="2200" b="0" i="1" u="none" strike="noStrike" kern="0" cap="none" spc="0" normalizeH="0" baseline="0" noProof="0" smtClean="0">
                                  <a:ln>
                                    <a:noFill/>
                                  </a:ln>
                                  <a:solidFill>
                                    <a:prstClr val="black"/>
                                  </a:solidFill>
                                  <a:effectLst/>
                                  <a:uLnTx/>
                                  <a:uFillTx/>
                                  <a:latin typeface="Cambria Math" panose="02040503050406030204" pitchFamily="18" charset="0"/>
                                </a:rPr>
                                <m:t>)</m:t>
                              </m:r>
                            </m:e>
                          </m:nary>
                        </m:e>
                      </m:nary>
                    </m:oMath>
                  </m:oMathPara>
                </a14:m>
                <a:endParaRPr kumimoji="0" lang="en-US" sz="2200" b="0" i="0" u="none" strike="noStrike" kern="0" cap="none" spc="0" normalizeH="0" baseline="0" noProof="0" smtClean="0">
                  <a:ln>
                    <a:noFill/>
                  </a:ln>
                  <a:solidFill>
                    <a:prstClr val="black"/>
                  </a:solidFill>
                  <a:effectLst/>
                  <a:uLnTx/>
                  <a:uFillTx/>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120865" y="2992947"/>
                <a:ext cx="3745064" cy="953915"/>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4682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5513106"/>
            <a:ext cx="11234737" cy="399115"/>
          </a:xfrm>
        </p:spPr>
        <p:txBody>
          <a:bodyPr>
            <a:noAutofit/>
          </a:bodyPr>
          <a:lstStyle/>
          <a:p>
            <a:pPr marL="0" indent="0" algn="ctr">
              <a:buNone/>
            </a:pPr>
            <a:r>
              <a:rPr lang="en-US" sz="2400" smtClean="0"/>
              <a:t>Fig 9. </a:t>
            </a:r>
            <a:r>
              <a:rPr lang="en-US" sz="2400"/>
              <a:t>The proposed general model for breast cancer classification based on fuzzy</a:t>
            </a:r>
          </a:p>
          <a:p>
            <a:pPr marL="0" indent="0" algn="ctr">
              <a:buNone/>
            </a:pPr>
            <a:r>
              <a:rPr lang="en-US" sz="2400"/>
              <a:t>rule sets and deep learning techniques.</a:t>
            </a:r>
          </a:p>
        </p:txBody>
      </p:sp>
      <p:sp>
        <p:nvSpPr>
          <p:cNvPr id="3" name="Title 2"/>
          <p:cNvSpPr>
            <a:spLocks noGrp="1"/>
          </p:cNvSpPr>
          <p:nvPr>
            <p:ph type="title"/>
          </p:nvPr>
        </p:nvSpPr>
        <p:spPr/>
        <p:txBody>
          <a:bodyPr/>
          <a:lstStyle/>
          <a:p>
            <a:r>
              <a:rPr lang="en-US" smtClean="0"/>
              <a:t>3. Proposed Method</a:t>
            </a:r>
            <a:endParaRPr lang="en-US"/>
          </a:p>
        </p:txBody>
      </p:sp>
      <p:pic>
        <p:nvPicPr>
          <p:cNvPr id="5" name="Picture 4"/>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08868" y="1198936"/>
            <a:ext cx="11856623" cy="4166440"/>
          </a:xfrm>
          <a:prstGeom prst="rect">
            <a:avLst/>
          </a:prstGeom>
        </p:spPr>
      </p:pic>
    </p:spTree>
    <p:extLst>
      <p:ext uri="{BB962C8B-B14F-4D97-AF65-F5344CB8AC3E}">
        <p14:creationId xmlns:p14="http://schemas.microsoft.com/office/powerpoint/2010/main" val="707808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5513106"/>
            <a:ext cx="11234737" cy="399115"/>
          </a:xfrm>
        </p:spPr>
        <p:txBody>
          <a:bodyPr>
            <a:noAutofit/>
          </a:bodyPr>
          <a:lstStyle/>
          <a:p>
            <a:pPr marL="0" indent="0" algn="ctr">
              <a:buNone/>
            </a:pPr>
            <a:r>
              <a:rPr lang="en-US" sz="2400" smtClean="0"/>
              <a:t>.</a:t>
            </a:r>
            <a:endParaRPr lang="en-US" sz="2400"/>
          </a:p>
        </p:txBody>
      </p:sp>
      <p:sp>
        <p:nvSpPr>
          <p:cNvPr id="3" name="Title 2"/>
          <p:cNvSpPr>
            <a:spLocks noGrp="1"/>
          </p:cNvSpPr>
          <p:nvPr>
            <p:ph type="title"/>
          </p:nvPr>
        </p:nvSpPr>
        <p:spPr/>
        <p:txBody>
          <a:bodyPr/>
          <a:lstStyle/>
          <a:p>
            <a:r>
              <a:rPr lang="en-US" smtClean="0"/>
              <a:t>3. Proposed Method</a:t>
            </a:r>
            <a:endParaRPr lang="en-US"/>
          </a:p>
        </p:txBody>
      </p:sp>
      <p:pic>
        <p:nvPicPr>
          <p:cNvPr id="4" name="Picture 3"/>
          <p:cNvPicPr>
            <a:picLocks noChangeAspect="1"/>
          </p:cNvPicPr>
          <p:nvPr/>
        </p:nvPicPr>
        <p:blipFill>
          <a:blip r:embed="rId3"/>
          <a:stretch>
            <a:fillRect/>
          </a:stretch>
        </p:blipFill>
        <p:spPr>
          <a:xfrm>
            <a:off x="1758483" y="1020565"/>
            <a:ext cx="8071317" cy="5286326"/>
          </a:xfrm>
          <a:prstGeom prst="rect">
            <a:avLst/>
          </a:prstGeom>
        </p:spPr>
      </p:pic>
    </p:spTree>
    <p:extLst>
      <p:ext uri="{BB962C8B-B14F-4D97-AF65-F5344CB8AC3E}">
        <p14:creationId xmlns:p14="http://schemas.microsoft.com/office/powerpoint/2010/main" val="1201515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5513106"/>
            <a:ext cx="11234737" cy="399115"/>
          </a:xfrm>
        </p:spPr>
        <p:txBody>
          <a:bodyPr>
            <a:noAutofit/>
          </a:bodyPr>
          <a:lstStyle/>
          <a:p>
            <a:pPr marL="0" indent="0" algn="ctr">
              <a:buNone/>
            </a:pPr>
            <a:r>
              <a:rPr lang="en-US" sz="2400" smtClean="0"/>
              <a:t>.</a:t>
            </a:r>
            <a:endParaRPr lang="en-US" sz="2400"/>
          </a:p>
        </p:txBody>
      </p:sp>
      <p:sp>
        <p:nvSpPr>
          <p:cNvPr id="3" name="Title 2"/>
          <p:cNvSpPr>
            <a:spLocks noGrp="1"/>
          </p:cNvSpPr>
          <p:nvPr>
            <p:ph type="title"/>
          </p:nvPr>
        </p:nvSpPr>
        <p:spPr/>
        <p:txBody>
          <a:bodyPr/>
          <a:lstStyle/>
          <a:p>
            <a:r>
              <a:rPr lang="en-US" smtClean="0"/>
              <a:t>3. Proposed Method</a:t>
            </a:r>
            <a:endParaRPr lang="en-US"/>
          </a:p>
        </p:txBody>
      </p:sp>
      <p:pic>
        <p:nvPicPr>
          <p:cNvPr id="5" name="Picture 4"/>
          <p:cNvPicPr>
            <a:picLocks noChangeAspect="1"/>
          </p:cNvPicPr>
          <p:nvPr/>
        </p:nvPicPr>
        <p:blipFill>
          <a:blip r:embed="rId3"/>
          <a:stretch>
            <a:fillRect/>
          </a:stretch>
        </p:blipFill>
        <p:spPr>
          <a:xfrm>
            <a:off x="3405087" y="1750211"/>
            <a:ext cx="6863495" cy="1459409"/>
          </a:xfrm>
          <a:prstGeom prst="rect">
            <a:avLst/>
          </a:prstGeom>
        </p:spPr>
      </p:pic>
      <p:pic>
        <p:nvPicPr>
          <p:cNvPr id="6" name="Picture 5"/>
          <p:cNvPicPr>
            <a:picLocks noChangeAspect="1"/>
          </p:cNvPicPr>
          <p:nvPr/>
        </p:nvPicPr>
        <p:blipFill>
          <a:blip r:embed="rId4"/>
          <a:stretch>
            <a:fillRect/>
          </a:stretch>
        </p:blipFill>
        <p:spPr>
          <a:xfrm>
            <a:off x="3406400" y="3282346"/>
            <a:ext cx="6862182" cy="2546853"/>
          </a:xfrm>
          <a:prstGeom prst="rect">
            <a:avLst/>
          </a:prstGeom>
        </p:spPr>
      </p:pic>
      <p:sp>
        <p:nvSpPr>
          <p:cNvPr id="7" name="Content Placeholder 1"/>
          <p:cNvSpPr txBox="1">
            <a:spLocks/>
          </p:cNvSpPr>
          <p:nvPr/>
        </p:nvSpPr>
        <p:spPr>
          <a:xfrm>
            <a:off x="241108" y="1107676"/>
            <a:ext cx="11234737" cy="4163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0" smtClean="0">
                <a:solidFill>
                  <a:srgbClr val="0070C0"/>
                </a:solidFill>
              </a:rPr>
              <a:t>Table 1: </a:t>
            </a:r>
            <a:r>
              <a:rPr lang="en-US" sz="2200">
                <a:solidFill>
                  <a:srgbClr val="0070C0"/>
                </a:solidFill>
              </a:rPr>
              <a:t>Rule </a:t>
            </a:r>
            <a:r>
              <a:rPr lang="en-US" sz="2200" smtClean="0">
                <a:solidFill>
                  <a:srgbClr val="0070C0"/>
                </a:solidFill>
              </a:rPr>
              <a:t>sets and fuzzy rule sets </a:t>
            </a:r>
            <a:r>
              <a:rPr lang="en-US" sz="2200">
                <a:solidFill>
                  <a:srgbClr val="0070C0"/>
                </a:solidFill>
              </a:rPr>
              <a:t>were created from the models</a:t>
            </a:r>
          </a:p>
        </p:txBody>
      </p:sp>
      <p:sp>
        <p:nvSpPr>
          <p:cNvPr id="4" name="Rectangle 3"/>
          <p:cNvSpPr/>
          <p:nvPr/>
        </p:nvSpPr>
        <p:spPr>
          <a:xfrm>
            <a:off x="1314004" y="2350024"/>
            <a:ext cx="1511836" cy="369332"/>
          </a:xfrm>
          <a:prstGeom prst="rect">
            <a:avLst/>
          </a:prstGeom>
          <a:solidFill>
            <a:srgbClr val="FFFF00"/>
          </a:solidFill>
        </p:spPr>
        <p:txBody>
          <a:bodyPr wrap="square">
            <a:spAutoFit/>
          </a:bodyPr>
          <a:lstStyle/>
          <a:p>
            <a:pPr algn="ctr"/>
            <a:r>
              <a:rPr lang="en-US">
                <a:solidFill>
                  <a:srgbClr val="0070C0"/>
                </a:solidFill>
              </a:rPr>
              <a:t>Rule sets</a:t>
            </a:r>
            <a:endParaRPr lang="en-US"/>
          </a:p>
        </p:txBody>
      </p:sp>
      <p:sp>
        <p:nvSpPr>
          <p:cNvPr id="8" name="Rectangle 7"/>
          <p:cNvSpPr/>
          <p:nvPr/>
        </p:nvSpPr>
        <p:spPr>
          <a:xfrm>
            <a:off x="1314004" y="4496901"/>
            <a:ext cx="1511836" cy="646331"/>
          </a:xfrm>
          <a:prstGeom prst="rect">
            <a:avLst/>
          </a:prstGeom>
          <a:solidFill>
            <a:srgbClr val="FFFF00"/>
          </a:solidFill>
        </p:spPr>
        <p:txBody>
          <a:bodyPr wrap="square">
            <a:spAutoFit/>
          </a:bodyPr>
          <a:lstStyle/>
          <a:p>
            <a:pPr algn="ctr"/>
            <a:r>
              <a:rPr lang="en-US" smtClean="0">
                <a:solidFill>
                  <a:srgbClr val="0070C0"/>
                </a:solidFill>
              </a:rPr>
              <a:t>Fuzzy Rule </a:t>
            </a:r>
            <a:r>
              <a:rPr lang="en-US">
                <a:solidFill>
                  <a:srgbClr val="0070C0"/>
                </a:solidFill>
              </a:rPr>
              <a:t>sets</a:t>
            </a:r>
            <a:endParaRPr lang="en-US"/>
          </a:p>
        </p:txBody>
      </p:sp>
      <p:sp>
        <p:nvSpPr>
          <p:cNvPr id="9" name="Right Arrow 8"/>
          <p:cNvSpPr/>
          <p:nvPr/>
        </p:nvSpPr>
        <p:spPr>
          <a:xfrm>
            <a:off x="2949665" y="2350024"/>
            <a:ext cx="361950"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2949665" y="4634234"/>
            <a:ext cx="361950"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rot="5400000">
            <a:off x="1616224" y="3494108"/>
            <a:ext cx="907394" cy="3384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5084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6865" y="851648"/>
            <a:ext cx="11234737" cy="3054030"/>
          </a:xfrm>
        </p:spPr>
        <p:txBody>
          <a:bodyPr>
            <a:normAutofit fontScale="77500" lnSpcReduction="20000"/>
          </a:bodyPr>
          <a:lstStyle/>
          <a:p>
            <a:pPr algn="just">
              <a:lnSpc>
                <a:spcPct val="140000"/>
              </a:lnSpc>
            </a:pPr>
            <a:r>
              <a:rPr lang="en-US" b="1" smtClean="0">
                <a:solidFill>
                  <a:srgbClr val="C00000"/>
                </a:solidFill>
              </a:rPr>
              <a:t>Environment</a:t>
            </a:r>
            <a:r>
              <a:rPr lang="en-US" b="1">
                <a:solidFill>
                  <a:srgbClr val="C00000"/>
                </a:solidFill>
              </a:rPr>
              <a:t>:</a:t>
            </a:r>
            <a:r>
              <a:rPr lang="en-US" b="1"/>
              <a:t> </a:t>
            </a:r>
            <a:r>
              <a:rPr lang="en-US"/>
              <a:t>The system runs in a Python environment </a:t>
            </a:r>
            <a:r>
              <a:rPr lang="en-US" smtClean="0"/>
              <a:t>on Kaggle</a:t>
            </a:r>
            <a:r>
              <a:rPr lang="en-US"/>
              <a:t>, using an Intel Xeon 2.00 GHz processor with 30GB RAM. It also </a:t>
            </a:r>
            <a:r>
              <a:rPr lang="en-US" smtClean="0"/>
              <a:t>utilizes a </a:t>
            </a:r>
            <a:r>
              <a:rPr lang="en-US"/>
              <a:t>graphics processor with a 16GB RAM configuration and the Nvidia Tesla </a:t>
            </a:r>
            <a:r>
              <a:rPr lang="en-US" smtClean="0"/>
              <a:t>P100 GPU</a:t>
            </a:r>
            <a:r>
              <a:rPr lang="en-US"/>
              <a:t>. Tensorflow v1.5 is the library used for network model training</a:t>
            </a:r>
            <a:r>
              <a:rPr lang="en-US" smtClean="0"/>
              <a:t>.</a:t>
            </a:r>
            <a:endParaRPr lang="en-US"/>
          </a:p>
          <a:p>
            <a:pPr algn="just">
              <a:lnSpc>
                <a:spcPct val="140000"/>
              </a:lnSpc>
            </a:pPr>
            <a:r>
              <a:rPr lang="en-US" b="1">
                <a:solidFill>
                  <a:srgbClr val="C00000"/>
                </a:solidFill>
              </a:rPr>
              <a:t>Dataset:  </a:t>
            </a:r>
            <a:r>
              <a:rPr lang="en-US"/>
              <a:t>The dataset is compiled from the VinDr </a:t>
            </a:r>
            <a:r>
              <a:rPr lang="en-US" smtClean="0"/>
              <a:t>dataset, supplemented </a:t>
            </a:r>
            <a:r>
              <a:rPr lang="en-US"/>
              <a:t>with data from several hospitals. The number of images we </a:t>
            </a:r>
            <a:r>
              <a:rPr lang="en-US" smtClean="0"/>
              <a:t>use in </a:t>
            </a:r>
            <a:r>
              <a:rPr lang="en-US"/>
              <a:t>the paper includes 242 benign images, 310 malignant images and 493 </a:t>
            </a:r>
            <a:r>
              <a:rPr lang="en-US" smtClean="0"/>
              <a:t>normal images</a:t>
            </a:r>
            <a:r>
              <a:rPr lang="en-US"/>
              <a:t>. The dataset is divided in the ratio of 70:30.</a:t>
            </a: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4" name="Picture 3"/>
          <p:cNvPicPr>
            <a:picLocks noChangeAspect="1"/>
          </p:cNvPicPr>
          <p:nvPr/>
        </p:nvPicPr>
        <p:blipFill>
          <a:blip r:embed="rId3"/>
          <a:stretch>
            <a:fillRect/>
          </a:stretch>
        </p:blipFill>
        <p:spPr>
          <a:xfrm>
            <a:off x="1818256" y="4394277"/>
            <a:ext cx="8753099" cy="2085928"/>
          </a:xfrm>
          <a:prstGeom prst="rect">
            <a:avLst/>
          </a:prstGeom>
        </p:spPr>
      </p:pic>
      <p:sp>
        <p:nvSpPr>
          <p:cNvPr id="5" name="Content Placeholder 1"/>
          <p:cNvSpPr txBox="1">
            <a:spLocks/>
          </p:cNvSpPr>
          <p:nvPr/>
        </p:nvSpPr>
        <p:spPr>
          <a:xfrm>
            <a:off x="296864" y="3946721"/>
            <a:ext cx="11234737" cy="481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smtClean="0">
                <a:solidFill>
                  <a:srgbClr val="0070C0"/>
                </a:solidFill>
              </a:rPr>
              <a:t>Table 2: Proposed scenarios and training parameters</a:t>
            </a:r>
            <a:endParaRPr lang="en-US" sz="2200">
              <a:solidFill>
                <a:srgbClr val="0070C0"/>
              </a:solidFill>
            </a:endParaRPr>
          </a:p>
        </p:txBody>
      </p:sp>
    </p:spTree>
    <p:extLst>
      <p:ext uri="{BB962C8B-B14F-4D97-AF65-F5344CB8AC3E}">
        <p14:creationId xmlns:p14="http://schemas.microsoft.com/office/powerpoint/2010/main" val="1952297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347665" y="5336055"/>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10a. </a:t>
            </a:r>
            <a:r>
              <a:rPr lang="en-US"/>
              <a:t>The chart compares the accuracy and loss of the 6 scenarios.</a:t>
            </a:r>
          </a:p>
        </p:txBody>
      </p:sp>
      <p:pic>
        <p:nvPicPr>
          <p:cNvPr id="7" name="Picture 6"/>
          <p:cNvPicPr>
            <a:picLocks noChangeAspect="1"/>
          </p:cNvPicPr>
          <p:nvPr/>
        </p:nvPicPr>
        <p:blipFill>
          <a:blip r:embed="rId3"/>
          <a:stretch>
            <a:fillRect/>
          </a:stretch>
        </p:blipFill>
        <p:spPr>
          <a:xfrm>
            <a:off x="189897" y="1616448"/>
            <a:ext cx="11738529" cy="3426199"/>
          </a:xfrm>
          <a:prstGeom prst="rect">
            <a:avLst/>
          </a:prstGeom>
        </p:spPr>
      </p:pic>
    </p:spTree>
    <p:extLst>
      <p:ext uri="{BB962C8B-B14F-4D97-AF65-F5344CB8AC3E}">
        <p14:creationId xmlns:p14="http://schemas.microsoft.com/office/powerpoint/2010/main" val="943564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467009" y="5278745"/>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10b. </a:t>
            </a:r>
            <a:r>
              <a:rPr lang="en-US"/>
              <a:t>The chart compares the accuracy and loss of the 6 scenarios.</a:t>
            </a:r>
          </a:p>
        </p:txBody>
      </p:sp>
      <p:pic>
        <p:nvPicPr>
          <p:cNvPr id="4" name="Picture 3"/>
          <p:cNvPicPr>
            <a:picLocks noChangeAspect="1"/>
          </p:cNvPicPr>
          <p:nvPr/>
        </p:nvPicPr>
        <p:blipFill>
          <a:blip r:embed="rId3"/>
          <a:stretch>
            <a:fillRect/>
          </a:stretch>
        </p:blipFill>
        <p:spPr>
          <a:xfrm>
            <a:off x="228321" y="1573866"/>
            <a:ext cx="11739562" cy="3354160"/>
          </a:xfrm>
          <a:prstGeom prst="rect">
            <a:avLst/>
          </a:prstGeom>
        </p:spPr>
      </p:pic>
    </p:spTree>
    <p:extLst>
      <p:ext uri="{BB962C8B-B14F-4D97-AF65-F5344CB8AC3E}">
        <p14:creationId xmlns:p14="http://schemas.microsoft.com/office/powerpoint/2010/main" val="321888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63069"/>
          </a:xfrm>
        </p:spPr>
        <p:txBody>
          <a:bodyPr/>
          <a:lstStyle/>
          <a:p>
            <a:pPr algn="just"/>
            <a:r>
              <a:rPr lang="en-US" smtClean="0"/>
              <a:t>Training results</a:t>
            </a:r>
            <a:endParaRPr lang="en-US"/>
          </a:p>
        </p:txBody>
      </p:sp>
      <p:sp>
        <p:nvSpPr>
          <p:cNvPr id="3" name="Title 2"/>
          <p:cNvSpPr>
            <a:spLocks noGrp="1"/>
          </p:cNvSpPr>
          <p:nvPr>
            <p:ph type="title"/>
          </p:nvPr>
        </p:nvSpPr>
        <p:spPr/>
        <p:txBody>
          <a:bodyPr>
            <a:normAutofit/>
          </a:bodyPr>
          <a:lstStyle/>
          <a:p>
            <a:r>
              <a:rPr lang="en-US" smtClean="0"/>
              <a:t>4. Experimental results</a:t>
            </a:r>
            <a:endParaRPr lang="en-US"/>
          </a:p>
        </p:txBody>
      </p:sp>
      <p:sp>
        <p:nvSpPr>
          <p:cNvPr id="6" name="Content Placeholder 1"/>
          <p:cNvSpPr txBox="1">
            <a:spLocks/>
          </p:cNvSpPr>
          <p:nvPr/>
        </p:nvSpPr>
        <p:spPr>
          <a:xfrm>
            <a:off x="416858" y="5398659"/>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a:t>
            </a:r>
            <a:r>
              <a:rPr lang="en-US" smtClean="0"/>
              <a:t>10c. </a:t>
            </a:r>
            <a:r>
              <a:rPr lang="en-US"/>
              <a:t>The chart compares the accuracy and loss of the 6 scenarios.</a:t>
            </a:r>
          </a:p>
        </p:txBody>
      </p:sp>
      <p:pic>
        <p:nvPicPr>
          <p:cNvPr id="4" name="Picture 3"/>
          <p:cNvPicPr>
            <a:picLocks noChangeAspect="1"/>
          </p:cNvPicPr>
          <p:nvPr/>
        </p:nvPicPr>
        <p:blipFill>
          <a:blip r:embed="rId3"/>
          <a:stretch>
            <a:fillRect/>
          </a:stretch>
        </p:blipFill>
        <p:spPr>
          <a:xfrm>
            <a:off x="192463" y="1856347"/>
            <a:ext cx="11545140" cy="3346176"/>
          </a:xfrm>
          <a:prstGeom prst="rect">
            <a:avLst/>
          </a:prstGeom>
        </p:spPr>
      </p:pic>
    </p:spTree>
    <p:extLst>
      <p:ext uri="{BB962C8B-B14F-4D97-AF65-F5344CB8AC3E}">
        <p14:creationId xmlns:p14="http://schemas.microsoft.com/office/powerpoint/2010/main" val="2294179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918554"/>
            <a:ext cx="11234737" cy="506409"/>
          </a:xfrm>
        </p:spPr>
        <p:txBody>
          <a:bodyPr>
            <a:normAutofit/>
          </a:bodyPr>
          <a:lstStyle/>
          <a:p>
            <a:pPr marL="0" indent="0" algn="ctr">
              <a:buNone/>
            </a:pPr>
            <a:r>
              <a:rPr lang="en-US" sz="2200" smtClean="0">
                <a:solidFill>
                  <a:srgbClr val="0070C0"/>
                </a:solidFill>
              </a:rPr>
              <a:t>Tab 3. Model performance metrics</a:t>
            </a:r>
            <a:endParaRPr lang="en-US" sz="2200">
              <a:solidFill>
                <a:srgbClr val="0070C0"/>
              </a:solidFill>
            </a:endParaRPr>
          </a:p>
        </p:txBody>
      </p:sp>
      <p:sp>
        <p:nvSpPr>
          <p:cNvPr id="3" name="Title 2"/>
          <p:cNvSpPr>
            <a:spLocks noGrp="1"/>
          </p:cNvSpPr>
          <p:nvPr>
            <p:ph type="title"/>
          </p:nvPr>
        </p:nvSpPr>
        <p:spPr/>
        <p:txBody>
          <a:bodyPr>
            <a:normAutofit/>
          </a:bodyPr>
          <a:lstStyle/>
          <a:p>
            <a:r>
              <a:rPr lang="en-US" smtClean="0"/>
              <a:t>4. Experimental results</a:t>
            </a:r>
            <a:endParaRPr lang="en-US"/>
          </a:p>
        </p:txBody>
      </p:sp>
      <p:pic>
        <p:nvPicPr>
          <p:cNvPr id="4" name="Picture 3"/>
          <p:cNvPicPr>
            <a:picLocks noChangeAspect="1"/>
          </p:cNvPicPr>
          <p:nvPr/>
        </p:nvPicPr>
        <p:blipFill>
          <a:blip r:embed="rId3"/>
          <a:stretch>
            <a:fillRect/>
          </a:stretch>
        </p:blipFill>
        <p:spPr>
          <a:xfrm>
            <a:off x="2264146" y="1251516"/>
            <a:ext cx="7844959" cy="5342324"/>
          </a:xfrm>
          <a:prstGeom prst="rect">
            <a:avLst/>
          </a:prstGeom>
        </p:spPr>
      </p:pic>
    </p:spTree>
    <p:extLst>
      <p:ext uri="{BB962C8B-B14F-4D97-AF65-F5344CB8AC3E}">
        <p14:creationId xmlns:p14="http://schemas.microsoft.com/office/powerpoint/2010/main" val="1777845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49" name="Content Placeholder 1"/>
          <p:cNvSpPr>
            <a:spLocks noGrp="1"/>
          </p:cNvSpPr>
          <p:nvPr>
            <p:ph sz="quarter" idx="10"/>
          </p:nvPr>
        </p:nvSpPr>
        <p:spPr>
          <a:xfrm>
            <a:off x="416858" y="6062418"/>
            <a:ext cx="11234737" cy="455609"/>
          </a:xfrm>
        </p:spPr>
        <p:txBody>
          <a:bodyPr>
            <a:normAutofit/>
          </a:bodyPr>
          <a:lstStyle/>
          <a:p>
            <a:pPr marL="0" indent="0" algn="ctr">
              <a:buNone/>
            </a:pPr>
            <a:r>
              <a:rPr lang="en-US" sz="2400" smtClean="0"/>
              <a:t>Fig 11a. Confusion </a:t>
            </a:r>
            <a:r>
              <a:rPr lang="en-US" sz="2400"/>
              <a:t>matrix of the 6 scenarios</a:t>
            </a:r>
          </a:p>
        </p:txBody>
      </p:sp>
      <p:pic>
        <p:nvPicPr>
          <p:cNvPr id="2" name="Picture 1"/>
          <p:cNvPicPr>
            <a:picLocks noChangeAspect="1"/>
          </p:cNvPicPr>
          <p:nvPr/>
        </p:nvPicPr>
        <p:blipFill>
          <a:blip r:embed="rId3"/>
          <a:stretch>
            <a:fillRect/>
          </a:stretch>
        </p:blipFill>
        <p:spPr>
          <a:xfrm>
            <a:off x="238404" y="986119"/>
            <a:ext cx="11268510" cy="4446493"/>
          </a:xfrm>
          <a:prstGeom prst="rect">
            <a:avLst/>
          </a:prstGeom>
        </p:spPr>
      </p:pic>
      <p:sp>
        <p:nvSpPr>
          <p:cNvPr id="50" name="Content Placeholder 1"/>
          <p:cNvSpPr txBox="1">
            <a:spLocks/>
          </p:cNvSpPr>
          <p:nvPr/>
        </p:nvSpPr>
        <p:spPr>
          <a:xfrm>
            <a:off x="537881" y="5606809"/>
            <a:ext cx="11234737" cy="4556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mtClean="0"/>
              <a:t>Scenario 1                                                                Scenario 2</a:t>
            </a:r>
            <a:endParaRPr lang="en-US"/>
          </a:p>
        </p:txBody>
      </p:sp>
    </p:spTree>
    <p:extLst>
      <p:ext uri="{BB962C8B-B14F-4D97-AF65-F5344CB8AC3E}">
        <p14:creationId xmlns:p14="http://schemas.microsoft.com/office/powerpoint/2010/main" val="4204490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49" name="Content Placeholder 1"/>
          <p:cNvSpPr>
            <a:spLocks noGrp="1"/>
          </p:cNvSpPr>
          <p:nvPr>
            <p:ph sz="quarter" idx="10"/>
          </p:nvPr>
        </p:nvSpPr>
        <p:spPr>
          <a:xfrm>
            <a:off x="416858" y="6062418"/>
            <a:ext cx="11234737" cy="455609"/>
          </a:xfrm>
        </p:spPr>
        <p:txBody>
          <a:bodyPr>
            <a:normAutofit/>
          </a:bodyPr>
          <a:lstStyle/>
          <a:p>
            <a:pPr marL="0" indent="0" algn="ctr">
              <a:buNone/>
            </a:pPr>
            <a:r>
              <a:rPr lang="en-US" sz="2400" smtClean="0"/>
              <a:t>Fig 11b. Confusion </a:t>
            </a:r>
            <a:r>
              <a:rPr lang="en-US" sz="2400"/>
              <a:t>matrix of the 6 scenarios</a:t>
            </a:r>
          </a:p>
        </p:txBody>
      </p:sp>
      <p:sp>
        <p:nvSpPr>
          <p:cNvPr id="50" name="Content Placeholder 1"/>
          <p:cNvSpPr txBox="1">
            <a:spLocks/>
          </p:cNvSpPr>
          <p:nvPr/>
        </p:nvSpPr>
        <p:spPr>
          <a:xfrm>
            <a:off x="537881" y="5606809"/>
            <a:ext cx="11234737" cy="4556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mtClean="0"/>
              <a:t>Scenario 3                                                                Scenario 4</a:t>
            </a:r>
            <a:endParaRPr lang="en-US"/>
          </a:p>
        </p:txBody>
      </p:sp>
      <p:pic>
        <p:nvPicPr>
          <p:cNvPr id="4" name="Picture 3"/>
          <p:cNvPicPr>
            <a:picLocks noChangeAspect="1"/>
          </p:cNvPicPr>
          <p:nvPr/>
        </p:nvPicPr>
        <p:blipFill>
          <a:blip r:embed="rId3"/>
          <a:stretch>
            <a:fillRect/>
          </a:stretch>
        </p:blipFill>
        <p:spPr>
          <a:xfrm>
            <a:off x="267477" y="1046765"/>
            <a:ext cx="11754194" cy="4461135"/>
          </a:xfrm>
          <a:prstGeom prst="rect">
            <a:avLst/>
          </a:prstGeom>
        </p:spPr>
      </p:pic>
    </p:spTree>
    <p:extLst>
      <p:ext uri="{BB962C8B-B14F-4D97-AF65-F5344CB8AC3E}">
        <p14:creationId xmlns:p14="http://schemas.microsoft.com/office/powerpoint/2010/main" val="1824321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49" name="Content Placeholder 1"/>
          <p:cNvSpPr>
            <a:spLocks noGrp="1"/>
          </p:cNvSpPr>
          <p:nvPr>
            <p:ph sz="quarter" idx="10"/>
          </p:nvPr>
        </p:nvSpPr>
        <p:spPr>
          <a:xfrm>
            <a:off x="416858" y="6062418"/>
            <a:ext cx="11234737" cy="455609"/>
          </a:xfrm>
        </p:spPr>
        <p:txBody>
          <a:bodyPr>
            <a:normAutofit/>
          </a:bodyPr>
          <a:lstStyle/>
          <a:p>
            <a:pPr marL="0" indent="0" algn="ctr">
              <a:buNone/>
            </a:pPr>
            <a:r>
              <a:rPr lang="en-US" sz="2400" smtClean="0"/>
              <a:t>Fig 11c. Confusion </a:t>
            </a:r>
            <a:r>
              <a:rPr lang="en-US" sz="2400"/>
              <a:t>matrix of the 6 scenarios</a:t>
            </a:r>
          </a:p>
        </p:txBody>
      </p:sp>
      <p:sp>
        <p:nvSpPr>
          <p:cNvPr id="50" name="Content Placeholder 1"/>
          <p:cNvSpPr txBox="1">
            <a:spLocks/>
          </p:cNvSpPr>
          <p:nvPr/>
        </p:nvSpPr>
        <p:spPr>
          <a:xfrm>
            <a:off x="537881" y="5606809"/>
            <a:ext cx="11234737" cy="4556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mtClean="0"/>
              <a:t>Scenario 5                                                                Scenario 6</a:t>
            </a:r>
            <a:endParaRPr lang="en-US"/>
          </a:p>
        </p:txBody>
      </p:sp>
      <p:pic>
        <p:nvPicPr>
          <p:cNvPr id="2" name="Picture 1"/>
          <p:cNvPicPr>
            <a:picLocks noChangeAspect="1"/>
          </p:cNvPicPr>
          <p:nvPr/>
        </p:nvPicPr>
        <p:blipFill>
          <a:blip r:embed="rId3"/>
          <a:stretch>
            <a:fillRect/>
          </a:stretch>
        </p:blipFill>
        <p:spPr>
          <a:xfrm>
            <a:off x="159329" y="1106528"/>
            <a:ext cx="11749794" cy="4500281"/>
          </a:xfrm>
          <a:prstGeom prst="rect">
            <a:avLst/>
          </a:prstGeom>
        </p:spPr>
      </p:pic>
    </p:spTree>
    <p:extLst>
      <p:ext uri="{BB962C8B-B14F-4D97-AF65-F5344CB8AC3E}">
        <p14:creationId xmlns:p14="http://schemas.microsoft.com/office/powerpoint/2010/main" val="2268123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mtClean="0"/>
              <a:t>4. Experimental results</a:t>
            </a:r>
            <a:endParaRPr lang="en-US"/>
          </a:p>
        </p:txBody>
      </p:sp>
      <p:sp>
        <p:nvSpPr>
          <p:cNvPr id="53" name="Content Placeholder 1"/>
          <p:cNvSpPr>
            <a:spLocks noGrp="1"/>
          </p:cNvSpPr>
          <p:nvPr>
            <p:ph sz="quarter" idx="10"/>
          </p:nvPr>
        </p:nvSpPr>
        <p:spPr>
          <a:xfrm>
            <a:off x="416858" y="6210335"/>
            <a:ext cx="11234737" cy="455609"/>
          </a:xfrm>
        </p:spPr>
        <p:txBody>
          <a:bodyPr>
            <a:noAutofit/>
          </a:bodyPr>
          <a:lstStyle/>
          <a:p>
            <a:pPr marL="0" indent="0" algn="ctr">
              <a:buNone/>
            </a:pPr>
            <a:r>
              <a:rPr lang="en-US" sz="1800" smtClean="0"/>
              <a:t>Fig 12. </a:t>
            </a:r>
            <a:r>
              <a:rPr lang="en-US" sz="1800"/>
              <a:t>The classification results on the test set belong to 3 categories: </a:t>
            </a:r>
            <a:r>
              <a:rPr lang="en-US" sz="1800" smtClean="0"/>
              <a:t>benign (a,b,c,d</a:t>
            </a:r>
            <a:r>
              <a:rPr lang="en-US" sz="1800"/>
              <a:t>), malignant (e,f,g,h) and normal (i,j,k,l)</a:t>
            </a:r>
          </a:p>
        </p:txBody>
      </p:sp>
      <p:pic>
        <p:nvPicPr>
          <p:cNvPr id="4" name="Picture 3"/>
          <p:cNvPicPr>
            <a:picLocks noChangeAspect="1"/>
          </p:cNvPicPr>
          <p:nvPr/>
        </p:nvPicPr>
        <p:blipFill>
          <a:blip r:embed="rId3"/>
          <a:stretch>
            <a:fillRect/>
          </a:stretch>
        </p:blipFill>
        <p:spPr>
          <a:xfrm>
            <a:off x="2849178" y="851648"/>
            <a:ext cx="6450465" cy="5410279"/>
          </a:xfrm>
          <a:prstGeom prst="rect">
            <a:avLst/>
          </a:prstGeom>
        </p:spPr>
      </p:pic>
    </p:spTree>
    <p:extLst>
      <p:ext uri="{BB962C8B-B14F-4D97-AF65-F5344CB8AC3E}">
        <p14:creationId xmlns:p14="http://schemas.microsoft.com/office/powerpoint/2010/main" val="8126221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algn="just"/>
            <a:r>
              <a:rPr lang="en-US" sz="2400"/>
              <a:t>W</a:t>
            </a:r>
            <a:r>
              <a:rPr lang="en-US" sz="2400" smtClean="0"/>
              <a:t>e </a:t>
            </a:r>
            <a:r>
              <a:rPr lang="en-US" sz="2400"/>
              <a:t>propose a classification model based on deep learning </a:t>
            </a:r>
            <a:r>
              <a:rPr lang="en-US" sz="2400" smtClean="0"/>
              <a:t>and fuzzy </a:t>
            </a:r>
            <a:r>
              <a:rPr lang="en-US" sz="2400"/>
              <a:t>logic techniques</a:t>
            </a:r>
            <a:r>
              <a:rPr lang="en-US" sz="2400" smtClean="0"/>
              <a:t>.</a:t>
            </a:r>
          </a:p>
          <a:p>
            <a:pPr algn="just"/>
            <a:r>
              <a:rPr lang="en-US" sz="2400" smtClean="0"/>
              <a:t>Fuzzy </a:t>
            </a:r>
            <a:r>
              <a:rPr lang="en-US" sz="2400"/>
              <a:t>logic algorithms are applied to eliminate unimportant features, </a:t>
            </a:r>
            <a:r>
              <a:rPr lang="en-US" sz="2400" smtClean="0"/>
              <a:t>thereby helping </a:t>
            </a:r>
            <a:r>
              <a:rPr lang="en-US" sz="2400"/>
              <a:t>the classification model achieve high performance</a:t>
            </a:r>
            <a:r>
              <a:rPr lang="en-US" sz="2400" smtClean="0"/>
              <a:t>.</a:t>
            </a:r>
          </a:p>
          <a:p>
            <a:pPr algn="just"/>
            <a:r>
              <a:rPr lang="en-US" sz="2400"/>
              <a:t>Experimental </a:t>
            </a:r>
            <a:r>
              <a:rPr lang="en-US" sz="2400" smtClean="0"/>
              <a:t>results demonstrate </a:t>
            </a:r>
            <a:r>
              <a:rPr lang="en-US" sz="2400"/>
              <a:t>that the combined model VGG19_PART achieves an accuracy </a:t>
            </a:r>
            <a:r>
              <a:rPr lang="en-US" sz="2400" smtClean="0"/>
              <a:t>of 94.83%.</a:t>
            </a:r>
          </a:p>
          <a:p>
            <a:pPr algn="just"/>
            <a:r>
              <a:rPr lang="en-US" sz="2400"/>
              <a:t>In the </a:t>
            </a:r>
            <a:r>
              <a:rPr lang="en-US" sz="2400" smtClean="0"/>
              <a:t>future </a:t>
            </a:r>
            <a:r>
              <a:rPr lang="en-US" sz="2400"/>
              <a:t>work, </a:t>
            </a:r>
            <a:r>
              <a:rPr lang="en-US" sz="2400" smtClean="0"/>
              <a:t>we will </a:t>
            </a:r>
            <a:r>
              <a:rPr lang="en-US" sz="2400"/>
              <a:t>compare and improve the rule-generating models and combine </a:t>
            </a:r>
            <a:r>
              <a:rPr lang="en-US" sz="2400" smtClean="0"/>
              <a:t>additional features </a:t>
            </a:r>
            <a:r>
              <a:rPr lang="en-US" sz="2400"/>
              <a:t>such as microcalcifications and tumors on the image to improve </a:t>
            </a:r>
            <a:r>
              <a:rPr lang="en-US" sz="2400" smtClean="0"/>
              <a:t>the accuracy </a:t>
            </a:r>
            <a:r>
              <a:rPr lang="en-US" sz="2400"/>
              <a:t>of the model.</a:t>
            </a:r>
          </a:p>
        </p:txBody>
      </p:sp>
      <p:sp>
        <p:nvSpPr>
          <p:cNvPr id="3" name="Title 2"/>
          <p:cNvSpPr>
            <a:spLocks noGrp="1"/>
          </p:cNvSpPr>
          <p:nvPr>
            <p:ph type="title"/>
          </p:nvPr>
        </p:nvSpPr>
        <p:spPr/>
        <p:txBody>
          <a:bodyPr>
            <a:normAutofit/>
          </a:bodyPr>
          <a:lstStyle/>
          <a:p>
            <a:pPr lvl="0"/>
            <a:r>
              <a:rPr lang="en-US" sz="3600" smtClean="0"/>
              <a:t>5. Conclusion</a:t>
            </a:r>
            <a:endParaRPr lang="en-US"/>
          </a:p>
        </p:txBody>
      </p:sp>
    </p:spTree>
    <p:extLst>
      <p:ext uri="{BB962C8B-B14F-4D97-AF65-F5344CB8AC3E}">
        <p14:creationId xmlns:p14="http://schemas.microsoft.com/office/powerpoint/2010/main" val="21651382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marL="0" indent="0" algn="just">
              <a:buNone/>
            </a:pPr>
            <a:r>
              <a:rPr lang="en-US" sz="2000"/>
              <a:t>[</a:t>
            </a:r>
            <a:r>
              <a:rPr lang="en-US" sz="2000" smtClean="0"/>
              <a:t>1] </a:t>
            </a:r>
            <a:r>
              <a:rPr lang="en-US" sz="2000"/>
              <a:t>A. Chong et al., Digital breast tomosynthesis: concepts and clinical practice, Radi-ology, vol. 292, no. 1, pp. 114, 2019.</a:t>
            </a:r>
          </a:p>
          <a:p>
            <a:pPr marL="0" indent="0" algn="just">
              <a:buNone/>
            </a:pPr>
            <a:r>
              <a:rPr lang="en-US" sz="2000"/>
              <a:t>[</a:t>
            </a:r>
            <a:r>
              <a:rPr lang="en-US" sz="2000" smtClean="0"/>
              <a:t>2] </a:t>
            </a:r>
            <a:r>
              <a:rPr lang="en-US" sz="2000"/>
              <a:t>World Health Organization. Preventing Cancer. 2021. Available </a:t>
            </a:r>
            <a:r>
              <a:rPr lang="en-US" sz="2000" smtClean="0"/>
              <a:t>online:</a:t>
            </a:r>
          </a:p>
          <a:p>
            <a:pPr marL="0" indent="0" algn="just">
              <a:buNone/>
            </a:pPr>
            <a:r>
              <a:rPr lang="en-US" sz="2000" smtClean="0"/>
              <a:t>https://www.who.int/cancer/prevention/diagnosisscreening/breast-cancer/en/</a:t>
            </a:r>
          </a:p>
          <a:p>
            <a:pPr marL="0" indent="0" algn="just">
              <a:buNone/>
            </a:pPr>
            <a:r>
              <a:rPr lang="en-US" sz="2000" smtClean="0"/>
              <a:t>(</a:t>
            </a:r>
            <a:r>
              <a:rPr lang="en-US" sz="2000"/>
              <a:t>accessed on 1 February 2022).</a:t>
            </a:r>
          </a:p>
          <a:p>
            <a:pPr marL="0" indent="0" algn="just">
              <a:buNone/>
            </a:pPr>
            <a:r>
              <a:rPr lang="en-US" sz="2000"/>
              <a:t>[</a:t>
            </a:r>
            <a:r>
              <a:rPr lang="en-US" sz="2000" smtClean="0"/>
              <a:t>3] </a:t>
            </a:r>
            <a:r>
              <a:rPr lang="en-US" sz="2000"/>
              <a:t>Cheng, Heng-Da, and Huijuan Xu. "A novel fuzzy logic approach to </a:t>
            </a:r>
            <a:r>
              <a:rPr lang="en-US" sz="2000" smtClean="0"/>
              <a:t>mammogram contrast </a:t>
            </a:r>
            <a:r>
              <a:rPr lang="en-US" sz="2000"/>
              <a:t>enhancement." Information Sciences 148.1-4 (2002): 167-184.</a:t>
            </a:r>
          </a:p>
          <a:p>
            <a:pPr marL="0" indent="0" algn="just">
              <a:buNone/>
            </a:pPr>
            <a:r>
              <a:rPr lang="en-US" sz="2000"/>
              <a:t>[</a:t>
            </a:r>
            <a:r>
              <a:rPr lang="en-US" sz="2000" smtClean="0"/>
              <a:t>4] </a:t>
            </a:r>
            <a:r>
              <a:rPr lang="en-US" sz="2000"/>
              <a:t>Jiang, Jianmin, Bin Yao, and A. M. Wason. "Integration of fuzzy logic and struc-ture tensor towards mammogram contrast enhancement." Computerized </a:t>
            </a:r>
            <a:r>
              <a:rPr lang="en-US" sz="2000" smtClean="0"/>
              <a:t>Medical Imaging </a:t>
            </a:r>
            <a:r>
              <a:rPr lang="en-US" sz="2000"/>
              <a:t>and Graphics 29.1 (2005): 83-90.</a:t>
            </a:r>
          </a:p>
          <a:p>
            <a:pPr marL="0" indent="0" algn="just">
              <a:buNone/>
            </a:pPr>
            <a:r>
              <a:rPr lang="en-US" sz="2000"/>
              <a:t>[</a:t>
            </a:r>
            <a:r>
              <a:rPr lang="en-US" sz="2000" smtClean="0"/>
              <a:t>5] </a:t>
            </a:r>
            <a:r>
              <a:rPr lang="en-US" sz="2000"/>
              <a:t>Baharuddin, Wan Noor Aziezan, et al. "Type 2 Fuzzy Logic for mammogram </a:t>
            </a:r>
            <a:r>
              <a:rPr lang="en-US" sz="2000" smtClean="0"/>
              <a:t>breast tissue </a:t>
            </a:r>
            <a:r>
              <a:rPr lang="en-US" sz="2000"/>
              <a:t>classification." 2016 International Conference on Industrial Informatics </a:t>
            </a:r>
            <a:r>
              <a:rPr lang="en-US" sz="2000" smtClean="0"/>
              <a:t>and Computer </a:t>
            </a:r>
            <a:r>
              <a:rPr lang="en-US" sz="2000"/>
              <a:t>Systems (CIICS). IEEE, 2016.</a:t>
            </a:r>
          </a:p>
          <a:p>
            <a:pPr marL="0" indent="0" algn="just">
              <a:buNone/>
            </a:pPr>
            <a:r>
              <a:rPr lang="en-US" sz="2000"/>
              <a:t>[</a:t>
            </a:r>
            <a:r>
              <a:rPr lang="en-US" sz="2000" smtClean="0"/>
              <a:t>6] </a:t>
            </a:r>
            <a:r>
              <a:rPr lang="en-US" sz="2000"/>
              <a:t>Khattar, Anuradha, and S. M. K. Quadri. "Generalization of convolutional net-work to domain adaptation network for classification of disaster images on twitter</a:t>
            </a:r>
            <a:r>
              <a:rPr lang="en-US" sz="2000" smtClean="0"/>
              <a:t>.“ Multimedia </a:t>
            </a:r>
            <a:r>
              <a:rPr lang="en-US" sz="2000"/>
              <a:t>Tools and Applications 81.21 (2022): 30437-30464.</a:t>
            </a:r>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7117486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marL="0" indent="0" algn="just">
              <a:buNone/>
            </a:pPr>
            <a:r>
              <a:rPr lang="en-US" sz="2000" smtClean="0"/>
              <a:t>[7] </a:t>
            </a:r>
            <a:r>
              <a:rPr lang="en-US" sz="2000"/>
              <a:t>He, Kaiming, et al. "Deep residual learning for image recognition." Proceedings </a:t>
            </a:r>
            <a:r>
              <a:rPr lang="en-US" sz="2000" smtClean="0"/>
              <a:t>of the </a:t>
            </a:r>
            <a:r>
              <a:rPr lang="en-US" sz="2000"/>
              <a:t>IEEE conference on computer vision and pattern recognition. 2016.</a:t>
            </a:r>
          </a:p>
          <a:p>
            <a:pPr marL="0" indent="0" algn="just">
              <a:buNone/>
            </a:pPr>
            <a:r>
              <a:rPr lang="en-US" sz="2000"/>
              <a:t>[</a:t>
            </a:r>
            <a:r>
              <a:rPr lang="en-US" sz="2000" smtClean="0"/>
              <a:t>8] </a:t>
            </a:r>
            <a:r>
              <a:rPr lang="en-US" sz="2000"/>
              <a:t>S. Arora and A. Kaur, Modified edge detection technique using fuzzy </a:t>
            </a:r>
            <a:r>
              <a:rPr lang="en-US" sz="2000" smtClean="0"/>
              <a:t>inference system</a:t>
            </a:r>
            <a:r>
              <a:rPr lang="en-US" sz="2000"/>
              <a:t>, International Journal of Computer Applications, vol. 44, no. 22, pp. </a:t>
            </a:r>
            <a:r>
              <a:rPr lang="en-US" sz="2000" smtClean="0"/>
              <a:t>91, 2012</a:t>
            </a:r>
            <a:r>
              <a:rPr lang="en-US" sz="2000"/>
              <a:t>.</a:t>
            </a:r>
          </a:p>
          <a:p>
            <a:pPr marL="0" indent="0" algn="just">
              <a:buNone/>
            </a:pPr>
            <a:r>
              <a:rPr lang="en-US" sz="2000"/>
              <a:t>[</a:t>
            </a:r>
            <a:r>
              <a:rPr lang="en-US" sz="2000" smtClean="0"/>
              <a:t>9] </a:t>
            </a:r>
            <a:r>
              <a:rPr lang="en-US" sz="2000"/>
              <a:t>J. Hui, "mAP (mean Average Precision) for Object Detection", 2018.</a:t>
            </a:r>
          </a:p>
          <a:p>
            <a:pPr marL="0" indent="0" algn="just">
              <a:buNone/>
            </a:pPr>
            <a:r>
              <a:rPr lang="en-US" sz="2000"/>
              <a:t>[</a:t>
            </a:r>
            <a:r>
              <a:rPr lang="en-US" sz="2000" smtClean="0"/>
              <a:t>10] </a:t>
            </a:r>
            <a:r>
              <a:rPr lang="en-US" sz="2000"/>
              <a:t>Cohen, William W., and Yoram Singer. "A simple, fast, and effective rule learner</a:t>
            </a:r>
            <a:r>
              <a:rPr lang="en-US" sz="2000" smtClean="0"/>
              <a:t>.“ AAAI/IAAI </a:t>
            </a:r>
            <a:r>
              <a:rPr lang="en-US" sz="2000"/>
              <a:t>99.335-342 (1999): 3.</a:t>
            </a:r>
          </a:p>
          <a:p>
            <a:pPr marL="0" indent="0" algn="just">
              <a:buNone/>
            </a:pPr>
            <a:r>
              <a:rPr lang="en-US" sz="2000"/>
              <a:t>[</a:t>
            </a:r>
            <a:r>
              <a:rPr lang="en-US" sz="2000" smtClean="0"/>
              <a:t>11] </a:t>
            </a:r>
            <a:r>
              <a:rPr lang="en-US" sz="2000"/>
              <a:t>Quinlan, J. Ross. "Induction of decision trees." Machine learning 1 (1986): 81-106.</a:t>
            </a:r>
          </a:p>
          <a:p>
            <a:pPr marL="0" indent="0" algn="just">
              <a:buNone/>
            </a:pPr>
            <a:r>
              <a:rPr lang="en-US" sz="2000"/>
              <a:t>[</a:t>
            </a:r>
            <a:r>
              <a:rPr lang="en-US" sz="2000" smtClean="0"/>
              <a:t>12] </a:t>
            </a:r>
            <a:r>
              <a:rPr lang="en-US" sz="2000"/>
              <a:t>Zadeh, Lotfi Asker. "A fuzzy-algorithmic approach to the definition of </a:t>
            </a:r>
            <a:r>
              <a:rPr lang="en-US" sz="2000" smtClean="0"/>
              <a:t>complex or </a:t>
            </a:r>
            <a:r>
              <a:rPr lang="en-US" sz="2000"/>
              <a:t>imprecise concepts." International Journal of Man-machine studies 8.3 (1976</a:t>
            </a:r>
            <a:r>
              <a:rPr lang="en-US" sz="2000" smtClean="0"/>
              <a:t>):249-291</a:t>
            </a:r>
            <a:r>
              <a:rPr lang="en-US" sz="2000"/>
              <a:t>.</a:t>
            </a:r>
          </a:p>
        </p:txBody>
      </p:sp>
      <p:sp>
        <p:nvSpPr>
          <p:cNvPr id="3" name="Title 2"/>
          <p:cNvSpPr>
            <a:spLocks noGrp="1"/>
          </p:cNvSpPr>
          <p:nvPr>
            <p:ph type="title"/>
          </p:nvPr>
        </p:nvSpPr>
        <p:spPr/>
        <p:txBody>
          <a:bodyPr/>
          <a:lstStyle/>
          <a:p>
            <a:r>
              <a:rPr lang="en-US" smtClean="0"/>
              <a:t>References</a:t>
            </a:r>
            <a:endParaRPr lang="en-US"/>
          </a:p>
        </p:txBody>
      </p:sp>
    </p:spTree>
    <p:extLst>
      <p:ext uri="{BB962C8B-B14F-4D97-AF65-F5344CB8AC3E}">
        <p14:creationId xmlns:p14="http://schemas.microsoft.com/office/powerpoint/2010/main" val="2686455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ÀNH PHỐ HỒ CHÍ MINH - Thành phố đáng sống, vươn mình trong kỷ nguyên mớ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1084242" y="811505"/>
            <a:ext cx="7467600" cy="638484"/>
          </a:xfrm>
        </p:spPr>
        <p:txBody>
          <a:bodyPr>
            <a:noAutofit/>
          </a:bodyPr>
          <a:lstStyle/>
          <a:p>
            <a:pPr algn="ctr"/>
            <a:r>
              <a:rPr lang="en-US" sz="4800" smtClean="0"/>
              <a:t>THANK YOU FOR </a:t>
            </a:r>
            <a:br>
              <a:rPr lang="en-US" sz="4800" smtClean="0"/>
            </a:br>
            <a:r>
              <a:rPr lang="en-US" sz="4800" smtClean="0"/>
              <a:t>YOUR ATTENTION !!!</a:t>
            </a:r>
            <a:endParaRPr lang="en-US" sz="4800"/>
          </a:p>
        </p:txBody>
      </p:sp>
    </p:spTree>
    <p:extLst>
      <p:ext uri="{BB962C8B-B14F-4D97-AF65-F5344CB8AC3E}">
        <p14:creationId xmlns:p14="http://schemas.microsoft.com/office/powerpoint/2010/main" val="25309953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vestor Social Media by Slidesgo">
  <a:themeElements>
    <a:clrScheme name="Simple Light">
      <a:dk1>
        <a:srgbClr val="07105C"/>
      </a:dk1>
      <a:lt1>
        <a:srgbClr val="FFFFFF"/>
      </a:lt1>
      <a:dk2>
        <a:srgbClr val="FDE571"/>
      </a:dk2>
      <a:lt2>
        <a:srgbClr val="8FCEF9"/>
      </a:lt2>
      <a:accent1>
        <a:srgbClr val="07105C"/>
      </a:accent1>
      <a:accent2>
        <a:srgbClr val="5664E1"/>
      </a:accent2>
      <a:accent3>
        <a:srgbClr val="1226DB"/>
      </a:accent3>
      <a:accent4>
        <a:srgbClr val="23295C"/>
      </a:accent4>
      <a:accent5>
        <a:srgbClr val="0E1DA8"/>
      </a:accent5>
      <a:accent6>
        <a:srgbClr val="FFB127"/>
      </a:accent6>
      <a:hlink>
        <a:srgbClr val="E1D4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16465</TotalTime>
  <Words>4225</Words>
  <Application>Microsoft Office PowerPoint</Application>
  <PresentationFormat>Widescreen</PresentationFormat>
  <Paragraphs>209</Paragraphs>
  <Slides>29</Slides>
  <Notes>26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29</vt:i4>
      </vt:variant>
    </vt:vector>
  </HeadingPairs>
  <TitlesOfParts>
    <vt:vector size="42" baseType="lpstr">
      <vt:lpstr>Arial</vt:lpstr>
      <vt:lpstr>Calibri</vt:lpstr>
      <vt:lpstr>Calibri Light</vt:lpstr>
      <vt:lpstr>Cambria</vt:lpstr>
      <vt:lpstr>Cambria Math</vt:lpstr>
      <vt:lpstr>Montserrat</vt:lpstr>
      <vt:lpstr>Open Sans</vt:lpstr>
      <vt:lpstr>Segoe UI</vt:lpstr>
      <vt:lpstr>Segoe UI Black</vt:lpstr>
      <vt:lpstr>Times New Roman</vt:lpstr>
      <vt:lpstr>Ubuntu</vt:lpstr>
      <vt:lpstr>Office Theme</vt:lpstr>
      <vt:lpstr>Investor Social Media by Slidesgo</vt:lpstr>
      <vt:lpstr>PowerPoint Presentation</vt:lpstr>
      <vt:lpstr>CONTENT</vt:lpstr>
      <vt:lpstr>1. Introduction</vt:lpstr>
      <vt:lpstr>1. Introduction</vt:lpstr>
      <vt:lpstr>1. Introduction</vt:lpstr>
      <vt:lpstr>2. Related works</vt:lpstr>
      <vt:lpstr>2. Related works</vt:lpstr>
      <vt:lpstr>2. Related works</vt:lpstr>
      <vt:lpstr>2. Related works</vt:lpstr>
      <vt:lpstr>2. Related works</vt:lpstr>
      <vt:lpstr>2. Related works</vt:lpstr>
      <vt:lpstr>2. Related works</vt:lpstr>
      <vt:lpstr>2. Related works</vt:lpstr>
      <vt:lpstr>3. Proposed Method</vt:lpstr>
      <vt:lpstr>3. Proposed Method</vt:lpstr>
      <vt:lpstr>3. Proposed Method</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5. Conclusion</vt:lpstr>
      <vt:lpstr>References</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dat</cp:lastModifiedBy>
  <cp:revision>242</cp:revision>
  <dcterms:created xsi:type="dcterms:W3CDTF">2023-08-27T11:42:50Z</dcterms:created>
  <dcterms:modified xsi:type="dcterms:W3CDTF">2025-07-23T03:19:05Z</dcterms:modified>
</cp:coreProperties>
</file>