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8" r:id="rId1"/>
    <p:sldMasterId id="2147483863" r:id="rId2"/>
  </p:sldMasterIdLst>
  <p:notesMasterIdLst>
    <p:notesMasterId r:id="rId30"/>
  </p:notesMasterIdLst>
  <p:sldIdLst>
    <p:sldId id="291" r:id="rId3"/>
    <p:sldId id="338" r:id="rId4"/>
    <p:sldId id="292" r:id="rId5"/>
    <p:sldId id="323" r:id="rId6"/>
    <p:sldId id="337" r:id="rId7"/>
    <p:sldId id="324" r:id="rId8"/>
    <p:sldId id="325" r:id="rId9"/>
    <p:sldId id="344" r:id="rId10"/>
    <p:sldId id="343" r:id="rId11"/>
    <p:sldId id="302" r:id="rId12"/>
    <p:sldId id="300" r:id="rId13"/>
    <p:sldId id="301" r:id="rId14"/>
    <p:sldId id="330" r:id="rId15"/>
    <p:sldId id="345" r:id="rId16"/>
    <p:sldId id="304" r:id="rId17"/>
    <p:sldId id="306" r:id="rId18"/>
    <p:sldId id="342" r:id="rId19"/>
    <p:sldId id="346" r:id="rId20"/>
    <p:sldId id="348" r:id="rId21"/>
    <p:sldId id="320" r:id="rId22"/>
    <p:sldId id="347" r:id="rId23"/>
    <p:sldId id="333" r:id="rId24"/>
    <p:sldId id="349" r:id="rId25"/>
    <p:sldId id="350" r:id="rId26"/>
    <p:sldId id="316" r:id="rId27"/>
    <p:sldId id="318" r:id="rId28"/>
    <p:sldId id="317" r:id="rId29"/>
  </p:sldIdLst>
  <p:sldSz cx="12192000" cy="6858000"/>
  <p:notesSz cx="6858000" cy="9144000"/>
  <p:defaultTextStyle>
    <a:defPPr>
      <a:defRPr lang="e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EF8"/>
    <a:srgbClr val="E8DEF0"/>
    <a:srgbClr val="CCD2DE"/>
    <a:srgbClr val="E2E5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1" autoAdjust="0"/>
    <p:restoredTop sz="95256" autoAdjust="0"/>
  </p:normalViewPr>
  <p:slideViewPr>
    <p:cSldViewPr snapToGrid="0">
      <p:cViewPr varScale="1">
        <p:scale>
          <a:sx n="79" d="100"/>
          <a:sy n="79" d="100"/>
        </p:scale>
        <p:origin x="590" y="67"/>
      </p:cViewPr>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DC321E-919F-40A1-8B4F-ED3C173FFBB6}" type="doc">
      <dgm:prSet loTypeId="urn:microsoft.com/office/officeart/2008/layout/LinedList" loCatId="list" qsTypeId="urn:microsoft.com/office/officeart/2005/8/quickstyle/simple5" qsCatId="simple" csTypeId="urn:microsoft.com/office/officeart/2005/8/colors/colorful4" csCatId="colorful" phldr="1"/>
      <dgm:spPr/>
      <dgm:t>
        <a:bodyPr/>
        <a:lstStyle/>
        <a:p>
          <a:endParaRPr lang="en-US"/>
        </a:p>
      </dgm:t>
    </dgm:pt>
    <dgm:pt modelId="{4BA853E3-6B37-4EEE-B870-270D9575B883}">
      <dgm:prSet phldrT="[Text]" custT="1"/>
      <dgm:spPr/>
      <dgm:t>
        <a:bodyPr/>
        <a:lstStyle/>
        <a:p>
          <a:r>
            <a:rPr lang="en-US" sz="3000">
              <a:latin typeface="Cambria" panose="02040503050406030204" pitchFamily="18" charset="0"/>
              <a:ea typeface="Cambria" panose="02040503050406030204" pitchFamily="18" charset="0"/>
            </a:rPr>
            <a:t>1. Introduction</a:t>
          </a:r>
        </a:p>
      </dgm:t>
    </dgm:pt>
    <dgm:pt modelId="{B938A720-C0A3-4115-8161-C8FCE398629C}" type="par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071A486A-321D-4A92-BE28-65AAC3811270}" type="sibTrans" cxnId="{FC182781-9477-4EB9-9FA0-4C7D5B1C629C}">
      <dgm:prSet/>
      <dgm:spPr/>
      <dgm:t>
        <a:bodyPr/>
        <a:lstStyle/>
        <a:p>
          <a:endParaRPr lang="en-US" sz="3000">
            <a:latin typeface="Cambria" panose="02040503050406030204" pitchFamily="18" charset="0"/>
            <a:ea typeface="Cambria" panose="02040503050406030204" pitchFamily="18" charset="0"/>
          </a:endParaRPr>
        </a:p>
      </dgm:t>
    </dgm:pt>
    <dgm:pt modelId="{CB6C174C-AD39-4F32-A69C-1943F6FCA0AD}">
      <dgm:prSet phldrT="[Text]" custT="1"/>
      <dgm:spPr/>
      <dgm:t>
        <a:bodyPr/>
        <a:lstStyle/>
        <a:p>
          <a:r>
            <a:rPr lang="en-US" sz="3000">
              <a:latin typeface="Cambria" panose="02040503050406030204" pitchFamily="18" charset="0"/>
              <a:ea typeface="Cambria" panose="02040503050406030204" pitchFamily="18" charset="0"/>
            </a:rPr>
            <a:t>2. Related works</a:t>
          </a:r>
        </a:p>
      </dgm:t>
    </dgm:pt>
    <dgm:pt modelId="{0AA1EE46-3B6A-4F62-B357-F1F7AF7FC0BC}" type="par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83720B8D-FA55-4AE0-A459-962B549F5280}" type="sibTrans" cxnId="{677F619D-B3EA-476F-BEBF-B926C1E99BD2}">
      <dgm:prSet/>
      <dgm:spPr/>
      <dgm:t>
        <a:bodyPr/>
        <a:lstStyle/>
        <a:p>
          <a:endParaRPr lang="en-US" sz="3000">
            <a:latin typeface="Cambria" panose="02040503050406030204" pitchFamily="18" charset="0"/>
            <a:ea typeface="Cambria" panose="02040503050406030204" pitchFamily="18" charset="0"/>
          </a:endParaRPr>
        </a:p>
      </dgm:t>
    </dgm:pt>
    <dgm:pt modelId="{37067F57-594D-497F-A5AB-F04E94E155CB}">
      <dgm:prSet phldrT="[Text]" custT="1"/>
      <dgm:spPr/>
      <dgm:t>
        <a:bodyPr/>
        <a:lstStyle/>
        <a:p>
          <a:r>
            <a:rPr lang="en-US" sz="3000">
              <a:latin typeface="Cambria" panose="02040503050406030204" pitchFamily="18" charset="0"/>
              <a:ea typeface="Cambria" panose="02040503050406030204" pitchFamily="18" charset="0"/>
            </a:rPr>
            <a:t>3. Proposed method</a:t>
          </a:r>
        </a:p>
      </dgm:t>
    </dgm:pt>
    <dgm:pt modelId="{1E020827-09FF-4E02-B615-50794545DE9F}" type="par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533DCD23-C3A5-41AD-AD95-529064A32B00}" type="sibTrans" cxnId="{3AA3E95A-EC8E-4F3D-B5EE-E17DFA3741F3}">
      <dgm:prSet/>
      <dgm:spPr/>
      <dgm:t>
        <a:bodyPr/>
        <a:lstStyle/>
        <a:p>
          <a:endParaRPr lang="en-US" sz="3000">
            <a:latin typeface="Cambria" panose="02040503050406030204" pitchFamily="18" charset="0"/>
            <a:ea typeface="Cambria" panose="02040503050406030204" pitchFamily="18" charset="0"/>
          </a:endParaRPr>
        </a:p>
      </dgm:t>
    </dgm:pt>
    <dgm:pt modelId="{84B520AF-6E48-49D1-8641-105A3D363435}">
      <dgm:prSet phldrT="[Text]" custT="1"/>
      <dgm:spPr/>
      <dgm:t>
        <a:bodyPr/>
        <a:lstStyle/>
        <a:p>
          <a:r>
            <a:rPr lang="en-US" sz="3000">
              <a:latin typeface="Cambria" panose="02040503050406030204" pitchFamily="18" charset="0"/>
              <a:ea typeface="Cambria" panose="02040503050406030204" pitchFamily="18" charset="0"/>
            </a:rPr>
            <a:t>5. Conclusion</a:t>
          </a:r>
        </a:p>
      </dgm:t>
    </dgm:pt>
    <dgm:pt modelId="{508F2D6B-B0B0-4897-8C35-3A5B28264CC6}" type="par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B64573C5-9254-4F89-A13E-F786D9BAAC1E}" type="sibTrans" cxnId="{BA6BDDE7-BFE1-4D90-BC18-81266B27FE9B}">
      <dgm:prSet/>
      <dgm:spPr/>
      <dgm:t>
        <a:bodyPr/>
        <a:lstStyle/>
        <a:p>
          <a:endParaRPr lang="en-US" sz="3000">
            <a:latin typeface="Cambria" panose="02040503050406030204" pitchFamily="18" charset="0"/>
            <a:ea typeface="Cambria" panose="02040503050406030204" pitchFamily="18" charset="0"/>
          </a:endParaRPr>
        </a:p>
      </dgm:t>
    </dgm:pt>
    <dgm:pt modelId="{0D8CC914-4B79-45E6-9C9B-673327DDFF32}">
      <dgm:prSet phldrT="[Text]" custT="1"/>
      <dgm:spPr/>
      <dgm:t>
        <a:bodyPr/>
        <a:lstStyle/>
        <a:p>
          <a:r>
            <a:rPr lang="en-US" sz="3000">
              <a:latin typeface="Cambria" panose="02040503050406030204" pitchFamily="18" charset="0"/>
              <a:ea typeface="Cambria" panose="02040503050406030204" pitchFamily="18" charset="0"/>
            </a:rPr>
            <a:t>4. Experimental results</a:t>
          </a:r>
        </a:p>
      </dgm:t>
    </dgm:pt>
    <dgm:pt modelId="{025631BD-4CEA-49DE-8217-3B1DD224ADBF}" type="par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C4509E76-E84D-4436-8DEB-B59749AF7C35}" type="sibTrans" cxnId="{CC9C8BCC-1D4C-4132-8C8E-BA6FC3A35174}">
      <dgm:prSet/>
      <dgm:spPr/>
      <dgm:t>
        <a:bodyPr/>
        <a:lstStyle/>
        <a:p>
          <a:endParaRPr lang="en-US" sz="3000">
            <a:latin typeface="Cambria" panose="02040503050406030204" pitchFamily="18" charset="0"/>
            <a:ea typeface="Cambria" panose="02040503050406030204" pitchFamily="18" charset="0"/>
          </a:endParaRPr>
        </a:p>
      </dgm:t>
    </dgm:pt>
    <dgm:pt modelId="{B5E66452-C6DE-444C-B18C-B6A371B1653C}" type="pres">
      <dgm:prSet presAssocID="{AEDC321E-919F-40A1-8B4F-ED3C173FFBB6}" presName="vert0" presStyleCnt="0">
        <dgm:presLayoutVars>
          <dgm:dir/>
          <dgm:animOne val="branch"/>
          <dgm:animLvl val="lvl"/>
        </dgm:presLayoutVars>
      </dgm:prSet>
      <dgm:spPr/>
    </dgm:pt>
    <dgm:pt modelId="{D15B6E73-FB71-4972-95FD-77CC89B41F9B}" type="pres">
      <dgm:prSet presAssocID="{4BA853E3-6B37-4EEE-B870-270D9575B883}" presName="thickLine" presStyleLbl="alignNode1" presStyleIdx="0" presStyleCnt="5"/>
      <dgm:spPr/>
    </dgm:pt>
    <dgm:pt modelId="{DCE577C6-78D9-4E48-B19F-F1E4B645F0BB}" type="pres">
      <dgm:prSet presAssocID="{4BA853E3-6B37-4EEE-B870-270D9575B883}" presName="horz1" presStyleCnt="0"/>
      <dgm:spPr/>
    </dgm:pt>
    <dgm:pt modelId="{02C8D4F3-BF6D-4972-A216-41FFBF8E4EA3}" type="pres">
      <dgm:prSet presAssocID="{4BA853E3-6B37-4EEE-B870-270D9575B883}" presName="tx1" presStyleLbl="revTx" presStyleIdx="0" presStyleCnt="5"/>
      <dgm:spPr/>
    </dgm:pt>
    <dgm:pt modelId="{816935F0-8156-4157-AC70-B5E9DB1E570D}" type="pres">
      <dgm:prSet presAssocID="{4BA853E3-6B37-4EEE-B870-270D9575B883}" presName="vert1" presStyleCnt="0"/>
      <dgm:spPr/>
    </dgm:pt>
    <dgm:pt modelId="{4E808DA8-2AE3-4AFB-953F-585D5A7EB9C1}" type="pres">
      <dgm:prSet presAssocID="{CB6C174C-AD39-4F32-A69C-1943F6FCA0AD}" presName="thickLine" presStyleLbl="alignNode1" presStyleIdx="1" presStyleCnt="5"/>
      <dgm:spPr/>
    </dgm:pt>
    <dgm:pt modelId="{B7BC5993-A808-4A3C-BF44-6614B68AFDDB}" type="pres">
      <dgm:prSet presAssocID="{CB6C174C-AD39-4F32-A69C-1943F6FCA0AD}" presName="horz1" presStyleCnt="0"/>
      <dgm:spPr/>
    </dgm:pt>
    <dgm:pt modelId="{6938AA73-F497-4DF4-AE51-AE7EEAD34742}" type="pres">
      <dgm:prSet presAssocID="{CB6C174C-AD39-4F32-A69C-1943F6FCA0AD}" presName="tx1" presStyleLbl="revTx" presStyleIdx="1" presStyleCnt="5"/>
      <dgm:spPr/>
    </dgm:pt>
    <dgm:pt modelId="{FEDB7669-F822-4BF0-88A3-48DCB4B25957}" type="pres">
      <dgm:prSet presAssocID="{CB6C174C-AD39-4F32-A69C-1943F6FCA0AD}" presName="vert1" presStyleCnt="0"/>
      <dgm:spPr/>
    </dgm:pt>
    <dgm:pt modelId="{4308F9AB-48F2-46B1-9CA8-1959138D1D80}" type="pres">
      <dgm:prSet presAssocID="{37067F57-594D-497F-A5AB-F04E94E155CB}" presName="thickLine" presStyleLbl="alignNode1" presStyleIdx="2" presStyleCnt="5"/>
      <dgm:spPr/>
    </dgm:pt>
    <dgm:pt modelId="{04E80DB8-55DE-4361-B26F-7C55C61822EA}" type="pres">
      <dgm:prSet presAssocID="{37067F57-594D-497F-A5AB-F04E94E155CB}" presName="horz1" presStyleCnt="0"/>
      <dgm:spPr/>
    </dgm:pt>
    <dgm:pt modelId="{8576C280-DD3B-4AAF-8437-2548F119716B}" type="pres">
      <dgm:prSet presAssocID="{37067F57-594D-497F-A5AB-F04E94E155CB}" presName="tx1" presStyleLbl="revTx" presStyleIdx="2" presStyleCnt="5"/>
      <dgm:spPr/>
    </dgm:pt>
    <dgm:pt modelId="{561966BE-2A67-4FC7-9E61-4B327F7BDBBD}" type="pres">
      <dgm:prSet presAssocID="{37067F57-594D-497F-A5AB-F04E94E155CB}" presName="vert1" presStyleCnt="0"/>
      <dgm:spPr/>
    </dgm:pt>
    <dgm:pt modelId="{96B7D6FF-2747-46D5-93BF-1905EBD4904C}" type="pres">
      <dgm:prSet presAssocID="{0D8CC914-4B79-45E6-9C9B-673327DDFF32}" presName="thickLine" presStyleLbl="alignNode1" presStyleIdx="3" presStyleCnt="5"/>
      <dgm:spPr/>
    </dgm:pt>
    <dgm:pt modelId="{346F5498-54F7-4D76-9C9E-E64BA5E6463A}" type="pres">
      <dgm:prSet presAssocID="{0D8CC914-4B79-45E6-9C9B-673327DDFF32}" presName="horz1" presStyleCnt="0"/>
      <dgm:spPr/>
    </dgm:pt>
    <dgm:pt modelId="{21A1ACD9-52D2-437A-9BD0-3C4F0E44D96C}" type="pres">
      <dgm:prSet presAssocID="{0D8CC914-4B79-45E6-9C9B-673327DDFF32}" presName="tx1" presStyleLbl="revTx" presStyleIdx="3" presStyleCnt="5"/>
      <dgm:spPr/>
    </dgm:pt>
    <dgm:pt modelId="{77018FBE-4480-4F5B-ADE0-12E8E068DA54}" type="pres">
      <dgm:prSet presAssocID="{0D8CC914-4B79-45E6-9C9B-673327DDFF32}" presName="vert1" presStyleCnt="0"/>
      <dgm:spPr/>
    </dgm:pt>
    <dgm:pt modelId="{7DBE17F3-C781-428E-B04E-23DCB85D206A}" type="pres">
      <dgm:prSet presAssocID="{84B520AF-6E48-49D1-8641-105A3D363435}" presName="thickLine" presStyleLbl="alignNode1" presStyleIdx="4" presStyleCnt="5"/>
      <dgm:spPr/>
    </dgm:pt>
    <dgm:pt modelId="{BBF4FC03-4390-4184-A6A4-52832F83DDC2}" type="pres">
      <dgm:prSet presAssocID="{84B520AF-6E48-49D1-8641-105A3D363435}" presName="horz1" presStyleCnt="0"/>
      <dgm:spPr/>
    </dgm:pt>
    <dgm:pt modelId="{09946E45-62C8-4278-B199-DF9B4ED47DEA}" type="pres">
      <dgm:prSet presAssocID="{84B520AF-6E48-49D1-8641-105A3D363435}" presName="tx1" presStyleLbl="revTx" presStyleIdx="4" presStyleCnt="5"/>
      <dgm:spPr/>
    </dgm:pt>
    <dgm:pt modelId="{066009DE-787B-4FB9-A67F-DA8CF24EA028}" type="pres">
      <dgm:prSet presAssocID="{84B520AF-6E48-49D1-8641-105A3D363435}" presName="vert1" presStyleCnt="0"/>
      <dgm:spPr/>
    </dgm:pt>
  </dgm:ptLst>
  <dgm:cxnLst>
    <dgm:cxn modelId="{BAB1171B-ADD5-4B64-8E17-BC8FC85E8BC7}" type="presOf" srcId="{37067F57-594D-497F-A5AB-F04E94E155CB}" destId="{8576C280-DD3B-4AAF-8437-2548F119716B}" srcOrd="0" destOrd="0" presId="urn:microsoft.com/office/officeart/2008/layout/LinedList"/>
    <dgm:cxn modelId="{E031A03C-7106-4831-935A-C2802363C003}" type="presOf" srcId="{4BA853E3-6B37-4EEE-B870-270D9575B883}" destId="{02C8D4F3-BF6D-4972-A216-41FFBF8E4EA3}" srcOrd="0" destOrd="0" presId="urn:microsoft.com/office/officeart/2008/layout/LinedList"/>
    <dgm:cxn modelId="{1655883E-C540-4AAD-8440-095E15845157}" type="presOf" srcId="{84B520AF-6E48-49D1-8641-105A3D363435}" destId="{09946E45-62C8-4278-B199-DF9B4ED47DEA}" srcOrd="0" destOrd="0" presId="urn:microsoft.com/office/officeart/2008/layout/LinedList"/>
    <dgm:cxn modelId="{5ABD5B5D-5DCE-4921-89AE-23D957E0BBD8}" type="presOf" srcId="{0D8CC914-4B79-45E6-9C9B-673327DDFF32}" destId="{21A1ACD9-52D2-437A-9BD0-3C4F0E44D96C}" srcOrd="0" destOrd="0" presId="urn:microsoft.com/office/officeart/2008/layout/LinedList"/>
    <dgm:cxn modelId="{643C0F74-3A63-4DB7-AA3A-8378660E7FE8}" type="presOf" srcId="{AEDC321E-919F-40A1-8B4F-ED3C173FFBB6}" destId="{B5E66452-C6DE-444C-B18C-B6A371B1653C}" srcOrd="0" destOrd="0" presId="urn:microsoft.com/office/officeart/2008/layout/LinedList"/>
    <dgm:cxn modelId="{3AA3E95A-EC8E-4F3D-B5EE-E17DFA3741F3}" srcId="{AEDC321E-919F-40A1-8B4F-ED3C173FFBB6}" destId="{37067F57-594D-497F-A5AB-F04E94E155CB}" srcOrd="2" destOrd="0" parTransId="{1E020827-09FF-4E02-B615-50794545DE9F}" sibTransId="{533DCD23-C3A5-41AD-AD95-529064A32B00}"/>
    <dgm:cxn modelId="{FC182781-9477-4EB9-9FA0-4C7D5B1C629C}" srcId="{AEDC321E-919F-40A1-8B4F-ED3C173FFBB6}" destId="{4BA853E3-6B37-4EEE-B870-270D9575B883}" srcOrd="0" destOrd="0" parTransId="{B938A720-C0A3-4115-8161-C8FCE398629C}" sibTransId="{071A486A-321D-4A92-BE28-65AAC3811270}"/>
    <dgm:cxn modelId="{677F619D-B3EA-476F-BEBF-B926C1E99BD2}" srcId="{AEDC321E-919F-40A1-8B4F-ED3C173FFBB6}" destId="{CB6C174C-AD39-4F32-A69C-1943F6FCA0AD}" srcOrd="1" destOrd="0" parTransId="{0AA1EE46-3B6A-4F62-B357-F1F7AF7FC0BC}" sibTransId="{83720B8D-FA55-4AE0-A459-962B549F5280}"/>
    <dgm:cxn modelId="{CC9C8BCC-1D4C-4132-8C8E-BA6FC3A35174}" srcId="{AEDC321E-919F-40A1-8B4F-ED3C173FFBB6}" destId="{0D8CC914-4B79-45E6-9C9B-673327DDFF32}" srcOrd="3" destOrd="0" parTransId="{025631BD-4CEA-49DE-8217-3B1DD224ADBF}" sibTransId="{C4509E76-E84D-4436-8DEB-B59749AF7C35}"/>
    <dgm:cxn modelId="{6CA9DCE7-CFAE-4B71-AF54-55DDA423ACAE}" type="presOf" srcId="{CB6C174C-AD39-4F32-A69C-1943F6FCA0AD}" destId="{6938AA73-F497-4DF4-AE51-AE7EEAD34742}" srcOrd="0" destOrd="0" presId="urn:microsoft.com/office/officeart/2008/layout/LinedList"/>
    <dgm:cxn modelId="{BA6BDDE7-BFE1-4D90-BC18-81266B27FE9B}" srcId="{AEDC321E-919F-40A1-8B4F-ED3C173FFBB6}" destId="{84B520AF-6E48-49D1-8641-105A3D363435}" srcOrd="4" destOrd="0" parTransId="{508F2D6B-B0B0-4897-8C35-3A5B28264CC6}" sibTransId="{B64573C5-9254-4F89-A13E-F786D9BAAC1E}"/>
    <dgm:cxn modelId="{E10B6AF9-7F0F-4C06-8698-C7630D4C5A12}" type="presParOf" srcId="{B5E66452-C6DE-444C-B18C-B6A371B1653C}" destId="{D15B6E73-FB71-4972-95FD-77CC89B41F9B}" srcOrd="0" destOrd="0" presId="urn:microsoft.com/office/officeart/2008/layout/LinedList"/>
    <dgm:cxn modelId="{8824BB02-D5EA-46D9-8154-11B1BF817A7D}" type="presParOf" srcId="{B5E66452-C6DE-444C-B18C-B6A371B1653C}" destId="{DCE577C6-78D9-4E48-B19F-F1E4B645F0BB}" srcOrd="1" destOrd="0" presId="urn:microsoft.com/office/officeart/2008/layout/LinedList"/>
    <dgm:cxn modelId="{F33E1AC1-8A7B-4C3B-9E87-EC571ED8D343}" type="presParOf" srcId="{DCE577C6-78D9-4E48-B19F-F1E4B645F0BB}" destId="{02C8D4F3-BF6D-4972-A216-41FFBF8E4EA3}" srcOrd="0" destOrd="0" presId="urn:microsoft.com/office/officeart/2008/layout/LinedList"/>
    <dgm:cxn modelId="{BC6D25FF-048D-4288-B9EE-67F9D02718C6}" type="presParOf" srcId="{DCE577C6-78D9-4E48-B19F-F1E4B645F0BB}" destId="{816935F0-8156-4157-AC70-B5E9DB1E570D}" srcOrd="1" destOrd="0" presId="urn:microsoft.com/office/officeart/2008/layout/LinedList"/>
    <dgm:cxn modelId="{DBA504DD-FBAF-4E02-9A1E-82C96630079A}" type="presParOf" srcId="{B5E66452-C6DE-444C-B18C-B6A371B1653C}" destId="{4E808DA8-2AE3-4AFB-953F-585D5A7EB9C1}" srcOrd="2" destOrd="0" presId="urn:microsoft.com/office/officeart/2008/layout/LinedList"/>
    <dgm:cxn modelId="{8B2858F5-F6EE-42A8-B220-A2FB6FFEA8E6}" type="presParOf" srcId="{B5E66452-C6DE-444C-B18C-B6A371B1653C}" destId="{B7BC5993-A808-4A3C-BF44-6614B68AFDDB}" srcOrd="3" destOrd="0" presId="urn:microsoft.com/office/officeart/2008/layout/LinedList"/>
    <dgm:cxn modelId="{268A3F19-A6CD-422B-9892-F33687A540CB}" type="presParOf" srcId="{B7BC5993-A808-4A3C-BF44-6614B68AFDDB}" destId="{6938AA73-F497-4DF4-AE51-AE7EEAD34742}" srcOrd="0" destOrd="0" presId="urn:microsoft.com/office/officeart/2008/layout/LinedList"/>
    <dgm:cxn modelId="{3858CE33-EF1C-46D2-B30E-3F52C3ACF545}" type="presParOf" srcId="{B7BC5993-A808-4A3C-BF44-6614B68AFDDB}" destId="{FEDB7669-F822-4BF0-88A3-48DCB4B25957}" srcOrd="1" destOrd="0" presId="urn:microsoft.com/office/officeart/2008/layout/LinedList"/>
    <dgm:cxn modelId="{F4A6F874-970A-4B7A-8242-3A8200E31609}" type="presParOf" srcId="{B5E66452-C6DE-444C-B18C-B6A371B1653C}" destId="{4308F9AB-48F2-46B1-9CA8-1959138D1D80}" srcOrd="4" destOrd="0" presId="urn:microsoft.com/office/officeart/2008/layout/LinedList"/>
    <dgm:cxn modelId="{B41BE792-DD9E-4C6A-A096-0CC21D7B0D70}" type="presParOf" srcId="{B5E66452-C6DE-444C-B18C-B6A371B1653C}" destId="{04E80DB8-55DE-4361-B26F-7C55C61822EA}" srcOrd="5" destOrd="0" presId="urn:microsoft.com/office/officeart/2008/layout/LinedList"/>
    <dgm:cxn modelId="{A36ED9BD-359B-4D67-A5FA-765659160F5A}" type="presParOf" srcId="{04E80DB8-55DE-4361-B26F-7C55C61822EA}" destId="{8576C280-DD3B-4AAF-8437-2548F119716B}" srcOrd="0" destOrd="0" presId="urn:microsoft.com/office/officeart/2008/layout/LinedList"/>
    <dgm:cxn modelId="{4F93CCED-48D1-44C9-A180-67D5ABC362CE}" type="presParOf" srcId="{04E80DB8-55DE-4361-B26F-7C55C61822EA}" destId="{561966BE-2A67-4FC7-9E61-4B327F7BDBBD}" srcOrd="1" destOrd="0" presId="urn:microsoft.com/office/officeart/2008/layout/LinedList"/>
    <dgm:cxn modelId="{F8F8CC36-FE93-4D7E-A413-948FE5D69007}" type="presParOf" srcId="{B5E66452-C6DE-444C-B18C-B6A371B1653C}" destId="{96B7D6FF-2747-46D5-93BF-1905EBD4904C}" srcOrd="6" destOrd="0" presId="urn:microsoft.com/office/officeart/2008/layout/LinedList"/>
    <dgm:cxn modelId="{DCB5B190-9EA4-4787-BF8C-4F3C690EA74E}" type="presParOf" srcId="{B5E66452-C6DE-444C-B18C-B6A371B1653C}" destId="{346F5498-54F7-4D76-9C9E-E64BA5E6463A}" srcOrd="7" destOrd="0" presId="urn:microsoft.com/office/officeart/2008/layout/LinedList"/>
    <dgm:cxn modelId="{0B14A7ED-0AD4-48A6-A666-DCE334CFCC5E}" type="presParOf" srcId="{346F5498-54F7-4D76-9C9E-E64BA5E6463A}" destId="{21A1ACD9-52D2-437A-9BD0-3C4F0E44D96C}" srcOrd="0" destOrd="0" presId="urn:microsoft.com/office/officeart/2008/layout/LinedList"/>
    <dgm:cxn modelId="{FB28AB9F-A310-41EA-B001-9EA00114EEA2}" type="presParOf" srcId="{346F5498-54F7-4D76-9C9E-E64BA5E6463A}" destId="{77018FBE-4480-4F5B-ADE0-12E8E068DA54}" srcOrd="1" destOrd="0" presId="urn:microsoft.com/office/officeart/2008/layout/LinedList"/>
    <dgm:cxn modelId="{39398FEC-1682-4033-A294-A5509F8B1A8B}" type="presParOf" srcId="{B5E66452-C6DE-444C-B18C-B6A371B1653C}" destId="{7DBE17F3-C781-428E-B04E-23DCB85D206A}" srcOrd="8" destOrd="0" presId="urn:microsoft.com/office/officeart/2008/layout/LinedList"/>
    <dgm:cxn modelId="{83016289-CC6A-4A8C-B51C-669722A46995}" type="presParOf" srcId="{B5E66452-C6DE-444C-B18C-B6A371B1653C}" destId="{BBF4FC03-4390-4184-A6A4-52832F83DDC2}" srcOrd="9" destOrd="0" presId="urn:microsoft.com/office/officeart/2008/layout/LinedList"/>
    <dgm:cxn modelId="{18D3EE9F-9353-4025-AF55-55F189BE4DA1}" type="presParOf" srcId="{BBF4FC03-4390-4184-A6A4-52832F83DDC2}" destId="{09946E45-62C8-4278-B199-DF9B4ED47DEA}" srcOrd="0" destOrd="0" presId="urn:microsoft.com/office/officeart/2008/layout/LinedList"/>
    <dgm:cxn modelId="{E9DD9C23-C223-445B-BEEA-9F88FC985F7C}" type="presParOf" srcId="{BBF4FC03-4390-4184-A6A4-52832F83DDC2}" destId="{066009DE-787B-4FB9-A67F-DA8CF24EA02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5B6E73-FB71-4972-95FD-77CC89B41F9B}">
      <dsp:nvSpPr>
        <dsp:cNvPr id="0" name=""/>
        <dsp:cNvSpPr/>
      </dsp:nvSpPr>
      <dsp:spPr>
        <a:xfrm>
          <a:off x="0" y="520"/>
          <a:ext cx="11136710" cy="0"/>
        </a:xfrm>
        <a:prstGeom prst="lin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w="6350" cap="flat" cmpd="sng" algn="ctr">
          <a:solidFill>
            <a:schemeClr val="accent4">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2C8D4F3-BF6D-4972-A216-41FFBF8E4EA3}">
      <dsp:nvSpPr>
        <dsp:cNvPr id="0" name=""/>
        <dsp:cNvSpPr/>
      </dsp:nvSpPr>
      <dsp:spPr>
        <a:xfrm>
          <a:off x="0" y="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latin typeface="Cambria" panose="02040503050406030204" pitchFamily="18" charset="0"/>
              <a:ea typeface="Cambria" panose="02040503050406030204" pitchFamily="18" charset="0"/>
            </a:rPr>
            <a:t>1. Introduction</a:t>
          </a:r>
        </a:p>
      </dsp:txBody>
      <dsp:txXfrm>
        <a:off x="0" y="520"/>
        <a:ext cx="11136710" cy="851999"/>
      </dsp:txXfrm>
    </dsp:sp>
    <dsp:sp modelId="{4E808DA8-2AE3-4AFB-953F-585D5A7EB9C1}">
      <dsp:nvSpPr>
        <dsp:cNvPr id="0" name=""/>
        <dsp:cNvSpPr/>
      </dsp:nvSpPr>
      <dsp:spPr>
        <a:xfrm>
          <a:off x="0" y="852520"/>
          <a:ext cx="11136710" cy="0"/>
        </a:xfrm>
        <a:prstGeom prst="line">
          <a:avLst/>
        </a:prstGeom>
        <a:gradFill rotWithShape="0">
          <a:gsLst>
            <a:gs pos="0">
              <a:schemeClr val="accent4">
                <a:hueOff val="2450223"/>
                <a:satOff val="-10194"/>
                <a:lumOff val="2402"/>
                <a:alphaOff val="0"/>
                <a:satMod val="103000"/>
                <a:lumMod val="102000"/>
                <a:tint val="94000"/>
              </a:schemeClr>
            </a:gs>
            <a:gs pos="50000">
              <a:schemeClr val="accent4">
                <a:hueOff val="2450223"/>
                <a:satOff val="-10194"/>
                <a:lumOff val="2402"/>
                <a:alphaOff val="0"/>
                <a:satMod val="110000"/>
                <a:lumMod val="100000"/>
                <a:shade val="100000"/>
              </a:schemeClr>
            </a:gs>
            <a:gs pos="100000">
              <a:schemeClr val="accent4">
                <a:hueOff val="2450223"/>
                <a:satOff val="-10194"/>
                <a:lumOff val="2402"/>
                <a:alphaOff val="0"/>
                <a:lumMod val="99000"/>
                <a:satMod val="120000"/>
                <a:shade val="78000"/>
              </a:schemeClr>
            </a:gs>
          </a:gsLst>
          <a:lin ang="5400000" scaled="0"/>
        </a:gradFill>
        <a:ln w="6350" cap="flat" cmpd="sng" algn="ctr">
          <a:solidFill>
            <a:schemeClr val="accent4">
              <a:hueOff val="2450223"/>
              <a:satOff val="-10194"/>
              <a:lumOff val="240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6938AA73-F497-4DF4-AE51-AE7EEAD34742}">
      <dsp:nvSpPr>
        <dsp:cNvPr id="0" name=""/>
        <dsp:cNvSpPr/>
      </dsp:nvSpPr>
      <dsp:spPr>
        <a:xfrm>
          <a:off x="0" y="852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latin typeface="Cambria" panose="02040503050406030204" pitchFamily="18" charset="0"/>
              <a:ea typeface="Cambria" panose="02040503050406030204" pitchFamily="18" charset="0"/>
            </a:rPr>
            <a:t>2. Related works</a:t>
          </a:r>
        </a:p>
      </dsp:txBody>
      <dsp:txXfrm>
        <a:off x="0" y="852520"/>
        <a:ext cx="11136710" cy="851999"/>
      </dsp:txXfrm>
    </dsp:sp>
    <dsp:sp modelId="{4308F9AB-48F2-46B1-9CA8-1959138D1D80}">
      <dsp:nvSpPr>
        <dsp:cNvPr id="0" name=""/>
        <dsp:cNvSpPr/>
      </dsp:nvSpPr>
      <dsp:spPr>
        <a:xfrm>
          <a:off x="0" y="1704520"/>
          <a:ext cx="11136710" cy="0"/>
        </a:xfrm>
        <a:prstGeom prst="lin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w="6350" cap="flat" cmpd="sng" algn="ctr">
          <a:solidFill>
            <a:schemeClr val="accent4">
              <a:hueOff val="4900445"/>
              <a:satOff val="-20388"/>
              <a:lumOff val="4804"/>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576C280-DD3B-4AAF-8437-2548F119716B}">
      <dsp:nvSpPr>
        <dsp:cNvPr id="0" name=""/>
        <dsp:cNvSpPr/>
      </dsp:nvSpPr>
      <dsp:spPr>
        <a:xfrm>
          <a:off x="0" y="1704520"/>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latin typeface="Cambria" panose="02040503050406030204" pitchFamily="18" charset="0"/>
              <a:ea typeface="Cambria" panose="02040503050406030204" pitchFamily="18" charset="0"/>
            </a:rPr>
            <a:t>3. Proposed method</a:t>
          </a:r>
        </a:p>
      </dsp:txBody>
      <dsp:txXfrm>
        <a:off x="0" y="1704520"/>
        <a:ext cx="11136710" cy="851999"/>
      </dsp:txXfrm>
    </dsp:sp>
    <dsp:sp modelId="{96B7D6FF-2747-46D5-93BF-1905EBD4904C}">
      <dsp:nvSpPr>
        <dsp:cNvPr id="0" name=""/>
        <dsp:cNvSpPr/>
      </dsp:nvSpPr>
      <dsp:spPr>
        <a:xfrm>
          <a:off x="0" y="2556519"/>
          <a:ext cx="11136710" cy="0"/>
        </a:xfrm>
        <a:prstGeom prst="line">
          <a:avLst/>
        </a:prstGeom>
        <a:gradFill rotWithShape="0">
          <a:gsLst>
            <a:gs pos="0">
              <a:schemeClr val="accent4">
                <a:hueOff val="7350668"/>
                <a:satOff val="-30583"/>
                <a:lumOff val="7206"/>
                <a:alphaOff val="0"/>
                <a:satMod val="103000"/>
                <a:lumMod val="102000"/>
                <a:tint val="94000"/>
              </a:schemeClr>
            </a:gs>
            <a:gs pos="50000">
              <a:schemeClr val="accent4">
                <a:hueOff val="7350668"/>
                <a:satOff val="-30583"/>
                <a:lumOff val="7206"/>
                <a:alphaOff val="0"/>
                <a:satMod val="110000"/>
                <a:lumMod val="100000"/>
                <a:shade val="100000"/>
              </a:schemeClr>
            </a:gs>
            <a:gs pos="100000">
              <a:schemeClr val="accent4">
                <a:hueOff val="7350668"/>
                <a:satOff val="-30583"/>
                <a:lumOff val="7206"/>
                <a:alphaOff val="0"/>
                <a:lumMod val="99000"/>
                <a:satMod val="120000"/>
                <a:shade val="78000"/>
              </a:schemeClr>
            </a:gs>
          </a:gsLst>
          <a:lin ang="5400000" scaled="0"/>
        </a:gradFill>
        <a:ln w="6350" cap="flat" cmpd="sng" algn="ctr">
          <a:solidFill>
            <a:schemeClr val="accent4">
              <a:hueOff val="7350668"/>
              <a:satOff val="-30583"/>
              <a:lumOff val="7206"/>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1A1ACD9-52D2-437A-9BD0-3C4F0E44D96C}">
      <dsp:nvSpPr>
        <dsp:cNvPr id="0" name=""/>
        <dsp:cNvSpPr/>
      </dsp:nvSpPr>
      <dsp:spPr>
        <a:xfrm>
          <a:off x="0" y="2556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latin typeface="Cambria" panose="02040503050406030204" pitchFamily="18" charset="0"/>
              <a:ea typeface="Cambria" panose="02040503050406030204" pitchFamily="18" charset="0"/>
            </a:rPr>
            <a:t>4. Experimental results</a:t>
          </a:r>
        </a:p>
      </dsp:txBody>
      <dsp:txXfrm>
        <a:off x="0" y="2556519"/>
        <a:ext cx="11136710" cy="851999"/>
      </dsp:txXfrm>
    </dsp:sp>
    <dsp:sp modelId="{7DBE17F3-C781-428E-B04E-23DCB85D206A}">
      <dsp:nvSpPr>
        <dsp:cNvPr id="0" name=""/>
        <dsp:cNvSpPr/>
      </dsp:nvSpPr>
      <dsp:spPr>
        <a:xfrm>
          <a:off x="0" y="3408519"/>
          <a:ext cx="11136710" cy="0"/>
        </a:xfrm>
        <a:prstGeom prst="lin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w="6350" cap="flat" cmpd="sng" algn="ctr">
          <a:solidFill>
            <a:schemeClr val="accent4">
              <a:hueOff val="9800891"/>
              <a:satOff val="-40777"/>
              <a:lumOff val="9608"/>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09946E45-62C8-4278-B199-DF9B4ED47DEA}">
      <dsp:nvSpPr>
        <dsp:cNvPr id="0" name=""/>
        <dsp:cNvSpPr/>
      </dsp:nvSpPr>
      <dsp:spPr>
        <a:xfrm>
          <a:off x="0" y="3408519"/>
          <a:ext cx="11136710" cy="851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latin typeface="Cambria" panose="02040503050406030204" pitchFamily="18" charset="0"/>
              <a:ea typeface="Cambria" panose="02040503050406030204" pitchFamily="18" charset="0"/>
            </a:rPr>
            <a:t>5. Conclusion</a:t>
          </a:r>
        </a:p>
      </dsp:txBody>
      <dsp:txXfrm>
        <a:off x="0" y="3408519"/>
        <a:ext cx="11136710" cy="851999"/>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EC91D-BEBA-4CF8-88AE-6F4F22BBCE52}" type="datetimeFigureOut">
              <a:rPr lang="en-US" smtClean="0"/>
              <a:t>4/2/2026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7A3CC4-A1AF-4799-818E-6EEBBE945652}" type="slidenum">
              <a:rPr lang="en-US" smtClean="0"/>
              <a:t>‹#›</a:t>
            </a:fld>
            <a:endParaRPr lang="en-US"/>
          </a:p>
        </p:txBody>
      </p:sp>
    </p:spTree>
    <p:extLst>
      <p:ext uri="{BB962C8B-B14F-4D97-AF65-F5344CB8AC3E}">
        <p14:creationId xmlns:p14="http://schemas.microsoft.com/office/powerpoint/2010/main" val="1213125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ace7fa64f5_1_10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2" name="Google Shape;762;gace7fa64f5_1_10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defTabSz="1219170">
              <a:buClr>
                <a:srgbClr val="07105C"/>
              </a:buClr>
            </a:pPr>
            <a:r>
              <a:rPr lang="en-US"/>
              <a:t>Good</a:t>
            </a:r>
            <a:r>
              <a:rPr lang="en-US" baseline="0"/>
              <a:t> morning everyone</a:t>
            </a:r>
            <a:r>
              <a:rPr lang="en-US"/>
              <a:t>, I’m very</a:t>
            </a:r>
            <a:r>
              <a:rPr lang="en-US" baseline="0"/>
              <a:t> please present my research ,</a:t>
            </a:r>
            <a:r>
              <a:rPr lang="en-US"/>
              <a:t> </a:t>
            </a:r>
            <a:r>
              <a:rPr lang="en-US" sz="1200" kern="0">
                <a:solidFill>
                  <a:srgbClr val="C00000"/>
                </a:solidFill>
                <a:latin typeface="Open Sans" panose="020B0606030504020204" pitchFamily="34" charset="0"/>
                <a:ea typeface="Open Sans" panose="020B0606030504020204" pitchFamily="34" charset="0"/>
                <a:cs typeface="Open Sans" panose="020B0606030504020204" pitchFamily="34" charset="0"/>
              </a:rPr>
              <a:t>Breast cancer classification based on fuzzy rules and deep learning techniques</a:t>
            </a:r>
          </a:p>
          <a:p>
            <a:pPr marL="0" lvl="0" indent="0" algn="l" rtl="0">
              <a:spcBef>
                <a:spcPts val="0"/>
              </a:spcBef>
              <a:spcAft>
                <a:spcPts val="0"/>
              </a:spcAft>
              <a:buNone/>
            </a:pPr>
            <a:endParaRPr/>
          </a:p>
        </p:txBody>
      </p:sp>
    </p:spTree>
    <p:extLst>
      <p:ext uri="{BB962C8B-B14F-4D97-AF65-F5344CB8AC3E}">
        <p14:creationId xmlns:p14="http://schemas.microsoft.com/office/powerpoint/2010/main" val="391191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a:t>The</a:t>
            </a:r>
            <a:r>
              <a:rPr lang="en-US" baseline="0"/>
              <a:t> following is the content for my presentation. Section 2 introduces and summarizes related work. In Sections 3, we provide a detailed description of the main components of our approach. We describe the experimental setup to validate our approach along with a discussion of the results in Section 4. Finally, we conclude with a summary of our findings and comment on possible future directions in Section 5.</a:t>
            </a:r>
            <a:endParaRPr lang="en-US"/>
          </a:p>
          <a:p>
            <a:pPr marL="0" lvl="0" indent="0" algn="l" rtl="0">
              <a:spcBef>
                <a:spcPts val="0"/>
              </a:spcBef>
              <a:spcAft>
                <a:spcPts val="0"/>
              </a:spcAft>
              <a:buNone/>
            </a:pPr>
            <a:endParaRPr lang="en-US"/>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a:t>
            </a:fld>
            <a:endParaRPr lang="en-US"/>
          </a:p>
        </p:txBody>
      </p:sp>
    </p:spTree>
    <p:extLst>
      <p:ext uri="{BB962C8B-B14F-4D97-AF65-F5344CB8AC3E}">
        <p14:creationId xmlns:p14="http://schemas.microsoft.com/office/powerpoint/2010/main" val="5592465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we know, cancer is one of the most common diseases in the world and takes the lives of millions of people every year. Breast cancer is one of the most common cancers affecting women worldwide. </a:t>
            </a:r>
          </a:p>
          <a:p>
            <a:r>
              <a:rPr lang="en-US"/>
              <a:t>Early detection and accurate staging of breast cancer can significantly improve survival rates and quality of life for patients..Figure 1 is an image of a breast with a mass of unusual brightness.</a:t>
            </a:r>
          </a:p>
        </p:txBody>
      </p:sp>
      <p:sp>
        <p:nvSpPr>
          <p:cNvPr id="4" name="Slide Number Placeholder 3"/>
          <p:cNvSpPr>
            <a:spLocks noGrp="1"/>
          </p:cNvSpPr>
          <p:nvPr>
            <p:ph type="sldNum" sz="quarter" idx="10"/>
          </p:nvPr>
        </p:nvSpPr>
        <p:spPr/>
        <p:txBody>
          <a:bodyPr/>
          <a:lstStyle/>
          <a:p>
            <a:fld id="{157A3CC4-A1AF-4799-818E-6EEBBE945652}" type="slidenum">
              <a:rPr lang="en-US" smtClean="0"/>
              <a:t>3</a:t>
            </a:fld>
            <a:endParaRPr lang="en-US"/>
          </a:p>
        </p:txBody>
      </p:sp>
    </p:spTree>
    <p:extLst>
      <p:ext uri="{BB962C8B-B14F-4D97-AF65-F5344CB8AC3E}">
        <p14:creationId xmlns:p14="http://schemas.microsoft.com/office/powerpoint/2010/main" val="2060754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According to GLOBOCAN statistics in 2020, the world is estimated to have about 19.3 million cases and 10 million deaths caused by cancer. Of which, breast cancer in women is 2.26 million cases, accounting for 11.7%. </a:t>
            </a:r>
          </a:p>
          <a:p>
            <a:r>
              <a:rPr lang="en-US"/>
              <a:t>In Vietnam, breast cancer is the leading disease among women. Because of the prevalence of this disease, there are currently many related studies being conducted with the goal of detecting and classifying breast cancer using many different methods, the most popular of which is the application of information technology in detecting and classifying abnormalities on mammograms.</a:t>
            </a:r>
          </a:p>
          <a:p>
            <a:endParaRPr lang="en-US"/>
          </a:p>
          <a:p>
            <a:r>
              <a:rPr lang="en-US"/>
              <a:t>Because of its popularity, there have been many research projects related to this disease in recent times.</a:t>
            </a:r>
          </a:p>
          <a:p>
            <a:endParaRPr lang="en-US"/>
          </a:p>
          <a:p>
            <a:r>
              <a:rPr lang="vi-VN"/>
              <a:t>Theo số liệu thống kê của GLOBOCAN trong năm 2020 cả thế giới ước tính có khoảng 19.3 triệu ca mắc và 10 triệu ca tử vong do ung thư gây nên. Trong đó, ung thư vú ở phụ nữ là 2.26 triệu ca chiếm 11.7%</a:t>
            </a:r>
            <a:r>
              <a:rPr lang="en-US"/>
              <a:t>.</a:t>
            </a:r>
          </a:p>
          <a:p>
            <a:r>
              <a:rPr lang="en-US"/>
              <a:t>Tại Việt Nam ung thư vú là căn bệnh chiếm tỉ lệ hàng đầu đối với nữ giới. Chính vì mức độ phổ biến của căn bệnh này mà hiện nay có rất nhiều nghiên cứu có liên quan được thực hiện với mục tiêu phát hiện và phân loại ung thư vú bằng nhiều phương pháp khác nhau, trong đó phổ biến nhất là ứng dụng công nghệ thông tin trong phát hiện và phân loại các bất thường trên nhũ ảnh.</a:t>
            </a:r>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4</a:t>
            </a:fld>
            <a:endParaRPr lang="en-US"/>
          </a:p>
        </p:txBody>
      </p:sp>
    </p:spTree>
    <p:extLst>
      <p:ext uri="{BB962C8B-B14F-4D97-AF65-F5344CB8AC3E}">
        <p14:creationId xmlns:p14="http://schemas.microsoft.com/office/powerpoint/2010/main" val="975290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Some of the key points our research covers are:</a:t>
            </a:r>
          </a:p>
          <a:p>
            <a:endParaRPr lang="en-US"/>
          </a:p>
          <a:p>
            <a:endParaRPr lang="en-US"/>
          </a:p>
          <a:p>
            <a:r>
              <a:rPr lang="en-US"/>
              <a:t>To achieve the above content, we briefly reviewed the research works of previous authors.</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5</a:t>
            </a:fld>
            <a:endParaRPr lang="en-US"/>
          </a:p>
        </p:txBody>
      </p:sp>
    </p:spTree>
    <p:extLst>
      <p:ext uri="{BB962C8B-B14F-4D97-AF65-F5344CB8AC3E}">
        <p14:creationId xmlns:p14="http://schemas.microsoft.com/office/powerpoint/2010/main" val="3917165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GB" sz="1200"/>
              <a:t>Adedigba và</a:t>
            </a:r>
            <a:r>
              <a:rPr lang="en-GB" sz="1200" baseline="0"/>
              <a:t> cộng sự </a:t>
            </a:r>
            <a:r>
              <a:rPr lang="vi-VN" sz="1200" baseline="0"/>
              <a:t>y một phương pháp huấn luyện mô hình học sâu để chẩn đoán BC. Chúng tôi đã phát triển một phương pháp tinh chỉnh phân biệt, </a:t>
            </a:r>
            <a:r>
              <a:rPr lang="en-US" sz="1200" baseline="0"/>
              <a:t>fine-tuning</a:t>
            </a:r>
            <a:r>
              <a:rPr lang="vi-VN" sz="1200" baseline="0"/>
              <a:t> cho mỗi lớp của CNN sâu. Ngoài ra, mô hình được huấn luyện bằng phương pháp huấn luyện độ chính xác hỗn hợp để giảm bớt nhu cầu tính toán khi huấn luyện các mô hình học sâu. Cuối cùng, chúng tôi trình bày các phương pháp tăng cường dữ liệu cho chụp nhũ ảnh.</a:t>
            </a:r>
            <a:endParaRPr lang="en-GB" sz="120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6</a:t>
            </a:fld>
            <a:endParaRPr lang="en-US"/>
          </a:p>
        </p:txBody>
      </p:sp>
    </p:spTree>
    <p:extLst>
      <p:ext uri="{BB962C8B-B14F-4D97-AF65-F5344CB8AC3E}">
        <p14:creationId xmlns:p14="http://schemas.microsoft.com/office/powerpoint/2010/main" val="20779024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US" sz="1200"/>
              <a:t>Breast Cancer Prediction Using Soft Voting Classifier Based on Machine Learning Models (Mohammed S. Hashim)</a:t>
            </a:r>
            <a:endParaRPr lang="en-GB" sz="120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7</a:t>
            </a:fld>
            <a:endParaRPr lang="en-US"/>
          </a:p>
        </p:txBody>
      </p:sp>
    </p:spTree>
    <p:extLst>
      <p:ext uri="{BB962C8B-B14F-4D97-AF65-F5344CB8AC3E}">
        <p14:creationId xmlns:p14="http://schemas.microsoft.com/office/powerpoint/2010/main" val="5680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just" defTabSz="914400" rtl="0" eaLnBrk="1" fontAlgn="auto" latinLnBrk="0" hangingPunct="1">
              <a:lnSpc>
                <a:spcPct val="120000"/>
              </a:lnSpc>
              <a:spcBef>
                <a:spcPts val="600"/>
              </a:spcBef>
              <a:spcAft>
                <a:spcPts val="0"/>
              </a:spcAft>
              <a:buClrTx/>
              <a:buSzTx/>
              <a:buFontTx/>
              <a:buNone/>
              <a:tabLst/>
              <a:defRPr/>
            </a:pPr>
            <a:r>
              <a:rPr lang="en-US" sz="1200"/>
              <a:t>Attention-Enhanced Deep Learning Ensemble for Breast Density Classification in Mammography - Peyman Sharifian</a:t>
            </a:r>
            <a:endParaRPr lang="en-GB" sz="1200"/>
          </a:p>
          <a:p>
            <a:pPr marL="0" indent="0" algn="just">
              <a:lnSpc>
                <a:spcPct val="120000"/>
              </a:lnSpc>
              <a:spcBef>
                <a:spcPts val="600"/>
              </a:spcBef>
              <a:buNone/>
            </a:pP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8</a:t>
            </a:fld>
            <a:endParaRPr lang="en-US"/>
          </a:p>
        </p:txBody>
      </p:sp>
    </p:spTree>
    <p:extLst>
      <p:ext uri="{BB962C8B-B14F-4D97-AF65-F5344CB8AC3E}">
        <p14:creationId xmlns:p14="http://schemas.microsoft.com/office/powerpoint/2010/main" val="14650833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focal point of our study is the evaluation of XAI’s effectiveness in</a:t>
            </a:r>
          </a:p>
          <a:p>
            <a:r>
              <a:rPr lang="en-US"/>
              <a:t>interpreting model predictions, highlighted by utilising the Hausdorff measure to assess the align-ment between AI-generated explanations and expert annotations quantitatively.</a:t>
            </a:r>
          </a:p>
        </p:txBody>
      </p:sp>
      <p:sp>
        <p:nvSpPr>
          <p:cNvPr id="4" name="Slide Number Placeholder 3"/>
          <p:cNvSpPr>
            <a:spLocks noGrp="1"/>
          </p:cNvSpPr>
          <p:nvPr>
            <p:ph type="sldNum" sz="quarter" idx="10"/>
          </p:nvPr>
        </p:nvSpPr>
        <p:spPr/>
        <p:txBody>
          <a:bodyPr/>
          <a:lstStyle/>
          <a:p>
            <a:fld id="{157A3CC4-A1AF-4799-818E-6EEBBE945652}" type="slidenum">
              <a:rPr lang="en-US" smtClean="0"/>
              <a:t>9</a:t>
            </a:fld>
            <a:endParaRPr lang="en-US"/>
          </a:p>
        </p:txBody>
      </p:sp>
    </p:spTree>
    <p:extLst>
      <p:ext uri="{BB962C8B-B14F-4D97-AF65-F5344CB8AC3E}">
        <p14:creationId xmlns:p14="http://schemas.microsoft.com/office/powerpoint/2010/main" val="4254094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Hard Voting is based on majority rule. Each base model in the ensemble will give a final predicted label (e.g. Benign or Malignant). The final output of the ensemble is the label that appears most frequently among the models.</a:t>
            </a:r>
          </a:p>
          <a:p>
            <a:endParaRPr lang="en-US"/>
          </a:p>
          <a:p>
            <a:r>
              <a:rPr lang="en-US"/>
              <a:t>Soft Voting is based on a weighted average of the predicted probabilities. Instead of taking the label directly, the ensemble uses the predicted probabilities of each model</a:t>
            </a:r>
          </a:p>
        </p:txBody>
      </p:sp>
      <p:sp>
        <p:nvSpPr>
          <p:cNvPr id="4" name="Slide Number Placeholder 3"/>
          <p:cNvSpPr>
            <a:spLocks noGrp="1"/>
          </p:cNvSpPr>
          <p:nvPr>
            <p:ph type="sldNum" sz="quarter" idx="10"/>
          </p:nvPr>
        </p:nvSpPr>
        <p:spPr/>
        <p:txBody>
          <a:bodyPr/>
          <a:lstStyle/>
          <a:p>
            <a:fld id="{157A3CC4-A1AF-4799-818E-6EEBBE945652}" type="slidenum">
              <a:rPr lang="en-US" smtClean="0"/>
              <a:t>10</a:t>
            </a:fld>
            <a:endParaRPr lang="en-US"/>
          </a:p>
        </p:txBody>
      </p:sp>
    </p:spTree>
    <p:extLst>
      <p:ext uri="{BB962C8B-B14F-4D97-AF65-F5344CB8AC3E}">
        <p14:creationId xmlns:p14="http://schemas.microsoft.com/office/powerpoint/2010/main" val="769203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a:t>Some metrics we use in evaluating proposed models</a:t>
                </a:r>
              </a:p>
              <a:p>
                <a:endParaRPr lang="en-US"/>
              </a:p>
              <a:p>
                <a:r>
                  <a:rPr lang="en-US" sz="1200" kern="120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14:m>
                  <m:oMath xmlns:m="http://schemas.openxmlformats.org/officeDocument/2006/math">
                    <m:acc>
                      <m:accPr>
                        <m:chr m:val="̂"/>
                        <m:ctrlPr>
                          <a:rPr lang="en-US" sz="1200" i="1" kern="1200">
                            <a:solidFill>
                              <a:schemeClr val="tx1"/>
                            </a:solidFill>
                            <a:effectLst/>
                            <a:latin typeface="Cambria Math" panose="02040503050406030204" pitchFamily="18" charset="0"/>
                            <a:ea typeface="+mn-ea"/>
                            <a:cs typeface="+mn-cs"/>
                          </a:rPr>
                        </m:ctrlPr>
                      </m:accPr>
                      <m:e>
                        <m:sSub>
                          <m:sSubPr>
                            <m:ctrlPr>
                              <a:rPr lang="en-US" sz="1200" i="1" kern="1200">
                                <a:solidFill>
                                  <a:schemeClr val="tx1"/>
                                </a:solidFill>
                                <a:effectLst/>
                                <a:latin typeface="Cambria Math" panose="02040503050406030204" pitchFamily="18" charset="0"/>
                                <a:ea typeface="+mn-ea"/>
                                <a:cs typeface="+mn-cs"/>
                              </a:rPr>
                            </m:ctrlPr>
                          </m:sSubPr>
                          <m:e>
                            <m:r>
                              <a:rPr lang="en-US" sz="1200" i="1" kern="1200">
                                <a:solidFill>
                                  <a:schemeClr val="tx1"/>
                                </a:solidFill>
                                <a:effectLst/>
                                <a:latin typeface="Cambria Math" panose="02040503050406030204" pitchFamily="18" charset="0"/>
                                <a:ea typeface="+mn-ea"/>
                                <a:cs typeface="+mn-cs"/>
                              </a:rPr>
                              <m:t>𝑢</m:t>
                            </m:r>
                          </m:e>
                          <m:sub>
                            <m:r>
                              <a:rPr lang="en-US" sz="1200" i="1" kern="1200">
                                <a:solidFill>
                                  <a:schemeClr val="tx1"/>
                                </a:solidFill>
                                <a:effectLst/>
                                <a:latin typeface="Cambria Math" panose="02040503050406030204" pitchFamily="18" charset="0"/>
                                <a:ea typeface="+mn-ea"/>
                                <a:cs typeface="+mn-cs"/>
                              </a:rPr>
                              <m:t>𝑖</m:t>
                            </m:r>
                          </m:sub>
                        </m:sSub>
                      </m:e>
                    </m:acc>
                  </m:oMath>
                </a14:m>
                <a:r>
                  <a:rPr lang="en-US" sz="1200" kern="1200">
                    <a:solidFill>
                      <a:schemeClr val="tx1"/>
                    </a:solidFill>
                    <a:effectLst/>
                    <a:latin typeface="+mn-lt"/>
                    <a:ea typeface="+mn-ea"/>
                    <a:cs typeface="+mn-cs"/>
                  </a:rPr>
                  <a:t> is the predicted value at pixel 𝑖 out of total number of pixels n.</a:t>
                </a:r>
              </a:p>
              <a:p>
                <a:endParaRPr lang="en-US" sz="120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In which, </a:t>
                </a:r>
                <a:r>
                  <a:rPr lang="en-US" sz="1200" b="0" i="1" kern="1200">
                    <a:solidFill>
                      <a:schemeClr val="tx1"/>
                    </a:solidFill>
                    <a:effectLst/>
                    <a:latin typeface="+mn-lt"/>
                    <a:ea typeface="+mn-ea"/>
                    <a:cs typeface="+mn-cs"/>
                  </a:rPr>
                  <a:t>wi</a:t>
                </a:r>
                <a:r>
                  <a:rPr lang="en-US" sz="1200" b="0" i="0" kern="1200">
                    <a:solidFill>
                      <a:schemeClr val="tx1"/>
                    </a:solidFill>
                    <a:effectLst/>
                    <a:latin typeface="+mn-lt"/>
                    <a:ea typeface="+mn-ea"/>
                    <a:cs typeface="+mn-cs"/>
                  </a:rPr>
                  <a:t>: weight of the </a:t>
                </a:r>
                <a:r>
                  <a:rPr lang="en-US" sz="1200" b="0" i="1" kern="1200">
                    <a:solidFill>
                      <a:schemeClr val="tx1"/>
                    </a:solidFill>
                    <a:effectLst/>
                    <a:latin typeface="+mn-lt"/>
                    <a:ea typeface="+mn-ea"/>
                    <a:cs typeface="+mn-cs"/>
                  </a:rPr>
                  <a:t>ith </a:t>
                </a:r>
                <a:r>
                  <a:rPr lang="en-US" sz="1200" b="0" i="0" kern="1200">
                    <a:solidFill>
                      <a:schemeClr val="tx1"/>
                    </a:solidFill>
                    <a:effectLst/>
                    <a:latin typeface="+mn-lt"/>
                    <a:ea typeface="+mn-ea"/>
                    <a:cs typeface="+mn-cs"/>
                  </a:rPr>
                  <a:t>model; 1</a:t>
                </a:r>
                <a:r>
                  <a:rPr lang="en-US" sz="1200" b="0" i="1" kern="1200">
                    <a:solidFill>
                      <a:schemeClr val="tx1"/>
                    </a:solidFill>
                    <a:effectLst/>
                    <a:latin typeface="+mn-lt"/>
                    <a:ea typeface="+mn-ea"/>
                    <a:cs typeface="+mn-cs"/>
                  </a:rPr>
                  <a:t>{mi</a:t>
                </a:r>
                <a:r>
                  <a:rPr lang="en-US" sz="1200" b="0" i="0" kern="1200">
                    <a:solidFill>
                      <a:schemeClr val="tx1"/>
                    </a:solidFill>
                    <a:effectLst/>
                    <a:latin typeface="+mn-lt"/>
                    <a:ea typeface="+mn-ea"/>
                    <a:cs typeface="+mn-cs"/>
                  </a:rPr>
                  <a:t>(</a:t>
                </a:r>
                <a:r>
                  <a:rPr lang="en-US" sz="1200" b="0" i="1" kern="1200">
                    <a:solidFill>
                      <a:schemeClr val="tx1"/>
                    </a:solidFill>
                    <a:effectLst/>
                    <a:latin typeface="+mn-lt"/>
                    <a:ea typeface="+mn-ea"/>
                    <a:cs typeface="+mn-cs"/>
                  </a:rPr>
                  <a:t>x</a:t>
                </a:r>
                <a:r>
                  <a:rPr lang="en-US" sz="1200" b="0" i="0" kern="1200">
                    <a:solidFill>
                      <a:schemeClr val="tx1"/>
                    </a:solidFill>
                    <a:effectLst/>
                    <a:latin typeface="+mn-lt"/>
                    <a:ea typeface="+mn-ea"/>
                    <a:cs typeface="+mn-cs"/>
                  </a:rPr>
                  <a:t>)=</a:t>
                </a:r>
                <a:r>
                  <a:rPr lang="en-US" sz="1200" b="0" i="1" kern="1200">
                    <a:solidFill>
                      <a:schemeClr val="tx1"/>
                    </a:solidFill>
                    <a:effectLst/>
                    <a:latin typeface="+mn-lt"/>
                    <a:ea typeface="+mn-ea"/>
                    <a:cs typeface="+mn-cs"/>
                  </a:rPr>
                  <a:t>c} </a:t>
                </a:r>
                <a:r>
                  <a:rPr lang="en-US" sz="1200" b="0" i="0" kern="1200">
                    <a:solidFill>
                      <a:schemeClr val="tx1"/>
                    </a:solidFill>
                    <a:effectLst/>
                    <a:latin typeface="+mn-lt"/>
                    <a:ea typeface="+mn-ea"/>
                    <a:cs typeface="+mn-cs"/>
                  </a:rPr>
                  <a:t>: equal to 1 if model </a:t>
                </a:r>
                <a:r>
                  <a:rPr lang="en-US" sz="1200" b="0" i="1" kern="1200">
                    <a:solidFill>
                      <a:schemeClr val="tx1"/>
                    </a:solidFill>
                    <a:effectLst/>
                    <a:latin typeface="+mn-lt"/>
                    <a:ea typeface="+mn-ea"/>
                    <a:cs typeface="+mn-cs"/>
                  </a:rPr>
                  <a:t>i </a:t>
                </a:r>
                <a:r>
                  <a:rPr lang="en-US" sz="1200" b="0" i="0" kern="1200">
                    <a:solidFill>
                      <a:schemeClr val="tx1"/>
                    </a:solidFill>
                    <a:effectLst/>
                    <a:latin typeface="+mn-lt"/>
                    <a:ea typeface="+mn-ea"/>
                    <a:cs typeface="+mn-cs"/>
                  </a:rPr>
                  <a:t>chooses</a:t>
                </a:r>
              </a:p>
              <a:p>
                <a:r>
                  <a:rPr lang="en-US" sz="1200" b="0" i="0" kern="1200">
                    <a:solidFill>
                      <a:schemeClr val="tx1"/>
                    </a:solidFill>
                    <a:effectLst/>
                    <a:latin typeface="+mn-lt"/>
                    <a:ea typeface="+mn-ea"/>
                    <a:cs typeface="+mn-cs"/>
                  </a:rPr>
                  <a:t>class </a:t>
                </a:r>
                <a:r>
                  <a:rPr lang="en-US" sz="1200" b="0" i="1" kern="1200">
                    <a:solidFill>
                      <a:schemeClr val="tx1"/>
                    </a:solidFill>
                    <a:effectLst/>
                    <a:latin typeface="+mn-lt"/>
                    <a:ea typeface="+mn-ea"/>
                    <a:cs typeface="+mn-cs"/>
                  </a:rPr>
                  <a:t>c</a:t>
                </a:r>
                <a:r>
                  <a:rPr lang="en-US" sz="1200" b="0" i="0" kern="1200">
                    <a:solidFill>
                      <a:schemeClr val="tx1"/>
                    </a:solidFill>
                    <a:effectLst/>
                    <a:latin typeface="+mn-lt"/>
                    <a:ea typeface="+mn-ea"/>
                    <a:cs typeface="+mn-cs"/>
                  </a:rPr>
                  <a:t>, otherwise equal to 0.</a:t>
                </a:r>
                <a:r>
                  <a:rPr lang="en-US"/>
                  <a:t> </a:t>
                </a:r>
                <a:br>
                  <a:rPr lang="en-US"/>
                </a:br>
                <a:endParaRPr lang="en-US"/>
              </a:p>
              <a:p>
                <a:endParaRPr lang="en-US"/>
              </a:p>
            </p:txBody>
          </p:sp>
        </mc:Choice>
        <mc:Fallback xmlns="">
          <p:sp>
            <p:nvSpPr>
              <p:cNvPr id="3" name="Notes Placeholder 2"/>
              <p:cNvSpPr>
                <a:spLocks noGrp="1"/>
              </p:cNvSpPr>
              <p:nvPr>
                <p:ph type="body" idx="1"/>
              </p:nvPr>
            </p:nvSpPr>
            <p:spPr/>
            <p:txBody>
              <a:bodyPr/>
              <a:lstStyle/>
              <a:p>
                <a:r>
                  <a:rPr lang="en-US" smtClean="0"/>
                  <a:t>Some metrics we use in evaluating proposed </a:t>
                </a:r>
                <a:r>
                  <a:rPr lang="en-US" smtClean="0"/>
                  <a:t>models</a:t>
                </a:r>
              </a:p>
              <a:p>
                <a:endParaRPr lang="en-US" smtClean="0"/>
              </a:p>
              <a:p>
                <a:r>
                  <a:rPr lang="en-US" sz="1200" kern="1200" smtClean="0">
                    <a:solidFill>
                      <a:schemeClr val="tx1"/>
                    </a:solidFill>
                    <a:effectLst/>
                    <a:latin typeface="+mn-lt"/>
                    <a:ea typeface="+mn-ea"/>
                    <a:cs typeface="+mn-cs"/>
                  </a:rPr>
                  <a:t>where u</a:t>
                </a:r>
                <a:r>
                  <a:rPr lang="en-US" sz="1200" kern="1200" baseline="-25000">
                    <a:solidFill>
                      <a:schemeClr val="tx1"/>
                    </a:solidFill>
                    <a:effectLst/>
                    <a:latin typeface="+mn-lt"/>
                    <a:ea typeface="+mn-ea"/>
                    <a:cs typeface="+mn-cs"/>
                  </a:rPr>
                  <a:t>i</a:t>
                </a:r>
                <a:r>
                  <a:rPr lang="en-US" sz="1200" kern="1200">
                    <a:solidFill>
                      <a:schemeClr val="tx1"/>
                    </a:solidFill>
                    <a:effectLst/>
                    <a:latin typeface="+mn-lt"/>
                    <a:ea typeface="+mn-ea"/>
                    <a:cs typeface="+mn-cs"/>
                  </a:rPr>
                  <a:t> is the ground truth at pixel 𝑖, </a:t>
                </a:r>
                <a:r>
                  <a:rPr lang="en-US" sz="1200" i="0" kern="1200">
                    <a:solidFill>
                      <a:schemeClr val="tx1"/>
                    </a:solidFill>
                    <a:effectLst/>
                    <a:latin typeface="+mn-lt"/>
                    <a:ea typeface="+mn-ea"/>
                    <a:cs typeface="+mn-cs"/>
                  </a:rPr>
                  <a:t>(𝑢_𝑖 ) ̂</a:t>
                </a:r>
                <a:r>
                  <a:rPr lang="en-US" sz="1200" kern="1200">
                    <a:solidFill>
                      <a:schemeClr val="tx1"/>
                    </a:solidFill>
                    <a:effectLst/>
                    <a:latin typeface="+mn-lt"/>
                    <a:ea typeface="+mn-ea"/>
                    <a:cs typeface="+mn-cs"/>
                  </a:rPr>
                  <a:t> is the predicted value at pixel 𝑖 out of total number of pixels n.</a:t>
                </a:r>
                <a:endParaRPr lang="en-US" smtClean="0"/>
              </a:p>
              <a:p>
                <a:endParaRPr lang="en-US"/>
              </a:p>
            </p:txBody>
          </p:sp>
        </mc:Fallback>
      </mc:AlternateContent>
      <p:sp>
        <p:nvSpPr>
          <p:cNvPr id="4" name="Slide Number Placeholder 3"/>
          <p:cNvSpPr>
            <a:spLocks noGrp="1"/>
          </p:cNvSpPr>
          <p:nvPr>
            <p:ph type="sldNum" sz="quarter" idx="10"/>
          </p:nvPr>
        </p:nvSpPr>
        <p:spPr/>
        <p:txBody>
          <a:bodyPr/>
          <a:lstStyle/>
          <a:p>
            <a:fld id="{157A3CC4-A1AF-4799-818E-6EEBBE945652}" type="slidenum">
              <a:rPr lang="en-US" smtClean="0"/>
              <a:t>11</a:t>
            </a:fld>
            <a:endParaRPr lang="en-US"/>
          </a:p>
        </p:txBody>
      </p:sp>
    </p:spTree>
    <p:extLst>
      <p:ext uri="{BB962C8B-B14F-4D97-AF65-F5344CB8AC3E}">
        <p14:creationId xmlns:p14="http://schemas.microsoft.com/office/powerpoint/2010/main" val="22917222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12</a:t>
            </a:fld>
            <a:endParaRPr lang="en-US"/>
          </a:p>
        </p:txBody>
      </p:sp>
    </p:spTree>
    <p:extLst>
      <p:ext uri="{BB962C8B-B14F-4D97-AF65-F5344CB8AC3E}">
        <p14:creationId xmlns:p14="http://schemas.microsoft.com/office/powerpoint/2010/main" val="3128589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a:p>
        </p:txBody>
      </p:sp>
      <p:sp>
        <p:nvSpPr>
          <p:cNvPr id="4" name="Slide Number Placeholder 3"/>
          <p:cNvSpPr>
            <a:spLocks noGrp="1"/>
          </p:cNvSpPr>
          <p:nvPr>
            <p:ph type="sldNum" sz="quarter" idx="10"/>
          </p:nvPr>
        </p:nvSpPr>
        <p:spPr/>
        <p:txBody>
          <a:bodyPr/>
          <a:lstStyle/>
          <a:p>
            <a:fld id="{157A3CC4-A1AF-4799-818E-6EEBBE945652}" type="slidenum">
              <a:rPr lang="en-US" smtClean="0"/>
              <a:t>13</a:t>
            </a:fld>
            <a:endParaRPr lang="en-US"/>
          </a:p>
        </p:txBody>
      </p:sp>
    </p:spTree>
    <p:extLst>
      <p:ext uri="{BB962C8B-B14F-4D97-AF65-F5344CB8AC3E}">
        <p14:creationId xmlns:p14="http://schemas.microsoft.com/office/powerpoint/2010/main" val="10321194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For each trial, Optuna:Generate new weights</a:t>
            </a:r>
          </a:p>
          <a:p>
            <a:r>
              <a:rPr lang="en-US" b="1"/>
              <a:t>Ensemble results of deep learning models</a:t>
            </a:r>
          </a:p>
          <a:p>
            <a:r>
              <a:rPr lang="en-US" b="1"/>
              <a:t>Calculate loss/accuracy</a:t>
            </a:r>
          </a:p>
          <a:p>
            <a:r>
              <a:rPr lang="en-US" b="1"/>
              <a:t>Save results</a:t>
            </a:r>
          </a:p>
          <a:p>
            <a:r>
              <a:rPr lang="en-US" b="1"/>
              <a:t>Adjust search direction</a:t>
            </a:r>
          </a:p>
        </p:txBody>
      </p:sp>
      <p:sp>
        <p:nvSpPr>
          <p:cNvPr id="4" name="Slide Number Placeholder 3"/>
          <p:cNvSpPr>
            <a:spLocks noGrp="1"/>
          </p:cNvSpPr>
          <p:nvPr>
            <p:ph type="sldNum" sz="quarter" idx="10"/>
          </p:nvPr>
        </p:nvSpPr>
        <p:spPr/>
        <p:txBody>
          <a:bodyPr/>
          <a:lstStyle/>
          <a:p>
            <a:fld id="{157A3CC4-A1AF-4799-818E-6EEBBE945652}" type="slidenum">
              <a:rPr lang="en-US" smtClean="0"/>
              <a:t>14</a:t>
            </a:fld>
            <a:endParaRPr lang="en-US"/>
          </a:p>
        </p:txBody>
      </p:sp>
    </p:spTree>
    <p:extLst>
      <p:ext uri="{BB962C8B-B14F-4D97-AF65-F5344CB8AC3E}">
        <p14:creationId xmlns:p14="http://schemas.microsoft.com/office/powerpoint/2010/main" val="3453056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dataset is divided into a training dataset and a validation dataset with a ratio of 80% and 20%, respectively. For testing, we build a hypothetical scenario where the students were doing the exam, then recorded a video, and tested it with a number of 15 videos on a cheating action to check the accuracy of the network models. </a:t>
            </a:r>
          </a:p>
          <a:p>
            <a:endParaRPr lang="en-US"/>
          </a:p>
          <a:p>
            <a:r>
              <a:rPr lang="en-US"/>
              <a:t>Table 1 presents the scenarios we used with the training parameters</a:t>
            </a:r>
          </a:p>
          <a:p>
            <a:r>
              <a:rPr lang="en-US"/>
              <a:t>In scenarios 2,3,5,6 we use algorithms to generate rule sets from the data extracted from the network models. The goal of this process is to improve the accuracy of the model by better handling ambiguous or contradictory cases in the data set. After conducting experiments with various sets of parameters, we selected identical parameters for all scenarios. The learning rate is set at 0.0001, with the training being conducted 100 times. The number of classes (Num classes) being 3, corresponding to benign, malignant and normal.</a:t>
            </a:r>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15</a:t>
            </a:fld>
            <a:endParaRPr lang="en-US"/>
          </a:p>
        </p:txBody>
      </p:sp>
    </p:spTree>
    <p:extLst>
      <p:ext uri="{BB962C8B-B14F-4D97-AF65-F5344CB8AC3E}">
        <p14:creationId xmlns:p14="http://schemas.microsoft.com/office/powerpoint/2010/main" val="1212215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16</a:t>
            </a:fld>
            <a:endParaRPr lang="en-US"/>
          </a:p>
        </p:txBody>
      </p:sp>
    </p:spTree>
    <p:extLst>
      <p:ext uri="{BB962C8B-B14F-4D97-AF65-F5344CB8AC3E}">
        <p14:creationId xmlns:p14="http://schemas.microsoft.com/office/powerpoint/2010/main" val="2414872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17</a:t>
            </a:fld>
            <a:endParaRPr lang="en-US"/>
          </a:p>
        </p:txBody>
      </p:sp>
    </p:spTree>
    <p:extLst>
      <p:ext uri="{BB962C8B-B14F-4D97-AF65-F5344CB8AC3E}">
        <p14:creationId xmlns:p14="http://schemas.microsoft.com/office/powerpoint/2010/main" val="97957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18</a:t>
            </a:fld>
            <a:endParaRPr lang="en-US"/>
          </a:p>
        </p:txBody>
      </p:sp>
    </p:spTree>
    <p:extLst>
      <p:ext uri="{BB962C8B-B14F-4D97-AF65-F5344CB8AC3E}">
        <p14:creationId xmlns:p14="http://schemas.microsoft.com/office/powerpoint/2010/main" val="4289543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19</a:t>
            </a:fld>
            <a:endParaRPr lang="en-US"/>
          </a:p>
        </p:txBody>
      </p:sp>
    </p:spTree>
    <p:extLst>
      <p:ext uri="{BB962C8B-B14F-4D97-AF65-F5344CB8AC3E}">
        <p14:creationId xmlns:p14="http://schemas.microsoft.com/office/powerpoint/2010/main" val="21739588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The colors of the lines represent the quality of each weight combination — darker lines correspond to higher objective values. The results show that the best objective values are often associated with high weights for resnet50v2 and ResNet152 often have lower weights.</a:t>
            </a:r>
            <a:r>
              <a:rPr lang="en-US"/>
              <a:t> </a:t>
            </a:r>
            <a:br>
              <a:rPr lang="en-US"/>
            </a:br>
            <a:endParaRPr lang="en-US"/>
          </a:p>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20</a:t>
            </a:fld>
            <a:endParaRPr lang="en-US"/>
          </a:p>
        </p:txBody>
      </p:sp>
    </p:spTree>
    <p:extLst>
      <p:ext uri="{BB962C8B-B14F-4D97-AF65-F5344CB8AC3E}">
        <p14:creationId xmlns:p14="http://schemas.microsoft.com/office/powerpoint/2010/main" val="3873396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The colors of the lines represent the quality of each weight combination — darker lines correspond to higher objective values. The results show that the best objective values are often associated with high weights for DenseNet121, while InceptionV3 and ResNet152 often have lower weights.</a:t>
            </a:r>
            <a:r>
              <a:rPr lang="en-US"/>
              <a:t> </a:t>
            </a:r>
            <a:br>
              <a:rPr lang="en-US"/>
            </a:b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21</a:t>
            </a:fld>
            <a:endParaRPr lang="en-US"/>
          </a:p>
        </p:txBody>
      </p:sp>
    </p:spTree>
    <p:extLst>
      <p:ext uri="{BB962C8B-B14F-4D97-AF65-F5344CB8AC3E}">
        <p14:creationId xmlns:p14="http://schemas.microsoft.com/office/powerpoint/2010/main" val="18041224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22</a:t>
            </a:fld>
            <a:endParaRPr lang="en-US"/>
          </a:p>
        </p:txBody>
      </p:sp>
    </p:spTree>
    <p:extLst>
      <p:ext uri="{BB962C8B-B14F-4D97-AF65-F5344CB8AC3E}">
        <p14:creationId xmlns:p14="http://schemas.microsoft.com/office/powerpoint/2010/main" val="301874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evaluation results of 3 scenarios indicate a generally good overall performance, with accuracy (Acc) ranging from 0.92 to 0.96. The U-Net model achieved the highest accuracy score (0.96) along with impressive metrics for Dice (0.93), IoU (0.91), and F1-Score (0.92). It also recorded very low RMSE and MSE values (0.017 and 0.0003), demonstrating its superior effectiveness in image segmentation. In contrast, U-Net++ and DeepLabV3+ exhibited slightly lower accuracy (0.92-0.93), with DeepLabV3+ achieving the lowest Loss value (0.2485) but a somewhat higher RMSE (0.026). Overall, U-Net stands out as the best model for this dataset, while DeepLabV3+ shows potential for improvement due to its low loss value.</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23</a:t>
            </a:fld>
            <a:endParaRPr lang="en-US"/>
          </a:p>
        </p:txBody>
      </p:sp>
    </p:spTree>
    <p:extLst>
      <p:ext uri="{BB962C8B-B14F-4D97-AF65-F5344CB8AC3E}">
        <p14:creationId xmlns:p14="http://schemas.microsoft.com/office/powerpoint/2010/main" val="810198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a:solidFill>
                  <a:schemeClr val="tx1"/>
                </a:solidFill>
                <a:effectLst/>
                <a:latin typeface="+mn-lt"/>
                <a:ea typeface="+mn-ea"/>
                <a:cs typeface="+mn-cs"/>
              </a:rPr>
              <a:t>The evaluation results of 3 scenarios indicate a generally good overall performance, with accuracy (Acc) ranging from 0.92 to 0.96. The U-Net model achieved the highest accuracy score (0.96) along with impressive metrics for Dice (0.93), IoU (0.91), and F1-Score (0.92). It also recorded very low RMSE and MSE values (0.017 and 0.0003), demonstrating its superior effectiveness in image segmentation. In contrast, U-Net++ and DeepLabV3+ exhibited slightly lower accuracy (0.92-0.93), with DeepLabV3+ achieving the lowest Loss value (0.2485) but a somewhat higher RMSE (0.026). Overall, U-Net stands out as the best model for this dataset, while DeepLabV3+ shows potential for improvement due to its low loss value.</a:t>
            </a:r>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24</a:t>
            </a:fld>
            <a:endParaRPr lang="en-US"/>
          </a:p>
        </p:txBody>
      </p:sp>
    </p:spTree>
    <p:extLst>
      <p:ext uri="{BB962C8B-B14F-4D97-AF65-F5344CB8AC3E}">
        <p14:creationId xmlns:p14="http://schemas.microsoft.com/office/powerpoint/2010/main" val="20173913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25</a:t>
            </a:fld>
            <a:endParaRPr lang="en-US"/>
          </a:p>
        </p:txBody>
      </p:sp>
    </p:spTree>
    <p:extLst>
      <p:ext uri="{BB962C8B-B14F-4D97-AF65-F5344CB8AC3E}">
        <p14:creationId xmlns:p14="http://schemas.microsoft.com/office/powerpoint/2010/main" val="3895732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57A3CC4-A1AF-4799-818E-6EEBBE945652}" type="slidenum">
              <a:rPr lang="en-US" smtClean="0"/>
              <a:t>27</a:t>
            </a:fld>
            <a:endParaRPr lang="en-US"/>
          </a:p>
        </p:txBody>
      </p:sp>
    </p:spTree>
    <p:extLst>
      <p:ext uri="{BB962C8B-B14F-4D97-AF65-F5344CB8AC3E}">
        <p14:creationId xmlns:p14="http://schemas.microsoft.com/office/powerpoint/2010/main" val="1804511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A4048-7A0E-F6D1-CC76-329EE7F0C7B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vi-VN"/>
          </a:p>
        </p:txBody>
      </p:sp>
      <p:sp>
        <p:nvSpPr>
          <p:cNvPr id="3" name="Subtitle 2">
            <a:extLst>
              <a:ext uri="{FF2B5EF4-FFF2-40B4-BE49-F238E27FC236}">
                <a16:creationId xmlns:a16="http://schemas.microsoft.com/office/drawing/2014/main" id="{00366C70-62AE-505D-6DE2-D11479C4D9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0401A95D-256E-3F71-CE7C-40B3859CEA95}"/>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a:extLst>
              <a:ext uri="{FF2B5EF4-FFF2-40B4-BE49-F238E27FC236}">
                <a16:creationId xmlns:a16="http://schemas.microsoft.com/office/drawing/2014/main" id="{E02FDE33-C2D0-D4F6-EAAA-A488810A2E6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C8FE39-57E6-D643-C66C-E7E08577E78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41888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D8A6B-1E11-870F-9FAE-5F56E95ADF2C}"/>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D043E874-1809-994C-1A1C-71FBD4C102B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C7495F5-B24E-3EA4-F069-C12D2EB8BC50}"/>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a:extLst>
              <a:ext uri="{FF2B5EF4-FFF2-40B4-BE49-F238E27FC236}">
                <a16:creationId xmlns:a16="http://schemas.microsoft.com/office/drawing/2014/main" id="{B37D4A93-2CE3-ADCB-17D7-0FBE13DC50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BFBB78-6BEA-E840-0A5D-083B8A88AD0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55834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0F97-283A-2E91-C2FB-6C3C8E8FA5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28409C5A-541D-22D5-A72C-8E6A4D7897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DF1F9F-ADD7-201E-D3FF-A57E7DDDFDDE}"/>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a:extLst>
              <a:ext uri="{FF2B5EF4-FFF2-40B4-BE49-F238E27FC236}">
                <a16:creationId xmlns:a16="http://schemas.microsoft.com/office/drawing/2014/main" id="{F58669C8-EDEF-71B5-7F05-57EA7F29F65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E64C73C-01AE-9964-C171-BA515DEB03F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25265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9985C-B3E8-59F0-0A1B-0E58FD5E020F}"/>
              </a:ext>
            </a:extLst>
          </p:cNvPr>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C7F5C37-5D35-168A-6287-1045828A75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69FFE33F-F5DF-ED04-102A-19B214AC32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5154C9C0-B282-BD74-3406-5D998E6CCCF6}"/>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a:extLst>
              <a:ext uri="{FF2B5EF4-FFF2-40B4-BE49-F238E27FC236}">
                <a16:creationId xmlns:a16="http://schemas.microsoft.com/office/drawing/2014/main" id="{5C36DBE1-CF19-6AF5-3942-DF86F81C022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5DA522-355E-848B-C1AA-56D7D32AA60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03554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71B30-AB59-DB1E-9512-A8BF9D72FC36}"/>
              </a:ext>
            </a:extLst>
          </p:cNvPr>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D0C9C621-12ED-E7E5-7DA5-6B92926DAF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76A62-5089-248D-5FA7-C8E878BFCC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00AB2717-E7C8-DD23-AE64-B7F07A87CF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C2E7CB-8AAA-9AA1-C634-EE04119EC95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1EA63780-30AA-EB4E-D62B-9DA53363A6AD}"/>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8" name="Footer Placeholder 7">
            <a:extLst>
              <a:ext uri="{FF2B5EF4-FFF2-40B4-BE49-F238E27FC236}">
                <a16:creationId xmlns:a16="http://schemas.microsoft.com/office/drawing/2014/main" id="{F35B88E4-3CEE-DDDE-8FE0-148480AA7F3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658B8B-6386-633C-C5A7-4F917BDD7C5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16349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A755C-B6ED-2EA4-FD6A-2D06A03996F8}"/>
              </a:ext>
            </a:extLst>
          </p:cNvPr>
          <p:cNvSpPr>
            <a:spLocks noGrp="1"/>
          </p:cNvSpPr>
          <p:nvPr>
            <p:ph type="title"/>
          </p:nvPr>
        </p:nvSpPr>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577D81E1-091A-DEB6-D4E5-C5E8E846ACE8}"/>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4" name="Footer Placeholder 3">
            <a:extLst>
              <a:ext uri="{FF2B5EF4-FFF2-40B4-BE49-F238E27FC236}">
                <a16:creationId xmlns:a16="http://schemas.microsoft.com/office/drawing/2014/main" id="{8577E8E2-6396-0E50-2DE6-16D6B8EDC6C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574B9FEA-A3D6-804D-73DB-8B0840BF3BF8}"/>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56003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451188-EDC2-B162-34A0-9E17EE238E47}"/>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3" name="Footer Placeholder 2">
            <a:extLst>
              <a:ext uri="{FF2B5EF4-FFF2-40B4-BE49-F238E27FC236}">
                <a16:creationId xmlns:a16="http://schemas.microsoft.com/office/drawing/2014/main" id="{7212E1EA-92EE-9019-BA30-02D87EC81A3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5D1EEA5-CF87-0E55-3887-24DE764A19E2}"/>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76782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93434-AD96-3DE3-802A-868C6944C9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7CB1EC8-A45A-1DCD-F225-91DC8202ED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9833F9B4-CF04-2432-168A-BFDA494478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8163DC-642E-96AB-17C1-7FADB55F80BA}"/>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a:extLst>
              <a:ext uri="{FF2B5EF4-FFF2-40B4-BE49-F238E27FC236}">
                <a16:creationId xmlns:a16="http://schemas.microsoft.com/office/drawing/2014/main" id="{56E3A441-A081-9D84-21E3-589481E8F8A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FDD4B59-CFC7-B605-44E0-5F2B52211DC0}"/>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92672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D935B2-D6BB-22BD-F152-D8F542CC84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0D616224-C1BB-9A5A-3CF3-C8BAA5823A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AF7FE61-EEF3-F9D0-D16A-5927F64610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3F1079-BB67-4C46-5E91-6C7CD045D693}"/>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6" name="Footer Placeholder 5">
            <a:extLst>
              <a:ext uri="{FF2B5EF4-FFF2-40B4-BE49-F238E27FC236}">
                <a16:creationId xmlns:a16="http://schemas.microsoft.com/office/drawing/2014/main" id="{0E4196DF-3B78-ECA1-6EF2-C9D978EF7BE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C56EEF0-1296-706E-2F52-662325230879}"/>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78632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7228A-090C-D852-9C03-1E3B34A13222}"/>
              </a:ext>
            </a:extLst>
          </p:cNvPr>
          <p:cNvSpPr>
            <a:spLocks noGrp="1"/>
          </p:cNvSpPr>
          <p:nvPr>
            <p:ph type="title"/>
          </p:nvPr>
        </p:nvSpPr>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F96CDB7-4EA5-263B-CADD-520004FEC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69D9939-8721-B7EF-04FA-9760B69F177D}"/>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a:extLst>
              <a:ext uri="{FF2B5EF4-FFF2-40B4-BE49-F238E27FC236}">
                <a16:creationId xmlns:a16="http://schemas.microsoft.com/office/drawing/2014/main" id="{886995E2-8FC5-F847-FC96-EF4D6021DEE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45A47D4-9CDC-3BDB-E6D9-BFE1BEF1AAFF}"/>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56324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6E64C9-897C-F05A-6F31-A5A1E6E396A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486334EC-5B2B-73B3-A601-617D7F252F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8912BAA6-37AF-4475-0D7A-A2A2619F13B6}"/>
              </a:ext>
            </a:extLst>
          </p:cNvPr>
          <p:cNvSpPr>
            <a:spLocks noGrp="1"/>
          </p:cNvSpPr>
          <p:nvPr>
            <p:ph type="dt" sz="half" idx="10"/>
          </p:nvPr>
        </p:nvSpPr>
        <p:spPr/>
        <p:txBody>
          <a:bodyPr/>
          <a:lstStyle/>
          <a:p>
            <a:fld id="{C764DE79-268F-4C1A-8933-263129D2AF90}" type="datetimeFigureOut">
              <a:rPr lang="en-US" smtClean="0"/>
              <a:t>4/2/2026</a:t>
            </a:fld>
            <a:endParaRPr lang="en-US" dirty="0"/>
          </a:p>
        </p:txBody>
      </p:sp>
      <p:sp>
        <p:nvSpPr>
          <p:cNvPr id="5" name="Footer Placeholder 4">
            <a:extLst>
              <a:ext uri="{FF2B5EF4-FFF2-40B4-BE49-F238E27FC236}">
                <a16:creationId xmlns:a16="http://schemas.microsoft.com/office/drawing/2014/main" id="{AC293CAC-3170-C993-33AF-CF149D8D1F8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9CC1950-80AC-BCAD-6DD8-099CB4EB2DEB}"/>
              </a:ext>
            </a:extLst>
          </p:cNvPr>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52072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bg>
      <p:bgRef idx="1001">
        <a:schemeClr val="bg1"/>
      </p:bgRef>
    </p:bg>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347665" y="145144"/>
            <a:ext cx="11234736" cy="706503"/>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1"/>
            <a:ext cx="11234737" cy="5397404"/>
          </a:xfrm>
        </p:spPr>
        <p:txBody>
          <a:bodyPr/>
          <a:lstStyle>
            <a:lvl1pPr>
              <a:defRPr>
                <a:latin typeface="Cambria" panose="02040503050406030204" pitchFamily="18" charset="0"/>
                <a:ea typeface="Cambria" panose="02040503050406030204" pitchFamily="18" charset="0"/>
                <a:cs typeface="Times New Roman" panose="02020603050405020304" pitchFamily="18" charset="0"/>
              </a:defRPr>
            </a:lvl1pPr>
          </a:lstStyle>
          <a:p>
            <a:pPr lvl="0"/>
            <a:endParaRPr lang="en-US"/>
          </a:p>
        </p:txBody>
      </p:sp>
      <p:sp>
        <p:nvSpPr>
          <p:cNvPr id="5" name="Rectangle: Rounded Corners 3">
            <a:extLst>
              <a:ext uri="{FF2B5EF4-FFF2-40B4-BE49-F238E27FC236}">
                <a16:creationId xmlns:a16="http://schemas.microsoft.com/office/drawing/2014/main" id="{9F3403E1-F657-927A-94DB-C64E7369A5E4}"/>
              </a:ext>
            </a:extLst>
          </p:cNvPr>
          <p:cNvSpPr/>
          <p:nvPr userDrawn="1"/>
        </p:nvSpPr>
        <p:spPr>
          <a:xfrm>
            <a:off x="347665" y="6476290"/>
            <a:ext cx="11234736" cy="45719"/>
          </a:xfrm>
          <a:prstGeom prst="rect">
            <a:avLst/>
          </a:prstGeom>
          <a:gradFill flip="none" rotWithShape="1">
            <a:gsLst>
              <a:gs pos="0">
                <a:schemeClr val="accent1">
                  <a:lumMod val="40000"/>
                  <a:lumOff val="60000"/>
                </a:schemeClr>
              </a:gs>
              <a:gs pos="48000">
                <a:schemeClr val="accent1">
                  <a:lumMod val="60000"/>
                </a:schemeClr>
              </a:gs>
            </a:gsLst>
            <a:path path="circle">
              <a:fillToRect l="100000" t="100000"/>
            </a:path>
            <a:tileRect r="-100000" b="-100000"/>
          </a:gradFill>
          <a:ln>
            <a:noFill/>
          </a:ln>
        </p:spPr>
        <p:style>
          <a:lnRef idx="2">
            <a:schemeClr val="accent6"/>
          </a:lnRef>
          <a:fillRef idx="1">
            <a:schemeClr val="lt1"/>
          </a:fillRef>
          <a:effectRef idx="0">
            <a:schemeClr val="accent6"/>
          </a:effectRef>
          <a:fontRef idx="minor">
            <a:schemeClr val="dk1"/>
          </a:fontRef>
        </p:style>
        <p:txBody>
          <a:bodyPr rtlCol="0" anchor="ctr"/>
          <a:lstStyle/>
          <a:p>
            <a:pPr algn="l"/>
            <a:endParaRPr lang="en-US" sz="2800" b="1" dirty="0">
              <a:solidFill>
                <a:schemeClr val="bg1"/>
              </a:solidFill>
              <a:latin typeface="Times New Roman" panose="02020603050405020304" pitchFamily="18" charset="0"/>
              <a:cs typeface="Times New Roman" panose="02020603050405020304" pitchFamily="18" charset="0"/>
            </a:endParaRPr>
          </a:p>
        </p:txBody>
      </p:sp>
      <p:sp>
        <p:nvSpPr>
          <p:cNvPr id="11" name="TextBox 10"/>
          <p:cNvSpPr txBox="1"/>
          <p:nvPr userDrawn="1"/>
        </p:nvSpPr>
        <p:spPr>
          <a:xfrm>
            <a:off x="11134166" y="6499149"/>
            <a:ext cx="475130" cy="369332"/>
          </a:xfrm>
          <a:prstGeom prst="rect">
            <a:avLst/>
          </a:prstGeom>
          <a:solidFill>
            <a:srgbClr val="002060"/>
          </a:solidFill>
        </p:spPr>
        <p:txBody>
          <a:bodyPr wrap="square" rtlCol="0">
            <a:spAutoFit/>
          </a:bodyPr>
          <a:lstStyle/>
          <a:p>
            <a:fld id="{67037DFD-7A2B-4512-A492-6059EDE34B73}" type="slidenum">
              <a:rPr lang="en-US" smtClean="0">
                <a:solidFill>
                  <a:schemeClr val="bg1"/>
                </a:solidFill>
              </a:rPr>
              <a:t>‹#›</a:t>
            </a:fld>
            <a:endParaRPr lang="en-US">
              <a:solidFill>
                <a:schemeClr val="bg1"/>
              </a:solidFill>
            </a:endParaRPr>
          </a:p>
        </p:txBody>
      </p:sp>
      <p:sp>
        <p:nvSpPr>
          <p:cNvPr id="12" name="Title 11"/>
          <p:cNvSpPr>
            <a:spLocks noGrp="1"/>
          </p:cNvSpPr>
          <p:nvPr>
            <p:ph type="title"/>
          </p:nvPr>
        </p:nvSpPr>
        <p:spPr>
          <a:xfrm>
            <a:off x="416858" y="213164"/>
            <a:ext cx="10515600" cy="638484"/>
          </a:xfrm>
        </p:spPr>
        <p:txBody>
          <a:bodyPr>
            <a:normAutofit/>
          </a:bodyPr>
          <a:lstStyle>
            <a:lvl1pPr>
              <a:defRPr sz="3500">
                <a:solidFill>
                  <a:schemeClr val="bg1"/>
                </a:solidFill>
                <a:latin typeface="Cambria" panose="02040503050406030204" pitchFamily="18" charset="0"/>
                <a:ea typeface="Cambria" panose="02040503050406030204" pitchFamily="18" charset="0"/>
              </a:defRPr>
            </a:lvl1pPr>
          </a:lstStyle>
          <a:p>
            <a:r>
              <a:rPr lang="en-US"/>
              <a:t>Click to edit Master title style</a:t>
            </a:r>
          </a:p>
        </p:txBody>
      </p:sp>
    </p:spTree>
    <p:extLst>
      <p:ext uri="{BB962C8B-B14F-4D97-AF65-F5344CB8AC3E}">
        <p14:creationId xmlns:p14="http://schemas.microsoft.com/office/powerpoint/2010/main" val="1073025227"/>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5" y="145145"/>
            <a:ext cx="7380609"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2. Các công trình nghiên cứu liên quan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5350525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4961880"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3. Cơ sở lý thuyết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70906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2" y="145145"/>
            <a:ext cx="7155545"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4. Phương pháp đề xuất</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0509402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8589784"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6. Kết luận và hướng phát triển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18664145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F3403E1-F657-927A-94DB-C64E7369A5E4}"/>
              </a:ext>
            </a:extLst>
          </p:cNvPr>
          <p:cNvSpPr/>
          <p:nvPr userDrawn="1"/>
        </p:nvSpPr>
        <p:spPr>
          <a:xfrm>
            <a:off x="145141" y="145145"/>
            <a:ext cx="5302348" cy="508000"/>
          </a:xfrm>
          <a:prstGeom prst="roundRect">
            <a:avLst/>
          </a:prstGeom>
          <a:blipFill>
            <a:blip r:embed="rId2"/>
            <a:tile tx="0" ty="0" sx="100000" sy="100000" flip="none" algn="tl"/>
          </a:blip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l"/>
            <a:r>
              <a:rPr lang="en-US" sz="2800" b="1">
                <a:latin typeface="Times New Roman" panose="02020603050405020304" pitchFamily="18" charset="0"/>
                <a:cs typeface="Times New Roman" panose="02020603050405020304" pitchFamily="18" charset="0"/>
              </a:rPr>
              <a:t>5. Kết quả và thảo luận</a:t>
            </a:r>
          </a:p>
        </p:txBody>
      </p:sp>
      <p:sp>
        <p:nvSpPr>
          <p:cNvPr id="8" name="Content Placeholder 7">
            <a:extLst>
              <a:ext uri="{FF2B5EF4-FFF2-40B4-BE49-F238E27FC236}">
                <a16:creationId xmlns:a16="http://schemas.microsoft.com/office/drawing/2014/main" id="{AFB7B182-FCCD-C8A6-565D-2C2A9DE791B9}"/>
              </a:ext>
            </a:extLst>
          </p:cNvPr>
          <p:cNvSpPr>
            <a:spLocks noGrp="1"/>
          </p:cNvSpPr>
          <p:nvPr>
            <p:ph sz="quarter" idx="10"/>
          </p:nvPr>
        </p:nvSpPr>
        <p:spPr>
          <a:xfrm>
            <a:off x="347665" y="1030290"/>
            <a:ext cx="11234737" cy="5500687"/>
          </a:xfrm>
        </p:spPr>
        <p:txBody>
          <a:bodyPr/>
          <a:lstStyle>
            <a:lvl1pPr>
              <a:defRPr>
                <a:latin typeface="Times New Roman" panose="02020603050405020304" pitchFamily="18" charset="0"/>
                <a:cs typeface="Times New Roman" panose="02020603050405020304" pitchFamily="18" charset="0"/>
              </a:defRPr>
            </a:lvl1pPr>
          </a:lstStyle>
          <a:p>
            <a:pPr lvl="0"/>
            <a:endParaRPr lang="en-US"/>
          </a:p>
        </p:txBody>
      </p:sp>
    </p:spTree>
    <p:extLst>
      <p:ext uri="{BB962C8B-B14F-4D97-AF65-F5344CB8AC3E}">
        <p14:creationId xmlns:p14="http://schemas.microsoft.com/office/powerpoint/2010/main" val="769744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6420400" y="2630967"/>
            <a:ext cx="5162000" cy="7636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
        <p:nvSpPr>
          <p:cNvPr id="19" name="Google Shape;19;p4"/>
          <p:cNvSpPr txBox="1">
            <a:spLocks noGrp="1"/>
          </p:cNvSpPr>
          <p:nvPr>
            <p:ph type="subTitle" idx="1"/>
          </p:nvPr>
        </p:nvSpPr>
        <p:spPr>
          <a:xfrm>
            <a:off x="6420400" y="3427433"/>
            <a:ext cx="5162000" cy="12060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867"/>
            </a:lvl1pPr>
            <a:lvl2pPr lvl="1" algn="ctr">
              <a:spcBef>
                <a:spcPts val="2133"/>
              </a:spcBef>
              <a:spcAft>
                <a:spcPts val="0"/>
              </a:spcAft>
              <a:buSzPts val="1400"/>
              <a:buNone/>
              <a:defRPr/>
            </a:lvl2pPr>
            <a:lvl3pPr lvl="2" algn="ctr">
              <a:spcBef>
                <a:spcPts val="2133"/>
              </a:spcBef>
              <a:spcAft>
                <a:spcPts val="0"/>
              </a:spcAft>
              <a:buSzPts val="1400"/>
              <a:buNone/>
              <a:defRPr/>
            </a:lvl3pPr>
            <a:lvl4pPr lvl="3" algn="ctr">
              <a:spcBef>
                <a:spcPts val="2133"/>
              </a:spcBef>
              <a:spcAft>
                <a:spcPts val="0"/>
              </a:spcAft>
              <a:buSzPts val="1400"/>
              <a:buNone/>
              <a:defRPr/>
            </a:lvl4pPr>
            <a:lvl5pPr lvl="4" algn="ctr">
              <a:spcBef>
                <a:spcPts val="2133"/>
              </a:spcBef>
              <a:spcAft>
                <a:spcPts val="0"/>
              </a:spcAft>
              <a:buSzPts val="1400"/>
              <a:buNone/>
              <a:defRPr/>
            </a:lvl5pPr>
            <a:lvl6pPr lvl="5" algn="ctr">
              <a:spcBef>
                <a:spcPts val="2133"/>
              </a:spcBef>
              <a:spcAft>
                <a:spcPts val="0"/>
              </a:spcAft>
              <a:buSzPts val="1400"/>
              <a:buNone/>
              <a:defRPr/>
            </a:lvl6pPr>
            <a:lvl7pPr lvl="6" algn="ctr">
              <a:spcBef>
                <a:spcPts val="2133"/>
              </a:spcBef>
              <a:spcAft>
                <a:spcPts val="0"/>
              </a:spcAft>
              <a:buSzPts val="1400"/>
              <a:buNone/>
              <a:defRPr/>
            </a:lvl7pPr>
            <a:lvl8pPr lvl="7" algn="ctr">
              <a:spcBef>
                <a:spcPts val="2133"/>
              </a:spcBef>
              <a:spcAft>
                <a:spcPts val="0"/>
              </a:spcAft>
              <a:buSzPts val="1400"/>
              <a:buNone/>
              <a:defRPr/>
            </a:lvl8pPr>
            <a:lvl9pPr lvl="8" algn="ctr">
              <a:spcBef>
                <a:spcPts val="2133"/>
              </a:spcBef>
              <a:spcAft>
                <a:spcPts val="2133"/>
              </a:spcAft>
              <a:buSzPts val="1400"/>
              <a:buNone/>
              <a:defRPr/>
            </a:lvl9pPr>
          </a:lstStyle>
          <a:p>
            <a:endParaRPr/>
          </a:p>
        </p:txBody>
      </p:sp>
    </p:spTree>
    <p:extLst>
      <p:ext uri="{BB962C8B-B14F-4D97-AF65-F5344CB8AC3E}">
        <p14:creationId xmlns:p14="http://schemas.microsoft.com/office/powerpoint/2010/main" val="40684649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0" name="Google Shape;30;p6"/>
          <p:cNvSpPr txBox="1">
            <a:spLocks noGrp="1"/>
          </p:cNvSpPr>
          <p:nvPr>
            <p:ph type="sldNum" idx="12"/>
          </p:nvPr>
        </p:nvSpPr>
        <p:spPr>
          <a:xfrm>
            <a:off x="11281345" y="6208524"/>
            <a:ext cx="731600" cy="524800"/>
          </a:xfrm>
          <a:prstGeom prst="rect">
            <a:avLst/>
          </a:prstGeom>
          <a:noFill/>
          <a:ln>
            <a:noFill/>
          </a:ln>
        </p:spPr>
        <p:txBody>
          <a:bodyPr spcFirstLastPara="1" wrap="square" lIns="91425" tIns="91425" rIns="91425" bIns="91425" anchor="ctr" anchorCtr="0">
            <a:noAutofit/>
          </a:bodyPr>
          <a:lstStyle>
            <a:lvl1pPr lvl="0">
              <a:buNone/>
              <a:defRPr sz="1600" b="1">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653593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7"/>
        <p:cNvGrpSpPr/>
        <p:nvPr/>
      </p:nvGrpSpPr>
      <p:grpSpPr>
        <a:xfrm>
          <a:off x="0" y="0"/>
          <a:ext cx="0" cy="0"/>
          <a:chOff x="0" y="0"/>
          <a:chExt cx="0" cy="0"/>
        </a:xfrm>
      </p:grpSpPr>
      <p:sp>
        <p:nvSpPr>
          <p:cNvPr id="58" name="Google Shape;58;p12"/>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0037371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able of Contents ">
  <p:cSld name="Table of Contents ">
    <p:spTree>
      <p:nvGrpSpPr>
        <p:cNvPr id="1" name="Shape 59"/>
        <p:cNvGrpSpPr/>
        <p:nvPr/>
      </p:nvGrpSpPr>
      <p:grpSpPr>
        <a:xfrm>
          <a:off x="0" y="0"/>
          <a:ext cx="0" cy="0"/>
          <a:chOff x="0" y="0"/>
          <a:chExt cx="0" cy="0"/>
        </a:xfrm>
      </p:grpSpPr>
      <p:sp>
        <p:nvSpPr>
          <p:cNvPr id="60" name="Google Shape;60;p13"/>
          <p:cNvSpPr txBox="1">
            <a:spLocks noGrp="1"/>
          </p:cNvSpPr>
          <p:nvPr>
            <p:ph type="title"/>
          </p:nvPr>
        </p:nvSpPr>
        <p:spPr>
          <a:xfrm>
            <a:off x="609600" y="593367"/>
            <a:ext cx="10972800" cy="646000"/>
          </a:xfrm>
          <a:prstGeom prst="rect">
            <a:avLst/>
          </a:prstGeom>
        </p:spPr>
        <p:txBody>
          <a:bodyPr spcFirstLastPara="1" wrap="square" lIns="91425" tIns="91425" rIns="91425" bIns="91425" anchor="t" anchorCtr="0">
            <a:noAutofit/>
          </a:bodyPr>
          <a:lstStyle>
            <a:lvl1pPr lvl="0" algn="ctr">
              <a:spcBef>
                <a:spcPts val="0"/>
              </a:spcBef>
              <a:spcAft>
                <a:spcPts val="0"/>
              </a:spcAft>
              <a:buSzPts val="3000"/>
              <a:buNone/>
              <a:defRPr sz="4000"/>
            </a:lvl1pPr>
            <a:lvl2pPr lvl="1">
              <a:spcBef>
                <a:spcPts val="0"/>
              </a:spcBef>
              <a:spcAft>
                <a:spcPts val="0"/>
              </a:spcAft>
              <a:buSzPts val="3000"/>
              <a:buNone/>
              <a:defRPr>
                <a:latin typeface="Ubuntu"/>
                <a:ea typeface="Ubuntu"/>
                <a:cs typeface="Ubuntu"/>
                <a:sym typeface="Ubuntu"/>
              </a:defRPr>
            </a:lvl2pPr>
            <a:lvl3pPr lvl="2">
              <a:spcBef>
                <a:spcPts val="0"/>
              </a:spcBef>
              <a:spcAft>
                <a:spcPts val="0"/>
              </a:spcAft>
              <a:buSzPts val="3000"/>
              <a:buNone/>
              <a:defRPr>
                <a:latin typeface="Ubuntu"/>
                <a:ea typeface="Ubuntu"/>
                <a:cs typeface="Ubuntu"/>
                <a:sym typeface="Ubuntu"/>
              </a:defRPr>
            </a:lvl3pPr>
            <a:lvl4pPr lvl="3">
              <a:spcBef>
                <a:spcPts val="0"/>
              </a:spcBef>
              <a:spcAft>
                <a:spcPts val="0"/>
              </a:spcAft>
              <a:buSzPts val="3000"/>
              <a:buNone/>
              <a:defRPr>
                <a:latin typeface="Ubuntu"/>
                <a:ea typeface="Ubuntu"/>
                <a:cs typeface="Ubuntu"/>
                <a:sym typeface="Ubuntu"/>
              </a:defRPr>
            </a:lvl4pPr>
            <a:lvl5pPr lvl="4">
              <a:spcBef>
                <a:spcPts val="0"/>
              </a:spcBef>
              <a:spcAft>
                <a:spcPts val="0"/>
              </a:spcAft>
              <a:buSzPts val="3000"/>
              <a:buNone/>
              <a:defRPr>
                <a:latin typeface="Ubuntu"/>
                <a:ea typeface="Ubuntu"/>
                <a:cs typeface="Ubuntu"/>
                <a:sym typeface="Ubuntu"/>
              </a:defRPr>
            </a:lvl5pPr>
            <a:lvl6pPr lvl="5">
              <a:spcBef>
                <a:spcPts val="0"/>
              </a:spcBef>
              <a:spcAft>
                <a:spcPts val="0"/>
              </a:spcAft>
              <a:buSzPts val="3000"/>
              <a:buNone/>
              <a:defRPr>
                <a:latin typeface="Ubuntu"/>
                <a:ea typeface="Ubuntu"/>
                <a:cs typeface="Ubuntu"/>
                <a:sym typeface="Ubuntu"/>
              </a:defRPr>
            </a:lvl6pPr>
            <a:lvl7pPr lvl="6">
              <a:spcBef>
                <a:spcPts val="0"/>
              </a:spcBef>
              <a:spcAft>
                <a:spcPts val="0"/>
              </a:spcAft>
              <a:buSzPts val="3000"/>
              <a:buNone/>
              <a:defRPr>
                <a:latin typeface="Ubuntu"/>
                <a:ea typeface="Ubuntu"/>
                <a:cs typeface="Ubuntu"/>
                <a:sym typeface="Ubuntu"/>
              </a:defRPr>
            </a:lvl7pPr>
            <a:lvl8pPr lvl="7">
              <a:spcBef>
                <a:spcPts val="0"/>
              </a:spcBef>
              <a:spcAft>
                <a:spcPts val="0"/>
              </a:spcAft>
              <a:buSzPts val="3000"/>
              <a:buNone/>
              <a:defRPr>
                <a:latin typeface="Ubuntu"/>
                <a:ea typeface="Ubuntu"/>
                <a:cs typeface="Ubuntu"/>
                <a:sym typeface="Ubuntu"/>
              </a:defRPr>
            </a:lvl8pPr>
            <a:lvl9pPr lvl="8">
              <a:spcBef>
                <a:spcPts val="0"/>
              </a:spcBef>
              <a:spcAft>
                <a:spcPts val="0"/>
              </a:spcAft>
              <a:buSzPts val="3000"/>
              <a:buNone/>
              <a:defRPr>
                <a:latin typeface="Ubuntu"/>
                <a:ea typeface="Ubuntu"/>
                <a:cs typeface="Ubuntu"/>
                <a:sym typeface="Ubuntu"/>
              </a:defRPr>
            </a:lvl9pPr>
          </a:lstStyle>
          <a:p>
            <a:endParaRPr/>
          </a:p>
        </p:txBody>
      </p:sp>
      <p:sp>
        <p:nvSpPr>
          <p:cNvPr id="61" name="Google Shape;61;p13"/>
          <p:cNvSpPr txBox="1">
            <a:spLocks noGrp="1"/>
          </p:cNvSpPr>
          <p:nvPr>
            <p:ph type="title" idx="2"/>
          </p:nvPr>
        </p:nvSpPr>
        <p:spPr>
          <a:xfrm>
            <a:off x="1493400" y="243686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2" name="Google Shape;62;p13"/>
          <p:cNvSpPr txBox="1">
            <a:spLocks noGrp="1"/>
          </p:cNvSpPr>
          <p:nvPr>
            <p:ph type="subTitle" idx="1"/>
          </p:nvPr>
        </p:nvSpPr>
        <p:spPr>
          <a:xfrm>
            <a:off x="1515400" y="2944337"/>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3" name="Google Shape;63;p13"/>
          <p:cNvSpPr txBox="1">
            <a:spLocks noGrp="1"/>
          </p:cNvSpPr>
          <p:nvPr>
            <p:ph type="title" idx="3" hasCustomPrompt="1"/>
          </p:nvPr>
        </p:nvSpPr>
        <p:spPr>
          <a:xfrm>
            <a:off x="1515400" y="1681369"/>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4" name="Google Shape;64;p13"/>
          <p:cNvSpPr txBox="1">
            <a:spLocks noGrp="1"/>
          </p:cNvSpPr>
          <p:nvPr>
            <p:ph type="title" idx="4"/>
          </p:nvPr>
        </p:nvSpPr>
        <p:spPr>
          <a:xfrm>
            <a:off x="1402233" y="4805333"/>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5" name="Google Shape;65;p13"/>
          <p:cNvSpPr txBox="1">
            <a:spLocks noGrp="1"/>
          </p:cNvSpPr>
          <p:nvPr>
            <p:ph type="subTitle" idx="5"/>
          </p:nvPr>
        </p:nvSpPr>
        <p:spPr>
          <a:xfrm>
            <a:off x="1515400"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6" name="Google Shape;66;p13"/>
          <p:cNvSpPr txBox="1">
            <a:spLocks noGrp="1"/>
          </p:cNvSpPr>
          <p:nvPr>
            <p:ph type="title" idx="6" hasCustomPrompt="1"/>
          </p:nvPr>
        </p:nvSpPr>
        <p:spPr>
          <a:xfrm>
            <a:off x="1515400" y="4048375"/>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67" name="Google Shape;67;p13"/>
          <p:cNvSpPr txBox="1">
            <a:spLocks noGrp="1"/>
          </p:cNvSpPr>
          <p:nvPr>
            <p:ph type="title" idx="7"/>
          </p:nvPr>
        </p:nvSpPr>
        <p:spPr>
          <a:xfrm>
            <a:off x="4704967" y="2423233"/>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68" name="Google Shape;68;p13"/>
          <p:cNvSpPr txBox="1">
            <a:spLocks noGrp="1"/>
          </p:cNvSpPr>
          <p:nvPr>
            <p:ph type="subTitle" idx="8"/>
          </p:nvPr>
        </p:nvSpPr>
        <p:spPr>
          <a:xfrm>
            <a:off x="4589769" y="2944337"/>
            <a:ext cx="2986800" cy="858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69" name="Google Shape;69;p13"/>
          <p:cNvSpPr txBox="1">
            <a:spLocks noGrp="1"/>
          </p:cNvSpPr>
          <p:nvPr>
            <p:ph type="title" idx="9" hasCustomPrompt="1"/>
          </p:nvPr>
        </p:nvSpPr>
        <p:spPr>
          <a:xfrm>
            <a:off x="4589769" y="1647267"/>
            <a:ext cx="2986800" cy="91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0" name="Google Shape;70;p13"/>
          <p:cNvSpPr txBox="1">
            <a:spLocks noGrp="1"/>
          </p:cNvSpPr>
          <p:nvPr>
            <p:ph type="title" idx="13"/>
          </p:nvPr>
        </p:nvSpPr>
        <p:spPr>
          <a:xfrm>
            <a:off x="4589769" y="4805337"/>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1" name="Google Shape;71;p13"/>
          <p:cNvSpPr txBox="1">
            <a:spLocks noGrp="1"/>
          </p:cNvSpPr>
          <p:nvPr>
            <p:ph type="subTitle" idx="14"/>
          </p:nvPr>
        </p:nvSpPr>
        <p:spPr>
          <a:xfrm>
            <a:off x="4589769" y="5260197"/>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2" name="Google Shape;72;p13"/>
          <p:cNvSpPr txBox="1">
            <a:spLocks noGrp="1"/>
          </p:cNvSpPr>
          <p:nvPr>
            <p:ph type="title" idx="15" hasCustomPrompt="1"/>
          </p:nvPr>
        </p:nvSpPr>
        <p:spPr>
          <a:xfrm>
            <a:off x="4589769" y="4016067"/>
            <a:ext cx="2986800" cy="878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3" name="Google Shape;73;p13"/>
          <p:cNvSpPr txBox="1">
            <a:spLocks noGrp="1"/>
          </p:cNvSpPr>
          <p:nvPr>
            <p:ph type="title" idx="16"/>
          </p:nvPr>
        </p:nvSpPr>
        <p:spPr>
          <a:xfrm>
            <a:off x="7576567" y="2434900"/>
            <a:ext cx="32132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4" name="Google Shape;74;p13"/>
          <p:cNvSpPr txBox="1">
            <a:spLocks noGrp="1"/>
          </p:cNvSpPr>
          <p:nvPr>
            <p:ph type="subTitle" idx="17"/>
          </p:nvPr>
        </p:nvSpPr>
        <p:spPr>
          <a:xfrm>
            <a:off x="7691936" y="2881703"/>
            <a:ext cx="2986800" cy="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5" name="Google Shape;75;p13"/>
          <p:cNvSpPr txBox="1">
            <a:spLocks noGrp="1"/>
          </p:cNvSpPr>
          <p:nvPr>
            <p:ph type="title" idx="18" hasCustomPrompt="1"/>
          </p:nvPr>
        </p:nvSpPr>
        <p:spPr>
          <a:xfrm>
            <a:off x="7691935" y="1686008"/>
            <a:ext cx="2986800" cy="88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6" name="Google Shape;76;p13"/>
          <p:cNvSpPr txBox="1">
            <a:spLocks noGrp="1"/>
          </p:cNvSpPr>
          <p:nvPr>
            <p:ph type="title" idx="19"/>
          </p:nvPr>
        </p:nvSpPr>
        <p:spPr>
          <a:xfrm>
            <a:off x="7691936" y="4803391"/>
            <a:ext cx="2986800" cy="590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1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endParaRPr/>
          </a:p>
        </p:txBody>
      </p:sp>
      <p:sp>
        <p:nvSpPr>
          <p:cNvPr id="77" name="Google Shape;77;p13"/>
          <p:cNvSpPr txBox="1">
            <a:spLocks noGrp="1"/>
          </p:cNvSpPr>
          <p:nvPr>
            <p:ph type="subTitle" idx="20"/>
          </p:nvPr>
        </p:nvSpPr>
        <p:spPr>
          <a:xfrm>
            <a:off x="7691936" y="5250176"/>
            <a:ext cx="2986800" cy="105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8" name="Google Shape;78;p13"/>
          <p:cNvSpPr txBox="1">
            <a:spLocks noGrp="1"/>
          </p:cNvSpPr>
          <p:nvPr>
            <p:ph type="title" idx="21" hasCustomPrompt="1"/>
          </p:nvPr>
        </p:nvSpPr>
        <p:spPr>
          <a:xfrm>
            <a:off x="7691935" y="4052819"/>
            <a:ext cx="2986800" cy="845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5333"/>
            </a:lvl1pPr>
            <a:lvl2pPr lvl="1" algn="ctr" rtl="0">
              <a:spcBef>
                <a:spcPts val="0"/>
              </a:spcBef>
              <a:spcAft>
                <a:spcPts val="0"/>
              </a:spcAft>
              <a:buSzPts val="5000"/>
              <a:buNone/>
              <a:defRPr sz="6667"/>
            </a:lvl2pPr>
            <a:lvl3pPr lvl="2" algn="ctr" rtl="0">
              <a:spcBef>
                <a:spcPts val="0"/>
              </a:spcBef>
              <a:spcAft>
                <a:spcPts val="0"/>
              </a:spcAft>
              <a:buSzPts val="5000"/>
              <a:buNone/>
              <a:defRPr sz="6667"/>
            </a:lvl3pPr>
            <a:lvl4pPr lvl="3" algn="ctr" rtl="0">
              <a:spcBef>
                <a:spcPts val="0"/>
              </a:spcBef>
              <a:spcAft>
                <a:spcPts val="0"/>
              </a:spcAft>
              <a:buSzPts val="5000"/>
              <a:buNone/>
              <a:defRPr sz="6667"/>
            </a:lvl4pPr>
            <a:lvl5pPr lvl="4" algn="ctr" rtl="0">
              <a:spcBef>
                <a:spcPts val="0"/>
              </a:spcBef>
              <a:spcAft>
                <a:spcPts val="0"/>
              </a:spcAft>
              <a:buSzPts val="5000"/>
              <a:buNone/>
              <a:defRPr sz="6667"/>
            </a:lvl5pPr>
            <a:lvl6pPr lvl="5" algn="ctr" rtl="0">
              <a:spcBef>
                <a:spcPts val="0"/>
              </a:spcBef>
              <a:spcAft>
                <a:spcPts val="0"/>
              </a:spcAft>
              <a:buSzPts val="5000"/>
              <a:buNone/>
              <a:defRPr sz="6667"/>
            </a:lvl6pPr>
            <a:lvl7pPr lvl="6" algn="ctr" rtl="0">
              <a:spcBef>
                <a:spcPts val="0"/>
              </a:spcBef>
              <a:spcAft>
                <a:spcPts val="0"/>
              </a:spcAft>
              <a:buSzPts val="5000"/>
              <a:buNone/>
              <a:defRPr sz="6667"/>
            </a:lvl7pPr>
            <a:lvl8pPr lvl="7" algn="ctr" rtl="0">
              <a:spcBef>
                <a:spcPts val="0"/>
              </a:spcBef>
              <a:spcAft>
                <a:spcPts val="0"/>
              </a:spcAft>
              <a:buSzPts val="5000"/>
              <a:buNone/>
              <a:defRPr sz="6667"/>
            </a:lvl8pPr>
            <a:lvl9pPr lvl="8" algn="ctr" rtl="0">
              <a:spcBef>
                <a:spcPts val="0"/>
              </a:spcBef>
              <a:spcAft>
                <a:spcPts val="0"/>
              </a:spcAft>
              <a:buSzPts val="5000"/>
              <a:buNone/>
              <a:defRPr sz="6667"/>
            </a:lvl9pPr>
          </a:lstStyle>
          <a:p>
            <a:r>
              <a:t>xx%</a:t>
            </a:r>
          </a:p>
        </p:txBody>
      </p:sp>
      <p:sp>
        <p:nvSpPr>
          <p:cNvPr id="79" name="Google Shape;79;p13"/>
          <p:cNvSpPr/>
          <p:nvPr/>
        </p:nvSpPr>
        <p:spPr>
          <a:xfrm>
            <a:off x="2286784"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0" name="Google Shape;80;p13"/>
          <p:cNvSpPr/>
          <p:nvPr/>
        </p:nvSpPr>
        <p:spPr>
          <a:xfrm>
            <a:off x="2130018"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1" name="Google Shape;81;p13"/>
          <p:cNvSpPr/>
          <p:nvPr/>
        </p:nvSpPr>
        <p:spPr>
          <a:xfrm>
            <a:off x="5204352" y="1560251"/>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2" name="Google Shape;82;p13"/>
          <p:cNvSpPr/>
          <p:nvPr/>
        </p:nvSpPr>
        <p:spPr>
          <a:xfrm>
            <a:off x="5408719"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3" name="Google Shape;83;p13"/>
          <p:cNvSpPr/>
          <p:nvPr/>
        </p:nvSpPr>
        <p:spPr>
          <a:xfrm>
            <a:off x="8393520" y="3916001"/>
            <a:ext cx="1755461" cy="916432"/>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84" name="Google Shape;84;p13"/>
          <p:cNvSpPr/>
          <p:nvPr/>
        </p:nvSpPr>
        <p:spPr>
          <a:xfrm>
            <a:off x="8306520" y="1551549"/>
            <a:ext cx="1755461" cy="982231"/>
          </a:xfrm>
          <a:custGeom>
            <a:avLst/>
            <a:gdLst/>
            <a:ahLst/>
            <a:cxnLst/>
            <a:rect l="l" t="t" r="r" b="b"/>
            <a:pathLst>
              <a:path w="43850" h="20955" extrusionOk="0">
                <a:moveTo>
                  <a:pt x="35868" y="1"/>
                </a:moveTo>
                <a:cubicBezTo>
                  <a:pt x="33099" y="1"/>
                  <a:pt x="29407" y="1533"/>
                  <a:pt x="25541" y="5166"/>
                </a:cubicBezTo>
                <a:cubicBezTo>
                  <a:pt x="22783" y="7783"/>
                  <a:pt x="17994" y="8281"/>
                  <a:pt x="14745" y="8281"/>
                </a:cubicBezTo>
                <a:cubicBezTo>
                  <a:pt x="12746" y="8281"/>
                  <a:pt x="11330" y="8093"/>
                  <a:pt x="11330" y="8093"/>
                </a:cubicBezTo>
                <a:cubicBezTo>
                  <a:pt x="10126" y="7944"/>
                  <a:pt x="9040" y="7874"/>
                  <a:pt x="8063" y="7874"/>
                </a:cubicBezTo>
                <a:cubicBezTo>
                  <a:pt x="1782" y="7874"/>
                  <a:pt x="1" y="10760"/>
                  <a:pt x="338" y="14109"/>
                </a:cubicBezTo>
                <a:cubicBezTo>
                  <a:pt x="687" y="17299"/>
                  <a:pt x="7181" y="20954"/>
                  <a:pt x="15993" y="20954"/>
                </a:cubicBezTo>
                <a:cubicBezTo>
                  <a:pt x="17869" y="20954"/>
                  <a:pt x="19850" y="20789"/>
                  <a:pt x="21899" y="20418"/>
                </a:cubicBezTo>
                <a:cubicBezTo>
                  <a:pt x="35297" y="17979"/>
                  <a:pt x="43850" y="7800"/>
                  <a:pt x="39980" y="1914"/>
                </a:cubicBezTo>
                <a:cubicBezTo>
                  <a:pt x="39181" y="696"/>
                  <a:pt x="37734" y="1"/>
                  <a:pt x="35868" y="1"/>
                </a:cubicBezTo>
                <a:close/>
              </a:path>
            </a:pathLst>
          </a:custGeom>
          <a:solidFill>
            <a:srgbClr val="8FCEF9">
              <a:alpha val="60710"/>
            </a:srgbClr>
          </a:solidFill>
          <a:ln>
            <a:noFill/>
          </a:ln>
        </p:spPr>
        <p:txBody>
          <a:bodyPr spcFirstLastPara="1" wrap="square" lIns="121900" tIns="121900" rIns="121900" bIns="121900" anchor="ctr" anchorCtr="0">
            <a:noAutofit/>
          </a:bodyPr>
          <a:lstStyle/>
          <a:p>
            <a:pPr marL="0" marR="0" lvl="0" indent="0" algn="l" defTabSz="1219170" rtl="0" eaLnBrk="1" fontAlgn="auto" latinLnBrk="0" hangingPunct="1">
              <a:lnSpc>
                <a:spcPct val="100000"/>
              </a:lnSpc>
              <a:spcBef>
                <a:spcPts val="0"/>
              </a:spcBef>
              <a:spcAft>
                <a:spcPts val="0"/>
              </a:spcAft>
              <a:buClr>
                <a:srgbClr val="000000"/>
              </a:buClr>
              <a:buSzTx/>
              <a:buFont typeface="Arial"/>
              <a:buNone/>
              <a:tabLst/>
              <a:defRPr/>
            </a:pPr>
            <a:endParaRPr kumimoji="0" sz="1867" b="0" i="0" u="none" strike="noStrike" kern="0" cap="none" spc="0" normalizeH="0" baseline="0" noProof="0">
              <a:ln>
                <a:noFill/>
              </a:ln>
              <a:solidFill>
                <a:srgbClr val="000000"/>
              </a:solidFill>
              <a:effectLst/>
              <a:uLnTx/>
              <a:uFillTx/>
              <a:latin typeface="Arial"/>
              <a:cs typeface="Arial"/>
              <a:sym typeface="Arial"/>
            </a:endParaRPr>
          </a:p>
        </p:txBody>
      </p:sp>
      <p:sp>
        <p:nvSpPr>
          <p:cNvPr id="27" name="Google Shape;58;p12"/>
          <p:cNvSpPr txBox="1">
            <a:spLocks noGrp="1"/>
          </p:cNvSpPr>
          <p:nvPr>
            <p:ph type="sldNum" idx="22"/>
          </p:nvPr>
        </p:nvSpPr>
        <p:spPr>
          <a:xfrm>
            <a:off x="11296611" y="6235820"/>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13843180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7">
  <p:cSld name="Title and Text 7">
    <p:spTree>
      <p:nvGrpSpPr>
        <p:cNvPr id="1" name="Shape 195"/>
        <p:cNvGrpSpPr/>
        <p:nvPr/>
      </p:nvGrpSpPr>
      <p:grpSpPr>
        <a:xfrm>
          <a:off x="0" y="0"/>
          <a:ext cx="0" cy="0"/>
          <a:chOff x="0" y="0"/>
          <a:chExt cx="0" cy="0"/>
        </a:xfrm>
      </p:grpSpPr>
      <p:sp>
        <p:nvSpPr>
          <p:cNvPr id="196" name="Google Shape;196;p33"/>
          <p:cNvSpPr txBox="1">
            <a:spLocks noGrp="1"/>
          </p:cNvSpPr>
          <p:nvPr>
            <p:ph type="title"/>
          </p:nvPr>
        </p:nvSpPr>
        <p:spPr>
          <a:xfrm>
            <a:off x="6420412" y="1719000"/>
            <a:ext cx="5162000" cy="186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4800"/>
              <a:buNone/>
              <a:defRPr sz="5333"/>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97" name="Google Shape;197;p33"/>
          <p:cNvSpPr txBox="1">
            <a:spLocks noGrp="1"/>
          </p:cNvSpPr>
          <p:nvPr>
            <p:ph type="subTitle" idx="1"/>
          </p:nvPr>
        </p:nvSpPr>
        <p:spPr>
          <a:xfrm>
            <a:off x="6420400" y="3317221"/>
            <a:ext cx="5162000" cy="895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Tree>
    <p:extLst>
      <p:ext uri="{BB962C8B-B14F-4D97-AF65-F5344CB8AC3E}">
        <p14:creationId xmlns:p14="http://schemas.microsoft.com/office/powerpoint/2010/main" val="26883447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2907290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52E368-DA95-4E0E-69B7-070546B768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a:extLst>
              <a:ext uri="{FF2B5EF4-FFF2-40B4-BE49-F238E27FC236}">
                <a16:creationId xmlns:a16="http://schemas.microsoft.com/office/drawing/2014/main" id="{709E9B9C-DB00-4016-0EAD-39BB7BBD34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402FD6CD-82E8-A568-FEFC-19C346B766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4/2/2026</a:t>
            </a:fld>
            <a:endParaRPr lang="en-US" dirty="0"/>
          </a:p>
        </p:txBody>
      </p:sp>
      <p:sp>
        <p:nvSpPr>
          <p:cNvPr id="5" name="Footer Placeholder 4">
            <a:extLst>
              <a:ext uri="{FF2B5EF4-FFF2-40B4-BE49-F238E27FC236}">
                <a16:creationId xmlns:a16="http://schemas.microsoft.com/office/drawing/2014/main" id="{93C9C013-B326-BD05-156D-A3D6289AFF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49BFB734-D57E-5259-379D-D6F0B8A640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93158113"/>
      </p:ext>
    </p:extLst>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 id="2147483858" r:id="rId10"/>
    <p:sldLayoutId id="2147483859" r:id="rId11"/>
    <p:sldLayoutId id="2147483792" r:id="rId12"/>
    <p:sldLayoutId id="2147483793" r:id="rId13"/>
    <p:sldLayoutId id="2147483794" r:id="rId14"/>
    <p:sldLayoutId id="2147483795" r:id="rId15"/>
    <p:sldLayoutId id="2147483796" r:id="rId16"/>
    <p:sldLayoutId id="2147483826"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58;p12"/>
          <p:cNvSpPr txBox="1">
            <a:spLocks noGrp="1"/>
          </p:cNvSpPr>
          <p:nvPr>
            <p:ph type="sldNum" idx="4"/>
          </p:nvPr>
        </p:nvSpPr>
        <p:spPr>
          <a:xfrm>
            <a:off x="11296611" y="6217623"/>
            <a:ext cx="731600" cy="524800"/>
          </a:xfrm>
          <a:prstGeom prst="rect">
            <a:avLst/>
          </a:prstGeom>
          <a:noFill/>
          <a:ln>
            <a:noFill/>
          </a:ln>
        </p:spPr>
        <p:txBody>
          <a:bodyPr spcFirstLastPara="1" wrap="square" lIns="91425" tIns="91425" rIns="91425" bIns="91425" anchor="ctr" anchorCtr="0">
            <a:noAutofit/>
          </a:bodyPr>
          <a:lstStyle>
            <a:lvl1pPr lvl="0">
              <a:buNone/>
              <a:defRPr sz="1600" b="1" i="0">
                <a:latin typeface="Montserrat" pitchFamily="2" charset="77"/>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defTabSz="1219170">
              <a:buClr>
                <a:srgbClr val="000000"/>
              </a:buClr>
            </a:pPr>
            <a:fld id="{00000000-1234-1234-1234-123412341234}" type="slidenum">
              <a:rPr lang="en" kern="0" smtClean="0">
                <a:solidFill>
                  <a:srgbClr val="000000"/>
                </a:solidFill>
                <a:cs typeface="Arial"/>
                <a:sym typeface="Arial"/>
              </a:rPr>
              <a:pPr defTabSz="1219170">
                <a:buClr>
                  <a:srgbClr val="000000"/>
                </a:buClr>
              </a:pPr>
              <a:t>‹#›</a:t>
            </a:fld>
            <a:endParaRPr lang="en" kern="0">
              <a:solidFill>
                <a:srgbClr val="000000"/>
              </a:solidFill>
              <a:cs typeface="Arial"/>
              <a:sym typeface="Arial"/>
            </a:endParaRPr>
          </a:p>
        </p:txBody>
      </p:sp>
    </p:spTree>
    <p:extLst>
      <p:ext uri="{BB962C8B-B14F-4D97-AF65-F5344CB8AC3E}">
        <p14:creationId xmlns:p14="http://schemas.microsoft.com/office/powerpoint/2010/main" val="3811400055"/>
      </p:ext>
    </p:extLst>
  </p:cSld>
  <p:clrMap bg1="lt1" tx1="dk1" bg2="dk2" tx2="lt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0.png"/><Relationship Id="rId9" Type="http://schemas.openxmlformats.org/officeDocument/2006/relationships/image" Target="../media/image26.png"/><Relationship Id="rId1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40.png"/><Relationship Id="rId4" Type="http://schemas.openxmlformats.org/officeDocument/2006/relationships/image" Target="../media/image39.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pic>
        <p:nvPicPr>
          <p:cNvPr id="9" name="Picture 8">
            <a:extLst>
              <a:ext uri="{FF2B5EF4-FFF2-40B4-BE49-F238E27FC236}">
                <a16:creationId xmlns:a16="http://schemas.microsoft.com/office/drawing/2014/main" id="{4E49EE5E-4575-4217-1F6D-960A2B0C618F}"/>
              </a:ext>
            </a:extLst>
          </p:cNvPr>
          <p:cNvPicPr>
            <a:picLocks noChangeAspect="1"/>
          </p:cNvPicPr>
          <p:nvPr/>
        </p:nvPicPr>
        <p:blipFill>
          <a:blip r:embed="rId3"/>
          <a:stretch>
            <a:fillRect/>
          </a:stretch>
        </p:blipFill>
        <p:spPr>
          <a:xfrm>
            <a:off x="0" y="-10228"/>
            <a:ext cx="12192000" cy="6972422"/>
          </a:xfrm>
          <a:prstGeom prst="rect">
            <a:avLst/>
          </a:prstGeom>
        </p:spPr>
      </p:pic>
      <p:sp>
        <p:nvSpPr>
          <p:cNvPr id="2" name="Subtitle 1"/>
          <p:cNvSpPr>
            <a:spLocks noGrp="1"/>
          </p:cNvSpPr>
          <p:nvPr>
            <p:ph type="subTitle" idx="1"/>
          </p:nvPr>
        </p:nvSpPr>
        <p:spPr>
          <a:xfrm>
            <a:off x="1400783" y="4395614"/>
            <a:ext cx="9299643" cy="886744"/>
          </a:xfrm>
        </p:spPr>
        <p:txBody>
          <a:bodyPr/>
          <a:lstStyle/>
          <a:p>
            <a:r>
              <a:rPr lang="en-US" b="1">
                <a:solidFill>
                  <a:schemeClr val="bg1"/>
                </a:solidFill>
              </a:rPr>
              <a:t>Ho-Dat TRAN, Anh-Cang PHAN</a:t>
            </a:r>
            <a:r>
              <a:rPr lang="en-US" b="1" baseline="30000">
                <a:solidFill>
                  <a:schemeClr val="bg1"/>
                </a:solidFill>
                <a:sym typeface="Wingdings" panose="05000000000000000000" pitchFamily="2" charset="2"/>
              </a:rPr>
              <a:t> </a:t>
            </a:r>
            <a:r>
              <a:rPr lang="en-US" b="1">
                <a:solidFill>
                  <a:schemeClr val="bg1"/>
                </a:solidFill>
              </a:rPr>
              <a:t>, </a:t>
            </a:r>
          </a:p>
          <a:p>
            <a:r>
              <a:rPr lang="en-US" b="1">
                <a:solidFill>
                  <a:schemeClr val="bg1"/>
                </a:solidFill>
              </a:rPr>
              <a:t>Long-Hien HO, Thuong-Cang PHAN</a:t>
            </a:r>
          </a:p>
        </p:txBody>
      </p:sp>
      <p:sp>
        <p:nvSpPr>
          <p:cNvPr id="5" name="Google Shape;764;p41"/>
          <p:cNvSpPr txBox="1">
            <a:spLocks/>
          </p:cNvSpPr>
          <p:nvPr/>
        </p:nvSpPr>
        <p:spPr>
          <a:xfrm>
            <a:off x="269783" y="2680582"/>
            <a:ext cx="11652434" cy="1569987"/>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accent1"/>
              </a:buClr>
              <a:buSzPts val="3000"/>
              <a:buFont typeface="Montserrat"/>
              <a:buNone/>
              <a:defRPr sz="3000" b="1" i="0" u="none" strike="noStrike" cap="none">
                <a:solidFill>
                  <a:schemeClr val="accent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9pPr>
          </a:lstStyle>
          <a:p>
            <a:pPr defTabSz="1219170">
              <a:buClr>
                <a:srgbClr val="07105C"/>
              </a:buClr>
            </a:pPr>
            <a:r>
              <a:rPr lang="en-US">
                <a:solidFill>
                  <a:srgbClr val="FFFF00"/>
                </a:solidFill>
              </a:rPr>
              <a:t>Weight-Optimized Ensemble Deep Learning for Accurate Mammographic Image Classification</a:t>
            </a:r>
            <a:r>
              <a:rPr lang="en-US" sz="3200">
                <a:solidFill>
                  <a:srgbClr val="FFFF00"/>
                </a:solidFill>
              </a:rPr>
              <a:t> </a:t>
            </a:r>
            <a:endParaRPr lang="en-US" sz="3200" kern="0" dirty="0">
              <a:solidFill>
                <a:srgbClr val="FFFF00"/>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Subtitle 1"/>
          <p:cNvSpPr txBox="1">
            <a:spLocks/>
          </p:cNvSpPr>
          <p:nvPr/>
        </p:nvSpPr>
        <p:spPr>
          <a:xfrm>
            <a:off x="155575" y="6246064"/>
            <a:ext cx="11886977" cy="61193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1"/>
              </a:buClr>
              <a:buSzPts val="1400"/>
              <a:buFont typeface="Open Sans"/>
              <a:buNone/>
              <a:defRPr sz="1400" b="0" i="0" u="none" strike="noStrike" cap="none">
                <a:solidFill>
                  <a:schemeClr val="dk1"/>
                </a:solidFill>
                <a:latin typeface="Open Sans"/>
                <a:ea typeface="Open Sans"/>
                <a:cs typeface="Open Sans"/>
                <a:sym typeface="Open Sans"/>
              </a:defRPr>
            </a:lvl9pPr>
          </a:lstStyle>
          <a:p>
            <a:pPr marL="609585" indent="-457189" defTabSz="1219170">
              <a:buClr>
                <a:srgbClr val="07105C"/>
              </a:buClr>
            </a:pPr>
            <a:r>
              <a:rPr lang="en-US" sz="1867" i="1" kern="0">
                <a:solidFill>
                  <a:schemeClr val="bg1"/>
                </a:solidFill>
              </a:rPr>
              <a:t>NhaTrang, April-2026</a:t>
            </a:r>
          </a:p>
        </p:txBody>
      </p:sp>
      <p:sp>
        <p:nvSpPr>
          <p:cNvPr id="10" name="Subtitle 1"/>
          <p:cNvSpPr txBox="1">
            <a:spLocks/>
          </p:cNvSpPr>
          <p:nvPr/>
        </p:nvSpPr>
        <p:spPr>
          <a:xfrm>
            <a:off x="437746" y="73152"/>
            <a:ext cx="11031165" cy="6119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15000"/>
              </a:lnSpc>
              <a:spcBef>
                <a:spcPts val="0"/>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1pPr>
            <a:lvl2pPr marL="914400" marR="0" lvl="1"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2pPr>
            <a:lvl3pPr marL="1371600" marR="0" lvl="2"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3pPr>
            <a:lvl4pPr marL="1828800" marR="0" lvl="3"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4pPr>
            <a:lvl5pPr marL="2286000" marR="0" lvl="4"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5pPr>
            <a:lvl6pPr marL="2743200" marR="0" lvl="5"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6pPr>
            <a:lvl7pPr marL="3200400" marR="0" lvl="6"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7pPr>
            <a:lvl8pPr marL="3657600" marR="0" lvl="7" indent="-317500" algn="ctr" rtl="0">
              <a:lnSpc>
                <a:spcPct val="115000"/>
              </a:lnSpc>
              <a:spcBef>
                <a:spcPts val="2133"/>
              </a:spcBef>
              <a:spcAft>
                <a:spcPts val="0"/>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8pPr>
            <a:lvl9pPr marL="4114800" marR="0" lvl="8" indent="-317500" algn="ctr" rtl="0">
              <a:lnSpc>
                <a:spcPct val="115000"/>
              </a:lnSpc>
              <a:spcBef>
                <a:spcPts val="2133"/>
              </a:spcBef>
              <a:spcAft>
                <a:spcPts val="2133"/>
              </a:spcAft>
              <a:buClr>
                <a:schemeClr val="dk1"/>
              </a:buClr>
              <a:buSzPts val="1400"/>
              <a:buFont typeface="Open Sans"/>
              <a:buNone/>
              <a:defRPr sz="1867" b="0" i="0" u="none" strike="noStrike" cap="none">
                <a:solidFill>
                  <a:schemeClr val="dk1"/>
                </a:solidFill>
                <a:latin typeface="Open Sans"/>
                <a:ea typeface="Open Sans"/>
                <a:cs typeface="Open Sans"/>
                <a:sym typeface="Open Sans"/>
              </a:defRPr>
            </a:lvl9pPr>
          </a:lstStyle>
          <a:p>
            <a:r>
              <a:rPr lang="en-US" sz="2800" b="1" kern="0">
                <a:solidFill>
                  <a:schemeClr val="bg1"/>
                </a:solidFill>
              </a:rPr>
              <a:t>The 2nd International Conference On Computational Intelligence In Engineering Science</a:t>
            </a:r>
          </a:p>
        </p:txBody>
      </p:sp>
      <p:sp>
        <p:nvSpPr>
          <p:cNvPr id="8" name="AutoShape 2" descr="http://localhost/wordpress/wp-content/uploads/2025/02/scopus.png"/>
          <p:cNvSpPr>
            <a:spLocks noChangeAspect="1" noChangeArrowheads="1"/>
          </p:cNvSpPr>
          <p:nvPr/>
        </p:nvSpPr>
        <p:spPr bwMode="auto">
          <a:xfrm>
            <a:off x="155575" y="-457200"/>
            <a:ext cx="3028950" cy="9525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396BFEBD-DF4C-38CB-9F7E-062A70F107E2}"/>
              </a:ext>
            </a:extLst>
          </p:cNvPr>
          <p:cNvPicPr>
            <a:picLocks noChangeAspect="1"/>
          </p:cNvPicPr>
          <p:nvPr/>
        </p:nvPicPr>
        <p:blipFill>
          <a:blip r:embed="rId4"/>
          <a:stretch>
            <a:fillRect/>
          </a:stretch>
        </p:blipFill>
        <p:spPr>
          <a:xfrm>
            <a:off x="3359623" y="1441223"/>
            <a:ext cx="771878" cy="687933"/>
          </a:xfrm>
          <a:prstGeom prst="rect">
            <a:avLst/>
          </a:prstGeom>
        </p:spPr>
      </p:pic>
      <p:pic>
        <p:nvPicPr>
          <p:cNvPr id="12" name="Picture 11">
            <a:extLst>
              <a:ext uri="{FF2B5EF4-FFF2-40B4-BE49-F238E27FC236}">
                <a16:creationId xmlns:a16="http://schemas.microsoft.com/office/drawing/2014/main" id="{52025311-A721-0FF2-EC70-AB3897137881}"/>
              </a:ext>
            </a:extLst>
          </p:cNvPr>
          <p:cNvPicPr>
            <a:picLocks noChangeAspect="1"/>
          </p:cNvPicPr>
          <p:nvPr/>
        </p:nvPicPr>
        <p:blipFill>
          <a:blip r:embed="rId5"/>
          <a:stretch>
            <a:fillRect/>
          </a:stretch>
        </p:blipFill>
        <p:spPr>
          <a:xfrm>
            <a:off x="4253314" y="1452473"/>
            <a:ext cx="4744771" cy="699183"/>
          </a:xfrm>
          <a:prstGeom prst="rect">
            <a:avLst/>
          </a:prstGeom>
        </p:spPr>
      </p:pic>
    </p:spTree>
    <p:extLst>
      <p:ext uri="{BB962C8B-B14F-4D97-AF65-F5344CB8AC3E}">
        <p14:creationId xmlns:p14="http://schemas.microsoft.com/office/powerpoint/2010/main" val="4268509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sz="quarter" idx="10"/>
            <p:extLst>
              <p:ext uri="{D42A27DB-BD31-4B8C-83A1-F6EECF244321}">
                <p14:modId xmlns:p14="http://schemas.microsoft.com/office/powerpoint/2010/main" val="2922396422"/>
              </p:ext>
            </p:extLst>
          </p:nvPr>
        </p:nvGraphicFramePr>
        <p:xfrm>
          <a:off x="416859" y="1213168"/>
          <a:ext cx="11136710" cy="42610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2"/>
          <p:cNvSpPr>
            <a:spLocks noGrp="1"/>
          </p:cNvSpPr>
          <p:nvPr>
            <p:ph type="title"/>
          </p:nvPr>
        </p:nvSpPr>
        <p:spPr/>
        <p:txBody>
          <a:bodyPr/>
          <a:lstStyle/>
          <a:p>
            <a:r>
              <a:rPr lang="en-US"/>
              <a:t>CONTENT</a:t>
            </a:r>
          </a:p>
        </p:txBody>
      </p:sp>
    </p:spTree>
    <p:extLst>
      <p:ext uri="{BB962C8B-B14F-4D97-AF65-F5344CB8AC3E}">
        <p14:creationId xmlns:p14="http://schemas.microsoft.com/office/powerpoint/2010/main" val="3587800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7" name="Text Placeholder 3">
            <a:extLst>
              <a:ext uri="{FF2B5EF4-FFF2-40B4-BE49-F238E27FC236}">
                <a16:creationId xmlns:a16="http://schemas.microsoft.com/office/drawing/2014/main" id="{3566F4D3-DCF0-21B4-78C8-7C68967D3402}"/>
              </a:ext>
            </a:extLst>
          </p:cNvPr>
          <p:cNvSpPr txBox="1">
            <a:spLocks/>
          </p:cNvSpPr>
          <p:nvPr/>
        </p:nvSpPr>
        <p:spPr>
          <a:xfrm>
            <a:off x="416858" y="1303590"/>
            <a:ext cx="11283950" cy="164171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t>Breast cancer is one of the most common cancers affecting women worldwide.</a:t>
            </a:r>
          </a:p>
          <a:p>
            <a:pPr algn="just"/>
            <a:r>
              <a:rPr lang="en-US"/>
              <a:t>Early detection and accurate staging of breast cancer can significantly improve survival rates and quality of life for patients.</a:t>
            </a:r>
          </a:p>
        </p:txBody>
      </p:sp>
      <p:sp>
        <p:nvSpPr>
          <p:cNvPr id="8" name="Text Placeholder 3">
            <a:extLst>
              <a:ext uri="{FF2B5EF4-FFF2-40B4-BE49-F238E27FC236}">
                <a16:creationId xmlns:a16="http://schemas.microsoft.com/office/drawing/2014/main" id="{BA70E0D6-5866-D359-1561-35D9D396DE6F}"/>
              </a:ext>
            </a:extLst>
          </p:cNvPr>
          <p:cNvSpPr txBox="1">
            <a:spLocks/>
          </p:cNvSpPr>
          <p:nvPr/>
        </p:nvSpPr>
        <p:spPr>
          <a:xfrm>
            <a:off x="1108750" y="6072774"/>
            <a:ext cx="9974500" cy="365125"/>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400" kern="1200">
                <a:solidFill>
                  <a:srgbClr val="003399"/>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rgbClr val="003399"/>
                </a:solidFill>
                <a:latin typeface="Cambria" panose="02040503050406030204" pitchFamily="18" charset="0"/>
                <a:ea typeface="Cambria" panose="02040503050406030204" pitchFamily="18" charset="0"/>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rgbClr val="003399"/>
                </a:solidFill>
                <a:latin typeface="Cambria" panose="02040503050406030204" pitchFamily="18" charset="0"/>
                <a:ea typeface="Cambria" panose="02040503050406030204" pitchFamily="18"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US" sz="1600">
                <a:solidFill>
                  <a:schemeClr val="tx1"/>
                </a:solidFill>
              </a:rPr>
              <a:t>Fig 1. Images on 2 views a) RMLO b) LMLO c) RCC d) LCC with the mass location localized in images a) and c)</a:t>
            </a:r>
          </a:p>
        </p:txBody>
      </p:sp>
      <p:sp>
        <p:nvSpPr>
          <p:cNvPr id="9" name="Text Placeholder 2">
            <a:extLst>
              <a:ext uri="{FF2B5EF4-FFF2-40B4-BE49-F238E27FC236}">
                <a16:creationId xmlns:a16="http://schemas.microsoft.com/office/drawing/2014/main" id="{C6EBFF3D-01F7-94FA-CA6D-6914A5A5A030}"/>
              </a:ext>
            </a:extLst>
          </p:cNvPr>
          <p:cNvSpPr txBox="1">
            <a:spLocks/>
          </p:cNvSpPr>
          <p:nvPr/>
        </p:nvSpPr>
        <p:spPr>
          <a:xfrm>
            <a:off x="440296" y="849800"/>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pic>
        <p:nvPicPr>
          <p:cNvPr id="10" name="Picture 9">
            <a:extLst>
              <a:ext uri="{FF2B5EF4-FFF2-40B4-BE49-F238E27FC236}">
                <a16:creationId xmlns:a16="http://schemas.microsoft.com/office/drawing/2014/main" id="{DC42A336-B1F2-CC32-E162-5761E3E505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6575" y="3253725"/>
            <a:ext cx="4416166" cy="2683798"/>
          </a:xfrm>
          <a:prstGeom prst="rect">
            <a:avLst/>
          </a:prstGeom>
        </p:spPr>
      </p:pic>
    </p:spTree>
    <p:extLst>
      <p:ext uri="{BB962C8B-B14F-4D97-AF65-F5344CB8AC3E}">
        <p14:creationId xmlns:p14="http://schemas.microsoft.com/office/powerpoint/2010/main" val="400702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6" name="TextBox 5"/>
          <p:cNvSpPr txBox="1"/>
          <p:nvPr/>
        </p:nvSpPr>
        <p:spPr>
          <a:xfrm>
            <a:off x="0" y="6488668"/>
            <a:ext cx="12191999" cy="369332"/>
          </a:xfrm>
          <a:prstGeom prst="rect">
            <a:avLst/>
          </a:prstGeom>
          <a:noFill/>
        </p:spPr>
        <p:txBody>
          <a:bodyPr wrap="square" rtlCol="0">
            <a:spAutoFit/>
          </a:bodyPr>
          <a:lstStyle/>
          <a:p>
            <a:pPr algn="ctr"/>
            <a:r>
              <a:rPr lang="en-US">
                <a:latin typeface="Cambria" panose="02040503050406030204" pitchFamily="18" charset="0"/>
                <a:ea typeface="Cambria" panose="02040503050406030204" pitchFamily="18" charset="0"/>
              </a:rPr>
              <a:t>Fig 2. Cancer statistics in the world </a:t>
            </a:r>
            <a:r>
              <a:rPr lang="en-US">
                <a:latin typeface="Cambria" panose="02040503050406030204" pitchFamily="18" charset="0"/>
                <a:ea typeface="Cambria" panose="02040503050406030204" pitchFamily="18" charset="0"/>
                <a:cs typeface="K2D" panose="00000500000000000000" pitchFamily="2" charset="-34"/>
              </a:rPr>
              <a:t>(Source: Globocan 2023)</a:t>
            </a:r>
            <a:endParaRPr lang="en-US">
              <a:latin typeface="Cambria" panose="02040503050406030204" pitchFamily="18" charset="0"/>
              <a:ea typeface="Cambria" panose="02040503050406030204" pitchFamily="18" charset="0"/>
            </a:endParaRPr>
          </a:p>
        </p:txBody>
      </p:sp>
      <p:sp>
        <p:nvSpPr>
          <p:cNvPr id="7" name="Text Placeholder 3"/>
          <p:cNvSpPr txBox="1">
            <a:spLocks/>
          </p:cNvSpPr>
          <p:nvPr/>
        </p:nvSpPr>
        <p:spPr>
          <a:xfrm>
            <a:off x="466725" y="1272500"/>
            <a:ext cx="11173587" cy="1088145"/>
          </a:xfrm>
          <a:prstGeom prst="rect">
            <a:avLst/>
          </a:prstGeom>
        </p:spPr>
        <p:txBody>
          <a:bodyPr>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a:t>Breast cancer (BC) predicted has affected 2.3 million women worldwide in 2020, with 685,000 fatalities. Breast cancer had been detected in 7.8 million females in the previous five years as of 2020, making it the most common cancer on the planet. It causes more disability adjusted life years (DALYs) in women worldwidethan any other form of cancer[1].</a:t>
            </a:r>
          </a:p>
        </p:txBody>
      </p:sp>
      <p:sp>
        <p:nvSpPr>
          <p:cNvPr id="8" name="Text Placeholder 2">
            <a:extLst>
              <a:ext uri="{FF2B5EF4-FFF2-40B4-BE49-F238E27FC236}">
                <a16:creationId xmlns:a16="http://schemas.microsoft.com/office/drawing/2014/main" id="{7FAB9184-9F82-0A15-9420-C7CB676F04E4}"/>
              </a:ext>
            </a:extLst>
          </p:cNvPr>
          <p:cNvSpPr txBox="1">
            <a:spLocks/>
          </p:cNvSpPr>
          <p:nvPr/>
        </p:nvSpPr>
        <p:spPr>
          <a:xfrm>
            <a:off x="440296" y="869981"/>
            <a:ext cx="10067925" cy="452077"/>
          </a:xfrm>
          <a:prstGeom prst="rect">
            <a:avLst/>
          </a:prstGeom>
        </p:spPr>
        <p:txBody>
          <a:bodyPr vert="horz" lIns="0" tIns="45720" rIns="0" bIns="45720" rtlCol="0">
            <a:no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3200" b="1" kern="1200">
                <a:solidFill>
                  <a:srgbClr val="034061"/>
                </a:solidFill>
                <a:latin typeface="Cambria" panose="02040503050406030204" pitchFamily="18" charset="0"/>
                <a:ea typeface="Cambria" panose="02040503050406030204" pitchFamily="18" charset="0"/>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sz="2800">
                <a:solidFill>
                  <a:srgbClr val="C00000"/>
                </a:solidFill>
              </a:rPr>
              <a:t>Challenges</a:t>
            </a:r>
          </a:p>
        </p:txBody>
      </p:sp>
      <p:pic>
        <p:nvPicPr>
          <p:cNvPr id="2" name="Picture 1">
            <a:extLst>
              <a:ext uri="{FF2B5EF4-FFF2-40B4-BE49-F238E27FC236}">
                <a16:creationId xmlns:a16="http://schemas.microsoft.com/office/drawing/2014/main" id="{9CC1AB91-5CB2-7FCE-F7A0-DC4C3BD49D37}"/>
              </a:ext>
            </a:extLst>
          </p:cNvPr>
          <p:cNvPicPr>
            <a:picLocks noChangeAspect="1"/>
          </p:cNvPicPr>
          <p:nvPr/>
        </p:nvPicPr>
        <p:blipFill>
          <a:blip r:embed="rId3"/>
          <a:stretch>
            <a:fillRect/>
          </a:stretch>
        </p:blipFill>
        <p:spPr>
          <a:xfrm>
            <a:off x="1525178" y="2360645"/>
            <a:ext cx="8983043" cy="4090492"/>
          </a:xfrm>
          <a:prstGeom prst="rect">
            <a:avLst/>
          </a:prstGeom>
        </p:spPr>
      </p:pic>
    </p:spTree>
    <p:extLst>
      <p:ext uri="{BB962C8B-B14F-4D97-AF65-F5344CB8AC3E}">
        <p14:creationId xmlns:p14="http://schemas.microsoft.com/office/powerpoint/2010/main" val="3422702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Introduction</a:t>
            </a:r>
          </a:p>
        </p:txBody>
      </p:sp>
      <p:sp>
        <p:nvSpPr>
          <p:cNvPr id="4" name="Freeform: Shape 6">
            <a:extLst>
              <a:ext uri="{FF2B5EF4-FFF2-40B4-BE49-F238E27FC236}">
                <a16:creationId xmlns:a16="http://schemas.microsoft.com/office/drawing/2014/main" id="{73376055-55FE-412B-65E9-9C0166160F17}"/>
              </a:ext>
            </a:extLst>
          </p:cNvPr>
          <p:cNvSpPr/>
          <p:nvPr/>
        </p:nvSpPr>
        <p:spPr>
          <a:xfrm>
            <a:off x="3682297" y="2678396"/>
            <a:ext cx="2724470" cy="2359422"/>
          </a:xfrm>
          <a:custGeom>
            <a:avLst/>
            <a:gdLst>
              <a:gd name="connsiteX0" fmla="*/ 2147452 w 2863388"/>
              <a:gd name="connsiteY0" fmla="*/ 0 h 2479727"/>
              <a:gd name="connsiteX1" fmla="*/ 715817 w 2863388"/>
              <a:gd name="connsiteY1" fmla="*/ 0 h 2479727"/>
              <a:gd name="connsiteX2" fmla="*/ 0 w 2863388"/>
              <a:gd name="connsiteY2" fmla="*/ 1239804 h 2479727"/>
              <a:gd name="connsiteX3" fmla="*/ 715817 w 2863388"/>
              <a:gd name="connsiteY3" fmla="*/ 2479728 h 2479727"/>
              <a:gd name="connsiteX4" fmla="*/ 2147452 w 2863388"/>
              <a:gd name="connsiteY4" fmla="*/ 2479728 h 2479727"/>
              <a:gd name="connsiteX5" fmla="*/ 2863389 w 2863388"/>
              <a:gd name="connsiteY5" fmla="*/ 1239804 h 2479727"/>
              <a:gd name="connsiteX6" fmla="*/ 2147452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2147452" y="0"/>
                </a:moveTo>
                <a:lnTo>
                  <a:pt x="715817" y="0"/>
                </a:lnTo>
                <a:lnTo>
                  <a:pt x="0" y="1239804"/>
                </a:lnTo>
                <a:lnTo>
                  <a:pt x="715817" y="2479728"/>
                </a:lnTo>
                <a:lnTo>
                  <a:pt x="2147452" y="2479728"/>
                </a:lnTo>
                <a:lnTo>
                  <a:pt x="2863389" y="1239804"/>
                </a:lnTo>
                <a:lnTo>
                  <a:pt x="2147452" y="0"/>
                </a:lnTo>
                <a:close/>
              </a:path>
            </a:pathLst>
          </a:custGeom>
          <a:gradFill>
            <a:gsLst>
              <a:gs pos="0">
                <a:srgbClr val="5FB7A2">
                  <a:lumMod val="75000"/>
                </a:srgbClr>
              </a:gs>
              <a:gs pos="100000">
                <a:srgbClr val="5FB7A2"/>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sp>
        <p:nvSpPr>
          <p:cNvPr id="5" name="Freeform: Shape 8">
            <a:extLst>
              <a:ext uri="{FF2B5EF4-FFF2-40B4-BE49-F238E27FC236}">
                <a16:creationId xmlns:a16="http://schemas.microsoft.com/office/drawing/2014/main" id="{6CBBA946-F3B2-E57F-478F-BBDF0E578D52}"/>
              </a:ext>
            </a:extLst>
          </p:cNvPr>
          <p:cNvSpPr/>
          <p:nvPr/>
        </p:nvSpPr>
        <p:spPr>
          <a:xfrm>
            <a:off x="5782057" y="1462896"/>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924 h 2479727"/>
              <a:gd name="connsiteX3" fmla="*/ 2147572 w 2863388"/>
              <a:gd name="connsiteY3" fmla="*/ 2479728 h 2479727"/>
              <a:gd name="connsiteX4" fmla="*/ 715937 w 2863388"/>
              <a:gd name="connsiteY4" fmla="*/ 2479728 h 2479727"/>
              <a:gd name="connsiteX5" fmla="*/ 0 w 2863388"/>
              <a:gd name="connsiteY5" fmla="*/ 123992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924"/>
                </a:lnTo>
                <a:lnTo>
                  <a:pt x="2147572" y="2479728"/>
                </a:lnTo>
                <a:lnTo>
                  <a:pt x="715937" y="2479728"/>
                </a:lnTo>
                <a:lnTo>
                  <a:pt x="0" y="1239924"/>
                </a:lnTo>
                <a:lnTo>
                  <a:pt x="715937" y="0"/>
                </a:lnTo>
                <a:close/>
              </a:path>
            </a:pathLst>
          </a:custGeom>
          <a:gradFill>
            <a:gsLst>
              <a:gs pos="0">
                <a:srgbClr val="E35A35">
                  <a:lumMod val="75000"/>
                </a:srgbClr>
              </a:gs>
              <a:gs pos="100000">
                <a:srgbClr val="E35A35"/>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sp>
        <p:nvSpPr>
          <p:cNvPr id="6" name="Freeform: Shape 10">
            <a:extLst>
              <a:ext uri="{FF2B5EF4-FFF2-40B4-BE49-F238E27FC236}">
                <a16:creationId xmlns:a16="http://schemas.microsoft.com/office/drawing/2014/main" id="{E194C910-DF3A-D00E-1F01-74BDF1BEBDD1}"/>
              </a:ext>
            </a:extLst>
          </p:cNvPr>
          <p:cNvSpPr/>
          <p:nvPr/>
        </p:nvSpPr>
        <p:spPr>
          <a:xfrm>
            <a:off x="5782057" y="3893784"/>
            <a:ext cx="2724470" cy="2359422"/>
          </a:xfrm>
          <a:custGeom>
            <a:avLst/>
            <a:gdLst>
              <a:gd name="connsiteX0" fmla="*/ 715937 w 2863388"/>
              <a:gd name="connsiteY0" fmla="*/ 0 h 2479727"/>
              <a:gd name="connsiteX1" fmla="*/ 2147572 w 2863388"/>
              <a:gd name="connsiteY1" fmla="*/ 0 h 2479727"/>
              <a:gd name="connsiteX2" fmla="*/ 2863389 w 2863388"/>
              <a:gd name="connsiteY2" fmla="*/ 1239804 h 2479727"/>
              <a:gd name="connsiteX3" fmla="*/ 2147572 w 2863388"/>
              <a:gd name="connsiteY3" fmla="*/ 2479728 h 2479727"/>
              <a:gd name="connsiteX4" fmla="*/ 715937 w 2863388"/>
              <a:gd name="connsiteY4" fmla="*/ 2479728 h 2479727"/>
              <a:gd name="connsiteX5" fmla="*/ 0 w 2863388"/>
              <a:gd name="connsiteY5" fmla="*/ 1239804 h 2479727"/>
              <a:gd name="connsiteX6" fmla="*/ 715937 w 2863388"/>
              <a:gd name="connsiteY6" fmla="*/ 0 h 2479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63388" h="2479727">
                <a:moveTo>
                  <a:pt x="715937" y="0"/>
                </a:moveTo>
                <a:lnTo>
                  <a:pt x="2147572" y="0"/>
                </a:lnTo>
                <a:lnTo>
                  <a:pt x="2863389" y="1239804"/>
                </a:lnTo>
                <a:lnTo>
                  <a:pt x="2147572" y="2479728"/>
                </a:lnTo>
                <a:lnTo>
                  <a:pt x="715937" y="2479728"/>
                </a:lnTo>
                <a:lnTo>
                  <a:pt x="0" y="1239804"/>
                </a:lnTo>
                <a:lnTo>
                  <a:pt x="715937" y="0"/>
                </a:lnTo>
                <a:close/>
              </a:path>
            </a:pathLst>
          </a:custGeom>
          <a:gradFill>
            <a:gsLst>
              <a:gs pos="0">
                <a:srgbClr val="3081AC">
                  <a:lumMod val="75000"/>
                </a:srgbClr>
              </a:gs>
              <a:gs pos="100000">
                <a:srgbClr val="3081AC"/>
              </a:gs>
            </a:gsLst>
            <a:lin ang="1620000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grpSp>
        <p:nvGrpSpPr>
          <p:cNvPr id="7" name="Group 6">
            <a:extLst>
              <a:ext uri="{FF2B5EF4-FFF2-40B4-BE49-F238E27FC236}">
                <a16:creationId xmlns:a16="http://schemas.microsoft.com/office/drawing/2014/main" id="{C3C221D3-13F6-F34D-5030-EFA718B22469}"/>
              </a:ext>
            </a:extLst>
          </p:cNvPr>
          <p:cNvGrpSpPr/>
          <p:nvPr/>
        </p:nvGrpSpPr>
        <p:grpSpPr>
          <a:xfrm>
            <a:off x="6102599" y="4279364"/>
            <a:ext cx="5138268" cy="1825667"/>
            <a:chOff x="6102599" y="4279364"/>
            <a:chExt cx="5138268" cy="1825667"/>
          </a:xfrm>
        </p:grpSpPr>
        <p:sp>
          <p:nvSpPr>
            <p:cNvPr id="8" name="Freeform: Shape 15">
              <a:extLst>
                <a:ext uri="{FF2B5EF4-FFF2-40B4-BE49-F238E27FC236}">
                  <a16:creationId xmlns:a16="http://schemas.microsoft.com/office/drawing/2014/main" id="{81BFC488-FF31-32FC-9639-6813421C1427}"/>
                </a:ext>
              </a:extLst>
            </p:cNvPr>
            <p:cNvSpPr/>
            <p:nvPr/>
          </p:nvSpPr>
          <p:spPr>
            <a:xfrm>
              <a:off x="6102599" y="4419615"/>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grpSp>
          <p:nvGrpSpPr>
            <p:cNvPr id="9" name="Group 8">
              <a:extLst>
                <a:ext uri="{FF2B5EF4-FFF2-40B4-BE49-F238E27FC236}">
                  <a16:creationId xmlns:a16="http://schemas.microsoft.com/office/drawing/2014/main" id="{19AAC97A-D4A1-1041-71D0-067BA3E4BE11}"/>
                </a:ext>
              </a:extLst>
            </p:cNvPr>
            <p:cNvGrpSpPr/>
            <p:nvPr/>
          </p:nvGrpSpPr>
          <p:grpSpPr>
            <a:xfrm>
              <a:off x="6287656" y="4279364"/>
              <a:ext cx="4953211" cy="1588148"/>
              <a:chOff x="6287656" y="4279364"/>
              <a:chExt cx="4953211" cy="1588148"/>
            </a:xfrm>
          </p:grpSpPr>
          <p:sp>
            <p:nvSpPr>
              <p:cNvPr id="10" name="Freeform: Shape 11">
                <a:extLst>
                  <a:ext uri="{FF2B5EF4-FFF2-40B4-BE49-F238E27FC236}">
                    <a16:creationId xmlns:a16="http://schemas.microsoft.com/office/drawing/2014/main" id="{A86169BC-9CB5-466B-4202-BAF205EAA8E4}"/>
                  </a:ext>
                </a:extLst>
              </p:cNvPr>
              <p:cNvSpPr/>
              <p:nvPr/>
            </p:nvSpPr>
            <p:spPr>
              <a:xfrm>
                <a:off x="6287656" y="4279364"/>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sp>
            <p:nvSpPr>
              <p:cNvPr id="13" name="TextBox 12">
                <a:extLst>
                  <a:ext uri="{FF2B5EF4-FFF2-40B4-BE49-F238E27FC236}">
                    <a16:creationId xmlns:a16="http://schemas.microsoft.com/office/drawing/2014/main" id="{6B903497-ED4F-823C-42CB-8EDB73A7BEB0}"/>
                  </a:ext>
                </a:extLst>
              </p:cNvPr>
              <p:cNvSpPr txBox="1"/>
              <p:nvPr/>
            </p:nvSpPr>
            <p:spPr>
              <a:xfrm>
                <a:off x="7917914" y="4409655"/>
                <a:ext cx="3014544" cy="1121570"/>
              </a:xfrm>
              <a:prstGeom prst="rect">
                <a:avLst/>
              </a:prstGeom>
              <a:noFill/>
            </p:spPr>
            <p:txBody>
              <a:bodyPr wrap="square" lIns="0" tIns="0" rIns="0" bIns="0" rtlCol="0" anchor="ctr">
                <a:noAutofit/>
              </a:bodyPr>
              <a:lstStyle/>
              <a:p>
                <a:pPr lvl="0" defTabSz="1218987"/>
                <a:r>
                  <a:rPr lang="en-US" b="1" kern="0">
                    <a:solidFill>
                      <a:prstClr val="black">
                        <a:lumMod val="95000"/>
                        <a:lumOff val="5000"/>
                      </a:prstClr>
                    </a:solidFill>
                    <a:latin typeface="Segoe UI"/>
                    <a:ea typeface="Segoe UI Black" panose="020B0A02040204020203" pitchFamily="34" charset="0"/>
                  </a:rPr>
                  <a:t>Optimizing weights of ensemble model to reduce the classification error rate</a:t>
                </a:r>
                <a:endParaRPr lang="en-US" b="1" kern="0" dirty="0">
                  <a:solidFill>
                    <a:prstClr val="black">
                      <a:lumMod val="95000"/>
                      <a:lumOff val="5000"/>
                    </a:prstClr>
                  </a:solidFill>
                  <a:latin typeface="Segoe UI"/>
                  <a:ea typeface="Segoe UI Black" panose="020B0A02040204020203" pitchFamily="34" charset="0"/>
                </a:endParaRPr>
              </a:p>
            </p:txBody>
          </p:sp>
        </p:grpSp>
      </p:grpSp>
      <p:grpSp>
        <p:nvGrpSpPr>
          <p:cNvPr id="15" name="Group 14">
            <a:extLst>
              <a:ext uri="{FF2B5EF4-FFF2-40B4-BE49-F238E27FC236}">
                <a16:creationId xmlns:a16="http://schemas.microsoft.com/office/drawing/2014/main" id="{376DF98B-D7F2-56AE-D18B-FAC8E23999CC}"/>
              </a:ext>
            </a:extLst>
          </p:cNvPr>
          <p:cNvGrpSpPr/>
          <p:nvPr/>
        </p:nvGrpSpPr>
        <p:grpSpPr>
          <a:xfrm>
            <a:off x="762900" y="3063977"/>
            <a:ext cx="5138268" cy="1825667"/>
            <a:chOff x="762900" y="3063977"/>
            <a:chExt cx="5138268" cy="1825667"/>
          </a:xfrm>
        </p:grpSpPr>
        <p:sp>
          <p:nvSpPr>
            <p:cNvPr id="16" name="Freeform: Shape 13">
              <a:extLst>
                <a:ext uri="{FF2B5EF4-FFF2-40B4-BE49-F238E27FC236}">
                  <a16:creationId xmlns:a16="http://schemas.microsoft.com/office/drawing/2014/main" id="{C2215B71-9FB4-ABF7-3F21-F43E6B482D18}"/>
                </a:ext>
              </a:extLst>
            </p:cNvPr>
            <p:cNvSpPr/>
            <p:nvPr/>
          </p:nvSpPr>
          <p:spPr>
            <a:xfrm>
              <a:off x="762900" y="3204228"/>
              <a:ext cx="4953211" cy="1685416"/>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sp>
          <p:nvSpPr>
            <p:cNvPr id="17" name="Freeform: Shape 7">
              <a:extLst>
                <a:ext uri="{FF2B5EF4-FFF2-40B4-BE49-F238E27FC236}">
                  <a16:creationId xmlns:a16="http://schemas.microsoft.com/office/drawing/2014/main" id="{A5B488C9-B71E-BF57-F43D-43FB341A9510}"/>
                </a:ext>
              </a:extLst>
            </p:cNvPr>
            <p:cNvSpPr/>
            <p:nvPr/>
          </p:nvSpPr>
          <p:spPr>
            <a:xfrm>
              <a:off x="947957" y="3063977"/>
              <a:ext cx="4953211" cy="1588148"/>
            </a:xfrm>
            <a:custGeom>
              <a:avLst/>
              <a:gdLst>
                <a:gd name="connsiteX0" fmla="*/ 4723871 w 5205771"/>
                <a:gd name="connsiteY0" fmla="*/ 0 h 1669127"/>
                <a:gd name="connsiteX1" fmla="*/ 481782 w 5205771"/>
                <a:gd name="connsiteY1" fmla="*/ 0 h 1669127"/>
                <a:gd name="connsiteX2" fmla="*/ 0 w 5205771"/>
                <a:gd name="connsiteY2" fmla="*/ 834564 h 1669127"/>
                <a:gd name="connsiteX3" fmla="*/ 481782 w 5205771"/>
                <a:gd name="connsiteY3" fmla="*/ 1669128 h 1669127"/>
                <a:gd name="connsiteX4" fmla="*/ 4723871 w 5205771"/>
                <a:gd name="connsiteY4" fmla="*/ 1669128 h 1669127"/>
                <a:gd name="connsiteX5" fmla="*/ 5205772 w 5205771"/>
                <a:gd name="connsiteY5" fmla="*/ 834564 h 1669127"/>
                <a:gd name="connsiteX6" fmla="*/ 472387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723871" y="0"/>
                  </a:moveTo>
                  <a:lnTo>
                    <a:pt x="481782" y="0"/>
                  </a:lnTo>
                  <a:lnTo>
                    <a:pt x="0" y="834564"/>
                  </a:lnTo>
                  <a:lnTo>
                    <a:pt x="481782" y="1669128"/>
                  </a:lnTo>
                  <a:lnTo>
                    <a:pt x="4723871" y="1669128"/>
                  </a:lnTo>
                  <a:lnTo>
                    <a:pt x="5205772" y="834564"/>
                  </a:lnTo>
                  <a:lnTo>
                    <a:pt x="4723871" y="0"/>
                  </a:lnTo>
                  <a:close/>
                </a:path>
              </a:pathLst>
            </a:custGeom>
            <a:gradFill flip="none" rotWithShape="1">
              <a:gsLst>
                <a:gs pos="0">
                  <a:sysClr val="window" lastClr="FFFFFF"/>
                </a:gs>
                <a:gs pos="100000">
                  <a:sysClr val="window" lastClr="FFFFFF">
                    <a:lumMod val="95000"/>
                  </a:sysClr>
                </a:gs>
              </a:gsLst>
              <a:lin ang="10800000" scaled="1"/>
              <a:tileRect/>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sp>
          <p:nvSpPr>
            <p:cNvPr id="20" name="TextBox 19">
              <a:extLst>
                <a:ext uri="{FF2B5EF4-FFF2-40B4-BE49-F238E27FC236}">
                  <a16:creationId xmlns:a16="http://schemas.microsoft.com/office/drawing/2014/main" id="{A3350A8D-9C8D-6877-F67A-4D92B29B0353}"/>
                </a:ext>
              </a:extLst>
            </p:cNvPr>
            <p:cNvSpPr txBox="1"/>
            <p:nvPr/>
          </p:nvSpPr>
          <p:spPr>
            <a:xfrm>
              <a:off x="1705980" y="3425135"/>
              <a:ext cx="2495908" cy="994479"/>
            </a:xfrm>
            <a:prstGeom prst="rect">
              <a:avLst/>
            </a:prstGeom>
            <a:noFill/>
          </p:spPr>
          <p:txBody>
            <a:bodyPr wrap="square" lIns="0" tIns="0" rIns="0" bIns="0" rtlCol="0" anchor="ctr">
              <a:noAutofit/>
            </a:bodyPr>
            <a:lstStyle/>
            <a:p>
              <a:pPr lvl="0" algn="r" defTabSz="1218987"/>
              <a:r>
                <a:rPr lang="en-US" b="1" kern="0">
                  <a:solidFill>
                    <a:prstClr val="black">
                      <a:lumMod val="95000"/>
                      <a:lumOff val="5000"/>
                    </a:prstClr>
                  </a:solidFill>
                  <a:latin typeface="Segoe UI"/>
                  <a:ea typeface="Segoe UI Black" panose="020B0A02040204020203" pitchFamily="34" charset="0"/>
                </a:rPr>
                <a:t>Install and experiment with the model, test, evaluate and compare the results.</a:t>
              </a:r>
              <a:endParaRPr lang="en-US" b="1" kern="0" dirty="0">
                <a:solidFill>
                  <a:prstClr val="black">
                    <a:lumMod val="95000"/>
                    <a:lumOff val="5000"/>
                  </a:prstClr>
                </a:solidFill>
                <a:latin typeface="Segoe UI"/>
                <a:ea typeface="Segoe UI Black" panose="020B0A02040204020203" pitchFamily="34" charset="0"/>
              </a:endParaRPr>
            </a:p>
          </p:txBody>
        </p:sp>
        <p:pic>
          <p:nvPicPr>
            <p:cNvPr id="19" name="Graphic 28" descr="Gears outline">
              <a:extLst>
                <a:ext uri="{FF2B5EF4-FFF2-40B4-BE49-F238E27FC236}">
                  <a16:creationId xmlns:a16="http://schemas.microsoft.com/office/drawing/2014/main" id="{4B73FE0E-1DF0-11B1-163B-7A80CF32BA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56650" y="3479617"/>
              <a:ext cx="756868" cy="756868"/>
            </a:xfrm>
            <a:prstGeom prst="rect">
              <a:avLst/>
            </a:prstGeom>
          </p:spPr>
        </p:pic>
      </p:grpSp>
      <p:grpSp>
        <p:nvGrpSpPr>
          <p:cNvPr id="22" name="Group 21">
            <a:extLst>
              <a:ext uri="{FF2B5EF4-FFF2-40B4-BE49-F238E27FC236}">
                <a16:creationId xmlns:a16="http://schemas.microsoft.com/office/drawing/2014/main" id="{27F430EC-ECD2-7C8D-BA48-E521C43BAA8F}"/>
              </a:ext>
            </a:extLst>
          </p:cNvPr>
          <p:cNvGrpSpPr/>
          <p:nvPr/>
        </p:nvGrpSpPr>
        <p:grpSpPr>
          <a:xfrm>
            <a:off x="6102599" y="1848589"/>
            <a:ext cx="5138268" cy="1825667"/>
            <a:chOff x="6102599" y="1848589"/>
            <a:chExt cx="5138268" cy="1825667"/>
          </a:xfrm>
        </p:grpSpPr>
        <p:sp>
          <p:nvSpPr>
            <p:cNvPr id="23" name="Freeform: Shape 14">
              <a:extLst>
                <a:ext uri="{FF2B5EF4-FFF2-40B4-BE49-F238E27FC236}">
                  <a16:creationId xmlns:a16="http://schemas.microsoft.com/office/drawing/2014/main" id="{8C93AB23-A1B5-E974-00AB-47D1331715DD}"/>
                </a:ext>
              </a:extLst>
            </p:cNvPr>
            <p:cNvSpPr/>
            <p:nvPr/>
          </p:nvSpPr>
          <p:spPr>
            <a:xfrm>
              <a:off x="6102599" y="1988840"/>
              <a:ext cx="4953211" cy="1685416"/>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solidFill>
              <a:sysClr val="windowText" lastClr="000000"/>
            </a:solidFill>
            <a:ln w="11919" cap="flat">
              <a:noFill/>
              <a:prstDash val="solid"/>
              <a:miter/>
            </a:ln>
            <a:effectLst>
              <a:softEdge rad="444500"/>
            </a:effectLst>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grpSp>
          <p:nvGrpSpPr>
            <p:cNvPr id="24" name="Group 23">
              <a:extLst>
                <a:ext uri="{FF2B5EF4-FFF2-40B4-BE49-F238E27FC236}">
                  <a16:creationId xmlns:a16="http://schemas.microsoft.com/office/drawing/2014/main" id="{0710448D-1A34-489D-574C-6BC1C9E258E1}"/>
                </a:ext>
              </a:extLst>
            </p:cNvPr>
            <p:cNvGrpSpPr/>
            <p:nvPr/>
          </p:nvGrpSpPr>
          <p:grpSpPr>
            <a:xfrm>
              <a:off x="6287656" y="1848589"/>
              <a:ext cx="4953211" cy="1588148"/>
              <a:chOff x="6287656" y="1848589"/>
              <a:chExt cx="4953211" cy="1588148"/>
            </a:xfrm>
          </p:grpSpPr>
          <p:sp>
            <p:nvSpPr>
              <p:cNvPr id="25" name="Freeform: Shape 9">
                <a:extLst>
                  <a:ext uri="{FF2B5EF4-FFF2-40B4-BE49-F238E27FC236}">
                    <a16:creationId xmlns:a16="http://schemas.microsoft.com/office/drawing/2014/main" id="{86209F18-D929-9875-9B3D-06B8715E2246}"/>
                  </a:ext>
                </a:extLst>
              </p:cNvPr>
              <p:cNvSpPr/>
              <p:nvPr/>
            </p:nvSpPr>
            <p:spPr>
              <a:xfrm>
                <a:off x="6287656" y="1848589"/>
                <a:ext cx="4953211" cy="1588148"/>
              </a:xfrm>
              <a:custGeom>
                <a:avLst/>
                <a:gdLst>
                  <a:gd name="connsiteX0" fmla="*/ 481901 w 5205771"/>
                  <a:gd name="connsiteY0" fmla="*/ 0 h 1669127"/>
                  <a:gd name="connsiteX1" fmla="*/ 4723871 w 5205771"/>
                  <a:gd name="connsiteY1" fmla="*/ 0 h 1669127"/>
                  <a:gd name="connsiteX2" fmla="*/ 5205771 w 5205771"/>
                  <a:gd name="connsiteY2" fmla="*/ 834564 h 1669127"/>
                  <a:gd name="connsiteX3" fmla="*/ 4723871 w 5205771"/>
                  <a:gd name="connsiteY3" fmla="*/ 1669128 h 1669127"/>
                  <a:gd name="connsiteX4" fmla="*/ 481901 w 5205771"/>
                  <a:gd name="connsiteY4" fmla="*/ 1669128 h 1669127"/>
                  <a:gd name="connsiteX5" fmla="*/ 0 w 5205771"/>
                  <a:gd name="connsiteY5" fmla="*/ 834564 h 1669127"/>
                  <a:gd name="connsiteX6" fmla="*/ 481901 w 5205771"/>
                  <a:gd name="connsiteY6" fmla="*/ 0 h 166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05771" h="1669127">
                    <a:moveTo>
                      <a:pt x="481901" y="0"/>
                    </a:moveTo>
                    <a:lnTo>
                      <a:pt x="4723871" y="0"/>
                    </a:lnTo>
                    <a:lnTo>
                      <a:pt x="5205771" y="834564"/>
                    </a:lnTo>
                    <a:lnTo>
                      <a:pt x="4723871" y="1669128"/>
                    </a:lnTo>
                    <a:lnTo>
                      <a:pt x="481901" y="1669128"/>
                    </a:lnTo>
                    <a:lnTo>
                      <a:pt x="0" y="834564"/>
                    </a:lnTo>
                    <a:lnTo>
                      <a:pt x="481901" y="0"/>
                    </a:lnTo>
                    <a:close/>
                  </a:path>
                </a:pathLst>
              </a:custGeom>
              <a:gradFill>
                <a:gsLst>
                  <a:gs pos="0">
                    <a:sysClr val="window" lastClr="FFFFFF"/>
                  </a:gs>
                  <a:gs pos="100000">
                    <a:sysClr val="window" lastClr="FFFFFF">
                      <a:lumMod val="95000"/>
                    </a:sysClr>
                  </a:gs>
                </a:gsLst>
                <a:lin ang="0" scaled="1"/>
              </a:gradFill>
              <a:ln w="11919" cap="flat">
                <a:noFill/>
                <a:prstDash val="solid"/>
                <a:miter/>
              </a:ln>
            </p:spPr>
            <p:txBody>
              <a:bodyPr rtlCol="0" anchor="ctr"/>
              <a:lstStyle/>
              <a:p>
                <a:pPr marL="0" marR="0" lvl="0" indent="0" defTabSz="1218987" eaLnBrk="1" fontAlgn="auto" latinLnBrk="0" hangingPunct="1">
                  <a:lnSpc>
                    <a:spcPct val="100000"/>
                  </a:lnSpc>
                  <a:spcBef>
                    <a:spcPts val="0"/>
                  </a:spcBef>
                  <a:spcAft>
                    <a:spcPts val="0"/>
                  </a:spcAft>
                  <a:buClrTx/>
                  <a:buSzTx/>
                  <a:buFontTx/>
                  <a:buNone/>
                  <a:tabLst/>
                  <a:defRPr/>
                </a:pPr>
                <a:endParaRPr kumimoji="0" lang="en-IN" sz="2400" b="0" i="0" u="none" strike="noStrike" kern="0" cap="none" spc="0" normalizeH="0" baseline="0" noProof="0">
                  <a:ln>
                    <a:noFill/>
                  </a:ln>
                  <a:solidFill>
                    <a:prstClr val="black"/>
                  </a:solidFill>
                  <a:effectLst/>
                  <a:uLnTx/>
                  <a:uFillTx/>
                  <a:latin typeface="Segoe UI"/>
                </a:endParaRPr>
              </a:p>
            </p:txBody>
          </p:sp>
          <p:sp>
            <p:nvSpPr>
              <p:cNvPr id="28" name="TextBox 27">
                <a:extLst>
                  <a:ext uri="{FF2B5EF4-FFF2-40B4-BE49-F238E27FC236}">
                    <a16:creationId xmlns:a16="http://schemas.microsoft.com/office/drawing/2014/main" id="{7511CFC1-9FD2-E407-B865-8E7D095E3ED3}"/>
                  </a:ext>
                </a:extLst>
              </p:cNvPr>
              <p:cNvSpPr txBox="1"/>
              <p:nvPr/>
            </p:nvSpPr>
            <p:spPr>
              <a:xfrm>
                <a:off x="7997921" y="2070659"/>
                <a:ext cx="2495908" cy="1133569"/>
              </a:xfrm>
              <a:prstGeom prst="rect">
                <a:avLst/>
              </a:prstGeom>
              <a:noFill/>
            </p:spPr>
            <p:txBody>
              <a:bodyPr wrap="square" lIns="0" tIns="0" rIns="0" bIns="0" rtlCol="0" anchor="ctr">
                <a:noAutofit/>
              </a:bodyPr>
              <a:lstStyle/>
              <a:p>
                <a:pPr lvl="0" defTabSz="1218987"/>
                <a:r>
                  <a:rPr lang="en-US" b="1" kern="0">
                    <a:solidFill>
                      <a:prstClr val="black">
                        <a:lumMod val="95000"/>
                        <a:lumOff val="5000"/>
                      </a:prstClr>
                    </a:solidFill>
                    <a:latin typeface="Segoe UI"/>
                    <a:ea typeface="Segoe UI Black" panose="020B0A02040204020203" pitchFamily="34" charset="0"/>
                  </a:rPr>
                  <a:t>Detection and classification on mammograms based on deep learning techniques</a:t>
                </a:r>
                <a:endParaRPr lang="en-US" b="1" kern="0" dirty="0">
                  <a:solidFill>
                    <a:prstClr val="black">
                      <a:lumMod val="95000"/>
                      <a:lumOff val="5000"/>
                    </a:prstClr>
                  </a:solidFill>
                  <a:latin typeface="Segoe UI"/>
                  <a:ea typeface="Segoe UI Black" panose="020B0A02040204020203" pitchFamily="34" charset="0"/>
                </a:endParaRPr>
              </a:p>
            </p:txBody>
          </p:sp>
        </p:grpSp>
      </p:grpSp>
      <p:sp>
        <p:nvSpPr>
          <p:cNvPr id="30" name="Content Placeholder 1"/>
          <p:cNvSpPr>
            <a:spLocks noGrp="1"/>
          </p:cNvSpPr>
          <p:nvPr>
            <p:ph sz="quarter" idx="10"/>
          </p:nvPr>
        </p:nvSpPr>
        <p:spPr>
          <a:xfrm>
            <a:off x="347665" y="911419"/>
            <a:ext cx="11234737" cy="633409"/>
          </a:xfrm>
        </p:spPr>
        <p:txBody>
          <a:bodyPr/>
          <a:lstStyle/>
          <a:p>
            <a:pPr marL="0" lvl="0" indent="0" algn="just">
              <a:lnSpc>
                <a:spcPct val="120000"/>
              </a:lnSpc>
              <a:spcBef>
                <a:spcPts val="600"/>
              </a:spcBef>
              <a:buNone/>
            </a:pPr>
            <a:r>
              <a:rPr lang="en" b="1">
                <a:solidFill>
                  <a:srgbClr val="C00000"/>
                </a:solidFill>
              </a:rPr>
              <a:t>Targets:</a:t>
            </a:r>
          </a:p>
        </p:txBody>
      </p:sp>
      <p:pic>
        <p:nvPicPr>
          <p:cNvPr id="31" name="Picture 30"/>
          <p:cNvPicPr>
            <a:picLocks noChangeAspect="1"/>
          </p:cNvPicPr>
          <p:nvPr/>
        </p:nvPicPr>
        <p:blipFill>
          <a:blip r:embed="rId5"/>
          <a:stretch>
            <a:fillRect/>
          </a:stretch>
        </p:blipFill>
        <p:spPr>
          <a:xfrm>
            <a:off x="6658313" y="2349225"/>
            <a:ext cx="1115623" cy="658891"/>
          </a:xfrm>
          <a:prstGeom prst="rect">
            <a:avLst/>
          </a:prstGeom>
        </p:spPr>
      </p:pic>
      <p:pic>
        <p:nvPicPr>
          <p:cNvPr id="32" name="Picture 31"/>
          <p:cNvPicPr>
            <a:picLocks noChangeAspect="1"/>
          </p:cNvPicPr>
          <p:nvPr/>
        </p:nvPicPr>
        <p:blipFill>
          <a:blip r:embed="rId6"/>
          <a:stretch>
            <a:fillRect/>
          </a:stretch>
        </p:blipFill>
        <p:spPr>
          <a:xfrm>
            <a:off x="6727309" y="4440378"/>
            <a:ext cx="989173" cy="898531"/>
          </a:xfrm>
          <a:prstGeom prst="rect">
            <a:avLst/>
          </a:prstGeom>
        </p:spPr>
      </p:pic>
    </p:spTree>
    <p:extLst>
      <p:ext uri="{BB962C8B-B14F-4D97-AF65-F5344CB8AC3E}">
        <p14:creationId xmlns:p14="http://schemas.microsoft.com/office/powerpoint/2010/main" val="534079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7" name="Picture 6"/>
          <p:cNvPicPr>
            <a:picLocks noChangeAspect="1"/>
          </p:cNvPicPr>
          <p:nvPr/>
        </p:nvPicPr>
        <p:blipFill>
          <a:blip r:embed="rId3"/>
          <a:stretch>
            <a:fillRect/>
          </a:stretch>
        </p:blipFill>
        <p:spPr>
          <a:xfrm>
            <a:off x="696367" y="1064481"/>
            <a:ext cx="8328708" cy="3696926"/>
          </a:xfrm>
          <a:prstGeom prst="rect">
            <a:avLst/>
          </a:prstGeom>
        </p:spPr>
      </p:pic>
      <p:sp>
        <p:nvSpPr>
          <p:cNvPr id="8" name="Rectangle 7"/>
          <p:cNvSpPr/>
          <p:nvPr/>
        </p:nvSpPr>
        <p:spPr>
          <a:xfrm>
            <a:off x="696368" y="4774048"/>
            <a:ext cx="9476092" cy="923330"/>
          </a:xfrm>
          <a:prstGeom prst="rect">
            <a:avLst/>
          </a:prstGeom>
        </p:spPr>
        <p:txBody>
          <a:bodyPr wrap="square">
            <a:spAutoFit/>
          </a:bodyPr>
          <a:lstStyle/>
          <a:p>
            <a:r>
              <a:rPr lang="en-US">
                <a:latin typeface="Cambria" panose="02040503050406030204" pitchFamily="18" charset="0"/>
                <a:ea typeface="Cambria" panose="02040503050406030204" pitchFamily="18" charset="0"/>
              </a:rPr>
              <a:t>- Architecture network: AlexNet, VGG, SquezzeNet, ResNet, DenseNet</a:t>
            </a:r>
          </a:p>
          <a:p>
            <a:r>
              <a:rPr lang="en-US">
                <a:latin typeface="Cambria" panose="02040503050406030204" pitchFamily="18" charset="0"/>
                <a:ea typeface="Cambria" panose="02040503050406030204" pitchFamily="18" charset="0"/>
              </a:rPr>
              <a:t>- Dataset: CBIS-DDSM</a:t>
            </a:r>
          </a:p>
          <a:p>
            <a:r>
              <a:rPr lang="en-US">
                <a:latin typeface="Cambria" panose="02040503050406030204" pitchFamily="18" charset="0"/>
                <a:ea typeface="Cambria" panose="02040503050406030204" pitchFamily="18" charset="0"/>
              </a:rPr>
              <a:t>- Accuracy: 99.8% </a:t>
            </a:r>
          </a:p>
        </p:txBody>
      </p:sp>
      <p:sp>
        <p:nvSpPr>
          <p:cNvPr id="9" name="Rectangle 8"/>
          <p:cNvSpPr/>
          <p:nvPr/>
        </p:nvSpPr>
        <p:spPr>
          <a:xfrm>
            <a:off x="486137" y="5987018"/>
            <a:ext cx="11354764" cy="369332"/>
          </a:xfrm>
          <a:prstGeom prst="rect">
            <a:avLst/>
          </a:prstGeom>
        </p:spPr>
        <p:txBody>
          <a:bodyPr wrap="square">
            <a:spAutoFit/>
          </a:bodyPr>
          <a:lstStyle/>
          <a:p>
            <a:pPr algn="ctr"/>
            <a:r>
              <a:rPr lang="en-US">
                <a:latin typeface="Cambria" panose="02040503050406030204" pitchFamily="18" charset="0"/>
                <a:ea typeface="Cambria" panose="02040503050406030204" pitchFamily="18" charset="0"/>
              </a:rPr>
              <a:t>Fig 3. Performance Evaluation of Deep Learning Models on Mammogram Classification Using Small Dataset [3]</a:t>
            </a:r>
          </a:p>
        </p:txBody>
      </p:sp>
      <p:pic>
        <p:nvPicPr>
          <p:cNvPr id="10" name="Picture 9"/>
          <p:cNvPicPr>
            <a:picLocks noChangeAspect="1"/>
          </p:cNvPicPr>
          <p:nvPr/>
        </p:nvPicPr>
        <p:blipFill>
          <a:blip r:embed="rId4"/>
          <a:stretch>
            <a:fillRect/>
          </a:stretch>
        </p:blipFill>
        <p:spPr>
          <a:xfrm>
            <a:off x="9439836" y="1129478"/>
            <a:ext cx="1913964" cy="3566932"/>
          </a:xfrm>
          <a:prstGeom prst="rect">
            <a:avLst/>
          </a:prstGeom>
        </p:spPr>
      </p:pic>
    </p:spTree>
    <p:extLst>
      <p:ext uri="{BB962C8B-B14F-4D97-AF65-F5344CB8AC3E}">
        <p14:creationId xmlns:p14="http://schemas.microsoft.com/office/powerpoint/2010/main" val="1190996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5" name="Picture 4"/>
          <p:cNvPicPr>
            <a:picLocks noChangeAspect="1"/>
          </p:cNvPicPr>
          <p:nvPr/>
        </p:nvPicPr>
        <p:blipFill>
          <a:blip r:embed="rId3"/>
          <a:stretch>
            <a:fillRect/>
          </a:stretch>
        </p:blipFill>
        <p:spPr>
          <a:xfrm>
            <a:off x="151998" y="775343"/>
            <a:ext cx="3211219" cy="5946132"/>
          </a:xfrm>
          <a:prstGeom prst="rect">
            <a:avLst/>
          </a:prstGeom>
        </p:spPr>
      </p:pic>
      <p:pic>
        <p:nvPicPr>
          <p:cNvPr id="7" name="Picture 6"/>
          <p:cNvPicPr>
            <a:picLocks noChangeAspect="1"/>
          </p:cNvPicPr>
          <p:nvPr/>
        </p:nvPicPr>
        <p:blipFill>
          <a:blip r:embed="rId4"/>
          <a:stretch>
            <a:fillRect/>
          </a:stretch>
        </p:blipFill>
        <p:spPr>
          <a:xfrm>
            <a:off x="3562410" y="1022437"/>
            <a:ext cx="4144299" cy="4076360"/>
          </a:xfrm>
          <a:prstGeom prst="rect">
            <a:avLst/>
          </a:prstGeom>
        </p:spPr>
      </p:pic>
      <p:sp>
        <p:nvSpPr>
          <p:cNvPr id="8" name="Rectangle 7"/>
          <p:cNvSpPr/>
          <p:nvPr/>
        </p:nvSpPr>
        <p:spPr>
          <a:xfrm>
            <a:off x="7706709" y="1279661"/>
            <a:ext cx="4165198" cy="1477328"/>
          </a:xfrm>
          <a:prstGeom prst="rect">
            <a:avLst/>
          </a:prstGeom>
        </p:spPr>
        <p:txBody>
          <a:bodyPr wrap="square">
            <a:spAutoFit/>
          </a:bodyPr>
          <a:lstStyle/>
          <a:p>
            <a:r>
              <a:rPr lang="en-US">
                <a:latin typeface="Cambria" panose="02040503050406030204" pitchFamily="18" charset="0"/>
                <a:ea typeface="Cambria" panose="02040503050406030204" pitchFamily="18" charset="0"/>
              </a:rPr>
              <a:t>- Ensemble method: Decision Tree, Logistic Regression and Support Vector Machine</a:t>
            </a:r>
          </a:p>
          <a:p>
            <a:r>
              <a:rPr lang="en-US">
                <a:latin typeface="Cambria" panose="02040503050406030204" pitchFamily="18" charset="0"/>
                <a:ea typeface="Cambria" panose="02040503050406030204" pitchFamily="18" charset="0"/>
              </a:rPr>
              <a:t>- Dataset: WDBC</a:t>
            </a:r>
          </a:p>
          <a:p>
            <a:r>
              <a:rPr lang="en-US">
                <a:latin typeface="Cambria" panose="02040503050406030204" pitchFamily="18" charset="0"/>
                <a:ea typeface="Cambria" panose="02040503050406030204" pitchFamily="18" charset="0"/>
              </a:rPr>
              <a:t>- Accuracy: 98.25% (Hard voting) </a:t>
            </a:r>
          </a:p>
        </p:txBody>
      </p:sp>
      <p:sp>
        <p:nvSpPr>
          <p:cNvPr id="9" name="Rectangle 8"/>
          <p:cNvSpPr/>
          <p:nvPr/>
        </p:nvSpPr>
        <p:spPr>
          <a:xfrm>
            <a:off x="3970115" y="5697378"/>
            <a:ext cx="7094759" cy="646331"/>
          </a:xfrm>
          <a:prstGeom prst="rect">
            <a:avLst/>
          </a:prstGeom>
        </p:spPr>
        <p:txBody>
          <a:bodyPr wrap="square">
            <a:spAutoFit/>
          </a:bodyPr>
          <a:lstStyle/>
          <a:p>
            <a:pPr algn="ctr"/>
            <a:r>
              <a:rPr lang="en-US">
                <a:latin typeface="Cambria" panose="02040503050406030204" pitchFamily="18" charset="0"/>
                <a:ea typeface="Cambria" panose="02040503050406030204" pitchFamily="18" charset="0"/>
              </a:rPr>
              <a:t>Fig 4. Breast Cancer Prediction Using Soft Voting Classifier Based on Machine Learning Models [4]</a:t>
            </a:r>
          </a:p>
        </p:txBody>
      </p:sp>
    </p:spTree>
    <p:extLst>
      <p:ext uri="{BB962C8B-B14F-4D97-AF65-F5344CB8AC3E}">
        <p14:creationId xmlns:p14="http://schemas.microsoft.com/office/powerpoint/2010/main" val="1824356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10" name="Rectangle 9"/>
          <p:cNvSpPr/>
          <p:nvPr/>
        </p:nvSpPr>
        <p:spPr>
          <a:xfrm>
            <a:off x="5023231" y="3201877"/>
            <a:ext cx="6330569" cy="1631216"/>
          </a:xfrm>
          <a:prstGeom prst="rect">
            <a:avLst/>
          </a:prstGeom>
        </p:spPr>
        <p:txBody>
          <a:bodyPr wrap="square">
            <a:spAutoFit/>
          </a:bodyPr>
          <a:lstStyle/>
          <a:p>
            <a:pPr algn="just"/>
            <a:r>
              <a:rPr lang="en-US" sz="2000">
                <a:latin typeface="Cambria" panose="02040503050406030204" pitchFamily="18" charset="0"/>
                <a:ea typeface="Cambria" panose="02040503050406030204" pitchFamily="18" charset="0"/>
              </a:rPr>
              <a:t>- Mammographic density classification (A, B, C, D) using a combined model (ResNet18, ResNet50, EfficientNet-B0, DenseNet121)</a:t>
            </a:r>
          </a:p>
          <a:p>
            <a:pPr algn="just"/>
            <a:r>
              <a:rPr lang="en-US" sz="2000">
                <a:latin typeface="Cambria" panose="02040503050406030204" pitchFamily="18" charset="0"/>
                <a:ea typeface="Cambria" panose="02040503050406030204" pitchFamily="18" charset="0"/>
              </a:rPr>
              <a:t>- Dataset: VinDr-Mammo</a:t>
            </a:r>
          </a:p>
          <a:p>
            <a:pPr algn="just"/>
            <a:r>
              <a:rPr lang="en-US" sz="2000">
                <a:latin typeface="Cambria" panose="02040503050406030204" pitchFamily="18" charset="0"/>
                <a:ea typeface="Cambria" panose="02040503050406030204" pitchFamily="18" charset="0"/>
              </a:rPr>
              <a:t>- Accuracy: AUC: 0.963, F1-score: 0.952 (Soft voting)</a:t>
            </a:r>
          </a:p>
        </p:txBody>
      </p:sp>
      <p:pic>
        <p:nvPicPr>
          <p:cNvPr id="11" name="Picture 10"/>
          <p:cNvPicPr>
            <a:picLocks noChangeAspect="1"/>
          </p:cNvPicPr>
          <p:nvPr/>
        </p:nvPicPr>
        <p:blipFill>
          <a:blip r:embed="rId3"/>
          <a:stretch>
            <a:fillRect/>
          </a:stretch>
        </p:blipFill>
        <p:spPr>
          <a:xfrm>
            <a:off x="5023231" y="871567"/>
            <a:ext cx="6219825" cy="1971675"/>
          </a:xfrm>
          <a:prstGeom prst="rect">
            <a:avLst/>
          </a:prstGeom>
        </p:spPr>
      </p:pic>
      <p:pic>
        <p:nvPicPr>
          <p:cNvPr id="12" name="Picture 11"/>
          <p:cNvPicPr>
            <a:picLocks noChangeAspect="1"/>
          </p:cNvPicPr>
          <p:nvPr/>
        </p:nvPicPr>
        <p:blipFill>
          <a:blip r:embed="rId4"/>
          <a:stretch>
            <a:fillRect/>
          </a:stretch>
        </p:blipFill>
        <p:spPr>
          <a:xfrm>
            <a:off x="356404" y="871567"/>
            <a:ext cx="4227171" cy="5368507"/>
          </a:xfrm>
          <a:prstGeom prst="rect">
            <a:avLst/>
          </a:prstGeom>
        </p:spPr>
      </p:pic>
      <p:sp>
        <p:nvSpPr>
          <p:cNvPr id="13" name="Rectangle 12"/>
          <p:cNvSpPr/>
          <p:nvPr/>
        </p:nvSpPr>
        <p:spPr>
          <a:xfrm>
            <a:off x="5023231" y="5593743"/>
            <a:ext cx="6481299" cy="646331"/>
          </a:xfrm>
          <a:prstGeom prst="rect">
            <a:avLst/>
          </a:prstGeom>
        </p:spPr>
        <p:txBody>
          <a:bodyPr wrap="square">
            <a:spAutoFit/>
          </a:bodyPr>
          <a:lstStyle/>
          <a:p>
            <a:pPr algn="ctr"/>
            <a:r>
              <a:rPr lang="en-US">
                <a:latin typeface="Cambria" panose="02040503050406030204" pitchFamily="18" charset="0"/>
                <a:ea typeface="Cambria" panose="02040503050406030204" pitchFamily="18" charset="0"/>
              </a:rPr>
              <a:t>Fig 5. Attention-Enhanced Deep Learning Ensemble for Breast Density Classification in Mammography</a:t>
            </a:r>
          </a:p>
        </p:txBody>
      </p:sp>
    </p:spTree>
    <p:extLst>
      <p:ext uri="{BB962C8B-B14F-4D97-AF65-F5344CB8AC3E}">
        <p14:creationId xmlns:p14="http://schemas.microsoft.com/office/powerpoint/2010/main" val="2152353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pic>
        <p:nvPicPr>
          <p:cNvPr id="4" name="Picture 3"/>
          <p:cNvPicPr>
            <a:picLocks noChangeAspect="1"/>
          </p:cNvPicPr>
          <p:nvPr/>
        </p:nvPicPr>
        <p:blipFill>
          <a:blip r:embed="rId3"/>
          <a:stretch>
            <a:fillRect/>
          </a:stretch>
        </p:blipFill>
        <p:spPr>
          <a:xfrm>
            <a:off x="1228233" y="1051032"/>
            <a:ext cx="3505402" cy="3573519"/>
          </a:xfrm>
          <a:prstGeom prst="rect">
            <a:avLst/>
          </a:prstGeom>
        </p:spPr>
      </p:pic>
      <p:pic>
        <p:nvPicPr>
          <p:cNvPr id="5" name="Picture 4"/>
          <p:cNvPicPr>
            <a:picLocks noChangeAspect="1"/>
          </p:cNvPicPr>
          <p:nvPr/>
        </p:nvPicPr>
        <p:blipFill>
          <a:blip r:embed="rId4"/>
          <a:stretch>
            <a:fillRect/>
          </a:stretch>
        </p:blipFill>
        <p:spPr>
          <a:xfrm>
            <a:off x="4733635" y="1051032"/>
            <a:ext cx="3441557" cy="3573519"/>
          </a:xfrm>
          <a:prstGeom prst="rect">
            <a:avLst/>
          </a:prstGeom>
        </p:spPr>
      </p:pic>
      <p:pic>
        <p:nvPicPr>
          <p:cNvPr id="6" name="Picture 5"/>
          <p:cNvPicPr>
            <a:picLocks noChangeAspect="1"/>
          </p:cNvPicPr>
          <p:nvPr/>
        </p:nvPicPr>
        <p:blipFill>
          <a:blip r:embed="rId5"/>
          <a:stretch>
            <a:fillRect/>
          </a:stretch>
        </p:blipFill>
        <p:spPr>
          <a:xfrm>
            <a:off x="8380358" y="1051032"/>
            <a:ext cx="2366796" cy="3668112"/>
          </a:xfrm>
          <a:prstGeom prst="rect">
            <a:avLst/>
          </a:prstGeom>
        </p:spPr>
      </p:pic>
      <p:sp>
        <p:nvSpPr>
          <p:cNvPr id="7" name="Rectangle 6"/>
          <p:cNvSpPr/>
          <p:nvPr/>
        </p:nvSpPr>
        <p:spPr>
          <a:xfrm>
            <a:off x="1162772" y="4644781"/>
            <a:ext cx="4304705" cy="923330"/>
          </a:xfrm>
          <a:prstGeom prst="rect">
            <a:avLst/>
          </a:prstGeom>
        </p:spPr>
        <p:txBody>
          <a:bodyPr wrap="none">
            <a:spAutoFit/>
          </a:bodyPr>
          <a:lstStyle/>
          <a:p>
            <a:pPr marL="285750" indent="-285750">
              <a:buFontTx/>
              <a:buChar char="-"/>
            </a:pPr>
            <a:r>
              <a:rPr lang="en-US">
                <a:latin typeface="Cambria" panose="02040503050406030204" pitchFamily="18" charset="0"/>
                <a:ea typeface="Cambria" panose="02040503050406030204" pitchFamily="18" charset="0"/>
              </a:rPr>
              <a:t>Model: VGG16, InceptionV3, Res-Net18</a:t>
            </a:r>
          </a:p>
          <a:p>
            <a:pPr marL="285750" indent="-285750">
              <a:buFontTx/>
              <a:buChar char="-"/>
            </a:pPr>
            <a:r>
              <a:rPr lang="en-US">
                <a:latin typeface="Cambria" panose="02040503050406030204" pitchFamily="18" charset="0"/>
                <a:ea typeface="Cambria" panose="02040503050406030204" pitchFamily="18" charset="0"/>
              </a:rPr>
              <a:t>Dataset: CIBS-DDSM</a:t>
            </a:r>
          </a:p>
          <a:p>
            <a:pPr marL="285750" indent="-285750">
              <a:buFontTx/>
              <a:buChar char="-"/>
            </a:pPr>
            <a:r>
              <a:rPr lang="en-US">
                <a:latin typeface="Cambria" panose="02040503050406030204" pitchFamily="18" charset="0"/>
                <a:ea typeface="Cambria" panose="02040503050406030204" pitchFamily="18" charset="0"/>
              </a:rPr>
              <a:t>Accuracy: 76%</a:t>
            </a:r>
          </a:p>
        </p:txBody>
      </p:sp>
      <p:sp>
        <p:nvSpPr>
          <p:cNvPr id="8" name="Rectangle 7"/>
          <p:cNvSpPr/>
          <p:nvPr/>
        </p:nvSpPr>
        <p:spPr>
          <a:xfrm>
            <a:off x="735550" y="5662769"/>
            <a:ext cx="11119753" cy="646331"/>
          </a:xfrm>
          <a:prstGeom prst="rect">
            <a:avLst/>
          </a:prstGeom>
        </p:spPr>
        <p:txBody>
          <a:bodyPr wrap="square">
            <a:spAutoFit/>
          </a:bodyPr>
          <a:lstStyle/>
          <a:p>
            <a:pPr algn="ctr"/>
            <a:r>
              <a:rPr lang="en-US">
                <a:latin typeface="Cambria" panose="02040503050406030204" pitchFamily="18" charset="0"/>
                <a:ea typeface="Cambria" panose="02040503050406030204" pitchFamily="18" charset="0"/>
              </a:rPr>
              <a:t>Fig 6. Enhancing Breast Cancer Diagnosis in Mammography: Evaluation and Integration of Convolutional Neural Networks and Explainable AI (Ahmed et al. 2024)</a:t>
            </a:r>
          </a:p>
        </p:txBody>
      </p:sp>
    </p:spTree>
    <p:extLst>
      <p:ext uri="{BB962C8B-B14F-4D97-AF65-F5344CB8AC3E}">
        <p14:creationId xmlns:p14="http://schemas.microsoft.com/office/powerpoint/2010/main" val="2632987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5" name="Rectangle 4"/>
          <p:cNvSpPr/>
          <p:nvPr/>
        </p:nvSpPr>
        <p:spPr>
          <a:xfrm>
            <a:off x="266218" y="5809192"/>
            <a:ext cx="11484457" cy="461665"/>
          </a:xfrm>
          <a:prstGeom prst="rect">
            <a:avLst/>
          </a:prstGeom>
        </p:spPr>
        <p:txBody>
          <a:bodyPr wrap="square">
            <a:spAutoFit/>
          </a:bodyPr>
          <a:lstStyle/>
          <a:p>
            <a:pPr algn="ctr"/>
            <a:r>
              <a:rPr lang="en-US" sz="2400">
                <a:latin typeface="Cambria" panose="02040503050406030204" pitchFamily="18" charset="0"/>
                <a:ea typeface="Cambria" panose="02040503050406030204" pitchFamily="18" charset="0"/>
              </a:rPr>
              <a:t>Fig 7. Illustration of Hard voting and Soft voting</a:t>
            </a:r>
          </a:p>
        </p:txBody>
      </p:sp>
      <p:sp>
        <p:nvSpPr>
          <p:cNvPr id="6"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rPr>
              <a:t>Hard/soft</a:t>
            </a:r>
            <a:r>
              <a:rPr kumimoji="0" lang="en-US" sz="2400" b="1" i="0" u="none" strike="noStrike" kern="1200" cap="none" spc="0" normalizeH="0" noProof="0">
                <a:ln>
                  <a:noFill/>
                </a:ln>
                <a:solidFill>
                  <a:srgbClr val="C00000"/>
                </a:solidFill>
                <a:effectLst/>
                <a:uLnTx/>
                <a:uFillTx/>
                <a:latin typeface="Cambria" panose="02040503050406030204" pitchFamily="18" charset="0"/>
                <a:ea typeface="Cambria" panose="02040503050406030204" pitchFamily="18" charset="0"/>
                <a:cs typeface="+mn-cs"/>
              </a:rPr>
              <a:t> voting</a:t>
            </a:r>
            <a:r>
              <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rPr>
              <a:t>:</a:t>
            </a:r>
          </a:p>
        </p:txBody>
      </p:sp>
      <p:pic>
        <p:nvPicPr>
          <p:cNvPr id="7" name="Picture 6"/>
          <p:cNvPicPr>
            <a:picLocks noChangeAspect="1"/>
          </p:cNvPicPr>
          <p:nvPr/>
        </p:nvPicPr>
        <p:blipFill>
          <a:blip r:embed="rId3"/>
          <a:stretch>
            <a:fillRect/>
          </a:stretch>
        </p:blipFill>
        <p:spPr>
          <a:xfrm>
            <a:off x="1435100" y="1432560"/>
            <a:ext cx="9517380" cy="4265017"/>
          </a:xfrm>
          <a:prstGeom prst="rect">
            <a:avLst/>
          </a:prstGeom>
        </p:spPr>
      </p:pic>
    </p:spTree>
    <p:extLst>
      <p:ext uri="{BB962C8B-B14F-4D97-AF65-F5344CB8AC3E}">
        <p14:creationId xmlns:p14="http://schemas.microsoft.com/office/powerpoint/2010/main" val="1127960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2. Related works</a:t>
            </a:r>
          </a:p>
        </p:txBody>
      </p:sp>
      <p:sp>
        <p:nvSpPr>
          <p:cNvPr id="4" name="Text Placeholder 2"/>
          <p:cNvSpPr txBox="1">
            <a:spLocks/>
          </p:cNvSpPr>
          <p:nvPr/>
        </p:nvSpPr>
        <p:spPr>
          <a:xfrm>
            <a:off x="466725" y="1014413"/>
            <a:ext cx="11283950" cy="4384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3399"/>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3399"/>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3399"/>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1" i="0" u="none" strike="noStrike" kern="1200" cap="none" spc="0" normalizeH="0" baseline="0" noProof="0">
                <a:ln>
                  <a:noFill/>
                </a:ln>
                <a:solidFill>
                  <a:srgbClr val="C00000"/>
                </a:solidFill>
                <a:effectLst/>
                <a:uLnTx/>
                <a:uFillTx/>
                <a:latin typeface="Cambria" panose="02040503050406030204" pitchFamily="18" charset="0"/>
                <a:ea typeface="Cambria" panose="02040503050406030204" pitchFamily="18" charset="0"/>
                <a:cs typeface="+mn-cs"/>
              </a:rPr>
              <a:t>Evaluation metrics:</a:t>
            </a:r>
          </a:p>
        </p:txBody>
      </p:sp>
      <mc:AlternateContent xmlns:mc="http://schemas.openxmlformats.org/markup-compatibility/2006" xmlns:a14="http://schemas.microsoft.com/office/drawing/2010/main">
        <mc:Choice Requires="a14">
          <p:sp>
            <p:nvSpPr>
              <p:cNvPr id="16" name="TextBox 15"/>
              <p:cNvSpPr txBox="1"/>
              <p:nvPr/>
            </p:nvSpPr>
            <p:spPr>
              <a:xfrm>
                <a:off x="744025" y="1771449"/>
                <a:ext cx="3357009"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i="1" smtClean="0">
                          <a:latin typeface="Cambria Math" panose="02040503050406030204" pitchFamily="18" charset="0"/>
                        </a:rPr>
                        <m:t>𝐴</m:t>
                      </m:r>
                      <m:r>
                        <a:rPr lang="en-US" sz="2200" b="0" i="1" smtClean="0">
                          <a:latin typeface="Cambria Math" panose="02040503050406030204" pitchFamily="18" charset="0"/>
                        </a:rPr>
                        <m:t>𝑐𝑐</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𝑇𝑁</m:t>
                          </m:r>
                          <m:r>
                            <a:rPr lang="en-US" sz="2200" b="0" i="1" smtClean="0">
                              <a:latin typeface="Cambria Math" panose="02040503050406030204" pitchFamily="18" charset="0"/>
                            </a:rPr>
                            <m:t>+</m:t>
                          </m:r>
                          <m:r>
                            <a:rPr lang="en-US" sz="2200" b="0" i="1" smtClean="0">
                              <a:latin typeface="Cambria Math" panose="02040503050406030204" pitchFamily="18" charset="0"/>
                            </a:rPr>
                            <m:t>𝐹𝑃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16" name="TextBox 15"/>
              <p:cNvSpPr txBox="1">
                <a:spLocks noRot="1" noChangeAspect="1" noMove="1" noResize="1" noEditPoints="1" noAdjustHandles="1" noChangeArrowheads="1" noChangeShapeType="1" noTextEdit="1"/>
              </p:cNvSpPr>
              <p:nvPr/>
            </p:nvSpPr>
            <p:spPr>
              <a:xfrm>
                <a:off x="744025" y="1771449"/>
                <a:ext cx="3357009" cy="63953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p:cNvSpPr txBox="1"/>
              <p:nvPr/>
            </p:nvSpPr>
            <p:spPr>
              <a:xfrm>
                <a:off x="744025" y="4261454"/>
                <a:ext cx="2455826" cy="521553"/>
              </a:xfrm>
              <a:prstGeom prst="rect">
                <a:avLst/>
              </a:prstGeom>
              <a:noFill/>
            </p:spPr>
            <p:txBody>
              <a:bodyPr wrap="square" lIns="0" tIns="0" rIns="0" bIns="0" rtlCol="0">
                <a:spAutoFit/>
              </a:bodyPr>
              <a:lstStyle/>
              <a:p>
                <a14:m>
                  <m:oMath xmlns:m="http://schemas.openxmlformats.org/officeDocument/2006/math">
                    <m:r>
                      <a:rPr lang="en-US" sz="2400" b="0" i="1" smtClean="0">
                        <a:latin typeface="Cambria Math" panose="02040503050406030204" pitchFamily="18" charset="0"/>
                      </a:rPr>
                      <m:t>𝑚𝐴𝑃</m:t>
                    </m:r>
                  </m:oMath>
                </a14:m>
                <a:r>
                  <a:rPr lang="en-US" sz="2400"/>
                  <a:t>=</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𝑁</m:t>
                        </m:r>
                      </m:den>
                    </m:f>
                    <m:nary>
                      <m:naryPr>
                        <m:chr m:val="∑"/>
                        <m:ctrlPr>
                          <a:rPr lang="en-US" sz="2400" i="1">
                            <a:latin typeface="Cambria Math" panose="02040503050406030204" pitchFamily="18" charset="0"/>
                          </a:rPr>
                        </m:ctrlPr>
                      </m:naryPr>
                      <m:sub>
                        <m:r>
                          <a:rPr lang="en-US" sz="2400" i="1">
                            <a:latin typeface="Cambria Math" panose="02040503050406030204" pitchFamily="18" charset="0"/>
                          </a:rPr>
                          <m:t>𝑖</m:t>
                        </m:r>
                        <m:r>
                          <a:rPr lang="en-US" sz="2400" i="1">
                            <a:latin typeface="Cambria Math" panose="02040503050406030204" pitchFamily="18" charset="0"/>
                          </a:rPr>
                          <m:t>=1</m:t>
                        </m:r>
                      </m:sub>
                      <m:sup>
                        <m:r>
                          <a:rPr lang="en-US" sz="2400" i="1">
                            <a:latin typeface="Cambria Math" panose="02040503050406030204" pitchFamily="18" charset="0"/>
                          </a:rPr>
                          <m:t>𝑁</m:t>
                        </m:r>
                      </m:sup>
                      <m:e>
                        <m:sSub>
                          <m:sSubPr>
                            <m:ctrlPr>
                              <a:rPr lang="en-US" sz="2400" i="1">
                                <a:latin typeface="Cambria Math" panose="02040503050406030204" pitchFamily="18" charset="0"/>
                              </a:rPr>
                            </m:ctrlPr>
                          </m:sSubPr>
                          <m:e>
                            <m:r>
                              <a:rPr lang="en-US" sz="2400" i="1">
                                <a:latin typeface="Cambria Math" panose="02040503050406030204" pitchFamily="18" charset="0"/>
                              </a:rPr>
                              <m:t>𝐴𝑃</m:t>
                            </m:r>
                          </m:e>
                          <m:sub>
                            <m:r>
                              <a:rPr lang="en-US" sz="2400" i="1">
                                <a:latin typeface="Cambria Math" panose="02040503050406030204" pitchFamily="18" charset="0"/>
                              </a:rPr>
                              <m:t>𝑖</m:t>
                            </m:r>
                          </m:sub>
                        </m:sSub>
                      </m:e>
                    </m:nary>
                  </m:oMath>
                </a14:m>
                <a:endParaRPr lang="en-US" sz="2400"/>
              </a:p>
            </p:txBody>
          </p:sp>
        </mc:Choice>
        <mc:Fallback xmlns="">
          <p:sp>
            <p:nvSpPr>
              <p:cNvPr id="17" name="TextBox 16"/>
              <p:cNvSpPr txBox="1">
                <a:spLocks noRot="1" noChangeAspect="1" noMove="1" noResize="1" noEditPoints="1" noAdjustHandles="1" noChangeArrowheads="1" noChangeShapeType="1" noTextEdit="1"/>
              </p:cNvSpPr>
              <p:nvPr/>
            </p:nvSpPr>
            <p:spPr>
              <a:xfrm>
                <a:off x="744025" y="4261454"/>
                <a:ext cx="2455826" cy="521553"/>
              </a:xfrm>
              <a:prstGeom prst="rect">
                <a:avLst/>
              </a:prstGeom>
              <a:blipFill>
                <a:blip r:embed="rId4"/>
                <a:stretch>
                  <a:fillRect t="-2326" b="-20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p:cNvSpPr txBox="1"/>
              <p:nvPr/>
            </p:nvSpPr>
            <p:spPr>
              <a:xfrm>
                <a:off x="4902612" y="1952716"/>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(1)</m:t>
                      </m:r>
                    </m:oMath>
                  </m:oMathPara>
                </a14:m>
                <a:endParaRPr lang="en-US"/>
              </a:p>
            </p:txBody>
          </p:sp>
        </mc:Choice>
        <mc:Fallback xmlns="">
          <p:sp>
            <p:nvSpPr>
              <p:cNvPr id="18" name="TextBox 17"/>
              <p:cNvSpPr txBox="1">
                <a:spLocks noRot="1" noChangeAspect="1" noMove="1" noResize="1" noEditPoints="1" noAdjustHandles="1" noChangeArrowheads="1" noChangeShapeType="1" noTextEdit="1"/>
              </p:cNvSpPr>
              <p:nvPr/>
            </p:nvSpPr>
            <p:spPr>
              <a:xfrm>
                <a:off x="4902612" y="1952716"/>
                <a:ext cx="424796" cy="276999"/>
              </a:xfrm>
              <a:prstGeom prst="rect">
                <a:avLst/>
              </a:prstGeom>
              <a:blipFill>
                <a:blip r:embed="rId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p:cNvSpPr txBox="1"/>
              <p:nvPr/>
            </p:nvSpPr>
            <p:spPr>
              <a:xfrm>
                <a:off x="4902612" y="3323150"/>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(3)</m:t>
                      </m:r>
                    </m:oMath>
                  </m:oMathPara>
                </a14:m>
                <a:endParaRPr lang="en-US"/>
              </a:p>
            </p:txBody>
          </p:sp>
        </mc:Choice>
        <mc:Fallback xmlns="">
          <p:sp>
            <p:nvSpPr>
              <p:cNvPr id="19" name="TextBox 18"/>
              <p:cNvSpPr txBox="1">
                <a:spLocks noRot="1" noChangeAspect="1" noMove="1" noResize="1" noEditPoints="1" noAdjustHandles="1" noChangeArrowheads="1" noChangeShapeType="1" noTextEdit="1"/>
              </p:cNvSpPr>
              <p:nvPr/>
            </p:nvSpPr>
            <p:spPr>
              <a:xfrm>
                <a:off x="4902612" y="3323150"/>
                <a:ext cx="424796" cy="276999"/>
              </a:xfrm>
              <a:prstGeom prst="rect">
                <a:avLst/>
              </a:prstGeom>
              <a:blipFill>
                <a:blip r:embed="rId6"/>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p:cNvSpPr txBox="1"/>
              <p:nvPr/>
            </p:nvSpPr>
            <p:spPr>
              <a:xfrm>
                <a:off x="4902612" y="4383732"/>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(5)</m:t>
                      </m:r>
                    </m:oMath>
                  </m:oMathPara>
                </a14:m>
                <a:endParaRPr lang="en-US"/>
              </a:p>
            </p:txBody>
          </p:sp>
        </mc:Choice>
        <mc:Fallback xmlns="">
          <p:sp>
            <p:nvSpPr>
              <p:cNvPr id="20" name="TextBox 19"/>
              <p:cNvSpPr txBox="1">
                <a:spLocks noRot="1" noChangeAspect="1" noMove="1" noResize="1" noEditPoints="1" noAdjustHandles="1" noChangeArrowheads="1" noChangeShapeType="1" noTextEdit="1"/>
              </p:cNvSpPr>
              <p:nvPr/>
            </p:nvSpPr>
            <p:spPr>
              <a:xfrm>
                <a:off x="4902612" y="4383732"/>
                <a:ext cx="424796" cy="276999"/>
              </a:xfrm>
              <a:prstGeom prst="rect">
                <a:avLst/>
              </a:prstGeom>
              <a:blipFill>
                <a:blip r:embed="rId7"/>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p:cNvSpPr txBox="1"/>
              <p:nvPr/>
            </p:nvSpPr>
            <p:spPr>
              <a:xfrm>
                <a:off x="744025" y="3072635"/>
                <a:ext cx="267631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𝐹𝑃</m:t>
                          </m:r>
                        </m:den>
                      </m:f>
                    </m:oMath>
                  </m:oMathPara>
                </a14:m>
                <a:endParaRPr lang="en-US" sz="2200"/>
              </a:p>
            </p:txBody>
          </p:sp>
        </mc:Choice>
        <mc:Fallback xmlns="">
          <p:sp>
            <p:nvSpPr>
              <p:cNvPr id="21" name="TextBox 20"/>
              <p:cNvSpPr txBox="1">
                <a:spLocks noRot="1" noChangeAspect="1" noMove="1" noResize="1" noEditPoints="1" noAdjustHandles="1" noChangeArrowheads="1" noChangeShapeType="1" noTextEdit="1"/>
              </p:cNvSpPr>
              <p:nvPr/>
            </p:nvSpPr>
            <p:spPr>
              <a:xfrm>
                <a:off x="744025" y="3072635"/>
                <a:ext cx="2676310" cy="63953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p:cNvSpPr txBox="1"/>
              <p:nvPr/>
            </p:nvSpPr>
            <p:spPr>
              <a:xfrm>
                <a:off x="11165145" y="3206660"/>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(4)</m:t>
                      </m:r>
                    </m:oMath>
                  </m:oMathPara>
                </a14:m>
                <a:endParaRPr lang="en-US"/>
              </a:p>
            </p:txBody>
          </p:sp>
        </mc:Choice>
        <mc:Fallback xmlns="">
          <p:sp>
            <p:nvSpPr>
              <p:cNvPr id="22" name="TextBox 21"/>
              <p:cNvSpPr txBox="1">
                <a:spLocks noRot="1" noChangeAspect="1" noMove="1" noResize="1" noEditPoints="1" noAdjustHandles="1" noChangeArrowheads="1" noChangeShapeType="1" noTextEdit="1"/>
              </p:cNvSpPr>
              <p:nvPr/>
            </p:nvSpPr>
            <p:spPr>
              <a:xfrm>
                <a:off x="11165145" y="3206660"/>
                <a:ext cx="424796" cy="276999"/>
              </a:xfrm>
              <a:prstGeom prst="rect">
                <a:avLst/>
              </a:prstGeom>
              <a:blipFill>
                <a:blip r:embed="rId9"/>
                <a:stretch>
                  <a:fillRect l="-7246" t="-2222"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p:cNvSpPr txBox="1"/>
              <p:nvPr/>
            </p:nvSpPr>
            <p:spPr>
              <a:xfrm>
                <a:off x="744025" y="5202164"/>
                <a:ext cx="2297360" cy="63953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𝑅𝑒𝑐𝑎𝑙𝑙</m:t>
                      </m:r>
                      <m:r>
                        <a:rPr lang="en-US" sz="2200" b="0" i="1" smtClean="0">
                          <a:latin typeface="Cambria Math" panose="02040503050406030204" pitchFamily="18" charset="0"/>
                        </a:rPr>
                        <m:t>=</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𝑇𝑃</m:t>
                          </m:r>
                        </m:num>
                        <m:den>
                          <m:r>
                            <a:rPr lang="en-US" sz="2200" b="0" i="1" smtClean="0">
                              <a:latin typeface="Cambria Math" panose="02040503050406030204" pitchFamily="18" charset="0"/>
                            </a:rPr>
                            <m:t>𝑇𝑃</m:t>
                          </m:r>
                          <m:r>
                            <a:rPr lang="en-US" sz="2200" b="0" i="1" smtClean="0">
                              <a:latin typeface="Cambria Math" panose="02040503050406030204" pitchFamily="18" charset="0"/>
                            </a:rPr>
                            <m:t>+</m:t>
                          </m:r>
                          <m:r>
                            <a:rPr lang="en-US" sz="2200" b="0" i="1" smtClean="0">
                              <a:latin typeface="Cambria Math" panose="02040503050406030204" pitchFamily="18" charset="0"/>
                            </a:rPr>
                            <m:t>𝐹𝑁</m:t>
                          </m:r>
                        </m:den>
                      </m:f>
                    </m:oMath>
                  </m:oMathPara>
                </a14:m>
                <a:endParaRPr lang="en-US" sz="2200"/>
              </a:p>
            </p:txBody>
          </p:sp>
        </mc:Choice>
        <mc:Fallback xmlns="">
          <p:sp>
            <p:nvSpPr>
              <p:cNvPr id="23" name="TextBox 22"/>
              <p:cNvSpPr txBox="1">
                <a:spLocks noRot="1" noChangeAspect="1" noMove="1" noResize="1" noEditPoints="1" noAdjustHandles="1" noChangeArrowheads="1" noChangeShapeType="1" noTextEdit="1"/>
              </p:cNvSpPr>
              <p:nvPr/>
            </p:nvSpPr>
            <p:spPr>
              <a:xfrm>
                <a:off x="744025" y="5202164"/>
                <a:ext cx="2297360" cy="63953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10929004" y="4383732"/>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(6)</m:t>
                      </m:r>
                    </m:oMath>
                  </m:oMathPara>
                </a14:m>
                <a:endParaRPr lang="en-US"/>
              </a:p>
            </p:txBody>
          </p:sp>
        </mc:Choice>
        <mc:Fallback xmlns="">
          <p:sp>
            <p:nvSpPr>
              <p:cNvPr id="24" name="TextBox 23"/>
              <p:cNvSpPr txBox="1">
                <a:spLocks noRot="1" noChangeAspect="1" noMove="1" noResize="1" noEditPoints="1" noAdjustHandles="1" noChangeArrowheads="1" noChangeShapeType="1" noTextEdit="1"/>
              </p:cNvSpPr>
              <p:nvPr/>
            </p:nvSpPr>
            <p:spPr>
              <a:xfrm>
                <a:off x="10929004" y="4383732"/>
                <a:ext cx="424796" cy="276999"/>
              </a:xfrm>
              <a:prstGeom prst="rect">
                <a:avLst/>
              </a:prstGeom>
              <a:blipFill>
                <a:blip r:embed="rId11"/>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p:cNvSpPr txBox="1"/>
              <p:nvPr/>
            </p:nvSpPr>
            <p:spPr>
              <a:xfrm>
                <a:off x="6231243" y="4168550"/>
                <a:ext cx="4482574" cy="64844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smtClean="0">
                          <a:latin typeface="Cambria Math" panose="02040503050406030204" pitchFamily="18" charset="0"/>
                        </a:rPr>
                        <m:t>𝐹</m:t>
                      </m:r>
                      <m:r>
                        <a:rPr lang="en-US" sz="2200" b="0" i="1" smtClean="0">
                          <a:latin typeface="Cambria Math" panose="02040503050406030204" pitchFamily="18" charset="0"/>
                        </a:rPr>
                        <m:t>1−</m:t>
                      </m:r>
                      <m:r>
                        <a:rPr lang="en-US" sz="2200" b="0" i="1" smtClean="0">
                          <a:latin typeface="Cambria Math" panose="02040503050406030204" pitchFamily="18" charset="0"/>
                        </a:rPr>
                        <m:t>𝑠𝑐𝑜𝑟𝑒</m:t>
                      </m:r>
                      <m:r>
                        <a:rPr lang="en-US" sz="2200" b="0" i="1" smtClean="0">
                          <a:latin typeface="Cambria Math" panose="02040503050406030204" pitchFamily="18" charset="0"/>
                        </a:rPr>
                        <m:t>=2</m:t>
                      </m:r>
                      <m:r>
                        <a:rPr lang="en-US" sz="2200" b="0" i="1" smtClean="0">
                          <a:latin typeface="Cambria Math" panose="02040503050406030204" pitchFamily="18" charset="0"/>
                        </a:rPr>
                        <m:t>𝑥</m:t>
                      </m:r>
                      <m:f>
                        <m:fPr>
                          <m:ctrlPr>
                            <a:rPr lang="en-US" sz="2200" b="0" i="1" smtClean="0">
                              <a:latin typeface="Cambria Math" panose="02040503050406030204" pitchFamily="18" charset="0"/>
                            </a:rPr>
                          </m:ctrlPr>
                        </m:fPr>
                        <m:num>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𝑅𝑒𝑐𝑎𝑙𝑙</m:t>
                          </m:r>
                        </m:num>
                        <m:den>
                          <m:r>
                            <a:rPr lang="en-US" sz="2200" b="0" i="1" smtClean="0">
                              <a:latin typeface="Cambria Math" panose="02040503050406030204" pitchFamily="18" charset="0"/>
                            </a:rPr>
                            <m:t>𝑃𝑟𝑒𝑐𝑖𝑠𝑖𝑜𝑛</m:t>
                          </m:r>
                          <m:r>
                            <a:rPr lang="en-US" sz="2200" b="0" i="1" smtClean="0">
                              <a:latin typeface="Cambria Math" panose="02040503050406030204" pitchFamily="18" charset="0"/>
                            </a:rPr>
                            <m:t>+</m:t>
                          </m:r>
                          <m:r>
                            <a:rPr lang="en-US" sz="2200" b="0" i="1" smtClean="0">
                              <a:latin typeface="Cambria Math" panose="02040503050406030204" pitchFamily="18" charset="0"/>
                            </a:rPr>
                            <m:t>𝑅𝑒𝑐𝑎𝑙𝑙</m:t>
                          </m:r>
                        </m:den>
                      </m:f>
                    </m:oMath>
                  </m:oMathPara>
                </a14:m>
                <a:endParaRPr lang="en-US" sz="2200"/>
              </a:p>
            </p:txBody>
          </p:sp>
        </mc:Choice>
        <mc:Fallback xmlns="">
          <p:sp>
            <p:nvSpPr>
              <p:cNvPr id="25" name="TextBox 24"/>
              <p:cNvSpPr txBox="1">
                <a:spLocks noRot="1" noChangeAspect="1" noMove="1" noResize="1" noEditPoints="1" noAdjustHandles="1" noChangeArrowheads="1" noChangeShapeType="1" noTextEdit="1"/>
              </p:cNvSpPr>
              <p:nvPr/>
            </p:nvSpPr>
            <p:spPr>
              <a:xfrm>
                <a:off x="6231243" y="4168550"/>
                <a:ext cx="4482574" cy="648447"/>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5557947" y="1552478"/>
                <a:ext cx="5795853" cy="107747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𝑡</m:t>
                              </m:r>
                            </m:e>
                          </m:acc>
                        </m:e>
                        <m:sub>
                          <m:r>
                            <a:rPr lang="en-US" sz="2400" b="0" i="1" smtClean="0">
                              <a:latin typeface="Cambria Math" panose="02040503050406030204" pitchFamily="18" charset="0"/>
                            </a:rPr>
                            <m:t>𝑤𝑒𝑖𝑔h𝑡</m:t>
                          </m:r>
                          <m:r>
                            <a:rPr lang="en-US" sz="2400" b="0" i="1" smtClean="0">
                              <a:latin typeface="Cambria Math" panose="02040503050406030204" pitchFamily="18" charset="0"/>
                            </a:rPr>
                            <m:t>.</m:t>
                          </m:r>
                          <m:r>
                            <a:rPr lang="en-US" sz="2400" b="0" i="1" smtClean="0">
                              <a:latin typeface="Cambria Math" panose="02040503050406030204" pitchFamily="18" charset="0"/>
                            </a:rPr>
                            <m:t>h𝑎𝑟𝑑</m:t>
                          </m:r>
                        </m:sub>
                      </m:sSub>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𝑚𝑎𝑥</m:t>
                              </m:r>
                            </m:e>
                            <m:sub>
                              <m:r>
                                <a:rPr lang="en-US" sz="2400" b="0" i="1" smtClean="0">
                                  <a:latin typeface="Cambria Math" panose="02040503050406030204" pitchFamily="18" charset="0"/>
                                </a:rPr>
                                <m:t>𝑐</m:t>
                              </m:r>
                            </m:sub>
                          </m:sSub>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𝑘</m:t>
                              </m:r>
                            </m:sub>
                            <m:sup>
                              <m:r>
                                <a:rPr lang="en-US" sz="2400" b="0" i="1" smtClean="0">
                                  <a:latin typeface="Cambria Math" panose="02040503050406030204" pitchFamily="18" charset="0"/>
                                </a:rPr>
                                <m:t>𝑘</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1</m:t>
                                  </m:r>
                                </m:e>
                                <m: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𝑖</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e>
                                  </m:d>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sub>
                              </m:sSub>
                            </m:e>
                          </m:nary>
                          <m:r>
                            <a:rPr lang="en-US" sz="2400" b="0" i="1" smtClean="0">
                              <a:latin typeface="Cambria Math" panose="02040503050406030204" pitchFamily="18" charset="0"/>
                            </a:rPr>
                            <m:t>)</m:t>
                          </m:r>
                        </m:e>
                      </m:func>
                    </m:oMath>
                  </m:oMathPara>
                </a14:m>
                <a:endParaRPr lang="en-US" sz="2400"/>
              </a:p>
            </p:txBody>
          </p:sp>
        </mc:Choice>
        <mc:Fallback xmlns="">
          <p:sp>
            <p:nvSpPr>
              <p:cNvPr id="5" name="TextBox 4"/>
              <p:cNvSpPr txBox="1">
                <a:spLocks noRot="1" noChangeAspect="1" noMove="1" noResize="1" noEditPoints="1" noAdjustHandles="1" noChangeArrowheads="1" noChangeShapeType="1" noTextEdit="1"/>
              </p:cNvSpPr>
              <p:nvPr/>
            </p:nvSpPr>
            <p:spPr>
              <a:xfrm>
                <a:off x="5557947" y="1552478"/>
                <a:ext cx="5795853" cy="1077474"/>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p:cNvSpPr txBox="1"/>
              <p:nvPr/>
            </p:nvSpPr>
            <p:spPr>
              <a:xfrm>
                <a:off x="11159543" y="1985758"/>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(2)</m:t>
                      </m:r>
                    </m:oMath>
                  </m:oMathPara>
                </a14:m>
                <a:endParaRPr lang="en-US"/>
              </a:p>
            </p:txBody>
          </p:sp>
        </mc:Choice>
        <mc:Fallback xmlns="">
          <p:sp>
            <p:nvSpPr>
              <p:cNvPr id="26" name="TextBox 25"/>
              <p:cNvSpPr txBox="1">
                <a:spLocks noRot="1" noChangeAspect="1" noMove="1" noResize="1" noEditPoints="1" noAdjustHandles="1" noChangeArrowheads="1" noChangeShapeType="1" noTextEdit="1"/>
              </p:cNvSpPr>
              <p:nvPr/>
            </p:nvSpPr>
            <p:spPr>
              <a:xfrm>
                <a:off x="11159543" y="1985758"/>
                <a:ext cx="424796" cy="276999"/>
              </a:xfrm>
              <a:prstGeom prst="rect">
                <a:avLst/>
              </a:prstGeom>
              <a:blipFill>
                <a:blip r:embed="rId14"/>
                <a:stretch>
                  <a:fillRect l="-7246" t="-4444" r="-21739" b="-355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p:cNvSpPr txBox="1"/>
              <p:nvPr/>
            </p:nvSpPr>
            <p:spPr>
              <a:xfrm>
                <a:off x="4902612" y="5305814"/>
                <a:ext cx="4247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 </m:t>
                      </m:r>
                      <m:r>
                        <a:rPr lang="en-US" b="0" i="1" smtClean="0">
                          <a:latin typeface="Cambria Math" panose="02040503050406030204" pitchFamily="18" charset="0"/>
                        </a:rPr>
                        <m:t>(7)</m:t>
                      </m:r>
                    </m:oMath>
                  </m:oMathPara>
                </a14:m>
                <a:endParaRPr lang="en-US"/>
              </a:p>
            </p:txBody>
          </p:sp>
        </mc:Choice>
        <mc:Fallback xmlns="">
          <p:sp>
            <p:nvSpPr>
              <p:cNvPr id="27" name="TextBox 26"/>
              <p:cNvSpPr txBox="1">
                <a:spLocks noRot="1" noChangeAspect="1" noMove="1" noResize="1" noEditPoints="1" noAdjustHandles="1" noChangeArrowheads="1" noChangeShapeType="1" noTextEdit="1"/>
              </p:cNvSpPr>
              <p:nvPr/>
            </p:nvSpPr>
            <p:spPr>
              <a:xfrm>
                <a:off x="4902612" y="5305814"/>
                <a:ext cx="424796" cy="276999"/>
              </a:xfrm>
              <a:prstGeom prst="rect">
                <a:avLst/>
              </a:prstGeom>
              <a:blipFill>
                <a:blip r:embed="rId15"/>
                <a:stretch>
                  <a:fillRect l="-7143" t="-2174" r="-20000" b="-326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p:cNvSpPr txBox="1"/>
              <p:nvPr/>
            </p:nvSpPr>
            <p:spPr>
              <a:xfrm>
                <a:off x="5576088" y="2806422"/>
                <a:ext cx="5795853" cy="100822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acc>
                            <m:accPr>
                              <m:chr m:val="̂"/>
                              <m:ctrlPr>
                                <a:rPr lang="en-US" sz="2400" i="1" smtClean="0">
                                  <a:latin typeface="Cambria Math" panose="02040503050406030204" pitchFamily="18" charset="0"/>
                                </a:rPr>
                              </m:ctrlPr>
                            </m:accPr>
                            <m:e>
                              <m:r>
                                <a:rPr lang="en-US" sz="2400" b="0" i="1" smtClean="0">
                                  <a:latin typeface="Cambria Math" panose="02040503050406030204" pitchFamily="18" charset="0"/>
                                </a:rPr>
                                <m:t>𝑡</m:t>
                              </m:r>
                            </m:e>
                          </m:acc>
                        </m:e>
                        <m:sub>
                          <m:r>
                            <a:rPr lang="en-US" sz="2400" b="0" i="1" smtClean="0">
                              <a:latin typeface="Cambria Math" panose="02040503050406030204" pitchFamily="18" charset="0"/>
                            </a:rPr>
                            <m:t>𝑤𝑒𝑖𝑔h𝑡</m:t>
                          </m:r>
                          <m:r>
                            <a:rPr lang="en-US" sz="2400" b="0" i="1" smtClean="0">
                              <a:latin typeface="Cambria Math" panose="02040503050406030204" pitchFamily="18" charset="0"/>
                            </a:rPr>
                            <m:t>.</m:t>
                          </m:r>
                          <m:r>
                            <a:rPr lang="en-US" sz="2400" b="0" i="1" smtClean="0">
                              <a:latin typeface="Cambria Math" panose="02040503050406030204" pitchFamily="18" charset="0"/>
                            </a:rPr>
                            <m:t>𝑠𝑜𝑓𝑡</m:t>
                          </m:r>
                        </m:sub>
                      </m:sSub>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𝑚𝑎𝑥</m:t>
                              </m:r>
                            </m:e>
                            <m:sub>
                              <m:r>
                                <a:rPr lang="en-US" sz="2400" b="0" i="1" smtClean="0">
                                  <a:latin typeface="Cambria Math" panose="02040503050406030204" pitchFamily="18" charset="0"/>
                                </a:rPr>
                                <m:t>𝑐</m:t>
                              </m:r>
                            </m:sub>
                          </m:sSub>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𝑤</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𝑐</m:t>
                              </m:r>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 </m:t>
                              </m:r>
                            </m:e>
                          </m:nary>
                          <m:r>
                            <a:rPr lang="en-US" sz="2400" b="0" i="1" smtClean="0">
                              <a:latin typeface="Cambria Math" panose="02040503050406030204" pitchFamily="18" charset="0"/>
                            </a:rPr>
                            <m:t>)</m:t>
                          </m:r>
                        </m:e>
                      </m:func>
                    </m:oMath>
                  </m:oMathPara>
                </a14:m>
                <a:endParaRPr lang="en-US" sz="2400"/>
              </a:p>
            </p:txBody>
          </p:sp>
        </mc:Choice>
        <mc:Fallback xmlns="">
          <p:sp>
            <p:nvSpPr>
              <p:cNvPr id="28" name="TextBox 27"/>
              <p:cNvSpPr txBox="1">
                <a:spLocks noRot="1" noChangeAspect="1" noMove="1" noResize="1" noEditPoints="1" noAdjustHandles="1" noChangeArrowheads="1" noChangeShapeType="1" noTextEdit="1"/>
              </p:cNvSpPr>
              <p:nvPr/>
            </p:nvSpPr>
            <p:spPr>
              <a:xfrm>
                <a:off x="5576088" y="2806422"/>
                <a:ext cx="5795853" cy="1008225"/>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024682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32776" y="5430543"/>
            <a:ext cx="11596466" cy="399115"/>
          </a:xfrm>
        </p:spPr>
        <p:txBody>
          <a:bodyPr>
            <a:noAutofit/>
          </a:bodyPr>
          <a:lstStyle/>
          <a:p>
            <a:pPr marL="0" indent="0" algn="ctr">
              <a:buNone/>
            </a:pPr>
            <a:r>
              <a:rPr lang="en-US" sz="2400"/>
              <a:t>Fig 8. A general model is proposed for breast cancer classification</a:t>
            </a:r>
          </a:p>
        </p:txBody>
      </p:sp>
      <p:sp>
        <p:nvSpPr>
          <p:cNvPr id="3" name="Title 2"/>
          <p:cNvSpPr>
            <a:spLocks noGrp="1"/>
          </p:cNvSpPr>
          <p:nvPr>
            <p:ph type="title"/>
          </p:nvPr>
        </p:nvSpPr>
        <p:spPr/>
        <p:txBody>
          <a:bodyPr/>
          <a:lstStyle/>
          <a:p>
            <a:r>
              <a:rPr lang="en-US"/>
              <a:t>3. Proposed Method</a:t>
            </a:r>
          </a:p>
        </p:txBody>
      </p:sp>
      <p:pic>
        <p:nvPicPr>
          <p:cNvPr id="10" name="Picture 9">
            <a:extLst>
              <a:ext uri="{FF2B5EF4-FFF2-40B4-BE49-F238E27FC236}">
                <a16:creationId xmlns:a16="http://schemas.microsoft.com/office/drawing/2014/main" id="{59594030-268D-D6C8-FA75-F7438D8FAD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028342"/>
            <a:ext cx="12028612" cy="4056276"/>
          </a:xfrm>
          <a:prstGeom prst="rect">
            <a:avLst/>
          </a:prstGeom>
        </p:spPr>
      </p:pic>
    </p:spTree>
    <p:extLst>
      <p:ext uri="{BB962C8B-B14F-4D97-AF65-F5344CB8AC3E}">
        <p14:creationId xmlns:p14="http://schemas.microsoft.com/office/powerpoint/2010/main" val="707808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3. Proposed Method</a:t>
            </a:r>
          </a:p>
        </p:txBody>
      </p:sp>
      <p:sp>
        <p:nvSpPr>
          <p:cNvPr id="5" name="Content Placeholder 1"/>
          <p:cNvSpPr txBox="1">
            <a:spLocks/>
          </p:cNvSpPr>
          <p:nvPr/>
        </p:nvSpPr>
        <p:spPr>
          <a:xfrm>
            <a:off x="235993" y="1046210"/>
            <a:ext cx="11596466" cy="324201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400" b="1"/>
              <a:t>- Data preprocessing:</a:t>
            </a:r>
            <a:r>
              <a:rPr lang="en-US" sz="2400"/>
              <a:t> the input data is preprocessed using a number of techniques such as cropping, image enhancement, and data augmentation (flip, rotate, zoom, etc.).</a:t>
            </a:r>
          </a:p>
          <a:p>
            <a:pPr marL="0" indent="0" algn="just">
              <a:buNone/>
            </a:pPr>
            <a:r>
              <a:rPr lang="en-US" sz="2400" b="1"/>
              <a:t>- Training phase: </a:t>
            </a:r>
            <a:r>
              <a:rPr lang="en-US" sz="2400"/>
              <a:t>Each model is trained independently on the same dataset and unified parameters. We use the early stopping technique during training to limit the model from overfitting. The best training results of each model are saved for testing.</a:t>
            </a:r>
          </a:p>
          <a:p>
            <a:pPr marL="0" indent="0" algn="just">
              <a:buNone/>
            </a:pPr>
            <a:r>
              <a:rPr lang="en-US" sz="2400" b="1"/>
              <a:t>- Testing phase: </a:t>
            </a:r>
            <a:r>
              <a:rPr lang="en-US" sz="2400"/>
              <a:t>The test image is processed similarly through data preprocessing steps, feature extraction, then hard voting and soft voting techniques are applied, combined with weights optimized on 3 models, to give the final result as benign or malignant.</a:t>
            </a:r>
          </a:p>
          <a:p>
            <a:pPr marL="0" indent="0" algn="just">
              <a:buNone/>
            </a:pPr>
            <a:endParaRPr lang="en-US" sz="2400"/>
          </a:p>
        </p:txBody>
      </p:sp>
    </p:spTree>
    <p:extLst>
      <p:ext uri="{BB962C8B-B14F-4D97-AF65-F5344CB8AC3E}">
        <p14:creationId xmlns:p14="http://schemas.microsoft.com/office/powerpoint/2010/main" val="1201515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3. Proposed Method</a:t>
            </a:r>
          </a:p>
        </p:txBody>
      </p:sp>
      <p:pic>
        <p:nvPicPr>
          <p:cNvPr id="4" name="Picture 3">
            <a:extLst>
              <a:ext uri="{FF2B5EF4-FFF2-40B4-BE49-F238E27FC236}">
                <a16:creationId xmlns:a16="http://schemas.microsoft.com/office/drawing/2014/main" id="{ECAC3435-2E9E-E4E4-3347-33A50001806B}"/>
              </a:ext>
            </a:extLst>
          </p:cNvPr>
          <p:cNvPicPr>
            <a:picLocks noChangeAspect="1"/>
          </p:cNvPicPr>
          <p:nvPr/>
        </p:nvPicPr>
        <p:blipFill>
          <a:blip r:embed="rId3"/>
          <a:stretch>
            <a:fillRect/>
          </a:stretch>
        </p:blipFill>
        <p:spPr>
          <a:xfrm>
            <a:off x="1772949" y="851648"/>
            <a:ext cx="7717415" cy="5756827"/>
          </a:xfrm>
          <a:prstGeom prst="rect">
            <a:avLst/>
          </a:prstGeom>
        </p:spPr>
      </p:pic>
    </p:spTree>
    <p:extLst>
      <p:ext uri="{BB962C8B-B14F-4D97-AF65-F5344CB8AC3E}">
        <p14:creationId xmlns:p14="http://schemas.microsoft.com/office/powerpoint/2010/main" val="3788786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296865" y="851648"/>
            <a:ext cx="11234737" cy="2375985"/>
          </a:xfrm>
        </p:spPr>
        <p:txBody>
          <a:bodyPr>
            <a:normAutofit fontScale="62500" lnSpcReduction="20000"/>
          </a:bodyPr>
          <a:lstStyle/>
          <a:p>
            <a:pPr algn="just">
              <a:lnSpc>
                <a:spcPct val="140000"/>
              </a:lnSpc>
            </a:pPr>
            <a:r>
              <a:rPr lang="en-US" b="1">
                <a:solidFill>
                  <a:srgbClr val="C00000"/>
                </a:solidFill>
              </a:rPr>
              <a:t>Environment:</a:t>
            </a:r>
            <a:r>
              <a:rPr lang="en-US" b="1"/>
              <a:t> </a:t>
            </a:r>
            <a:r>
              <a:rPr lang="en-US"/>
              <a:t>The system runs in a Python environment on Kaggle, using an Intel Xeon 2.00 GHz processor with 30GB RAM. It also utilizes a graphics processor with a 16GB RAM configuration and the Nvidia Tesla P100 GPU. Tensorflow v1.5 is the library used for network model training.</a:t>
            </a:r>
          </a:p>
          <a:p>
            <a:pPr algn="just">
              <a:lnSpc>
                <a:spcPct val="140000"/>
              </a:lnSpc>
            </a:pPr>
            <a:r>
              <a:rPr lang="en-US" b="1">
                <a:solidFill>
                  <a:srgbClr val="C00000"/>
                </a:solidFill>
              </a:rPr>
              <a:t>Dataset:  </a:t>
            </a:r>
            <a:r>
              <a:rPr lang="en-US"/>
              <a:t>The dataset is compiled from the VinDr dataset, supplemented with data from several hospitals. The number of images we use in the paper includes 6930 images (5862 images were used for training and 1068 images for testing). The dataset is divided in the ratio of 80:20.</a:t>
            </a:r>
          </a:p>
        </p:txBody>
      </p:sp>
      <p:sp>
        <p:nvSpPr>
          <p:cNvPr id="3" name="Title 2"/>
          <p:cNvSpPr>
            <a:spLocks noGrp="1"/>
          </p:cNvSpPr>
          <p:nvPr>
            <p:ph type="title"/>
          </p:nvPr>
        </p:nvSpPr>
        <p:spPr/>
        <p:txBody>
          <a:bodyPr>
            <a:normAutofit/>
          </a:bodyPr>
          <a:lstStyle/>
          <a:p>
            <a:r>
              <a:rPr lang="en-US"/>
              <a:t>4. Experimental results</a:t>
            </a:r>
          </a:p>
        </p:txBody>
      </p:sp>
      <p:sp>
        <p:nvSpPr>
          <p:cNvPr id="5" name="Content Placeholder 1"/>
          <p:cNvSpPr txBox="1">
            <a:spLocks/>
          </p:cNvSpPr>
          <p:nvPr/>
        </p:nvSpPr>
        <p:spPr>
          <a:xfrm>
            <a:off x="296865" y="2987128"/>
            <a:ext cx="11234737" cy="48100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2200">
                <a:solidFill>
                  <a:srgbClr val="0070C0"/>
                </a:solidFill>
              </a:rPr>
              <a:t>Table 1: Proposed scenarios and training parameters</a:t>
            </a:r>
          </a:p>
        </p:txBody>
      </p:sp>
      <p:graphicFrame>
        <p:nvGraphicFramePr>
          <p:cNvPr id="6" name="Table 5"/>
          <p:cNvGraphicFramePr>
            <a:graphicFrameLocks noGrp="1"/>
          </p:cNvGraphicFramePr>
          <p:nvPr>
            <p:extLst>
              <p:ext uri="{D42A27DB-BD31-4B8C-83A1-F6EECF244321}">
                <p14:modId xmlns:p14="http://schemas.microsoft.com/office/powerpoint/2010/main" val="3443279699"/>
              </p:ext>
            </p:extLst>
          </p:nvPr>
        </p:nvGraphicFramePr>
        <p:xfrm>
          <a:off x="1677064" y="3410262"/>
          <a:ext cx="9029517" cy="3017520"/>
        </p:xfrm>
        <a:graphic>
          <a:graphicData uri="http://schemas.openxmlformats.org/drawingml/2006/table">
            <a:tbl>
              <a:tblPr firstRow="1" firstCol="1" bandRow="1">
                <a:tableStyleId>{5C22544A-7EE6-4342-B048-85BDC9FD1C3A}</a:tableStyleId>
              </a:tblPr>
              <a:tblGrid>
                <a:gridCol w="773614">
                  <a:extLst>
                    <a:ext uri="{9D8B030D-6E8A-4147-A177-3AD203B41FA5}">
                      <a16:colId xmlns:a16="http://schemas.microsoft.com/office/drawing/2014/main" val="2713728009"/>
                    </a:ext>
                  </a:extLst>
                </a:gridCol>
                <a:gridCol w="2202344">
                  <a:extLst>
                    <a:ext uri="{9D8B030D-6E8A-4147-A177-3AD203B41FA5}">
                      <a16:colId xmlns:a16="http://schemas.microsoft.com/office/drawing/2014/main" val="4187331770"/>
                    </a:ext>
                  </a:extLst>
                </a:gridCol>
                <a:gridCol w="1076446">
                  <a:extLst>
                    <a:ext uri="{9D8B030D-6E8A-4147-A177-3AD203B41FA5}">
                      <a16:colId xmlns:a16="http://schemas.microsoft.com/office/drawing/2014/main" val="4276031540"/>
                    </a:ext>
                  </a:extLst>
                </a:gridCol>
                <a:gridCol w="1458410">
                  <a:extLst>
                    <a:ext uri="{9D8B030D-6E8A-4147-A177-3AD203B41FA5}">
                      <a16:colId xmlns:a16="http://schemas.microsoft.com/office/drawing/2014/main" val="3399763567"/>
                    </a:ext>
                  </a:extLst>
                </a:gridCol>
                <a:gridCol w="1493463">
                  <a:extLst>
                    <a:ext uri="{9D8B030D-6E8A-4147-A177-3AD203B41FA5}">
                      <a16:colId xmlns:a16="http://schemas.microsoft.com/office/drawing/2014/main" val="200730112"/>
                    </a:ext>
                  </a:extLst>
                </a:gridCol>
                <a:gridCol w="2025240">
                  <a:extLst>
                    <a:ext uri="{9D8B030D-6E8A-4147-A177-3AD203B41FA5}">
                      <a16:colId xmlns:a16="http://schemas.microsoft.com/office/drawing/2014/main" val="2354496494"/>
                    </a:ext>
                  </a:extLst>
                </a:gridCol>
              </a:tblGrid>
              <a:tr h="0">
                <a:tc>
                  <a:txBody>
                    <a:bodyPr/>
                    <a:lstStyle/>
                    <a:p>
                      <a:pPr indent="-635" algn="just">
                        <a:spcAft>
                          <a:spcPts val="0"/>
                        </a:spcAft>
                      </a:pPr>
                      <a:r>
                        <a:rPr lang="en-US" sz="2200">
                          <a:effectLst/>
                          <a:latin typeface="+mn-lt"/>
                        </a:rPr>
                        <a:t>Sce.</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Model</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Epochs</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Batch size</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Learning rate</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b="1" kern="1200">
                          <a:solidFill>
                            <a:schemeClr val="lt1"/>
                          </a:solidFill>
                          <a:effectLst/>
                          <a:latin typeface="+mn-lt"/>
                          <a:ea typeface="+mn-ea"/>
                          <a:cs typeface="+mn-cs"/>
                        </a:rPr>
                        <a:t>Optimizer</a:t>
                      </a:r>
                    </a:p>
                  </a:txBody>
                  <a:tcPr marL="68580" marR="68580" marT="0" marB="0"/>
                </a:tc>
                <a:extLst>
                  <a:ext uri="{0D108BD9-81ED-4DB2-BD59-A6C34878D82A}">
                    <a16:rowId xmlns:a16="http://schemas.microsoft.com/office/drawing/2014/main" val="1291509472"/>
                  </a:ext>
                </a:extLst>
              </a:tr>
              <a:tr h="0">
                <a:tc>
                  <a:txBody>
                    <a:bodyPr/>
                    <a:lstStyle/>
                    <a:p>
                      <a:pPr indent="-635" algn="ctr">
                        <a:spcAft>
                          <a:spcPts val="0"/>
                        </a:spcAft>
                      </a:pPr>
                      <a:r>
                        <a:rPr lang="en-US" sz="2200">
                          <a:effectLst/>
                          <a:latin typeface="+mn-lt"/>
                        </a:rPr>
                        <a:t>1</a:t>
                      </a:r>
                      <a:endParaRPr lang="en-US" sz="2200">
                        <a:effectLst/>
                        <a:latin typeface="+mn-lt"/>
                        <a:ea typeface="Times" panose="02020603050405020304" pitchFamily="18" charset="0"/>
                      </a:endParaRPr>
                    </a:p>
                  </a:txBody>
                  <a:tcPr marL="68580" marR="68580" marT="0" marB="0"/>
                </a:tc>
                <a:tc>
                  <a:txBody>
                    <a:bodyPr/>
                    <a:lstStyle/>
                    <a:p>
                      <a:pPr indent="-635" algn="just">
                        <a:spcAft>
                          <a:spcPts val="0"/>
                        </a:spcAft>
                      </a:pPr>
                      <a:r>
                        <a:rPr lang="en-US" sz="2200">
                          <a:effectLst/>
                          <a:latin typeface="+mn-lt"/>
                        </a:rPr>
                        <a:t>ResNet50V2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100</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32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0.0001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ea typeface="Times" panose="02020603050405020304" pitchFamily="18" charset="0"/>
                        </a:rPr>
                        <a:t>Adam</a:t>
                      </a:r>
                    </a:p>
                  </a:txBody>
                  <a:tcPr marL="68580" marR="68580" marT="0" marB="0"/>
                </a:tc>
                <a:extLst>
                  <a:ext uri="{0D108BD9-81ED-4DB2-BD59-A6C34878D82A}">
                    <a16:rowId xmlns:a16="http://schemas.microsoft.com/office/drawing/2014/main" val="1666475600"/>
                  </a:ext>
                </a:extLst>
              </a:tr>
              <a:tr h="0">
                <a:tc>
                  <a:txBody>
                    <a:bodyPr/>
                    <a:lstStyle/>
                    <a:p>
                      <a:pPr indent="-635" algn="ctr">
                        <a:spcAft>
                          <a:spcPts val="0"/>
                        </a:spcAft>
                      </a:pPr>
                      <a:r>
                        <a:rPr lang="en-US" sz="2200">
                          <a:effectLst/>
                          <a:latin typeface="+mn-lt"/>
                        </a:rPr>
                        <a:t>2</a:t>
                      </a:r>
                      <a:endParaRPr lang="en-US" sz="2200">
                        <a:effectLst/>
                        <a:latin typeface="+mn-lt"/>
                        <a:ea typeface="Times" panose="02020603050405020304" pitchFamily="18" charset="0"/>
                      </a:endParaRPr>
                    </a:p>
                  </a:txBody>
                  <a:tcPr marL="68580" marR="68580" marT="0" marB="0"/>
                </a:tc>
                <a:tc>
                  <a:txBody>
                    <a:bodyPr/>
                    <a:lstStyle/>
                    <a:p>
                      <a:pPr indent="-635" algn="just">
                        <a:spcAft>
                          <a:spcPts val="0"/>
                        </a:spcAft>
                      </a:pPr>
                      <a:r>
                        <a:rPr lang="en-US" sz="2200">
                          <a:effectLst/>
                          <a:latin typeface="+mn-lt"/>
                          <a:ea typeface="+mn-ea"/>
                        </a:rPr>
                        <a:t>VGG19</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100</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32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0.0001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ea typeface="Times" panose="02020603050405020304" pitchFamily="18" charset="0"/>
                        </a:rPr>
                        <a:t>Adam</a:t>
                      </a:r>
                    </a:p>
                  </a:txBody>
                  <a:tcPr marL="68580" marR="68580" marT="0" marB="0"/>
                </a:tc>
                <a:extLst>
                  <a:ext uri="{0D108BD9-81ED-4DB2-BD59-A6C34878D82A}">
                    <a16:rowId xmlns:a16="http://schemas.microsoft.com/office/drawing/2014/main" val="3654594207"/>
                  </a:ext>
                </a:extLst>
              </a:tr>
              <a:tr h="0">
                <a:tc>
                  <a:txBody>
                    <a:bodyPr/>
                    <a:lstStyle/>
                    <a:p>
                      <a:pPr indent="-635" algn="ctr">
                        <a:spcAft>
                          <a:spcPts val="0"/>
                        </a:spcAft>
                      </a:pPr>
                      <a:r>
                        <a:rPr lang="en-US" sz="2200">
                          <a:effectLst/>
                          <a:latin typeface="+mn-lt"/>
                        </a:rPr>
                        <a:t>3</a:t>
                      </a:r>
                      <a:endParaRPr lang="en-US" sz="2200">
                        <a:effectLst/>
                        <a:latin typeface="+mn-lt"/>
                        <a:ea typeface="Times" panose="02020603050405020304" pitchFamily="18" charset="0"/>
                      </a:endParaRPr>
                    </a:p>
                  </a:txBody>
                  <a:tcPr marL="68580" marR="68580" marT="0" marB="0"/>
                </a:tc>
                <a:tc>
                  <a:txBody>
                    <a:bodyPr/>
                    <a:lstStyle/>
                    <a:p>
                      <a:pPr indent="-635" algn="just">
                        <a:spcAft>
                          <a:spcPts val="0"/>
                        </a:spcAft>
                      </a:pPr>
                      <a:r>
                        <a:rPr lang="en-US" sz="2200">
                          <a:effectLst/>
                          <a:latin typeface="+mn-lt"/>
                        </a:rPr>
                        <a:t>Xception</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100</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32</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rPr>
                        <a:t>0.0001</a:t>
                      </a:r>
                      <a:endParaRPr lang="en-US" sz="2200">
                        <a:effectLst/>
                        <a:latin typeface="+mn-lt"/>
                        <a:ea typeface="Times" panose="02020603050405020304" pitchFamily="18" charset="0"/>
                      </a:endParaRPr>
                    </a:p>
                  </a:txBody>
                  <a:tcPr marL="68580" marR="68580" marT="0" marB="0"/>
                </a:tc>
                <a:tc>
                  <a:txBody>
                    <a:bodyPr/>
                    <a:lstStyle/>
                    <a:p>
                      <a:pPr indent="-635" algn="ctr">
                        <a:spcAft>
                          <a:spcPts val="0"/>
                        </a:spcAft>
                      </a:pPr>
                      <a:r>
                        <a:rPr lang="en-US" sz="2200">
                          <a:effectLst/>
                          <a:latin typeface="+mn-lt"/>
                          <a:ea typeface="Times" panose="02020603050405020304" pitchFamily="18" charset="0"/>
                        </a:rPr>
                        <a:t>Adam</a:t>
                      </a:r>
                    </a:p>
                  </a:txBody>
                  <a:tcPr marL="68580" marR="68580" marT="0" marB="0"/>
                </a:tc>
                <a:extLst>
                  <a:ext uri="{0D108BD9-81ED-4DB2-BD59-A6C34878D82A}">
                    <a16:rowId xmlns:a16="http://schemas.microsoft.com/office/drawing/2014/main" val="3680500343"/>
                  </a:ext>
                </a:extLst>
              </a:tr>
              <a:tr h="0">
                <a:tc>
                  <a:txBody>
                    <a:bodyPr/>
                    <a:lstStyle/>
                    <a:p>
                      <a:pPr indent="-635" algn="ctr">
                        <a:spcAft>
                          <a:spcPts val="0"/>
                        </a:spcAft>
                      </a:pPr>
                      <a:r>
                        <a:rPr lang="en-US" sz="2200">
                          <a:effectLst/>
                          <a:latin typeface="+mn-lt"/>
                          <a:ea typeface="Times" panose="02020603050405020304" pitchFamily="18" charset="0"/>
                        </a:rPr>
                        <a:t>4</a:t>
                      </a:r>
                    </a:p>
                  </a:txBody>
                  <a:tcPr marL="68580" marR="68580" marT="0" marB="0"/>
                </a:tc>
                <a:tc gridSpan="5">
                  <a:txBody>
                    <a:bodyPr/>
                    <a:lstStyle/>
                    <a:p>
                      <a:pPr indent="-635" algn="ctr">
                        <a:spcAft>
                          <a:spcPts val="0"/>
                        </a:spcAft>
                      </a:pPr>
                      <a:r>
                        <a:rPr lang="en-US" sz="2200">
                          <a:effectLst/>
                          <a:latin typeface="+mn-lt"/>
                          <a:ea typeface="Times" panose="02020603050405020304" pitchFamily="18" charset="0"/>
                        </a:rPr>
                        <a:t>Ensemble Deep Learning (Hard voting)</a:t>
                      </a: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1998099237"/>
                  </a:ext>
                </a:extLst>
              </a:tr>
              <a:tr h="0">
                <a:tc>
                  <a:txBody>
                    <a:bodyPr/>
                    <a:lstStyle/>
                    <a:p>
                      <a:pPr indent="-635" algn="ctr">
                        <a:spcAft>
                          <a:spcPts val="0"/>
                        </a:spcAft>
                      </a:pPr>
                      <a:r>
                        <a:rPr lang="en-US" sz="2200">
                          <a:effectLst/>
                          <a:latin typeface="+mn-lt"/>
                          <a:ea typeface="Times" panose="02020603050405020304" pitchFamily="18" charset="0"/>
                        </a:rPr>
                        <a:t>5</a:t>
                      </a:r>
                    </a:p>
                  </a:txBody>
                  <a:tcPr marL="68580" marR="68580" marT="0" marB="0"/>
                </a:tc>
                <a:tc gridSpan="5">
                  <a:txBody>
                    <a:bodyPr/>
                    <a:lstStyle/>
                    <a:p>
                      <a:pPr indent="-635" algn="ctr">
                        <a:spcAft>
                          <a:spcPts val="0"/>
                        </a:spcAft>
                      </a:pPr>
                      <a:r>
                        <a:rPr lang="en-US" sz="2200">
                          <a:effectLst/>
                          <a:latin typeface="+mn-lt"/>
                          <a:ea typeface="Times" panose="02020603050405020304" pitchFamily="18" charset="0"/>
                        </a:rPr>
                        <a:t>Ensemble Deep Learning (Soft voting)</a:t>
                      </a: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2123281619"/>
                  </a:ext>
                </a:extLst>
              </a:tr>
              <a:tr h="0">
                <a:tc>
                  <a:txBody>
                    <a:bodyPr/>
                    <a:lstStyle/>
                    <a:p>
                      <a:pPr indent="-635" algn="ctr">
                        <a:spcAft>
                          <a:spcPts val="0"/>
                        </a:spcAft>
                      </a:pPr>
                      <a:r>
                        <a:rPr lang="en-US" sz="2200">
                          <a:effectLst/>
                          <a:latin typeface="+mn-lt"/>
                          <a:ea typeface="Times" panose="02020603050405020304" pitchFamily="18" charset="0"/>
                        </a:rPr>
                        <a:t>6</a:t>
                      </a:r>
                    </a:p>
                  </a:txBody>
                  <a:tcPr marL="68580" marR="68580" marT="0" marB="0"/>
                </a:tc>
                <a:tc gridSpan="5">
                  <a:txBody>
                    <a:bodyPr/>
                    <a:lstStyle/>
                    <a:p>
                      <a:pPr indent="-635" algn="ctr">
                        <a:spcAft>
                          <a:spcPts val="0"/>
                        </a:spcAft>
                      </a:pPr>
                      <a:r>
                        <a:rPr lang="en-US" sz="2200">
                          <a:effectLst/>
                          <a:latin typeface="+mn-lt"/>
                          <a:ea typeface="Times" panose="02020603050405020304" pitchFamily="18" charset="0"/>
                        </a:rPr>
                        <a:t>Weight-Optimized Ensemble (Hard Voting)</a:t>
                      </a: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3839886913"/>
                  </a:ext>
                </a:extLst>
              </a:tr>
              <a:tr h="0">
                <a:tc>
                  <a:txBody>
                    <a:bodyPr/>
                    <a:lstStyle/>
                    <a:p>
                      <a:pPr indent="-635" algn="ctr">
                        <a:spcAft>
                          <a:spcPts val="0"/>
                        </a:spcAft>
                      </a:pPr>
                      <a:r>
                        <a:rPr lang="en-US" sz="2200">
                          <a:effectLst/>
                          <a:latin typeface="+mn-lt"/>
                          <a:ea typeface="Times" panose="02020603050405020304" pitchFamily="18" charset="0"/>
                        </a:rPr>
                        <a:t>7</a:t>
                      </a:r>
                    </a:p>
                  </a:txBody>
                  <a:tcPr marL="68580" marR="68580" marT="0" marB="0"/>
                </a:tc>
                <a:tc gridSpan="5">
                  <a:txBody>
                    <a:bodyPr/>
                    <a:lstStyle/>
                    <a:p>
                      <a:pPr indent="-635" algn="ctr">
                        <a:spcAft>
                          <a:spcPts val="0"/>
                        </a:spcAft>
                      </a:pPr>
                      <a:r>
                        <a:rPr lang="en-US" sz="2200">
                          <a:effectLst/>
                          <a:latin typeface="+mn-lt"/>
                          <a:ea typeface="Times" panose="02020603050405020304" pitchFamily="18" charset="0"/>
                        </a:rPr>
                        <a:t>Weight-Optimized Ensemble (Soft voting)</a:t>
                      </a: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tc hMerge="1">
                  <a:txBody>
                    <a:bodyPr/>
                    <a:lstStyle/>
                    <a:p>
                      <a:pPr indent="-635" algn="ctr">
                        <a:spcAft>
                          <a:spcPts val="0"/>
                        </a:spcAft>
                      </a:pPr>
                      <a:endParaRPr lang="en-US" sz="2200">
                        <a:effectLst/>
                        <a:latin typeface="Times" panose="02020603050405020304" pitchFamily="18" charset="0"/>
                        <a:ea typeface="Times" panose="02020603050405020304" pitchFamily="18" charset="0"/>
                      </a:endParaRPr>
                    </a:p>
                  </a:txBody>
                  <a:tcPr marL="68580" marR="68580" marT="0" marB="0"/>
                </a:tc>
                <a:extLst>
                  <a:ext uri="{0D108BD9-81ED-4DB2-BD59-A6C34878D82A}">
                    <a16:rowId xmlns:a16="http://schemas.microsoft.com/office/drawing/2014/main" val="2646801891"/>
                  </a:ext>
                </a:extLst>
              </a:tr>
            </a:tbl>
          </a:graphicData>
        </a:graphic>
      </p:graphicFrame>
    </p:spTree>
    <p:extLst>
      <p:ext uri="{BB962C8B-B14F-4D97-AF65-F5344CB8AC3E}">
        <p14:creationId xmlns:p14="http://schemas.microsoft.com/office/powerpoint/2010/main" val="1952297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347665" y="1030291"/>
            <a:ext cx="11234737" cy="420137"/>
          </a:xfrm>
        </p:spPr>
        <p:txBody>
          <a:bodyPr>
            <a:normAutofit fontScale="92500" lnSpcReduction="10000"/>
          </a:bodyPr>
          <a:lstStyle/>
          <a:p>
            <a:pPr algn="just"/>
            <a:r>
              <a:rPr lang="en-US"/>
              <a:t>Training results</a:t>
            </a:r>
          </a:p>
        </p:txBody>
      </p:sp>
      <p:sp>
        <p:nvSpPr>
          <p:cNvPr id="3" name="Title 2"/>
          <p:cNvSpPr>
            <a:spLocks noGrp="1"/>
          </p:cNvSpPr>
          <p:nvPr>
            <p:ph type="title"/>
          </p:nvPr>
        </p:nvSpPr>
        <p:spPr/>
        <p:txBody>
          <a:bodyPr>
            <a:normAutofit/>
          </a:bodyPr>
          <a:lstStyle/>
          <a:p>
            <a:r>
              <a:rPr lang="en-US"/>
              <a:t>4. Experimental results</a:t>
            </a:r>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9a. The chart compares the accuracy and loss of Sce.1.</a:t>
            </a:r>
          </a:p>
        </p:txBody>
      </p:sp>
      <p:pic>
        <p:nvPicPr>
          <p:cNvPr id="8" name="Picture 7">
            <a:extLst>
              <a:ext uri="{FF2B5EF4-FFF2-40B4-BE49-F238E27FC236}">
                <a16:creationId xmlns:a16="http://schemas.microsoft.com/office/drawing/2014/main" id="{F912BC72-8B54-16CE-7B36-A588A3CB4C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233" y="1660551"/>
            <a:ext cx="10515600" cy="4222126"/>
          </a:xfrm>
          <a:prstGeom prst="rect">
            <a:avLst/>
          </a:prstGeom>
        </p:spPr>
      </p:pic>
    </p:spTree>
    <p:extLst>
      <p:ext uri="{BB962C8B-B14F-4D97-AF65-F5344CB8AC3E}">
        <p14:creationId xmlns:p14="http://schemas.microsoft.com/office/powerpoint/2010/main" val="943564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a:t>Training results</a:t>
            </a:r>
          </a:p>
        </p:txBody>
      </p:sp>
      <p:sp>
        <p:nvSpPr>
          <p:cNvPr id="3" name="Title 2"/>
          <p:cNvSpPr>
            <a:spLocks noGrp="1"/>
          </p:cNvSpPr>
          <p:nvPr>
            <p:ph type="title"/>
          </p:nvPr>
        </p:nvSpPr>
        <p:spPr/>
        <p:txBody>
          <a:bodyPr>
            <a:normAutofit/>
          </a:bodyPr>
          <a:lstStyle/>
          <a:p>
            <a:r>
              <a:rPr lang="en-US"/>
              <a:t>4. Experimental results</a:t>
            </a:r>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9b. The chart compares the accuracy and loss of Sce.2.</a:t>
            </a:r>
          </a:p>
        </p:txBody>
      </p:sp>
      <p:pic>
        <p:nvPicPr>
          <p:cNvPr id="5" name="Picture 4">
            <a:extLst>
              <a:ext uri="{FF2B5EF4-FFF2-40B4-BE49-F238E27FC236}">
                <a16:creationId xmlns:a16="http://schemas.microsoft.com/office/drawing/2014/main" id="{55776A30-9B9A-3B77-618D-52C6BBF9F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7410" y="1605668"/>
            <a:ext cx="11117179" cy="4487132"/>
          </a:xfrm>
          <a:prstGeom prst="rect">
            <a:avLst/>
          </a:prstGeom>
        </p:spPr>
      </p:pic>
    </p:spTree>
    <p:extLst>
      <p:ext uri="{BB962C8B-B14F-4D97-AF65-F5344CB8AC3E}">
        <p14:creationId xmlns:p14="http://schemas.microsoft.com/office/powerpoint/2010/main" val="1292206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a:t>Training results</a:t>
            </a:r>
          </a:p>
        </p:txBody>
      </p:sp>
      <p:sp>
        <p:nvSpPr>
          <p:cNvPr id="3" name="Title 2"/>
          <p:cNvSpPr>
            <a:spLocks noGrp="1"/>
          </p:cNvSpPr>
          <p:nvPr>
            <p:ph type="title"/>
          </p:nvPr>
        </p:nvSpPr>
        <p:spPr/>
        <p:txBody>
          <a:bodyPr>
            <a:normAutofit/>
          </a:bodyPr>
          <a:lstStyle/>
          <a:p>
            <a:r>
              <a:rPr lang="en-US"/>
              <a:t>4. Experimental results</a:t>
            </a:r>
          </a:p>
        </p:txBody>
      </p:sp>
      <p:sp>
        <p:nvSpPr>
          <p:cNvPr id="6" name="Content Placeholder 1"/>
          <p:cNvSpPr txBox="1">
            <a:spLocks/>
          </p:cNvSpPr>
          <p:nvPr/>
        </p:nvSpPr>
        <p:spPr>
          <a:xfrm>
            <a:off x="347665" y="6092800"/>
            <a:ext cx="11234737" cy="39911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t>Fig 9c. The chart compares the accuracy and loss of Sce.3.</a:t>
            </a:r>
          </a:p>
        </p:txBody>
      </p:sp>
      <p:pic>
        <p:nvPicPr>
          <p:cNvPr id="7" name="Picture 6">
            <a:extLst>
              <a:ext uri="{FF2B5EF4-FFF2-40B4-BE49-F238E27FC236}">
                <a16:creationId xmlns:a16="http://schemas.microsoft.com/office/drawing/2014/main" id="{6F4B466A-1972-6844-94C4-BD535E4B3E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944" y="1606429"/>
            <a:ext cx="10932458" cy="4395852"/>
          </a:xfrm>
          <a:prstGeom prst="rect">
            <a:avLst/>
          </a:prstGeom>
        </p:spPr>
      </p:pic>
    </p:spTree>
    <p:extLst>
      <p:ext uri="{BB962C8B-B14F-4D97-AF65-F5344CB8AC3E}">
        <p14:creationId xmlns:p14="http://schemas.microsoft.com/office/powerpoint/2010/main" val="1947387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166912" y="1095774"/>
            <a:ext cx="11234737" cy="420137"/>
          </a:xfrm>
        </p:spPr>
        <p:txBody>
          <a:bodyPr>
            <a:normAutofit fontScale="92500" lnSpcReduction="10000"/>
          </a:bodyPr>
          <a:lstStyle/>
          <a:p>
            <a:pPr algn="just"/>
            <a:r>
              <a:rPr lang="en-US"/>
              <a:t>Training results</a:t>
            </a:r>
          </a:p>
        </p:txBody>
      </p:sp>
      <p:sp>
        <p:nvSpPr>
          <p:cNvPr id="3" name="Title 2"/>
          <p:cNvSpPr>
            <a:spLocks noGrp="1"/>
          </p:cNvSpPr>
          <p:nvPr>
            <p:ph type="title"/>
          </p:nvPr>
        </p:nvSpPr>
        <p:spPr/>
        <p:txBody>
          <a:bodyPr>
            <a:normAutofit/>
          </a:bodyPr>
          <a:lstStyle/>
          <a:p>
            <a:r>
              <a:rPr lang="en-US"/>
              <a:t>4. Experimental results</a:t>
            </a:r>
          </a:p>
        </p:txBody>
      </p:sp>
      <p:graphicFrame>
        <p:nvGraphicFramePr>
          <p:cNvPr id="9" name="Table 8">
            <a:extLst>
              <a:ext uri="{FF2B5EF4-FFF2-40B4-BE49-F238E27FC236}">
                <a16:creationId xmlns:a16="http://schemas.microsoft.com/office/drawing/2014/main" id="{E37B5B2E-7C25-237A-2B00-BEFF13708CC4}"/>
              </a:ext>
            </a:extLst>
          </p:cNvPr>
          <p:cNvGraphicFramePr>
            <a:graphicFrameLocks noGrp="1"/>
          </p:cNvGraphicFramePr>
          <p:nvPr>
            <p:extLst>
              <p:ext uri="{D42A27DB-BD31-4B8C-83A1-F6EECF244321}">
                <p14:modId xmlns:p14="http://schemas.microsoft.com/office/powerpoint/2010/main" val="709789532"/>
              </p:ext>
            </p:extLst>
          </p:nvPr>
        </p:nvGraphicFramePr>
        <p:xfrm>
          <a:off x="1219200" y="1883343"/>
          <a:ext cx="9496928" cy="1828800"/>
        </p:xfrm>
        <a:graphic>
          <a:graphicData uri="http://schemas.openxmlformats.org/drawingml/2006/table">
            <a:tbl>
              <a:tblPr firstRow="1" bandRow="1">
                <a:tableStyleId>{5C22544A-7EE6-4342-B048-85BDC9FD1C3A}</a:tableStyleId>
              </a:tblPr>
              <a:tblGrid>
                <a:gridCol w="2374232">
                  <a:extLst>
                    <a:ext uri="{9D8B030D-6E8A-4147-A177-3AD203B41FA5}">
                      <a16:colId xmlns:a16="http://schemas.microsoft.com/office/drawing/2014/main" val="518464565"/>
                    </a:ext>
                  </a:extLst>
                </a:gridCol>
                <a:gridCol w="2374232">
                  <a:extLst>
                    <a:ext uri="{9D8B030D-6E8A-4147-A177-3AD203B41FA5}">
                      <a16:colId xmlns:a16="http://schemas.microsoft.com/office/drawing/2014/main" val="1162446729"/>
                    </a:ext>
                  </a:extLst>
                </a:gridCol>
                <a:gridCol w="2374232">
                  <a:extLst>
                    <a:ext uri="{9D8B030D-6E8A-4147-A177-3AD203B41FA5}">
                      <a16:colId xmlns:a16="http://schemas.microsoft.com/office/drawing/2014/main" val="1307509840"/>
                    </a:ext>
                  </a:extLst>
                </a:gridCol>
                <a:gridCol w="2374232">
                  <a:extLst>
                    <a:ext uri="{9D8B030D-6E8A-4147-A177-3AD203B41FA5}">
                      <a16:colId xmlns:a16="http://schemas.microsoft.com/office/drawing/2014/main" val="3348442217"/>
                    </a:ext>
                  </a:extLst>
                </a:gridCol>
              </a:tblGrid>
              <a:tr h="370840">
                <a:tc>
                  <a:txBody>
                    <a:bodyPr/>
                    <a:lstStyle/>
                    <a:p>
                      <a:r>
                        <a:rPr lang="en-US" sz="2400">
                          <a:latin typeface="Cambria" panose="02040503050406030204" pitchFamily="18" charset="0"/>
                          <a:ea typeface="Cambria" panose="02040503050406030204" pitchFamily="18" charset="0"/>
                        </a:rPr>
                        <a:t>Scenario</a:t>
                      </a:r>
                    </a:p>
                  </a:txBody>
                  <a:tcPr/>
                </a:tc>
                <a:tc>
                  <a:txBody>
                    <a:bodyPr/>
                    <a:lstStyle/>
                    <a:p>
                      <a:pPr algn="ctr"/>
                      <a:r>
                        <a:rPr lang="en-US" sz="2400">
                          <a:latin typeface="Cambria" panose="02040503050406030204" pitchFamily="18" charset="0"/>
                          <a:ea typeface="Cambria" panose="02040503050406030204" pitchFamily="18" charset="0"/>
                        </a:rPr>
                        <a:t>Accuracy (%)</a:t>
                      </a:r>
                    </a:p>
                  </a:txBody>
                  <a:tcPr/>
                </a:tc>
                <a:tc>
                  <a:txBody>
                    <a:bodyPr/>
                    <a:lstStyle/>
                    <a:p>
                      <a:pPr algn="ctr"/>
                      <a:r>
                        <a:rPr lang="en-US" sz="2400">
                          <a:latin typeface="Cambria" panose="02040503050406030204" pitchFamily="18" charset="0"/>
                          <a:ea typeface="Cambria" panose="02040503050406030204" pitchFamily="18" charset="0"/>
                        </a:rPr>
                        <a:t>Loss</a:t>
                      </a:r>
                    </a:p>
                  </a:txBody>
                  <a:tcPr/>
                </a:tc>
                <a:tc>
                  <a:txBody>
                    <a:bodyPr/>
                    <a:lstStyle/>
                    <a:p>
                      <a:pPr algn="ctr"/>
                      <a:r>
                        <a:rPr lang="en-US" sz="2400">
                          <a:latin typeface="Cambria" panose="02040503050406030204" pitchFamily="18" charset="0"/>
                          <a:ea typeface="Cambria" panose="02040503050406030204" pitchFamily="18" charset="0"/>
                        </a:rPr>
                        <a:t>Time (minutes)</a:t>
                      </a:r>
                    </a:p>
                  </a:txBody>
                  <a:tcPr/>
                </a:tc>
                <a:extLst>
                  <a:ext uri="{0D108BD9-81ED-4DB2-BD59-A6C34878D82A}">
                    <a16:rowId xmlns:a16="http://schemas.microsoft.com/office/drawing/2014/main" val="1063997028"/>
                  </a:ext>
                </a:extLst>
              </a:tr>
              <a:tr h="370840">
                <a:tc>
                  <a:txBody>
                    <a:bodyPr/>
                    <a:lstStyle/>
                    <a:p>
                      <a:r>
                        <a:rPr lang="en-US" sz="2400">
                          <a:latin typeface="Cambria" panose="02040503050406030204" pitchFamily="18" charset="0"/>
                          <a:ea typeface="Cambria" panose="02040503050406030204" pitchFamily="18" charset="0"/>
                        </a:rPr>
                        <a:t>Scenario 1</a:t>
                      </a:r>
                    </a:p>
                  </a:txBody>
                  <a:tcPr/>
                </a:tc>
                <a:tc>
                  <a:txBody>
                    <a:bodyPr/>
                    <a:lstStyle/>
                    <a:p>
                      <a:pPr algn="ctr"/>
                      <a:r>
                        <a:rPr lang="en-US" sz="2400">
                          <a:latin typeface="Cambria" panose="02040503050406030204" pitchFamily="18" charset="0"/>
                          <a:ea typeface="Cambria" panose="02040503050406030204" pitchFamily="18" charset="0"/>
                        </a:rPr>
                        <a:t>95.1</a:t>
                      </a:r>
                    </a:p>
                  </a:txBody>
                  <a:tcPr/>
                </a:tc>
                <a:tc>
                  <a:txBody>
                    <a:bodyPr/>
                    <a:lstStyle/>
                    <a:p>
                      <a:pPr algn="ctr"/>
                      <a:r>
                        <a:rPr lang="en-US" sz="2400">
                          <a:latin typeface="Cambria" panose="02040503050406030204" pitchFamily="18" charset="0"/>
                          <a:ea typeface="Cambria" panose="02040503050406030204" pitchFamily="18" charset="0"/>
                        </a:rPr>
                        <a:t>0.190</a:t>
                      </a:r>
                    </a:p>
                  </a:txBody>
                  <a:tcPr/>
                </a:tc>
                <a:tc>
                  <a:txBody>
                    <a:bodyPr/>
                    <a:lstStyle/>
                    <a:p>
                      <a:pPr algn="ctr"/>
                      <a:r>
                        <a:rPr lang="en-US" sz="2400">
                          <a:latin typeface="Cambria" panose="02040503050406030204" pitchFamily="18" charset="0"/>
                          <a:ea typeface="Cambria" panose="02040503050406030204" pitchFamily="18" charset="0"/>
                        </a:rPr>
                        <a:t>156.81</a:t>
                      </a:r>
                    </a:p>
                  </a:txBody>
                  <a:tcPr/>
                </a:tc>
                <a:extLst>
                  <a:ext uri="{0D108BD9-81ED-4DB2-BD59-A6C34878D82A}">
                    <a16:rowId xmlns:a16="http://schemas.microsoft.com/office/drawing/2014/main" val="1528076682"/>
                  </a:ext>
                </a:extLst>
              </a:tr>
              <a:tr h="370840">
                <a:tc>
                  <a:txBody>
                    <a:bodyPr/>
                    <a:lstStyle/>
                    <a:p>
                      <a:r>
                        <a:rPr lang="en-US" sz="2400">
                          <a:latin typeface="Cambria" panose="02040503050406030204" pitchFamily="18" charset="0"/>
                          <a:ea typeface="Cambria" panose="02040503050406030204" pitchFamily="18" charset="0"/>
                        </a:rPr>
                        <a:t>Scenario 2</a:t>
                      </a:r>
                    </a:p>
                  </a:txBody>
                  <a:tcPr/>
                </a:tc>
                <a:tc>
                  <a:txBody>
                    <a:bodyPr/>
                    <a:lstStyle/>
                    <a:p>
                      <a:pPr algn="ctr"/>
                      <a:r>
                        <a:rPr lang="en-US" sz="2400">
                          <a:latin typeface="Cambria" panose="02040503050406030204" pitchFamily="18" charset="0"/>
                          <a:ea typeface="Cambria" panose="02040503050406030204" pitchFamily="18" charset="0"/>
                        </a:rPr>
                        <a:t>92.3</a:t>
                      </a:r>
                    </a:p>
                  </a:txBody>
                  <a:tcPr/>
                </a:tc>
                <a:tc>
                  <a:txBody>
                    <a:bodyPr/>
                    <a:lstStyle/>
                    <a:p>
                      <a:pPr algn="ctr"/>
                      <a:r>
                        <a:rPr lang="en-US" sz="2400">
                          <a:latin typeface="Cambria" panose="02040503050406030204" pitchFamily="18" charset="0"/>
                          <a:ea typeface="Cambria" panose="02040503050406030204" pitchFamily="18" charset="0"/>
                        </a:rPr>
                        <a:t>0.232</a:t>
                      </a:r>
                    </a:p>
                  </a:txBody>
                  <a:tcPr/>
                </a:tc>
                <a:tc>
                  <a:txBody>
                    <a:bodyPr/>
                    <a:lstStyle/>
                    <a:p>
                      <a:pPr algn="ctr"/>
                      <a:r>
                        <a:rPr lang="en-US" sz="2400">
                          <a:latin typeface="Cambria" panose="02040503050406030204" pitchFamily="18" charset="0"/>
                          <a:ea typeface="Cambria" panose="02040503050406030204" pitchFamily="18" charset="0"/>
                        </a:rPr>
                        <a:t>410.25</a:t>
                      </a:r>
                    </a:p>
                  </a:txBody>
                  <a:tcPr/>
                </a:tc>
                <a:extLst>
                  <a:ext uri="{0D108BD9-81ED-4DB2-BD59-A6C34878D82A}">
                    <a16:rowId xmlns:a16="http://schemas.microsoft.com/office/drawing/2014/main" val="502490300"/>
                  </a:ext>
                </a:extLst>
              </a:tr>
              <a:tr h="370840">
                <a:tc>
                  <a:txBody>
                    <a:bodyPr/>
                    <a:lstStyle/>
                    <a:p>
                      <a:r>
                        <a:rPr lang="en-US" sz="2400">
                          <a:latin typeface="Cambria" panose="02040503050406030204" pitchFamily="18" charset="0"/>
                          <a:ea typeface="Cambria" panose="02040503050406030204" pitchFamily="18" charset="0"/>
                        </a:rPr>
                        <a:t>Scenario 3</a:t>
                      </a:r>
                    </a:p>
                  </a:txBody>
                  <a:tcPr/>
                </a:tc>
                <a:tc>
                  <a:txBody>
                    <a:bodyPr/>
                    <a:lstStyle/>
                    <a:p>
                      <a:pPr algn="ctr"/>
                      <a:r>
                        <a:rPr lang="en-US" sz="2400">
                          <a:latin typeface="Cambria" panose="02040503050406030204" pitchFamily="18" charset="0"/>
                          <a:ea typeface="Cambria" panose="02040503050406030204" pitchFamily="18" charset="0"/>
                        </a:rPr>
                        <a:t>91.7</a:t>
                      </a:r>
                    </a:p>
                  </a:txBody>
                  <a:tcPr/>
                </a:tc>
                <a:tc>
                  <a:txBody>
                    <a:bodyPr/>
                    <a:lstStyle/>
                    <a:p>
                      <a:pPr algn="ctr"/>
                      <a:r>
                        <a:rPr lang="en-US" sz="2400">
                          <a:latin typeface="Cambria" panose="02040503050406030204" pitchFamily="18" charset="0"/>
                          <a:ea typeface="Cambria" panose="02040503050406030204" pitchFamily="18" charset="0"/>
                        </a:rPr>
                        <a:t>0.246</a:t>
                      </a:r>
                    </a:p>
                  </a:txBody>
                  <a:tcPr/>
                </a:tc>
                <a:tc>
                  <a:txBody>
                    <a:bodyPr/>
                    <a:lstStyle/>
                    <a:p>
                      <a:pPr algn="ctr"/>
                      <a:r>
                        <a:rPr lang="en-US" sz="2400">
                          <a:latin typeface="Cambria" panose="02040503050406030204" pitchFamily="18" charset="0"/>
                          <a:ea typeface="Cambria" panose="02040503050406030204" pitchFamily="18" charset="0"/>
                        </a:rPr>
                        <a:t>214.56</a:t>
                      </a:r>
                    </a:p>
                  </a:txBody>
                  <a:tcPr/>
                </a:tc>
                <a:extLst>
                  <a:ext uri="{0D108BD9-81ED-4DB2-BD59-A6C34878D82A}">
                    <a16:rowId xmlns:a16="http://schemas.microsoft.com/office/drawing/2014/main" val="985210903"/>
                  </a:ext>
                </a:extLst>
              </a:tr>
            </a:tbl>
          </a:graphicData>
        </a:graphic>
      </p:graphicFrame>
    </p:spTree>
    <p:extLst>
      <p:ext uri="{BB962C8B-B14F-4D97-AF65-F5344CB8AC3E}">
        <p14:creationId xmlns:p14="http://schemas.microsoft.com/office/powerpoint/2010/main" val="2281592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t>4. Experimental results</a:t>
            </a:r>
          </a:p>
        </p:txBody>
      </p:sp>
      <p:pic>
        <p:nvPicPr>
          <p:cNvPr id="513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1"/>
          <p:cNvSpPr txBox="1">
            <a:spLocks/>
          </p:cNvSpPr>
          <p:nvPr/>
        </p:nvSpPr>
        <p:spPr>
          <a:xfrm>
            <a:off x="416858" y="6058695"/>
            <a:ext cx="11234737" cy="45560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a:t>Fig 10a. Correlation and importance of parameters in Sce. 6.</a:t>
            </a:r>
            <a:r>
              <a:rPr lang="en-US" sz="1800"/>
              <a:t> </a:t>
            </a:r>
            <a:br>
              <a:rPr lang="en-US" sz="1800"/>
            </a:br>
            <a:endParaRPr lang="en-US" sz="1800"/>
          </a:p>
        </p:txBody>
      </p:sp>
      <p:pic>
        <p:nvPicPr>
          <p:cNvPr id="7" name="Picture 6">
            <a:extLst>
              <a:ext uri="{FF2B5EF4-FFF2-40B4-BE49-F238E27FC236}">
                <a16:creationId xmlns:a16="http://schemas.microsoft.com/office/drawing/2014/main" id="{9469F920-8304-0972-886B-CBD15DE750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88" y="1101646"/>
            <a:ext cx="6749326" cy="4654707"/>
          </a:xfrm>
          <a:prstGeom prst="rect">
            <a:avLst/>
          </a:prstGeom>
        </p:spPr>
      </p:pic>
      <p:pic>
        <p:nvPicPr>
          <p:cNvPr id="11" name="Picture 10">
            <a:extLst>
              <a:ext uri="{FF2B5EF4-FFF2-40B4-BE49-F238E27FC236}">
                <a16:creationId xmlns:a16="http://schemas.microsoft.com/office/drawing/2014/main" id="{0DD35EA7-BFC6-01EC-E9C1-C7216EE4B9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27114" y="2701420"/>
            <a:ext cx="5223824" cy="2047044"/>
          </a:xfrm>
          <a:prstGeom prst="rect">
            <a:avLst/>
          </a:prstGeom>
        </p:spPr>
      </p:pic>
    </p:spTree>
    <p:extLst>
      <p:ext uri="{BB962C8B-B14F-4D97-AF65-F5344CB8AC3E}">
        <p14:creationId xmlns:p14="http://schemas.microsoft.com/office/powerpoint/2010/main" val="8126221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a:t>4. Experimental results</a:t>
            </a:r>
          </a:p>
        </p:txBody>
      </p:sp>
      <p:sp>
        <p:nvSpPr>
          <p:cNvPr id="53" name="Content Placeholder 1"/>
          <p:cNvSpPr>
            <a:spLocks noGrp="1"/>
          </p:cNvSpPr>
          <p:nvPr>
            <p:ph sz="quarter" idx="10"/>
          </p:nvPr>
        </p:nvSpPr>
        <p:spPr>
          <a:xfrm>
            <a:off x="416858" y="6030851"/>
            <a:ext cx="11234737" cy="455609"/>
          </a:xfrm>
        </p:spPr>
        <p:txBody>
          <a:bodyPr>
            <a:noAutofit/>
          </a:bodyPr>
          <a:lstStyle/>
          <a:p>
            <a:pPr marL="0" indent="0" algn="ctr">
              <a:buNone/>
            </a:pPr>
            <a:r>
              <a:rPr lang="en-US"/>
              <a:t>Fig 10b. Correlation and importance of parameters in Sce. 7.</a:t>
            </a:r>
            <a:r>
              <a:rPr lang="en-US" sz="1800"/>
              <a:t> </a:t>
            </a:r>
            <a:br>
              <a:rPr lang="en-US" sz="1800"/>
            </a:br>
            <a:endParaRPr lang="en-US" sz="1800"/>
          </a:p>
        </p:txBody>
      </p:sp>
      <p:pic>
        <p:nvPicPr>
          <p:cNvPr id="5133"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4127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3338"/>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 y="34925"/>
            <a:ext cx="125413" cy="8509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211BD49-77EC-C9DF-09DB-93B9F80223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88" y="1011655"/>
            <a:ext cx="7010299" cy="4834689"/>
          </a:xfrm>
          <a:prstGeom prst="rect">
            <a:avLst/>
          </a:prstGeom>
        </p:spPr>
      </p:pic>
      <p:pic>
        <p:nvPicPr>
          <p:cNvPr id="8" name="Picture 7">
            <a:extLst>
              <a:ext uri="{FF2B5EF4-FFF2-40B4-BE49-F238E27FC236}">
                <a16:creationId xmlns:a16="http://schemas.microsoft.com/office/drawing/2014/main" id="{6D4610EC-BA43-DCD8-5F3D-8061069226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08136" y="2773420"/>
            <a:ext cx="5075001" cy="1975043"/>
          </a:xfrm>
          <a:prstGeom prst="rect">
            <a:avLst/>
          </a:prstGeom>
        </p:spPr>
      </p:pic>
    </p:spTree>
    <p:extLst>
      <p:ext uri="{BB962C8B-B14F-4D97-AF65-F5344CB8AC3E}">
        <p14:creationId xmlns:p14="http://schemas.microsoft.com/office/powerpoint/2010/main" val="1430513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78631" y="5200298"/>
            <a:ext cx="11234737" cy="506409"/>
          </a:xfrm>
        </p:spPr>
        <p:txBody>
          <a:bodyPr>
            <a:normAutofit/>
          </a:bodyPr>
          <a:lstStyle/>
          <a:p>
            <a:pPr marL="0" indent="0" algn="ctr">
              <a:buNone/>
            </a:pPr>
            <a:r>
              <a:rPr lang="en-US" sz="2200">
                <a:solidFill>
                  <a:srgbClr val="0070C0"/>
                </a:solidFill>
              </a:rPr>
              <a:t>Fig 11. Confusion matrix of Sce. 4, 5, 6, 7</a:t>
            </a:r>
          </a:p>
        </p:txBody>
      </p:sp>
      <p:sp>
        <p:nvSpPr>
          <p:cNvPr id="3" name="Title 2"/>
          <p:cNvSpPr>
            <a:spLocks noGrp="1"/>
          </p:cNvSpPr>
          <p:nvPr>
            <p:ph type="title"/>
          </p:nvPr>
        </p:nvSpPr>
        <p:spPr/>
        <p:txBody>
          <a:bodyPr>
            <a:normAutofit/>
          </a:bodyPr>
          <a:lstStyle/>
          <a:p>
            <a:r>
              <a:rPr lang="en-US"/>
              <a:t>4. Experimental results</a:t>
            </a:r>
          </a:p>
        </p:txBody>
      </p:sp>
      <p:pic>
        <p:nvPicPr>
          <p:cNvPr id="6" name="Picture 5">
            <a:extLst>
              <a:ext uri="{FF2B5EF4-FFF2-40B4-BE49-F238E27FC236}">
                <a16:creationId xmlns:a16="http://schemas.microsoft.com/office/drawing/2014/main" id="{558F4B49-DC1D-BEA8-CAF9-D7C60B31EA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19919"/>
            <a:ext cx="12192000" cy="3164508"/>
          </a:xfrm>
          <a:prstGeom prst="rect">
            <a:avLst/>
          </a:prstGeom>
        </p:spPr>
      </p:pic>
    </p:spTree>
    <p:extLst>
      <p:ext uri="{BB962C8B-B14F-4D97-AF65-F5344CB8AC3E}">
        <p14:creationId xmlns:p14="http://schemas.microsoft.com/office/powerpoint/2010/main" val="1777845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416858" y="918554"/>
            <a:ext cx="11234737" cy="506409"/>
          </a:xfrm>
        </p:spPr>
        <p:txBody>
          <a:bodyPr>
            <a:normAutofit/>
          </a:bodyPr>
          <a:lstStyle/>
          <a:p>
            <a:pPr marL="0" indent="0" algn="ctr">
              <a:buNone/>
            </a:pPr>
            <a:r>
              <a:rPr lang="en-US" sz="2200">
                <a:solidFill>
                  <a:srgbClr val="0070C0"/>
                </a:solidFill>
              </a:rPr>
              <a:t>Tab 2. Evaluation results on test dataset</a:t>
            </a:r>
          </a:p>
        </p:txBody>
      </p:sp>
      <p:sp>
        <p:nvSpPr>
          <p:cNvPr id="3" name="Title 2"/>
          <p:cNvSpPr>
            <a:spLocks noGrp="1"/>
          </p:cNvSpPr>
          <p:nvPr>
            <p:ph type="title"/>
          </p:nvPr>
        </p:nvSpPr>
        <p:spPr/>
        <p:txBody>
          <a:bodyPr>
            <a:normAutofit/>
          </a:bodyPr>
          <a:lstStyle/>
          <a:p>
            <a:r>
              <a:rPr lang="en-US"/>
              <a:t>4. Experimental results</a:t>
            </a:r>
          </a:p>
        </p:txBody>
      </p:sp>
      <p:pic>
        <p:nvPicPr>
          <p:cNvPr id="4" name="Picture 3">
            <a:extLst>
              <a:ext uri="{FF2B5EF4-FFF2-40B4-BE49-F238E27FC236}">
                <a16:creationId xmlns:a16="http://schemas.microsoft.com/office/drawing/2014/main" id="{3ADA2F3B-AC66-C9CD-7D4C-D087DB766E39}"/>
              </a:ext>
            </a:extLst>
          </p:cNvPr>
          <p:cNvPicPr>
            <a:picLocks noChangeAspect="1"/>
          </p:cNvPicPr>
          <p:nvPr/>
        </p:nvPicPr>
        <p:blipFill>
          <a:blip r:embed="rId3"/>
          <a:stretch>
            <a:fillRect/>
          </a:stretch>
        </p:blipFill>
        <p:spPr>
          <a:xfrm>
            <a:off x="1012769" y="1424963"/>
            <a:ext cx="10042914" cy="4514483"/>
          </a:xfrm>
          <a:prstGeom prst="rect">
            <a:avLst/>
          </a:prstGeom>
        </p:spPr>
      </p:pic>
    </p:spTree>
    <p:extLst>
      <p:ext uri="{BB962C8B-B14F-4D97-AF65-F5344CB8AC3E}">
        <p14:creationId xmlns:p14="http://schemas.microsoft.com/office/powerpoint/2010/main" val="778164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717801" y="6496508"/>
            <a:ext cx="11234737" cy="361492"/>
          </a:xfrm>
        </p:spPr>
        <p:txBody>
          <a:bodyPr>
            <a:noAutofit/>
          </a:bodyPr>
          <a:lstStyle/>
          <a:p>
            <a:pPr marL="0" indent="0" algn="ctr">
              <a:buNone/>
            </a:pPr>
            <a:r>
              <a:rPr lang="en-US" sz="2000"/>
              <a:t>Fig 12. Prediction results on the test dataset of Sce. 6 and 7. </a:t>
            </a:r>
            <a:endParaRPr lang="en-US" sz="2000">
              <a:solidFill>
                <a:srgbClr val="0070C0"/>
              </a:solidFill>
            </a:endParaRPr>
          </a:p>
        </p:txBody>
      </p:sp>
      <p:sp>
        <p:nvSpPr>
          <p:cNvPr id="3" name="Title 2"/>
          <p:cNvSpPr>
            <a:spLocks noGrp="1"/>
          </p:cNvSpPr>
          <p:nvPr>
            <p:ph type="title"/>
          </p:nvPr>
        </p:nvSpPr>
        <p:spPr/>
        <p:txBody>
          <a:bodyPr>
            <a:normAutofit/>
          </a:bodyPr>
          <a:lstStyle/>
          <a:p>
            <a:r>
              <a:rPr lang="en-US"/>
              <a:t>4. Experimental results</a:t>
            </a:r>
          </a:p>
        </p:txBody>
      </p:sp>
      <p:pic>
        <p:nvPicPr>
          <p:cNvPr id="7" name="Picture 6">
            <a:extLst>
              <a:ext uri="{FF2B5EF4-FFF2-40B4-BE49-F238E27FC236}">
                <a16:creationId xmlns:a16="http://schemas.microsoft.com/office/drawing/2014/main" id="{9BAE929C-30CF-A424-294D-E7F912A2B5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57448" y="965315"/>
            <a:ext cx="7355442" cy="5417525"/>
          </a:xfrm>
          <a:prstGeom prst="rect">
            <a:avLst/>
          </a:prstGeom>
        </p:spPr>
      </p:pic>
    </p:spTree>
    <p:extLst>
      <p:ext uri="{BB962C8B-B14F-4D97-AF65-F5344CB8AC3E}">
        <p14:creationId xmlns:p14="http://schemas.microsoft.com/office/powerpoint/2010/main" val="3705408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algn="just"/>
            <a:r>
              <a:rPr lang="en-US" sz="2200"/>
              <a:t>We propose a comprehensive method for detecting and classifying breast cancer using deep learning ensemble models. </a:t>
            </a:r>
          </a:p>
          <a:p>
            <a:pPr algn="just"/>
            <a:r>
              <a:rPr lang="en-US" sz="2200"/>
              <a:t>We propose optimizing the contribution weight of each component model to improve classification performance. </a:t>
            </a:r>
          </a:p>
          <a:p>
            <a:pPr algn="just"/>
            <a:r>
              <a:rPr lang="en-US" sz="2200"/>
              <a:t>The results show that the combined model achieved 97.85% accuracy on the test dataset, while significantly reducing the misclassification phenomenon in both groups: benign and malignant lesions. </a:t>
            </a:r>
          </a:p>
          <a:p>
            <a:pPr marL="0" indent="0" algn="just">
              <a:buNone/>
            </a:pPr>
            <a:r>
              <a:rPr lang="en-US" sz="2200" b="1"/>
              <a:t>Future works:</a:t>
            </a:r>
          </a:p>
          <a:p>
            <a:pPr algn="just"/>
            <a:r>
              <a:rPr lang="en-US" sz="2200"/>
              <a:t>Expanding the research by evaluating more advanced deep learning models to determine the most optimal combination. </a:t>
            </a:r>
          </a:p>
          <a:p>
            <a:pPr algn="just"/>
            <a:r>
              <a:rPr lang="en-US" sz="2200"/>
              <a:t>Focus on multi-class classification and integrating more specialized mammographic features, such as tissue density and the presence of microcalcifications, to further improve the accuracy and coverage when applied to more diverse and complex datasets.</a:t>
            </a:r>
          </a:p>
        </p:txBody>
      </p:sp>
      <p:sp>
        <p:nvSpPr>
          <p:cNvPr id="3" name="Title 2"/>
          <p:cNvSpPr>
            <a:spLocks noGrp="1"/>
          </p:cNvSpPr>
          <p:nvPr>
            <p:ph type="title"/>
          </p:nvPr>
        </p:nvSpPr>
        <p:spPr/>
        <p:txBody>
          <a:bodyPr>
            <a:normAutofit/>
          </a:bodyPr>
          <a:lstStyle/>
          <a:p>
            <a:pPr lvl="0"/>
            <a:r>
              <a:rPr lang="en-US" sz="3600"/>
              <a:t>5. Conclusion</a:t>
            </a:r>
            <a:endParaRPr lang="en-US"/>
          </a:p>
        </p:txBody>
      </p:sp>
    </p:spTree>
    <p:extLst>
      <p:ext uri="{BB962C8B-B14F-4D97-AF65-F5344CB8AC3E}">
        <p14:creationId xmlns:p14="http://schemas.microsoft.com/office/powerpoint/2010/main" val="21651382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p:txBody>
          <a:bodyPr>
            <a:normAutofit/>
          </a:bodyPr>
          <a:lstStyle/>
          <a:p>
            <a:pPr marL="0" indent="0" algn="just">
              <a:buNone/>
            </a:pPr>
            <a:r>
              <a:rPr lang="en-US" sz="2000"/>
              <a:t>[1] R. S. of N. A. (RSNA) and A. C. of Radiology (ACR), ”Mammography,” Radiologyinfo.org. Accessed: Oct. 17, 2025. [Online]. Available: https://www.radiologyinfo.org/en/info/mammo</a:t>
            </a:r>
          </a:p>
          <a:p>
            <a:pPr marL="0" indent="0" algn="just">
              <a:buNone/>
            </a:pPr>
            <a:r>
              <a:rPr lang="en-US" sz="2000"/>
              <a:t>[2] H. Zonderland and R. Smithuis, BI-RADS for mammography and ultrasound 2013, Updated version. Radiologyassistant.nl, 2014.</a:t>
            </a:r>
          </a:p>
          <a:p>
            <a:pPr marL="0" indent="0" algn="just">
              <a:buNone/>
            </a:pPr>
            <a:r>
              <a:rPr lang="en-US" sz="2000"/>
              <a:t>[3] P. D. Stelzer, O. Steding, M. W. Raudner, G. Euller, P. Clauser, and P. A. T. Baltzer, ”Combined texture analysis and machine learning in suspicious calcifications detected by mammography: Potential to avoid unnecessary stereotactical biopsies,” European Journal of Radiology, vol. 132, p. 109309, Nov. 2020, doi:10.1016/j.ejrad.2020.109309.</a:t>
            </a:r>
          </a:p>
          <a:p>
            <a:pPr marL="0" indent="0" algn="just">
              <a:buNone/>
            </a:pPr>
            <a:r>
              <a:rPr lang="en-US" sz="2000"/>
              <a:t>[4] L. Shen, L. R. Margolies, J. H. Rothstein, E. Fluder, R. McBride, and W. Sieh, ”Deep Learning to Improve Breast Cancer Detection on Screening Mammography,” Sci Rep, vol. 9, no. 1, p. 12495, Aug. 2019, doi: 10.1038/s41598-019-48995-4.</a:t>
            </a:r>
          </a:p>
          <a:p>
            <a:pPr marL="0" indent="0" algn="just">
              <a:buNone/>
            </a:pPr>
            <a:r>
              <a:rPr lang="en-US" sz="2000"/>
              <a:t>[5] N. Wu et al., ”Deep Neural Networks Improve Radiologists” Performance in Breast Cancer Screening,” Mar. 20, 2019, arXiv: arXiv:1903.08297. doi: 10.48550/arXiv.1903.08297.</a:t>
            </a:r>
          </a:p>
          <a:p>
            <a:pPr marL="0" indent="0" algn="just">
              <a:buNone/>
            </a:pPr>
            <a:r>
              <a:rPr lang="en-US" sz="2000"/>
              <a:t>[6] D. Ribli, A. Horvffth, Z. Unger, P. Pollner, and I. Csabai, ”Detecting and classifying lesions in mammograms with Deep Learning,” Nov. 09, 2017, arXiv: arXiv:1707.08401. doi: 10.48550/arXiv.1707.08401.</a:t>
            </a:r>
          </a:p>
        </p:txBody>
      </p:sp>
      <p:sp>
        <p:nvSpPr>
          <p:cNvPr id="3" name="Title 2"/>
          <p:cNvSpPr>
            <a:spLocks noGrp="1"/>
          </p:cNvSpPr>
          <p:nvPr>
            <p:ph type="title"/>
          </p:nvPr>
        </p:nvSpPr>
        <p:spPr/>
        <p:txBody>
          <a:bodyPr/>
          <a:lstStyle/>
          <a:p>
            <a:r>
              <a:rPr lang="en-US"/>
              <a:t>References</a:t>
            </a:r>
          </a:p>
        </p:txBody>
      </p:sp>
    </p:spTree>
    <p:extLst>
      <p:ext uri="{BB962C8B-B14F-4D97-AF65-F5344CB8AC3E}">
        <p14:creationId xmlns:p14="http://schemas.microsoft.com/office/powerpoint/2010/main" val="711748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xperiencing a new lifestyle in Nha Trang City - The Saigon Times">
            <a:extLst>
              <a:ext uri="{FF2B5EF4-FFF2-40B4-BE49-F238E27FC236}">
                <a16:creationId xmlns:a16="http://schemas.microsoft.com/office/drawing/2014/main" id="{42B394AA-CC8A-A813-A41C-606E6347A9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1999" cy="6865733"/>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p:cNvSpPr>
            <a:spLocks noGrp="1"/>
          </p:cNvSpPr>
          <p:nvPr>
            <p:ph type="title"/>
          </p:nvPr>
        </p:nvSpPr>
        <p:spPr>
          <a:xfrm>
            <a:off x="4558434" y="5710611"/>
            <a:ext cx="7467600" cy="638484"/>
          </a:xfrm>
        </p:spPr>
        <p:txBody>
          <a:bodyPr>
            <a:noAutofit/>
          </a:bodyPr>
          <a:lstStyle/>
          <a:p>
            <a:pPr algn="ctr"/>
            <a:r>
              <a:rPr lang="en-US" sz="4800"/>
              <a:t>THANK YOU FOR </a:t>
            </a:r>
            <a:br>
              <a:rPr lang="en-US" sz="4800"/>
            </a:br>
            <a:r>
              <a:rPr lang="en-US" sz="4800"/>
              <a:t>YOUR ATTENTION !!!</a:t>
            </a:r>
          </a:p>
        </p:txBody>
      </p:sp>
    </p:spTree>
    <p:extLst>
      <p:ext uri="{BB962C8B-B14F-4D97-AF65-F5344CB8AC3E}">
        <p14:creationId xmlns:p14="http://schemas.microsoft.com/office/powerpoint/2010/main" val="2530995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vestor Social Media by Slidesgo">
  <a:themeElements>
    <a:clrScheme name="Simple Light">
      <a:dk1>
        <a:srgbClr val="07105C"/>
      </a:dk1>
      <a:lt1>
        <a:srgbClr val="FFFFFF"/>
      </a:lt1>
      <a:dk2>
        <a:srgbClr val="FDE571"/>
      </a:dk2>
      <a:lt2>
        <a:srgbClr val="8FCEF9"/>
      </a:lt2>
      <a:accent1>
        <a:srgbClr val="07105C"/>
      </a:accent1>
      <a:accent2>
        <a:srgbClr val="5664E1"/>
      </a:accent2>
      <a:accent3>
        <a:srgbClr val="1226DB"/>
      </a:accent3>
      <a:accent4>
        <a:srgbClr val="23295C"/>
      </a:accent4>
      <a:accent5>
        <a:srgbClr val="0E1DA8"/>
      </a:accent5>
      <a:accent6>
        <a:srgbClr val="FFB127"/>
      </a:accent6>
      <a:hlink>
        <a:srgbClr val="E1D45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18799</TotalTime>
  <Words>2837</Words>
  <Application>Microsoft Office PowerPoint</Application>
  <PresentationFormat>Widescreen</PresentationFormat>
  <Paragraphs>226</Paragraphs>
  <Slides>27</Slides>
  <Notes>26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27</vt:i4>
      </vt:variant>
    </vt:vector>
  </HeadingPairs>
  <TitlesOfParts>
    <vt:vector size="40" baseType="lpstr">
      <vt:lpstr>Arial</vt:lpstr>
      <vt:lpstr>Calibri</vt:lpstr>
      <vt:lpstr>Calibri Light</vt:lpstr>
      <vt:lpstr>Cambria</vt:lpstr>
      <vt:lpstr>Cambria Math</vt:lpstr>
      <vt:lpstr>Montserrat</vt:lpstr>
      <vt:lpstr>Open Sans</vt:lpstr>
      <vt:lpstr>Segoe UI</vt:lpstr>
      <vt:lpstr>Times New Roman</vt:lpstr>
      <vt:lpstr>Ubuntu</vt:lpstr>
      <vt:lpstr>Wingdings</vt:lpstr>
      <vt:lpstr>Office Theme</vt:lpstr>
      <vt:lpstr>Investor Social Media by Slidesgo</vt:lpstr>
      <vt:lpstr>PowerPoint Presentation</vt:lpstr>
      <vt:lpstr>CONTENT</vt:lpstr>
      <vt:lpstr>1. Introduction</vt:lpstr>
      <vt:lpstr>1. Introduction</vt:lpstr>
      <vt:lpstr>1. Introduction</vt:lpstr>
      <vt:lpstr>2. Related works</vt:lpstr>
      <vt:lpstr>2. Related works</vt:lpstr>
      <vt:lpstr>2. Related works</vt:lpstr>
      <vt:lpstr>2. Related works</vt:lpstr>
      <vt:lpstr>2. Related works</vt:lpstr>
      <vt:lpstr>2. Related works</vt:lpstr>
      <vt:lpstr>3. Proposed Method</vt:lpstr>
      <vt:lpstr>3. Proposed Method</vt:lpstr>
      <vt:lpstr>3. Proposed Method</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4. Experimental results</vt:lpstr>
      <vt:lpstr>5. Conclusion</vt:lpstr>
      <vt:lpstr>References</vt:lpstr>
      <vt:lpstr>THANK YOU FOR  YOUR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SƯ PHẠM KỸ THUẬT VĨNH LONG KHOA CÔNG NGHỆ THÔNG TIN</dc:title>
  <dc:creator>HienDo</dc:creator>
  <cp:lastModifiedBy>tran dat</cp:lastModifiedBy>
  <cp:revision>320</cp:revision>
  <dcterms:created xsi:type="dcterms:W3CDTF">2023-08-27T11:42:50Z</dcterms:created>
  <dcterms:modified xsi:type="dcterms:W3CDTF">2026-04-02T08:50:17Z</dcterms:modified>
</cp:coreProperties>
</file>