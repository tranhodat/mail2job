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26"/>
  </p:notesMasterIdLst>
  <p:handoutMasterIdLst>
    <p:handoutMasterId r:id="rId27"/>
  </p:handoutMasterIdLst>
  <p:sldIdLst>
    <p:sldId id="294" r:id="rId2"/>
    <p:sldId id="264" r:id="rId3"/>
    <p:sldId id="310" r:id="rId4"/>
    <p:sldId id="311" r:id="rId5"/>
    <p:sldId id="312" r:id="rId6"/>
    <p:sldId id="258" r:id="rId7"/>
    <p:sldId id="292" r:id="rId8"/>
    <p:sldId id="315" r:id="rId9"/>
    <p:sldId id="300" r:id="rId10"/>
    <p:sldId id="304" r:id="rId11"/>
    <p:sldId id="270" r:id="rId12"/>
    <p:sldId id="274" r:id="rId13"/>
    <p:sldId id="305" r:id="rId14"/>
    <p:sldId id="286" r:id="rId15"/>
    <p:sldId id="313" r:id="rId16"/>
    <p:sldId id="308" r:id="rId17"/>
    <p:sldId id="278" r:id="rId18"/>
    <p:sldId id="290" r:id="rId19"/>
    <p:sldId id="277" r:id="rId20"/>
    <p:sldId id="307" r:id="rId21"/>
    <p:sldId id="314" r:id="rId22"/>
    <p:sldId id="282" r:id="rId23"/>
    <p:sldId id="295" r:id="rId24"/>
    <p:sldId id="296" r:id="rId25"/>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5621"/>
    <a:srgbClr val="FE9CD9"/>
    <a:srgbClr val="E4EEF8"/>
    <a:srgbClr val="E8DEF0"/>
    <a:srgbClr val="CCD2DE"/>
    <a:srgbClr val="E2E5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91400" autoAdjust="0"/>
  </p:normalViewPr>
  <p:slideViewPr>
    <p:cSldViewPr snapToGrid="0">
      <p:cViewPr varScale="1">
        <p:scale>
          <a:sx n="77" d="100"/>
          <a:sy n="77" d="100"/>
        </p:scale>
        <p:origin x="869" y="58"/>
      </p:cViewPr>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65B330-DEEC-4642-8C1D-2EA5B7554D96}" type="datetimeFigureOut">
              <a:rPr lang="en-US" smtClean="0"/>
              <a:t>8/22/2025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2AF40F-8F77-4A2E-A9FF-45BB42AB6C2C}" type="slidenum">
              <a:rPr lang="en-US" smtClean="0"/>
              <a:t>‹#›</a:t>
            </a:fld>
            <a:endParaRPr lang="en-US"/>
          </a:p>
        </p:txBody>
      </p:sp>
    </p:spTree>
    <p:extLst>
      <p:ext uri="{BB962C8B-B14F-4D97-AF65-F5344CB8AC3E}">
        <p14:creationId xmlns:p14="http://schemas.microsoft.com/office/powerpoint/2010/main" val="38434550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EC91D-BEBA-4CF8-88AE-6F4F22BBCE52}" type="datetimeFigureOut">
              <a:rPr lang="en-US" smtClean="0"/>
              <a:t>8/22/2025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7A3CC4-A1AF-4799-818E-6EEBBE945652}" type="slidenum">
              <a:rPr lang="en-US" smtClean="0"/>
              <a:t>‹#›</a:t>
            </a:fld>
            <a:endParaRPr lang="en-US"/>
          </a:p>
        </p:txBody>
      </p:sp>
    </p:spTree>
    <p:extLst>
      <p:ext uri="{BB962C8B-B14F-4D97-AF65-F5344CB8AC3E}">
        <p14:creationId xmlns:p14="http://schemas.microsoft.com/office/powerpoint/2010/main" val="121312532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02A06F-6340-48A0-9DA6-EFBCC2FB3AFD}" type="slidenum">
              <a:rPr lang="en-US" smtClean="0"/>
              <a:t>1</a:t>
            </a:fld>
            <a:endParaRPr lang="en-US"/>
          </a:p>
        </p:txBody>
      </p:sp>
    </p:spTree>
    <p:extLst>
      <p:ext uri="{BB962C8B-B14F-4D97-AF65-F5344CB8AC3E}">
        <p14:creationId xmlns:p14="http://schemas.microsoft.com/office/powerpoint/2010/main" val="1097398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57A3CC4-A1AF-4799-818E-6EEBBE945652}" type="slidenum">
              <a:rPr lang="en-US" smtClean="0"/>
              <a:t>2</a:t>
            </a:fld>
            <a:endParaRPr lang="en-US"/>
          </a:p>
        </p:txBody>
      </p:sp>
    </p:spTree>
    <p:extLst>
      <p:ext uri="{BB962C8B-B14F-4D97-AF65-F5344CB8AC3E}">
        <p14:creationId xmlns:p14="http://schemas.microsoft.com/office/powerpoint/2010/main" val="1242880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As we know, cancer is one of the most common diseases in the world and takes the lives of millions of people every year. Breast cancer is one of the most common cancers affecting women worldwide. </a:t>
            </a:r>
          </a:p>
          <a:p>
            <a:r>
              <a:rPr lang="en-US" smtClean="0"/>
              <a:t>Early detection and accurate staging of breast cancer can significantly improve survival rates and quality of life for patients..Figure 1 is an image of a breast with a mass of unusual brightness.</a:t>
            </a:r>
          </a:p>
          <a:p>
            <a:endParaRPr lang="en-US" smtClean="0"/>
          </a:p>
          <a:p>
            <a:r>
              <a:rPr lang="en-US" smtClean="0"/>
              <a:t>Như chúng ta đã biết thì ung thư là một trong những căn bệnh phổ biến trên toàn thế giới và hằng năm cướp đi sinh mạng của hang triệu người, </a:t>
            </a:r>
            <a:r>
              <a:rPr lang="vi-VN" smtClean="0"/>
              <a:t>Ung thư vú là một trong những loại ung thư phổ biến nhất ảnh hưởng đến phụ nữ trên toàn thế giới</a:t>
            </a:r>
            <a:r>
              <a:rPr lang="en-US" smtClean="0"/>
              <a:t>. Việc chẩn đoán và phát hiện sớm ung thư sẽ giúp gia tăng khả năng phục hồi và điều trị cho bệnh nhân. </a:t>
            </a:r>
          </a:p>
          <a:p>
            <a:r>
              <a:rPr lang="en-US" smtClean="0"/>
              <a:t>Hình 1 là hình ảnh vú với khối u có đậm độ sáng bất thường.</a:t>
            </a:r>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3</a:t>
            </a:fld>
            <a:endParaRPr lang="en-US"/>
          </a:p>
        </p:txBody>
      </p:sp>
    </p:spTree>
    <p:extLst>
      <p:ext uri="{BB962C8B-B14F-4D97-AF65-F5344CB8AC3E}">
        <p14:creationId xmlns:p14="http://schemas.microsoft.com/office/powerpoint/2010/main" val="2058609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According to GLOBOCAN statistics in 2020, the world is estimated to have about 19.3 million cases and 10 million deaths caused by cancer. Of which, breast cancer in women is 2.26 million cases, accounting for 11.7%. </a:t>
            </a:r>
          </a:p>
          <a:p>
            <a:r>
              <a:rPr lang="en-US" smtClean="0"/>
              <a:t>In Vietnam, breast cancer is the leading disease among women. Because of the prevalence of this disease, there are currently many related studies being conducted with the goal of detecting and classifying breast cancer using many different methods, the most popular of which is the application of information technology in detecting and classifying abnormalities on mammograms.</a:t>
            </a:r>
          </a:p>
          <a:p>
            <a:endParaRPr lang="en-US" smtClean="0"/>
          </a:p>
          <a:p>
            <a:r>
              <a:rPr lang="en-US" smtClean="0"/>
              <a:t>Because of its popularity, there have been many research projects related to this disease in recent times.</a:t>
            </a:r>
          </a:p>
          <a:p>
            <a:endParaRPr lang="en-US" smtClean="0"/>
          </a:p>
          <a:p>
            <a:r>
              <a:rPr lang="vi-VN" smtClean="0"/>
              <a:t>Theo số liệu thống kê của GLOBOCAN trong năm 2020 cả thế giới ước tính có khoảng 19.3 triệu ca mắc và 10 triệu ca tử vong do ung thư gây nên. Trong đó, ung thư vú ở phụ nữ là 2.26 triệu ca chiếm 11.7%</a:t>
            </a:r>
            <a:r>
              <a:rPr lang="en-US" smtClean="0"/>
              <a:t>.</a:t>
            </a:r>
          </a:p>
          <a:p>
            <a:r>
              <a:rPr lang="en-US" smtClean="0"/>
              <a:t>Tại Việt Nam ung thư vú là căn bệnh chiếm tỉ lệ hàng đầu đối với nữ giới. Chính vì mức độ phổ biến của căn bệnh này mà hiện nay có rất nhiều nghiên cứu có liên quan được thực hiện với mục tiêu phát hiện và phân loại ung thư vú bằng nhiều phương pháp khác nhau, trong đó phổ biến nhất là ứng dụng công nghệ thông tin trong phát hiện và phân loại các bất thường trên nhũ ảnh.</a:t>
            </a:r>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4</a:t>
            </a:fld>
            <a:endParaRPr lang="en-US"/>
          </a:p>
        </p:txBody>
      </p:sp>
    </p:spTree>
    <p:extLst>
      <p:ext uri="{BB962C8B-B14F-4D97-AF65-F5344CB8AC3E}">
        <p14:creationId xmlns:p14="http://schemas.microsoft.com/office/powerpoint/2010/main" val="1814794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Some of the key points our research covers are:</a:t>
            </a:r>
          </a:p>
          <a:p>
            <a:endParaRPr lang="en-US" smtClean="0"/>
          </a:p>
          <a:p>
            <a:endParaRPr lang="en-US" smtClean="0"/>
          </a:p>
          <a:p>
            <a:r>
              <a:rPr lang="en-US" smtClean="0"/>
              <a:t>To achieve the above content, we briefly reviewed the research works of previous authors.</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5</a:t>
            </a:fld>
            <a:endParaRPr lang="en-US"/>
          </a:p>
        </p:txBody>
      </p:sp>
    </p:spTree>
    <p:extLst>
      <p:ext uri="{BB962C8B-B14F-4D97-AF65-F5344CB8AC3E}">
        <p14:creationId xmlns:p14="http://schemas.microsoft.com/office/powerpoint/2010/main" val="1549234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402590" algn="just">
              <a:lnSpc>
                <a:spcPct val="120000"/>
              </a:lnSpc>
              <a:spcBef>
                <a:spcPts val="600"/>
              </a:spcBef>
              <a:spcAft>
                <a:spcPts val="600"/>
              </a:spcAft>
            </a:pPr>
            <a:r>
              <a:rPr lang="en-GB" sz="2400" smtClean="0"/>
              <a:t>Adedigba và</a:t>
            </a:r>
            <a:r>
              <a:rPr lang="en-GB" sz="2400" baseline="0" smtClean="0"/>
              <a:t> cộng </a:t>
            </a:r>
            <a:r>
              <a:rPr lang="en-GB" sz="2400" baseline="0" smtClean="0"/>
              <a:t>sự </a:t>
            </a:r>
            <a:r>
              <a:rPr lang="vi-VN" sz="2400" baseline="0" smtClean="0"/>
              <a:t>y một phương pháp huấn luyện mô hình học sâu để chẩn đoán BC. Chúng tôi đã phát triển một phương pháp tinh chỉnh phân biệt, </a:t>
            </a:r>
            <a:r>
              <a:rPr lang="en-US" sz="2400" baseline="0" smtClean="0"/>
              <a:t>fine-tuning</a:t>
            </a:r>
            <a:r>
              <a:rPr lang="vi-VN" sz="2400" baseline="0" smtClean="0"/>
              <a:t> cho mỗi lớp của CNN sâu. Ngoài ra, mô hình được huấn luyện bằng phương pháp huấn luyện độ chính xác hỗn hợp để giảm bớt nhu cầu tính toán khi huấn luyện các mô hình học sâu. Cuối cùng, chúng tôi trình bày các phương pháp tăng cường dữ liệu cho chụp nhũ ảnh.</a:t>
            </a:r>
            <a:endParaRPr lang="en-GB" sz="2400" dirty="0"/>
          </a:p>
        </p:txBody>
      </p:sp>
      <p:sp>
        <p:nvSpPr>
          <p:cNvPr id="4" name="Slide Number Placeholder 3"/>
          <p:cNvSpPr>
            <a:spLocks noGrp="1"/>
          </p:cNvSpPr>
          <p:nvPr>
            <p:ph type="sldNum" sz="quarter" idx="5"/>
          </p:nvPr>
        </p:nvSpPr>
        <p:spPr/>
        <p:txBody>
          <a:bodyPr/>
          <a:lstStyle/>
          <a:p>
            <a:fld id="{157A3CC4-A1AF-4799-818E-6EEBBE945652}" type="slidenum">
              <a:rPr lang="en-US" smtClean="0"/>
              <a:t>6</a:t>
            </a:fld>
            <a:endParaRPr lang="en-US"/>
          </a:p>
        </p:txBody>
      </p:sp>
    </p:spTree>
    <p:extLst>
      <p:ext uri="{BB962C8B-B14F-4D97-AF65-F5344CB8AC3E}">
        <p14:creationId xmlns:p14="http://schemas.microsoft.com/office/powerpoint/2010/main" val="2991001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402590" algn="just">
              <a:lnSpc>
                <a:spcPct val="120000"/>
              </a:lnSpc>
              <a:spcBef>
                <a:spcPts val="600"/>
              </a:spcBef>
              <a:spcAft>
                <a:spcPts val="600"/>
              </a:spcAft>
            </a:pPr>
            <a:r>
              <a:rPr lang="en-US" sz="2400" smtClean="0"/>
              <a:t>Breast Cancer Prediction Using Soft Voting Classifier Based on Machine Learning Models (Mohammed S. Hashim)</a:t>
            </a:r>
            <a:endParaRPr lang="en-GB" sz="2400" dirty="0"/>
          </a:p>
        </p:txBody>
      </p:sp>
      <p:sp>
        <p:nvSpPr>
          <p:cNvPr id="4" name="Slide Number Placeholder 3"/>
          <p:cNvSpPr>
            <a:spLocks noGrp="1"/>
          </p:cNvSpPr>
          <p:nvPr>
            <p:ph type="sldNum" sz="quarter" idx="5"/>
          </p:nvPr>
        </p:nvSpPr>
        <p:spPr/>
        <p:txBody>
          <a:bodyPr/>
          <a:lstStyle/>
          <a:p>
            <a:fld id="{157A3CC4-A1AF-4799-818E-6EEBBE945652}" type="slidenum">
              <a:rPr lang="en-US" smtClean="0"/>
              <a:t>7</a:t>
            </a:fld>
            <a:endParaRPr lang="en-US"/>
          </a:p>
        </p:txBody>
      </p:sp>
    </p:spTree>
    <p:extLst>
      <p:ext uri="{BB962C8B-B14F-4D97-AF65-F5344CB8AC3E}">
        <p14:creationId xmlns:p14="http://schemas.microsoft.com/office/powerpoint/2010/main" val="2318286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402590" algn="just">
              <a:lnSpc>
                <a:spcPct val="120000"/>
              </a:lnSpc>
              <a:spcBef>
                <a:spcPts val="600"/>
              </a:spcBef>
              <a:spcAft>
                <a:spcPts val="600"/>
              </a:spcAft>
            </a:pPr>
            <a:r>
              <a:rPr lang="en-US" sz="2400" smtClean="0"/>
              <a:t>Attention-Enhanced Deep Learning Ensemble for Breast Density Classification in Mammography - Peyman Sharifian</a:t>
            </a:r>
            <a:endParaRPr lang="en-GB" sz="2400" dirty="0"/>
          </a:p>
        </p:txBody>
      </p:sp>
      <p:sp>
        <p:nvSpPr>
          <p:cNvPr id="4" name="Slide Number Placeholder 3"/>
          <p:cNvSpPr>
            <a:spLocks noGrp="1"/>
          </p:cNvSpPr>
          <p:nvPr>
            <p:ph type="sldNum" sz="quarter" idx="5"/>
          </p:nvPr>
        </p:nvSpPr>
        <p:spPr/>
        <p:txBody>
          <a:bodyPr/>
          <a:lstStyle/>
          <a:p>
            <a:fld id="{157A3CC4-A1AF-4799-818E-6EEBBE945652}" type="slidenum">
              <a:rPr lang="en-US" smtClean="0"/>
              <a:t>8</a:t>
            </a:fld>
            <a:endParaRPr lang="en-US"/>
          </a:p>
        </p:txBody>
      </p:sp>
    </p:spTree>
    <p:extLst>
      <p:ext uri="{BB962C8B-B14F-4D97-AF65-F5344CB8AC3E}">
        <p14:creationId xmlns:p14="http://schemas.microsoft.com/office/powerpoint/2010/main" val="937297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smtClean="0">
                <a:solidFill>
                  <a:schemeClr val="tx1"/>
                </a:solidFill>
                <a:effectLst/>
                <a:latin typeface="+mn-lt"/>
                <a:ea typeface="+mn-ea"/>
                <a:cs typeface="+mn-cs"/>
              </a:rPr>
              <a:t>Bản đồ kích hoạt (Activation Map): Là output của bản đồ đặc trưng CNN khi áp dụng thêm hàm activation để tạo tính phi tuyến</a:t>
            </a:r>
            <a:endParaRPr lang="en-US" sz="1200" b="0" i="0" kern="1200" smtClean="0">
              <a:solidFill>
                <a:schemeClr val="tx1"/>
              </a:solidFill>
              <a:effectLst/>
              <a:latin typeface="+mn-lt"/>
              <a:ea typeface="+mn-ea"/>
              <a:cs typeface="+mn-cs"/>
            </a:endParaRPr>
          </a:p>
          <a:p>
            <a:r>
              <a:rPr lang="en-US" sz="1200" b="0" i="0" kern="1200" smtClean="0">
                <a:solidFill>
                  <a:schemeClr val="tx1"/>
                </a:solidFill>
                <a:effectLst/>
                <a:latin typeface="+mn-lt"/>
                <a:ea typeface="+mn-ea"/>
                <a:cs typeface="+mn-cs"/>
              </a:rPr>
              <a:t>Nhóm</a:t>
            </a:r>
            <a:r>
              <a:rPr lang="en-US" sz="1200" b="0" i="0" kern="1200" baseline="0" smtClean="0">
                <a:solidFill>
                  <a:schemeClr val="tx1"/>
                </a:solidFill>
                <a:effectLst/>
                <a:latin typeface="+mn-lt"/>
                <a:ea typeface="+mn-ea"/>
                <a:cs typeface="+mn-cs"/>
              </a:rPr>
              <a:t> tác giả sử dụng PCA để giảm thời gian tính toán</a:t>
            </a:r>
          </a:p>
          <a:p>
            <a:r>
              <a:rPr lang="vi-VN" smtClean="0"/>
              <a:t>chúng ta có thể sử dụng các kỹ thuật như Grad-CAM [8] để trực quan hóa các vùng dữ liệu đầu vào phù hợp hơn cho việc dự đoán một khái niệm cụ thể.</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9</a:t>
            </a:fld>
            <a:endParaRPr lang="en-US"/>
          </a:p>
        </p:txBody>
      </p:sp>
    </p:spTree>
    <p:extLst>
      <p:ext uri="{BB962C8B-B14F-4D97-AF65-F5344CB8AC3E}">
        <p14:creationId xmlns:p14="http://schemas.microsoft.com/office/powerpoint/2010/main" val="2633832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 Accuracy [13] được đánh giá dựa trên các giá trị như true positives (TP), false positives (FP), true negatives (TN) và false negatives (FN) được mô tả theo công thức (1).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 Hàm tính toán độ đo Loss (L) được xác định bởi công thức (2) với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𝑖</m:t>
                    </m:r>
                  </m:oMath>
                </a14:m>
                <a:r>
                  <a:rPr lang="en-US" sz="1200" kern="1200">
                    <a:solidFill>
                      <a:schemeClr val="tx1"/>
                    </a:solidFill>
                    <a:effectLst/>
                    <a:latin typeface="+mn-lt"/>
                    <a:ea typeface="+mn-ea"/>
                    <a:cs typeface="+mn-cs"/>
                  </a:rPr>
                  <a:t> là nhãn dữ liệu,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𝐶</m:t>
                    </m:r>
                  </m:oMath>
                </a14:m>
                <a:r>
                  <a:rPr lang="en-US" sz="1200" kern="1200">
                    <a:solidFill>
                      <a:schemeClr val="tx1"/>
                    </a:solidFill>
                    <a:effectLst/>
                    <a:latin typeface="+mn-lt"/>
                    <a:ea typeface="+mn-ea"/>
                    <a:cs typeface="+mn-cs"/>
                  </a:rPr>
                  <a:t> là giá trị thực tế và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𝑃</m:t>
                    </m:r>
                  </m:oMath>
                </a14:m>
                <a:r>
                  <a:rPr lang="en-US" sz="1200" kern="1200">
                    <a:solidFill>
                      <a:schemeClr val="tx1"/>
                    </a:solidFill>
                    <a:effectLst/>
                    <a:latin typeface="+mn-lt"/>
                    <a:ea typeface="+mn-ea"/>
                    <a:cs typeface="+mn-cs"/>
                  </a:rPr>
                  <a:t> là giá trị dự đoán. </a:t>
                </a:r>
                <a:endParaRPr lang="en-US" sz="1200"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 Giá </a:t>
                </a:r>
                <a:r>
                  <a:rPr lang="en-US" sz="1200" kern="1200">
                    <a:solidFill>
                      <a:schemeClr val="tx1"/>
                    </a:solidFill>
                    <a:effectLst/>
                    <a:latin typeface="+mn-lt"/>
                    <a:ea typeface="+mn-ea"/>
                    <a:cs typeface="+mn-cs"/>
                  </a:rPr>
                  <a:t>trị chính xác là tỷ lệ trung bình giữa số lượng hình ảnh có liên quan trong hình ảnh N được truy xuất bởi sự giống nhau của từng hình ảnh q. Gọi tập hợp các phần tử có liên quan đến truy vấn 𝑞 ∈Q là {d1, d2, …, dmj}, độ chính xác cho tất cả các truy vấn được tính bởi công thức (3).</a:t>
                </a:r>
              </a:p>
              <a:p>
                <a:endParaRPr lang="en-US"/>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 Accuracy [13] được đánh giá dựa trên các giá trị như true positives (TP), false positives (FP), true negatives (TN) và false negatives (FN) được mô tả theo công thức (1).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 Hàm tính toán độ đo Loss (L) được xác định bởi công thức (2) với </a:t>
                </a:r>
                <a:r>
                  <a:rPr lang="en-US" sz="1200" i="0" kern="1200">
                    <a:solidFill>
                      <a:schemeClr val="tx1"/>
                    </a:solidFill>
                    <a:effectLst/>
                    <a:latin typeface="+mn-lt"/>
                    <a:ea typeface="+mn-ea"/>
                    <a:cs typeface="+mn-cs"/>
                  </a:rPr>
                  <a:t>𝑖</a:t>
                </a:r>
                <a:r>
                  <a:rPr lang="en-US" sz="1200" kern="1200">
                    <a:solidFill>
                      <a:schemeClr val="tx1"/>
                    </a:solidFill>
                    <a:effectLst/>
                    <a:latin typeface="+mn-lt"/>
                    <a:ea typeface="+mn-ea"/>
                    <a:cs typeface="+mn-cs"/>
                  </a:rPr>
                  <a:t> là nhãn dữ liệu, </a:t>
                </a:r>
                <a:r>
                  <a:rPr lang="en-US" sz="1200" i="0" kern="1200">
                    <a:solidFill>
                      <a:schemeClr val="tx1"/>
                    </a:solidFill>
                    <a:effectLst/>
                    <a:latin typeface="+mn-lt"/>
                    <a:ea typeface="+mn-ea"/>
                    <a:cs typeface="+mn-cs"/>
                  </a:rPr>
                  <a:t>𝐶</a:t>
                </a:r>
                <a:r>
                  <a:rPr lang="en-US" sz="1200" kern="1200">
                    <a:solidFill>
                      <a:schemeClr val="tx1"/>
                    </a:solidFill>
                    <a:effectLst/>
                    <a:latin typeface="+mn-lt"/>
                    <a:ea typeface="+mn-ea"/>
                    <a:cs typeface="+mn-cs"/>
                  </a:rPr>
                  <a:t> là giá trị thực tế và </a:t>
                </a:r>
                <a:r>
                  <a:rPr lang="en-US" sz="1200" i="0" kern="1200">
                    <a:solidFill>
                      <a:schemeClr val="tx1"/>
                    </a:solidFill>
                    <a:effectLst/>
                    <a:latin typeface="+mn-lt"/>
                    <a:ea typeface="+mn-ea"/>
                    <a:cs typeface="+mn-cs"/>
                  </a:rPr>
                  <a:t>𝑃</a:t>
                </a:r>
                <a:r>
                  <a:rPr lang="en-US" sz="1200" kern="1200">
                    <a:solidFill>
                      <a:schemeClr val="tx1"/>
                    </a:solidFill>
                    <a:effectLst/>
                    <a:latin typeface="+mn-lt"/>
                    <a:ea typeface="+mn-ea"/>
                    <a:cs typeface="+mn-cs"/>
                  </a:rPr>
                  <a:t> là giá trị dự đoán. </a:t>
                </a:r>
                <a:endParaRPr lang="en-US" sz="1200"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 Giá </a:t>
                </a:r>
                <a:r>
                  <a:rPr lang="en-US" sz="1200" kern="1200">
                    <a:solidFill>
                      <a:schemeClr val="tx1"/>
                    </a:solidFill>
                    <a:effectLst/>
                    <a:latin typeface="+mn-lt"/>
                    <a:ea typeface="+mn-ea"/>
                    <a:cs typeface="+mn-cs"/>
                  </a:rPr>
                  <a:t>trị chính xác là tỷ lệ trung bình giữa số lượng hình ảnh có liên quan trong hình ảnh N được truy xuất bởi sự giống nhau của từng hình ảnh q. Gọi tập hợp các phần tử có liên quan đến truy vấn 𝑞 ∈Q là {d1, d2, …, dmj}, độ chính xác cho tất cả các truy vấn được tính bởi công thức (3).</a:t>
                </a:r>
              </a:p>
              <a:p>
                <a:endParaRPr lang="en-US"/>
              </a:p>
            </p:txBody>
          </p:sp>
        </mc:Fallback>
      </mc:AlternateContent>
      <p:sp>
        <p:nvSpPr>
          <p:cNvPr id="4" name="Slide Number Placeholder 3"/>
          <p:cNvSpPr>
            <a:spLocks noGrp="1"/>
          </p:cNvSpPr>
          <p:nvPr>
            <p:ph type="sldNum" sz="quarter" idx="10"/>
          </p:nvPr>
        </p:nvSpPr>
        <p:spPr/>
        <p:txBody>
          <a:bodyPr/>
          <a:lstStyle/>
          <a:p>
            <a:fld id="{157A3CC4-A1AF-4799-818E-6EEBBE945652}" type="slidenum">
              <a:rPr lang="en-US" smtClean="0"/>
              <a:t>10</a:t>
            </a:fld>
            <a:endParaRPr lang="en-US"/>
          </a:p>
        </p:txBody>
      </p:sp>
    </p:spTree>
    <p:extLst>
      <p:ext uri="{BB962C8B-B14F-4D97-AF65-F5344CB8AC3E}">
        <p14:creationId xmlns:p14="http://schemas.microsoft.com/office/powerpoint/2010/main" val="78583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Hệ thống tìm kiếm hình ảnh dựa vào nội dung mà chúng tôi đề xuất có quy trình thực hiện như sau: </a:t>
            </a:r>
            <a:endParaRPr lang="en-US" sz="1200" b="1" i="0" kern="1200">
              <a:solidFill>
                <a:schemeClr val="tx1"/>
              </a:solidFill>
              <a:effectLst/>
              <a:latin typeface="+mn-lt"/>
              <a:ea typeface="+mn-ea"/>
              <a:cs typeface="+mn-cs"/>
            </a:endParaRPr>
          </a:p>
          <a:p>
            <a:r>
              <a:rPr lang="vi-VN" sz="1200" b="1" i="0" kern="1200">
                <a:solidFill>
                  <a:schemeClr val="tx1"/>
                </a:solidFill>
                <a:effectLst/>
                <a:latin typeface="+mn-lt"/>
                <a:ea typeface="+mn-ea"/>
                <a:cs typeface="+mn-cs"/>
              </a:rPr>
              <a:t>Chuẩn bị dữ liệu</a:t>
            </a:r>
            <a:r>
              <a:rPr lang="vi-VN" sz="1200" b="0" i="0" kern="1200">
                <a:solidFill>
                  <a:schemeClr val="tx1"/>
                </a:solidFill>
                <a:effectLst/>
                <a:latin typeface="+mn-lt"/>
                <a:ea typeface="+mn-ea"/>
                <a:cs typeface="+mn-cs"/>
              </a:rPr>
              <a:t>: Bước đầu tiên là thu thập</a:t>
            </a: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tiền xử lý</a:t>
            </a:r>
            <a:r>
              <a:rPr lang="vi-VN" sz="1200" b="0" i="0" kern="1200">
                <a:solidFill>
                  <a:schemeClr val="tx1"/>
                </a:solidFill>
                <a:effectLst/>
                <a:latin typeface="+mn-lt"/>
                <a:ea typeface="+mn-ea"/>
                <a:cs typeface="+mn-cs"/>
              </a:rPr>
              <a:t> dữ liệu,</a:t>
            </a:r>
            <a:r>
              <a:rPr lang="en-US" sz="1200" b="0" i="0" kern="120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chuẩn</a:t>
            </a:r>
            <a:r>
              <a:rPr lang="en-US" sz="1200" b="0" i="0" kern="1200" baseline="0" smtClean="0">
                <a:solidFill>
                  <a:schemeClr val="tx1"/>
                </a:solidFill>
                <a:effectLst/>
                <a:latin typeface="+mn-lt"/>
                <a:ea typeface="+mn-ea"/>
                <a:cs typeface="+mn-cs"/>
              </a:rPr>
              <a:t> hóa kích thước</a:t>
            </a:r>
            <a:r>
              <a:rPr lang="en-US" sz="1200" b="0" i="0" kern="1200" smtClean="0">
                <a:solidFill>
                  <a:schemeClr val="tx1"/>
                </a:solidFill>
                <a:effectLst/>
                <a:latin typeface="+mn-lt"/>
                <a:ea typeface="+mn-ea"/>
                <a:cs typeface="+mn-cs"/>
              </a:rPr>
              <a:t> </a:t>
            </a:r>
            <a:r>
              <a:rPr lang="en-US" sz="1200" b="0" i="0" kern="1200">
                <a:solidFill>
                  <a:schemeClr val="tx1"/>
                </a:solidFill>
                <a:effectLst/>
                <a:latin typeface="+mn-lt"/>
                <a:ea typeface="+mn-ea"/>
                <a:cs typeface="+mn-cs"/>
              </a:rPr>
              <a:t>224 x 224</a:t>
            </a:r>
            <a:r>
              <a:rPr lang="vi-VN" sz="1200" b="0" i="0" kern="1200">
                <a:solidFill>
                  <a:schemeClr val="tx1"/>
                </a:solidFill>
                <a:effectLst/>
                <a:latin typeface="+mn-lt"/>
                <a:ea typeface="+mn-ea"/>
                <a:cs typeface="+mn-cs"/>
              </a:rPr>
              <a:t> và chia dữ liệu </a:t>
            </a:r>
            <a:r>
              <a:rPr lang="en-US" sz="1200" b="0" i="0" kern="1200" smtClean="0">
                <a:solidFill>
                  <a:schemeClr val="tx1"/>
                </a:solidFill>
                <a:effectLst/>
                <a:latin typeface="+mn-lt"/>
                <a:ea typeface="+mn-ea"/>
                <a:cs typeface="+mn-cs"/>
              </a:rPr>
              <a:t>thành</a:t>
            </a:r>
            <a:r>
              <a:rPr lang="en-US" sz="1200" b="0" i="0" kern="1200" baseline="0" smtClean="0">
                <a:solidFill>
                  <a:schemeClr val="tx1"/>
                </a:solidFill>
                <a:effectLst/>
                <a:latin typeface="+mn-lt"/>
                <a:ea typeface="+mn-ea"/>
                <a:cs typeface="+mn-cs"/>
              </a:rPr>
              <a:t> 2 tập training và testing</a:t>
            </a:r>
            <a:endParaRPr lang="en-US" sz="1200" kern="1200">
              <a:solidFill>
                <a:schemeClr val="tx1"/>
              </a:solidFill>
              <a:effectLst/>
              <a:latin typeface="+mn-lt"/>
              <a:ea typeface="+mn-ea"/>
              <a:cs typeface="+mn-cs"/>
            </a:endParaRPr>
          </a:p>
          <a:p>
            <a:r>
              <a:rPr lang="en-GB" sz="1200" b="1" i="0" kern="1200">
                <a:solidFill>
                  <a:schemeClr val="tx1"/>
                </a:solidFill>
                <a:effectLst/>
                <a:latin typeface="+mn-lt"/>
                <a:ea typeface="+mn-ea"/>
                <a:cs typeface="+mn-cs"/>
              </a:rPr>
              <a:t>Chọn mô hình</a:t>
            </a:r>
            <a:r>
              <a:rPr lang="en-GB" sz="1200" b="0" i="0" kern="1200">
                <a:solidFill>
                  <a:schemeClr val="tx1"/>
                </a:solidFill>
                <a:effectLst/>
                <a:latin typeface="+mn-lt"/>
                <a:ea typeface="+mn-ea"/>
                <a:cs typeface="+mn-cs"/>
              </a:rPr>
              <a:t>: chúng tôi chọn 2 mô hình LSTM và ViT để thực hiện việc huấn luyện, trích xuất đặc tr</a:t>
            </a:r>
            <a:r>
              <a:rPr lang="vi-VN" sz="1200" b="0" i="0" kern="1200">
                <a:solidFill>
                  <a:schemeClr val="tx1"/>
                </a:solidFill>
                <a:effectLst/>
                <a:latin typeface="+mn-lt"/>
                <a:ea typeface="+mn-ea"/>
                <a:cs typeface="+mn-cs"/>
              </a:rPr>
              <a:t>ư</a:t>
            </a:r>
            <a:r>
              <a:rPr lang="en-US" sz="1200" b="0" i="0" kern="1200">
                <a:solidFill>
                  <a:schemeClr val="tx1"/>
                </a:solidFill>
                <a:effectLst/>
                <a:latin typeface="+mn-lt"/>
                <a:ea typeface="+mn-ea"/>
                <a:cs typeface="+mn-cs"/>
              </a:rPr>
              <a:t>ng, các vect</a:t>
            </a:r>
            <a:r>
              <a:rPr lang="vi-VN" sz="1200" b="0" i="0" kern="1200">
                <a:solidFill>
                  <a:schemeClr val="tx1"/>
                </a:solidFill>
                <a:effectLst/>
                <a:latin typeface="+mn-lt"/>
                <a:ea typeface="+mn-ea"/>
                <a:cs typeface="+mn-cs"/>
              </a:rPr>
              <a:t>ơ</a:t>
            </a:r>
            <a:r>
              <a:rPr lang="en-US" sz="1200" b="0" i="0" kern="1200">
                <a:solidFill>
                  <a:schemeClr val="tx1"/>
                </a:solidFill>
                <a:effectLst/>
                <a:latin typeface="+mn-lt"/>
                <a:ea typeface="+mn-ea"/>
                <a:cs typeface="+mn-cs"/>
              </a:rPr>
              <a:t> đặc tr</a:t>
            </a:r>
            <a:r>
              <a:rPr lang="vi-VN" sz="1200" b="0" i="0" kern="1200">
                <a:solidFill>
                  <a:schemeClr val="tx1"/>
                </a:solidFill>
                <a:effectLst/>
                <a:latin typeface="+mn-lt"/>
                <a:ea typeface="+mn-ea"/>
                <a:cs typeface="+mn-cs"/>
              </a:rPr>
              <a:t>ư</a:t>
            </a:r>
            <a:r>
              <a:rPr lang="en-US" sz="1200" b="0" i="0" kern="1200">
                <a:solidFill>
                  <a:schemeClr val="tx1"/>
                </a:solidFill>
                <a:effectLst/>
                <a:latin typeface="+mn-lt"/>
                <a:ea typeface="+mn-ea"/>
                <a:cs typeface="+mn-cs"/>
              </a:rPr>
              <a:t>ng đ</a:t>
            </a:r>
            <a:r>
              <a:rPr lang="vi-VN" sz="1200" b="0" i="0" kern="1200">
                <a:solidFill>
                  <a:schemeClr val="tx1"/>
                </a:solidFill>
                <a:effectLst/>
                <a:latin typeface="+mn-lt"/>
                <a:ea typeface="+mn-ea"/>
                <a:cs typeface="+mn-cs"/>
              </a:rPr>
              <a:t>ược</a:t>
            </a:r>
            <a:r>
              <a:rPr lang="en-US" sz="1200" b="0" i="0" kern="1200">
                <a:solidFill>
                  <a:schemeClr val="tx1"/>
                </a:solidFill>
                <a:effectLst/>
                <a:latin typeface="+mn-lt"/>
                <a:ea typeface="+mn-ea"/>
                <a:cs typeface="+mn-cs"/>
              </a:rPr>
              <a:t> l</a:t>
            </a:r>
            <a:r>
              <a:rPr lang="vi-VN" sz="1200" b="0" i="0" kern="1200">
                <a:solidFill>
                  <a:schemeClr val="tx1"/>
                </a:solidFill>
                <a:effectLst/>
                <a:latin typeface="+mn-lt"/>
                <a:ea typeface="+mn-ea"/>
                <a:cs typeface="+mn-cs"/>
              </a:rPr>
              <a:t>ưu</a:t>
            </a:r>
            <a:r>
              <a:rPr lang="en-US" sz="1200" b="0" i="0" kern="1200">
                <a:solidFill>
                  <a:schemeClr val="tx1"/>
                </a:solidFill>
                <a:effectLst/>
                <a:latin typeface="+mn-lt"/>
                <a:ea typeface="+mn-ea"/>
                <a:cs typeface="+mn-cs"/>
              </a:rPr>
              <a:t> trữ thành tập dữ liệu.</a:t>
            </a:r>
            <a:r>
              <a:rPr lang="en-US" sz="1200" b="0" i="0" kern="1200" baseline="0">
                <a:solidFill>
                  <a:schemeClr val="tx1"/>
                </a:solidFill>
                <a:effectLst/>
                <a:latin typeface="+mn-lt"/>
                <a:ea typeface="+mn-ea"/>
                <a:cs typeface="+mn-cs"/>
              </a:rPr>
              <a:t> </a:t>
            </a:r>
            <a:r>
              <a:rPr lang="en-US" sz="1200" kern="1200">
                <a:solidFill>
                  <a:schemeClr val="tx1"/>
                </a:solidFill>
                <a:effectLst/>
                <a:latin typeface="+mn-lt"/>
                <a:ea typeface="+mn-ea"/>
                <a:cs typeface="+mn-cs"/>
              </a:rPr>
              <a:t>kết quả thu được là các đặc trưng tương ứng đối với nội dung của hình ảnh đã được trích xuất. </a:t>
            </a:r>
          </a:p>
          <a:p>
            <a:r>
              <a:rPr lang="vi-VN" sz="1200" b="0" i="0" kern="1200">
                <a:solidFill>
                  <a:schemeClr val="tx1"/>
                </a:solidFill>
                <a:effectLst/>
                <a:latin typeface="+mn-lt"/>
                <a:ea typeface="+mn-ea"/>
                <a:cs typeface="+mn-cs"/>
              </a:rPr>
              <a:t>Sau khi có dữ liệu hình ảnh, </a:t>
            </a:r>
            <a:r>
              <a:rPr lang="en-GB" sz="1200" b="0" i="0" kern="1200">
                <a:solidFill>
                  <a:schemeClr val="tx1"/>
                </a:solidFill>
                <a:effectLst/>
                <a:latin typeface="+mn-lt"/>
                <a:ea typeface="+mn-ea"/>
                <a:cs typeface="+mn-cs"/>
              </a:rPr>
              <a:t>chúng tôi chọn 2 mô hình LSTM và ViT</a:t>
            </a:r>
            <a:r>
              <a:rPr lang="vi-VN" sz="1200" b="0" i="0" kern="1200">
                <a:solidFill>
                  <a:schemeClr val="tx1"/>
                </a:solidFill>
                <a:effectLst/>
                <a:latin typeface="+mn-lt"/>
                <a:ea typeface="+mn-ea"/>
                <a:cs typeface="+mn-cs"/>
              </a:rPr>
              <a:t> để trích xuất các đặc trưng quan trọng từ hình ảnh. </a:t>
            </a:r>
            <a:r>
              <a:rPr lang="vi-VN" sz="1200" b="1" i="0" kern="1200">
                <a:solidFill>
                  <a:schemeClr val="tx1"/>
                </a:solidFill>
                <a:effectLst/>
                <a:latin typeface="+mn-lt"/>
                <a:ea typeface="+mn-ea"/>
                <a:cs typeface="+mn-cs"/>
              </a:rPr>
              <a:t>ViT có khả năng tự học cấu trúc hình ảnh và biểu đồ tương tác giữa các hình ảnh dựa trên thông tin từ ViT được tạo ra. Điều này giúp tạo ra một biểu đồ tương tác cơ sở cho VisualRank.</a:t>
            </a:r>
            <a:r>
              <a:rPr lang="en-US" sz="1200" b="1" i="0" kern="1200">
                <a:solidFill>
                  <a:schemeClr val="tx1"/>
                </a:solidFill>
                <a:effectLst/>
                <a:latin typeface="+mn-lt"/>
                <a:ea typeface="+mn-ea"/>
                <a:cs typeface="+mn-cs"/>
              </a:rPr>
              <a:t> </a:t>
            </a:r>
            <a:endParaRPr lang="en-US" sz="1200" b="1"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VisualRank sử dụng thông tin từ biểu đồ tương tác và đặc trưng từ Vision Transformer để xác định giá trị tương tác của từng hình ảnh trong kết quả tìm kiếm. Các yếu tố như mối quan hệ giữa các hình ảnh, số lượng liên kết đến hình ảnh và đặc trưng của hình ảnh từ ViT đều có thể được sử dụng để đánh giá giá trị này. Sau đó, hệ thống sắp xếp các hình ảnh theo thứ tự dựa trên giá trị tương tác để hiển thị kết quả tìm kiếm cho người dùng.</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Bộ xử lý truy vấn nhận các truy vấn của người dùng và bộ xếp hạng sẽ tìm ra đặc trưng thích hợp nhất từ truy vấn của người dùng và các đặc trưng được đánh chỉ mục. Bộ xếp hạng có thể lấy trực tiếp các truy vấn và các đặc trưng để tính toán một điểm số (score) hoặc cũng có thể trích xuất những đặc điểm giữa các cặp đặc trưng và truy vấn để tạo ra điểm số được kết hợp từ những đặc điểm đó, và kết quả trả về cho người dùng là những hình ảnh liên quan được xếp hạng dựa theo thuật toán mà công cụ tìm kiếm sử dụng. Chi tiết các giai đoạn thực hiện của hệ thống tìm kiếm hình ảnh dựa vào nội dung mà chúng tôi đề xuất được miêu tả như hình 4.1. </a:t>
            </a:r>
          </a:p>
        </p:txBody>
      </p:sp>
      <p:sp>
        <p:nvSpPr>
          <p:cNvPr id="4" name="Slide Number Placeholder 3"/>
          <p:cNvSpPr>
            <a:spLocks noGrp="1"/>
          </p:cNvSpPr>
          <p:nvPr>
            <p:ph type="sldNum" sz="quarter" idx="5"/>
          </p:nvPr>
        </p:nvSpPr>
        <p:spPr/>
        <p:txBody>
          <a:bodyPr/>
          <a:lstStyle/>
          <a:p>
            <a:fld id="{157A3CC4-A1AF-4799-818E-6EEBBE945652}" type="slidenum">
              <a:rPr lang="en-US" smtClean="0"/>
              <a:t>11</a:t>
            </a:fld>
            <a:endParaRPr lang="en-US"/>
          </a:p>
        </p:txBody>
      </p:sp>
    </p:spTree>
    <p:extLst>
      <p:ext uri="{BB962C8B-B14F-4D97-AF65-F5344CB8AC3E}">
        <p14:creationId xmlns:p14="http://schemas.microsoft.com/office/powerpoint/2010/main" val="4019765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r>
              <a:rPr lang="en-US" smtClean="0"/>
              <a:t>1 – IncptionV3,</a:t>
            </a:r>
            <a:r>
              <a:rPr lang="en-US" baseline="0" smtClean="0"/>
              <a:t> 2 Resnet152, 3 REsnet50V2, 4 Densenet121, 5 Densenet201, 6 VGG19, 7 Xception</a:t>
            </a:r>
            <a:endParaRPr lang="en-GB"/>
          </a:p>
        </p:txBody>
      </p:sp>
      <p:sp>
        <p:nvSpPr>
          <p:cNvPr id="4" name="Slide Number Placeholder 3"/>
          <p:cNvSpPr>
            <a:spLocks noGrp="1"/>
          </p:cNvSpPr>
          <p:nvPr>
            <p:ph type="sldNum" sz="quarter" idx="10"/>
          </p:nvPr>
        </p:nvSpPr>
        <p:spPr/>
        <p:txBody>
          <a:bodyPr/>
          <a:lstStyle/>
          <a:p>
            <a:fld id="{157A3CC4-A1AF-4799-818E-6EEBBE945652}" type="slidenum">
              <a:rPr lang="en-US" smtClean="0"/>
              <a:t>12</a:t>
            </a:fld>
            <a:endParaRPr lang="en-US"/>
          </a:p>
        </p:txBody>
      </p:sp>
    </p:spTree>
    <p:extLst>
      <p:ext uri="{BB962C8B-B14F-4D97-AF65-F5344CB8AC3E}">
        <p14:creationId xmlns:p14="http://schemas.microsoft.com/office/powerpoint/2010/main" val="3036703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Tổng</a:t>
            </a:r>
            <a:r>
              <a:rPr lang="en-US" baseline="0" smtClean="0"/>
              <a:t> 4264</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13</a:t>
            </a:fld>
            <a:endParaRPr lang="en-US"/>
          </a:p>
        </p:txBody>
      </p:sp>
    </p:spTree>
    <p:extLst>
      <p:ext uri="{BB962C8B-B14F-4D97-AF65-F5344CB8AC3E}">
        <p14:creationId xmlns:p14="http://schemas.microsoft.com/office/powerpoint/2010/main" val="243662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a:p>
        </p:txBody>
      </p:sp>
      <p:sp>
        <p:nvSpPr>
          <p:cNvPr id="4" name="Slide Number Placeholder 3"/>
          <p:cNvSpPr>
            <a:spLocks noGrp="1"/>
          </p:cNvSpPr>
          <p:nvPr>
            <p:ph type="sldNum" sz="quarter" idx="10"/>
          </p:nvPr>
        </p:nvSpPr>
        <p:spPr/>
        <p:txBody>
          <a:bodyPr/>
          <a:lstStyle/>
          <a:p>
            <a:fld id="{157A3CC4-A1AF-4799-818E-6EEBBE945652}" type="slidenum">
              <a:rPr lang="en-US" smtClean="0"/>
              <a:t>14</a:t>
            </a:fld>
            <a:endParaRPr lang="en-US"/>
          </a:p>
        </p:txBody>
      </p:sp>
    </p:spTree>
    <p:extLst>
      <p:ext uri="{BB962C8B-B14F-4D97-AF65-F5344CB8AC3E}">
        <p14:creationId xmlns:p14="http://schemas.microsoft.com/office/powerpoint/2010/main" val="1873935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a:p>
        </p:txBody>
      </p:sp>
      <p:sp>
        <p:nvSpPr>
          <p:cNvPr id="4" name="Slide Number Placeholder 3"/>
          <p:cNvSpPr>
            <a:spLocks noGrp="1"/>
          </p:cNvSpPr>
          <p:nvPr>
            <p:ph type="sldNum" sz="quarter" idx="10"/>
          </p:nvPr>
        </p:nvSpPr>
        <p:spPr/>
        <p:txBody>
          <a:bodyPr/>
          <a:lstStyle/>
          <a:p>
            <a:fld id="{157A3CC4-A1AF-4799-818E-6EEBBE945652}" type="slidenum">
              <a:rPr lang="en-US" smtClean="0"/>
              <a:t>15</a:t>
            </a:fld>
            <a:endParaRPr lang="en-US"/>
          </a:p>
        </p:txBody>
      </p:sp>
    </p:spTree>
    <p:extLst>
      <p:ext uri="{BB962C8B-B14F-4D97-AF65-F5344CB8AC3E}">
        <p14:creationId xmlns:p14="http://schemas.microsoft.com/office/powerpoint/2010/main" val="2700908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 1 – IncptionV3,</a:t>
            </a:r>
            <a:r>
              <a:rPr lang="en-US" baseline="0" smtClean="0"/>
              <a:t> 2 Resnet152, 3 REsnet50V2, 4 Densenet121, 5 Densenet201, 6 VGG19, 7 Xception</a:t>
            </a:r>
            <a:endParaRPr lang="en-GB" smtClean="0"/>
          </a:p>
          <a:p>
            <a:endParaRPr lang="en-GB"/>
          </a:p>
        </p:txBody>
      </p:sp>
      <p:sp>
        <p:nvSpPr>
          <p:cNvPr id="4" name="Slide Number Placeholder 3"/>
          <p:cNvSpPr>
            <a:spLocks noGrp="1"/>
          </p:cNvSpPr>
          <p:nvPr>
            <p:ph type="sldNum" sz="quarter" idx="10"/>
          </p:nvPr>
        </p:nvSpPr>
        <p:spPr/>
        <p:txBody>
          <a:bodyPr/>
          <a:lstStyle/>
          <a:p>
            <a:fld id="{157A3CC4-A1AF-4799-818E-6EEBBE945652}" type="slidenum">
              <a:rPr lang="en-US" smtClean="0"/>
              <a:t>16</a:t>
            </a:fld>
            <a:endParaRPr lang="en-US"/>
          </a:p>
        </p:txBody>
      </p:sp>
    </p:spTree>
    <p:extLst>
      <p:ext uri="{BB962C8B-B14F-4D97-AF65-F5344CB8AC3E}">
        <p14:creationId xmlns:p14="http://schemas.microsoft.com/office/powerpoint/2010/main" val="2734223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57A3CC4-A1AF-4799-818E-6EEBBE945652}" type="slidenum">
              <a:rPr lang="en-US" smtClean="0"/>
              <a:t>17</a:t>
            </a:fld>
            <a:endParaRPr lang="en-US"/>
          </a:p>
        </p:txBody>
      </p:sp>
    </p:spTree>
    <p:extLst>
      <p:ext uri="{BB962C8B-B14F-4D97-AF65-F5344CB8AC3E}">
        <p14:creationId xmlns:p14="http://schemas.microsoft.com/office/powerpoint/2010/main" val="14482993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 1 – IncptionV3,</a:t>
            </a:r>
            <a:r>
              <a:rPr lang="en-US" baseline="0" smtClean="0"/>
              <a:t> 2 Resnet152, 3 REsnet50V2, 4 Densenet121, 5 Densenet201, 6 VGG19, 7 Xception</a:t>
            </a:r>
            <a:endParaRPr lang="en-GB" smtClean="0"/>
          </a:p>
          <a:p>
            <a:endParaRPr lang="en-GB" smtClean="0"/>
          </a:p>
          <a:p>
            <a:endParaRPr lang="en-GB"/>
          </a:p>
        </p:txBody>
      </p:sp>
      <p:sp>
        <p:nvSpPr>
          <p:cNvPr id="4" name="Slide Number Placeholder 3"/>
          <p:cNvSpPr>
            <a:spLocks noGrp="1"/>
          </p:cNvSpPr>
          <p:nvPr>
            <p:ph type="sldNum" sz="quarter" idx="10"/>
          </p:nvPr>
        </p:nvSpPr>
        <p:spPr/>
        <p:txBody>
          <a:bodyPr/>
          <a:lstStyle/>
          <a:p>
            <a:fld id="{157A3CC4-A1AF-4799-818E-6EEBBE945652}" type="slidenum">
              <a:rPr lang="en-US" smtClean="0"/>
              <a:t>18</a:t>
            </a:fld>
            <a:endParaRPr lang="en-US"/>
          </a:p>
        </p:txBody>
      </p:sp>
    </p:spTree>
    <p:extLst>
      <p:ext uri="{BB962C8B-B14F-4D97-AF65-F5344CB8AC3E}">
        <p14:creationId xmlns:p14="http://schemas.microsoft.com/office/powerpoint/2010/main" val="36578874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57A3CC4-A1AF-4799-818E-6EEBBE945652}" type="slidenum">
              <a:rPr lang="en-US" smtClean="0"/>
              <a:t>19</a:t>
            </a:fld>
            <a:endParaRPr lang="en-US"/>
          </a:p>
        </p:txBody>
      </p:sp>
    </p:spTree>
    <p:extLst>
      <p:ext uri="{BB962C8B-B14F-4D97-AF65-F5344CB8AC3E}">
        <p14:creationId xmlns:p14="http://schemas.microsoft.com/office/powerpoint/2010/main" val="2120854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Hướng phát triển trong tương lai có thể tập trung vào việc giải quyết những hạn chế này bằng cách kết hợp các tính năng bổ sung, khám phá các kiến ​​trúc mới và kết hợp dữ liệu từ nhiều nguồn, chẳng hạn như kết hợp truy vấn và xếp hạng cho video nhằm giảm việc tiêu tốn tài nguyên và thời gian</a:t>
            </a:r>
            <a:endParaRPr lang="en-GB"/>
          </a:p>
        </p:txBody>
      </p:sp>
      <p:sp>
        <p:nvSpPr>
          <p:cNvPr id="4" name="Slide Number Placeholder 3"/>
          <p:cNvSpPr>
            <a:spLocks noGrp="1"/>
          </p:cNvSpPr>
          <p:nvPr>
            <p:ph type="sldNum" sz="quarter" idx="10"/>
          </p:nvPr>
        </p:nvSpPr>
        <p:spPr/>
        <p:txBody>
          <a:bodyPr/>
          <a:lstStyle/>
          <a:p>
            <a:fld id="{157A3CC4-A1AF-4799-818E-6EEBBE945652}" type="slidenum">
              <a:rPr lang="en-US" smtClean="0"/>
              <a:t>22</a:t>
            </a:fld>
            <a:endParaRPr lang="en-US"/>
          </a:p>
        </p:txBody>
      </p:sp>
    </p:spTree>
    <p:extLst>
      <p:ext uri="{BB962C8B-B14F-4D97-AF65-F5344CB8AC3E}">
        <p14:creationId xmlns:p14="http://schemas.microsoft.com/office/powerpoint/2010/main" val="150626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6107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01064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02911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1846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3306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76114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67240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41128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95242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94132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6522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6" name="Rectangle 5"/>
          <p:cNvSpPr/>
          <p:nvPr/>
        </p:nvSpPr>
        <p:spPr>
          <a:xfrm>
            <a:off x="15" y="6374956"/>
            <a:ext cx="12188825" cy="640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400800"/>
            <a:ext cx="12188825" cy="457200"/>
          </a:xfrm>
          <a:prstGeom prst="rect">
            <a:avLst/>
          </a:prstGeom>
          <a:solidFill>
            <a:srgbClr val="110448"/>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lvl1pPr>
              <a:defRPr sz="2000" b="1"/>
            </a:lvl1pPr>
          </a:lstStyle>
          <a:p>
            <a:fld id="{BB1995A4-D8DA-4FAF-BB95-1BE7047B607C}" type="slidenum">
              <a:rPr lang="en-US" smtClean="0"/>
              <a:pPr/>
              <a:t>‹#›</a:t>
            </a:fld>
            <a:endParaRPr lang="en-US"/>
          </a:p>
        </p:txBody>
      </p:sp>
      <p:sp>
        <p:nvSpPr>
          <p:cNvPr id="2" name="Rectangle 1"/>
          <p:cNvSpPr/>
          <p:nvPr userDrawn="1"/>
        </p:nvSpPr>
        <p:spPr>
          <a:xfrm>
            <a:off x="996697" y="670560"/>
            <a:ext cx="10840720" cy="81280"/>
          </a:xfrm>
          <a:prstGeom prst="rect">
            <a:avLst/>
          </a:prstGeom>
          <a:gradFill flip="none" rotWithShape="1">
            <a:gsLst>
              <a:gs pos="9000">
                <a:schemeClr val="accent1">
                  <a:lumMod val="5000"/>
                  <a:lumOff val="95000"/>
                </a:schemeClr>
              </a:gs>
              <a:gs pos="43000">
                <a:schemeClr val="bg1">
                  <a:lumMod val="85000"/>
                </a:schemeClr>
              </a:gs>
              <a:gs pos="68000">
                <a:srgbClr val="110448"/>
              </a:gs>
              <a:gs pos="100000">
                <a:srgbClr val="110448"/>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4">
            <a:extLst>
              <a:ext uri="{FF2B5EF4-FFF2-40B4-BE49-F238E27FC236}">
                <a16:creationId xmlns:a16="http://schemas.microsoft.com/office/drawing/2014/main" id="{A30A7E01-DD0E-4051-B154-425CE3D21431}"/>
              </a:ext>
            </a:extLst>
          </p:cNvPr>
          <p:cNvSpPr/>
          <p:nvPr userDrawn="1"/>
        </p:nvSpPr>
        <p:spPr>
          <a:xfrm>
            <a:off x="983375" y="45719"/>
            <a:ext cx="6581422" cy="670519"/>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indent="180975" defTabSz="914400" eaLnBrk="1" fontAlgn="auto" latinLnBrk="0" hangingPunct="1">
              <a:lnSpc>
                <a:spcPct val="100000"/>
              </a:lnSpc>
              <a:spcBef>
                <a:spcPts val="0"/>
              </a:spcBef>
              <a:spcAft>
                <a:spcPts val="0"/>
              </a:spcAft>
              <a:buClrTx/>
              <a:buSzTx/>
              <a:buFontTx/>
              <a:buNone/>
              <a:tabLst/>
              <a:defRPr/>
            </a:pPr>
            <a:endParaRPr kumimoji="0" lang="ko-KR" altLang="en-US" sz="3600" b="1" i="0" u="none" strike="noStrike" kern="0" normalizeH="0" baseline="0" noProof="0">
              <a:ln w="0"/>
              <a:solidFill>
                <a:srgbClr val="034061"/>
              </a:solidFill>
              <a:effectLst>
                <a:outerShdw blurRad="38100" dist="19050" dir="2700000" algn="tl" rotWithShape="0">
                  <a:schemeClr val="dk1">
                    <a:alpha val="40000"/>
                  </a:schemeClr>
                </a:outerShdw>
              </a:effectLst>
              <a:uLnTx/>
              <a:uFillTx/>
              <a:latin typeface="Cambria" panose="02040503050406030204" pitchFamily="18" charset="0"/>
              <a:ea typeface="Arial Unicode MS"/>
            </a:endParaRPr>
          </a:p>
        </p:txBody>
      </p:sp>
      <p:sp>
        <p:nvSpPr>
          <p:cNvPr id="13" name="Text Placeholder 12"/>
          <p:cNvSpPr>
            <a:spLocks noGrp="1"/>
          </p:cNvSpPr>
          <p:nvPr>
            <p:ph type="body" sz="quarter" idx="13"/>
          </p:nvPr>
        </p:nvSpPr>
        <p:spPr>
          <a:xfrm>
            <a:off x="996950" y="182880"/>
            <a:ext cx="10067925" cy="452077"/>
          </a:xfrm>
        </p:spPr>
        <p:txBody>
          <a:bodyPr>
            <a:noAutofit/>
          </a:bodyPr>
          <a:lstStyle>
            <a:lvl1pPr>
              <a:defRPr sz="3200" b="1">
                <a:solidFill>
                  <a:srgbClr val="034061"/>
                </a:solidFill>
                <a:latin typeface="Cambria" panose="02040503050406030204" pitchFamily="18" charset="0"/>
                <a:ea typeface="Cambria" panose="02040503050406030204" pitchFamily="18" charset="0"/>
              </a:defRPr>
            </a:lvl1pPr>
          </a:lstStyle>
          <a:p>
            <a:pPr lvl="0"/>
            <a:r>
              <a:rPr lang="en-US" smtClean="0"/>
              <a:t>Edit Master text styles</a:t>
            </a:r>
          </a:p>
        </p:txBody>
      </p:sp>
      <p:sp>
        <p:nvSpPr>
          <p:cNvPr id="15" name="Text Placeholder 14"/>
          <p:cNvSpPr>
            <a:spLocks noGrp="1"/>
          </p:cNvSpPr>
          <p:nvPr>
            <p:ph type="body" sz="quarter" idx="14"/>
          </p:nvPr>
        </p:nvSpPr>
        <p:spPr>
          <a:xfrm>
            <a:off x="466725" y="1014413"/>
            <a:ext cx="11283950" cy="5148262"/>
          </a:xfrm>
        </p:spPr>
        <p:txBody>
          <a:bodyPr/>
          <a:lstStyle>
            <a:lvl1pPr>
              <a:defRPr sz="2400">
                <a:solidFill>
                  <a:srgbClr val="003399"/>
                </a:solidFill>
                <a:latin typeface="Cambria" panose="02040503050406030204" pitchFamily="18" charset="0"/>
                <a:ea typeface="Cambria" panose="02040503050406030204" pitchFamily="18" charset="0"/>
              </a:defRPr>
            </a:lvl1pPr>
            <a:lvl2pPr>
              <a:defRPr>
                <a:solidFill>
                  <a:srgbClr val="003399"/>
                </a:solidFill>
                <a:latin typeface="Cambria" panose="02040503050406030204" pitchFamily="18" charset="0"/>
                <a:ea typeface="Cambria" panose="02040503050406030204" pitchFamily="18" charset="0"/>
              </a:defRPr>
            </a:lvl2pPr>
            <a:lvl3pPr>
              <a:defRPr>
                <a:solidFill>
                  <a:srgbClr val="003399"/>
                </a:solidFill>
                <a:latin typeface="Cambria" panose="02040503050406030204" pitchFamily="18" charset="0"/>
                <a:ea typeface="Cambria" panose="02040503050406030204" pitchFamily="18" charset="0"/>
              </a:defRPr>
            </a:lvl3pPr>
            <a:lvl4pPr>
              <a:defRPr>
                <a:solidFill>
                  <a:srgbClr val="003399"/>
                </a:solidFill>
                <a:latin typeface="Cambria" panose="02040503050406030204" pitchFamily="18" charset="0"/>
                <a:ea typeface="Cambria" panose="02040503050406030204" pitchFamily="18" charset="0"/>
              </a:defRPr>
            </a:lvl4pPr>
            <a:lvl5pPr>
              <a:defRPr>
                <a:solidFill>
                  <a:srgbClr val="003399"/>
                </a:solidFill>
                <a:latin typeface="Cambria" panose="02040503050406030204" pitchFamily="18" charset="0"/>
                <a:ea typeface="Cambria" panose="02040503050406030204" pitchFamily="18"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3" name="Picture 2"/>
          <p:cNvPicPr>
            <a:picLocks noChangeAspect="1"/>
          </p:cNvPicPr>
          <p:nvPr userDrawn="1"/>
        </p:nvPicPr>
        <p:blipFill>
          <a:blip r:embed="rId2"/>
          <a:stretch>
            <a:fillRect/>
          </a:stretch>
        </p:blipFill>
        <p:spPr>
          <a:xfrm>
            <a:off x="44543" y="342394"/>
            <a:ext cx="938832" cy="409446"/>
          </a:xfrm>
          <a:prstGeom prst="rect">
            <a:avLst/>
          </a:prstGeom>
        </p:spPr>
      </p:pic>
    </p:spTree>
    <p:extLst>
      <p:ext uri="{BB962C8B-B14F-4D97-AF65-F5344CB8AC3E}">
        <p14:creationId xmlns:p14="http://schemas.microsoft.com/office/powerpoint/2010/main" val="4115654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270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bg>
      <p:bgRef idx="1001">
        <a:schemeClr val="bg1"/>
      </p:bgRef>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347665" y="145144"/>
            <a:ext cx="11234736" cy="706503"/>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1"/>
            <a:ext cx="11234737" cy="5397404"/>
          </a:xfrm>
        </p:spPr>
        <p:txBody>
          <a:bodyPr/>
          <a:lstStyle>
            <a:lvl1pPr>
              <a:defRPr>
                <a:latin typeface="Cambria" panose="02040503050406030204" pitchFamily="18" charset="0"/>
                <a:ea typeface="Cambria" panose="02040503050406030204" pitchFamily="18" charset="0"/>
                <a:cs typeface="Times New Roman" panose="02020603050405020304" pitchFamily="18" charset="0"/>
              </a:defRPr>
            </a:lvl1pPr>
          </a:lstStyle>
          <a:p>
            <a:pPr lvl="0"/>
            <a:endParaRPr lang="en-US"/>
          </a:p>
        </p:txBody>
      </p:sp>
      <p:sp>
        <p:nvSpPr>
          <p:cNvPr id="5" name="Rectangle: Rounded Corners 3">
            <a:extLst>
              <a:ext uri="{FF2B5EF4-FFF2-40B4-BE49-F238E27FC236}">
                <a16:creationId xmlns:a16="http://schemas.microsoft.com/office/drawing/2014/main" id="{9F3403E1-F657-927A-94DB-C64E7369A5E4}"/>
              </a:ext>
            </a:extLst>
          </p:cNvPr>
          <p:cNvSpPr/>
          <p:nvPr userDrawn="1"/>
        </p:nvSpPr>
        <p:spPr>
          <a:xfrm>
            <a:off x="347665" y="6476290"/>
            <a:ext cx="11234736" cy="45719"/>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userDrawn="1"/>
        </p:nvSpPr>
        <p:spPr>
          <a:xfrm>
            <a:off x="11134166" y="6499149"/>
            <a:ext cx="475130" cy="369332"/>
          </a:xfrm>
          <a:prstGeom prst="rect">
            <a:avLst/>
          </a:prstGeom>
          <a:solidFill>
            <a:srgbClr val="002060"/>
          </a:solidFill>
        </p:spPr>
        <p:txBody>
          <a:bodyPr wrap="square" rtlCol="0">
            <a:spAutoFit/>
          </a:bodyPr>
          <a:lstStyle/>
          <a:p>
            <a:fld id="{67037DFD-7A2B-4512-A492-6059EDE34B73}" type="slidenum">
              <a:rPr lang="en-US" smtClean="0">
                <a:solidFill>
                  <a:schemeClr val="bg1"/>
                </a:solidFill>
              </a:rPr>
              <a:t>‹#›</a:t>
            </a:fld>
            <a:endParaRPr lang="en-US">
              <a:solidFill>
                <a:schemeClr val="bg1"/>
              </a:solidFill>
            </a:endParaRPr>
          </a:p>
        </p:txBody>
      </p:sp>
      <p:sp>
        <p:nvSpPr>
          <p:cNvPr id="12" name="Title 11"/>
          <p:cNvSpPr>
            <a:spLocks noGrp="1"/>
          </p:cNvSpPr>
          <p:nvPr>
            <p:ph type="title"/>
          </p:nvPr>
        </p:nvSpPr>
        <p:spPr>
          <a:xfrm>
            <a:off x="416858" y="213164"/>
            <a:ext cx="10515600" cy="638484"/>
          </a:xfrm>
        </p:spPr>
        <p:txBody>
          <a:bodyPr>
            <a:normAutofit/>
          </a:bodyPr>
          <a:lstStyle>
            <a:lvl1pPr>
              <a:defRPr sz="3500">
                <a:solidFill>
                  <a:schemeClr val="bg1"/>
                </a:solidFill>
                <a:latin typeface="Cambria" panose="02040503050406030204" pitchFamily="18" charset="0"/>
                <a:ea typeface="Cambria" panose="02040503050406030204" pitchFamily="18" charset="0"/>
              </a:defRPr>
            </a:lvl1pPr>
          </a:lstStyle>
          <a:p>
            <a:r>
              <a:rPr lang="en-US" smtClean="0"/>
              <a:t>Click to edit Master title style</a:t>
            </a:r>
            <a:endParaRPr lang="en-US"/>
          </a:p>
        </p:txBody>
      </p:sp>
    </p:spTree>
    <p:extLst>
      <p:ext uri="{BB962C8B-B14F-4D97-AF65-F5344CB8AC3E}">
        <p14:creationId xmlns:p14="http://schemas.microsoft.com/office/powerpoint/2010/main" val="369362464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864824457"/>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9" r:id="rId12"/>
    <p:sldLayoutId id="2147483890" r:id="rId13"/>
    <p:sldLayoutId id="2147483891"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2486566"/>
            <a:ext cx="12192000" cy="1549400"/>
          </a:xfrm>
          <a:prstGeom prst="rect">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3" name="Rectangle 2"/>
          <p:cNvSpPr/>
          <p:nvPr/>
        </p:nvSpPr>
        <p:spPr>
          <a:xfrm>
            <a:off x="1589314" y="6224491"/>
            <a:ext cx="9013372" cy="54864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i="1" smtClean="0">
                <a:solidFill>
                  <a:srgbClr val="0033CC"/>
                </a:solidFill>
                <a:latin typeface="Cambria" panose="02040503050406030204" pitchFamily="18" charset="0"/>
                <a:ea typeface="Cambria" panose="02040503050406030204" pitchFamily="18" charset="0"/>
                <a:cs typeface="Times New Roman" panose="02020603050405020304" pitchFamily="18" charset="0"/>
              </a:rPr>
              <a:t>Hà Nội, ngày 21-22/8/2025</a:t>
            </a:r>
            <a:endParaRPr lang="en-US" sz="2000" b="1" i="1" dirty="0">
              <a:solidFill>
                <a:srgbClr val="0033CC"/>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9AEB781-B7F0-098E-9D4E-428D72231A1D}"/>
              </a:ext>
            </a:extLst>
          </p:cNvPr>
          <p:cNvSpPr/>
          <p:nvPr/>
        </p:nvSpPr>
        <p:spPr>
          <a:xfrm>
            <a:off x="266334" y="2656981"/>
            <a:ext cx="11544665" cy="1077218"/>
          </a:xfrm>
          <a:prstGeom prst="rect">
            <a:avLst/>
          </a:prstGeom>
          <a:effectLst>
            <a:innerShdw blurRad="63500" dist="50800" dir="16200000">
              <a:prstClr val="black">
                <a:alpha val="50000"/>
              </a:prstClr>
            </a:innerShdw>
          </a:effectLst>
        </p:spPr>
        <p:txBody>
          <a:bodyPr wrap="square">
            <a:spAutoFit/>
          </a:bodyPr>
          <a:lstStyle/>
          <a:p>
            <a:pPr algn="ctr"/>
            <a:r>
              <a:rPr lang="vi-VN" sz="3200" b="1">
                <a:solidFill>
                  <a:schemeClr val="bg1"/>
                </a:solidFill>
                <a:effectLst>
                  <a:reflection blurRad="6350" stA="55000" endA="300" endPos="45500" dir="5400000" sy="-100000" algn="bl" rotWithShape="0"/>
                </a:effectLst>
                <a:latin typeface="Cambria" panose="02040503050406030204" pitchFamily="18" charset="0"/>
                <a:ea typeface="Cambria" panose="02040503050406030204" pitchFamily="18" charset="0"/>
              </a:rPr>
              <a:t>MÔ HÌNH HỌC SÂU KẾT HỢP ESD-NET TRONG PHÂN LOẠI UNG THƯ TRÊN NHŨ ẢNH</a:t>
            </a:r>
          </a:p>
        </p:txBody>
      </p:sp>
      <p:sp>
        <p:nvSpPr>
          <p:cNvPr id="10" name="Rectangle 9">
            <a:extLst>
              <a:ext uri="{FF2B5EF4-FFF2-40B4-BE49-F238E27FC236}">
                <a16:creationId xmlns:a16="http://schemas.microsoft.com/office/drawing/2014/main" id="{230D6E2B-D424-53A8-D585-75095FB7C3F0}"/>
              </a:ext>
            </a:extLst>
          </p:cNvPr>
          <p:cNvSpPr/>
          <p:nvPr/>
        </p:nvSpPr>
        <p:spPr>
          <a:xfrm>
            <a:off x="0" y="6773131"/>
            <a:ext cx="12192000" cy="8486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802931" y="364275"/>
            <a:ext cx="9008068" cy="54864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500" b="1">
                <a:solidFill>
                  <a:srgbClr val="0033CC"/>
                </a:solidFill>
                <a:latin typeface="Cambria" panose="02040503050406030204" pitchFamily="18" charset="0"/>
                <a:ea typeface="Cambria" panose="02040503050406030204" pitchFamily="18" charset="0"/>
                <a:cs typeface="Times New Roman" panose="02020603050405020304" pitchFamily="18" charset="0"/>
              </a:rPr>
              <a:t>HỘI NGHỊ KHOA HỌC QUỐC GIA LẦN THỨ </a:t>
            </a:r>
            <a:r>
              <a:rPr lang="en-US" sz="2500" b="1" smtClean="0">
                <a:solidFill>
                  <a:srgbClr val="0033CC"/>
                </a:solidFill>
                <a:latin typeface="Cambria" panose="02040503050406030204" pitchFamily="18" charset="0"/>
                <a:ea typeface="Cambria" panose="02040503050406030204" pitchFamily="18" charset="0"/>
                <a:cs typeface="Times New Roman" panose="02020603050405020304" pitchFamily="18" charset="0"/>
              </a:rPr>
              <a:t>XVIII</a:t>
            </a:r>
            <a:endParaRPr lang="en-US" sz="2500" b="1">
              <a:solidFill>
                <a:srgbClr val="0033CC"/>
              </a:solidFill>
              <a:latin typeface="Cambria" panose="02040503050406030204" pitchFamily="18" charset="0"/>
              <a:ea typeface="Cambria" panose="02040503050406030204" pitchFamily="18" charset="0"/>
              <a:cs typeface="Times New Roman" panose="02020603050405020304" pitchFamily="18" charset="0"/>
            </a:endParaRPr>
          </a:p>
          <a:p>
            <a:pPr algn="ctr"/>
            <a:r>
              <a:rPr lang="en-US" sz="2500" b="1">
                <a:solidFill>
                  <a:srgbClr val="0033CC"/>
                </a:solidFill>
                <a:latin typeface="Cambria" panose="02040503050406030204" pitchFamily="18" charset="0"/>
                <a:ea typeface="Cambria" panose="02040503050406030204" pitchFamily="18" charset="0"/>
                <a:cs typeface="Times New Roman" panose="02020603050405020304" pitchFamily="18" charset="0"/>
              </a:rPr>
              <a:t>NGHIÊN CỨU CƠ BẢN VÀ ỨNG DỤNG CÔNG NGHỆ THÔNG TIN</a:t>
            </a:r>
            <a:endParaRPr lang="en-US" sz="2500" b="1" dirty="0">
              <a:solidFill>
                <a:srgbClr val="0033CC"/>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7" name="Rectangle 16"/>
          <p:cNvSpPr/>
          <p:nvPr/>
        </p:nvSpPr>
        <p:spPr>
          <a:xfrm>
            <a:off x="219726" y="4381416"/>
            <a:ext cx="11972274" cy="54864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smtClean="0">
                <a:solidFill>
                  <a:schemeClr val="accent3">
                    <a:lumMod val="50000"/>
                  </a:schemeClr>
                </a:solidFill>
                <a:latin typeface="Cambria" panose="02040503050406030204" pitchFamily="18" charset="0"/>
                <a:ea typeface="Cambria" panose="02040503050406030204" pitchFamily="18" charset="0"/>
                <a:cs typeface="Times New Roman" panose="02020603050405020304" pitchFamily="18" charset="0"/>
              </a:rPr>
              <a:t>NHÓM TÁC GIẢ: </a:t>
            </a:r>
            <a:r>
              <a:rPr lang="en-US" sz="2000" b="1" smtClean="0">
                <a:solidFill>
                  <a:schemeClr val="accent4">
                    <a:lumMod val="50000"/>
                  </a:schemeClr>
                </a:solidFill>
                <a:latin typeface="Cambria" panose="02040503050406030204" pitchFamily="18" charset="0"/>
                <a:ea typeface="Cambria" panose="02040503050406030204" pitchFamily="18" charset="0"/>
                <a:cs typeface="Times New Roman" panose="02020603050405020304" pitchFamily="18" charset="0"/>
              </a:rPr>
              <a:t>Trần </a:t>
            </a:r>
            <a:r>
              <a:rPr lang="en-US" sz="2000" b="1">
                <a:solidFill>
                  <a:schemeClr val="accent4">
                    <a:lumMod val="50000"/>
                  </a:schemeClr>
                </a:solidFill>
                <a:latin typeface="Cambria" panose="02040503050406030204" pitchFamily="18" charset="0"/>
                <a:ea typeface="Cambria" panose="02040503050406030204" pitchFamily="18" charset="0"/>
                <a:cs typeface="Times New Roman" panose="02020603050405020304" pitchFamily="18" charset="0"/>
              </a:rPr>
              <a:t>Hồ </a:t>
            </a:r>
            <a:r>
              <a:rPr lang="en-US" sz="2000" b="1" smtClean="0">
                <a:solidFill>
                  <a:schemeClr val="accent4">
                    <a:lumMod val="50000"/>
                  </a:schemeClr>
                </a:solidFill>
                <a:latin typeface="Cambria" panose="02040503050406030204" pitchFamily="18" charset="0"/>
                <a:ea typeface="Cambria" panose="02040503050406030204" pitchFamily="18" charset="0"/>
                <a:cs typeface="Times New Roman" panose="02020603050405020304" pitchFamily="18" charset="0"/>
              </a:rPr>
              <a:t>Đạt, Phan Thượng Cang, Nguyễn Vĩnh Phong, Phan Anh Cang</a:t>
            </a:r>
            <a:r>
              <a:rPr lang="en-US" sz="2000" b="1" smtClean="0">
                <a:solidFill>
                  <a:schemeClr val="accent3">
                    <a:lumMod val="50000"/>
                  </a:schemeClr>
                </a:solidFill>
                <a:latin typeface="Cambria" panose="02040503050406030204" pitchFamily="18" charset="0"/>
                <a:ea typeface="Cambria" panose="02040503050406030204" pitchFamily="18" charset="0"/>
                <a:cs typeface="Times New Roman" panose="02020603050405020304" pitchFamily="18" charset="0"/>
              </a:rPr>
              <a:t> </a:t>
            </a:r>
            <a:endParaRPr lang="en-US" sz="2000" b="1" dirty="0">
              <a:solidFill>
                <a:schemeClr val="accent3">
                  <a:lumMod val="50000"/>
                </a:schemeClr>
              </a:solidFill>
              <a:latin typeface="Cambria" panose="02040503050406030204" pitchFamily="18" charset="0"/>
              <a:ea typeface="Cambria" panose="020405030504060302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301006" y="83621"/>
            <a:ext cx="2545033" cy="1109948"/>
          </a:xfrm>
          <a:prstGeom prst="rect">
            <a:avLst/>
          </a:prstGeom>
        </p:spPr>
      </p:pic>
    </p:spTree>
    <p:extLst>
      <p:ext uri="{BB962C8B-B14F-4D97-AF65-F5344CB8AC3E}">
        <p14:creationId xmlns:p14="http://schemas.microsoft.com/office/powerpoint/2010/main" val="21691541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EB716C3D-6D29-0D72-6AF1-3F3CB9C25395}"/>
              </a:ext>
            </a:extLst>
          </p:cNvPr>
          <p:cNvSpPr txBox="1">
            <a:spLocks/>
          </p:cNvSpPr>
          <p:nvPr/>
        </p:nvSpPr>
        <p:spPr>
          <a:xfrm>
            <a:off x="256614" y="655308"/>
            <a:ext cx="2999542" cy="7919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chemeClr val="bg1"/>
                </a:solidFill>
                <a:latin typeface="Cambria" panose="02040503050406030204" pitchFamily="18" charset="0"/>
                <a:ea typeface="Cambria" panose="02040503050406030204" pitchFamily="18" charset="0"/>
                <a:cs typeface="Tahoma" panose="020B0604030504040204" pitchFamily="34" charset="0"/>
              </a:rPr>
              <a:t>NỘI DUNG</a:t>
            </a:r>
            <a:endParaRPr lang="en-US" b="1" dirty="0">
              <a:solidFill>
                <a:schemeClr val="bg1"/>
              </a:solidFill>
              <a:latin typeface="Cambria" panose="02040503050406030204" pitchFamily="18" charset="0"/>
              <a:ea typeface="Cambria" panose="02040503050406030204" pitchFamily="18" charset="0"/>
              <a:cs typeface="Tahoma" panose="020B0604030504040204" pitchFamily="34" charset="0"/>
            </a:endParaRPr>
          </a:p>
        </p:txBody>
      </p:sp>
      <p:sp>
        <p:nvSpPr>
          <p:cNvPr id="2" name="Text Placeholder 1"/>
          <p:cNvSpPr>
            <a:spLocks noGrp="1"/>
          </p:cNvSpPr>
          <p:nvPr>
            <p:ph type="body" sz="quarter" idx="13"/>
          </p:nvPr>
        </p:nvSpPr>
        <p:spPr/>
        <p:txBody>
          <a:bodyPr/>
          <a:lstStyle/>
          <a:p>
            <a:pPr marL="0" indent="0">
              <a:buNone/>
            </a:pPr>
            <a:r>
              <a:rPr lang="en-US" smtClean="0"/>
              <a:t>Nội dung trình bày</a:t>
            </a:r>
            <a:endParaRPr lang="en-US"/>
          </a:p>
        </p:txBody>
      </p:sp>
      <p:sp>
        <p:nvSpPr>
          <p:cNvPr id="6" name="Text Placeholder 5"/>
          <p:cNvSpPr>
            <a:spLocks noGrp="1"/>
          </p:cNvSpPr>
          <p:nvPr>
            <p:ph type="body" sz="quarter" idx="14"/>
          </p:nvPr>
        </p:nvSpPr>
        <p:spPr>
          <a:xfrm>
            <a:off x="466725" y="1014413"/>
            <a:ext cx="11283950" cy="2877363"/>
          </a:xfrm>
        </p:spPr>
        <p:txBody>
          <a:bodyPr/>
          <a:lstStyle/>
          <a:p>
            <a:pPr marL="0" indent="0">
              <a:buNone/>
            </a:pPr>
            <a:r>
              <a:rPr lang="en-US" sz="3200" smtClean="0"/>
              <a:t>1. Giới thiệu</a:t>
            </a:r>
            <a:endParaRPr lang="vi-VN" sz="3200"/>
          </a:p>
          <a:p>
            <a:pPr marL="0" indent="0">
              <a:buNone/>
            </a:pPr>
            <a:r>
              <a:rPr lang="en-US" sz="3200" smtClean="0"/>
              <a:t>2. Công việc</a:t>
            </a:r>
            <a:r>
              <a:rPr lang="vi-VN" sz="3200" smtClean="0"/>
              <a:t> </a:t>
            </a:r>
            <a:r>
              <a:rPr lang="vi-VN" sz="3200"/>
              <a:t>liên quan</a:t>
            </a:r>
          </a:p>
          <a:p>
            <a:pPr marL="0" indent="0">
              <a:buNone/>
            </a:pPr>
            <a:r>
              <a:rPr lang="en-US" sz="3200" smtClean="0"/>
              <a:t>3. </a:t>
            </a:r>
            <a:r>
              <a:rPr lang="vi-VN" sz="3200" smtClean="0"/>
              <a:t>Phương </a:t>
            </a:r>
            <a:r>
              <a:rPr lang="vi-VN" sz="3200"/>
              <a:t>pháp đề xuất</a:t>
            </a:r>
          </a:p>
          <a:p>
            <a:pPr marL="0" indent="0">
              <a:buNone/>
            </a:pPr>
            <a:r>
              <a:rPr lang="en-US" sz="3200" smtClean="0"/>
              <a:t>4. </a:t>
            </a:r>
            <a:r>
              <a:rPr lang="vi-VN" sz="3200" smtClean="0"/>
              <a:t>Kết </a:t>
            </a:r>
            <a:r>
              <a:rPr lang="vi-VN" sz="3200"/>
              <a:t>quả đạt được</a:t>
            </a:r>
          </a:p>
          <a:p>
            <a:pPr marL="0" indent="0">
              <a:buNone/>
            </a:pPr>
            <a:r>
              <a:rPr lang="en-US" sz="3200" smtClean="0"/>
              <a:t>5. </a:t>
            </a:r>
            <a:r>
              <a:rPr lang="vi-VN" sz="3200" smtClean="0"/>
              <a:t>Kết </a:t>
            </a:r>
            <a:r>
              <a:rPr lang="vi-VN" sz="3200"/>
              <a:t>luận và hướng phát triển</a:t>
            </a:r>
          </a:p>
          <a:p>
            <a:endParaRPr lang="en-US"/>
          </a:p>
        </p:txBody>
      </p:sp>
      <p:sp>
        <p:nvSpPr>
          <p:cNvPr id="8" name="Slide Number Placeholder 7"/>
          <p:cNvSpPr>
            <a:spLocks noGrp="1"/>
          </p:cNvSpPr>
          <p:nvPr>
            <p:ph type="sldNum" sz="quarter" idx="12"/>
          </p:nvPr>
        </p:nvSpPr>
        <p:spPr/>
        <p:txBody>
          <a:bodyPr/>
          <a:lstStyle/>
          <a:p>
            <a:fld id="{BB1995A4-D8DA-4FAF-BB95-1BE7047B607C}" type="slidenum">
              <a:rPr lang="en-US" smtClean="0"/>
              <a:pPr/>
              <a:t>2</a:t>
            </a:fld>
            <a:endParaRPr lang="en-US"/>
          </a:p>
        </p:txBody>
      </p:sp>
    </p:spTree>
    <p:extLst>
      <p:ext uri="{BB962C8B-B14F-4D97-AF65-F5344CB8AC3E}">
        <p14:creationId xmlns:p14="http://schemas.microsoft.com/office/powerpoint/2010/main" val="2605784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Giới thiệu</a:t>
            </a:r>
          </a:p>
        </p:txBody>
      </p:sp>
      <p:sp>
        <p:nvSpPr>
          <p:cNvPr id="7" name="Text Placeholder 3">
            <a:extLst>
              <a:ext uri="{FF2B5EF4-FFF2-40B4-BE49-F238E27FC236}">
                <a16:creationId xmlns:a16="http://schemas.microsoft.com/office/drawing/2014/main" id="{3566F4D3-DCF0-21B4-78C8-7C68967D3402}"/>
              </a:ext>
            </a:extLst>
          </p:cNvPr>
          <p:cNvSpPr txBox="1">
            <a:spLocks/>
          </p:cNvSpPr>
          <p:nvPr/>
        </p:nvSpPr>
        <p:spPr>
          <a:xfrm>
            <a:off x="416858" y="1303590"/>
            <a:ext cx="11283950" cy="1641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vi-VN" sz="2400"/>
              <a:t>Ung thư vú là một trong những loại ung thư phổ biến nhất ảnh hưởng đến phụ nữ trên toàn thế giới</a:t>
            </a:r>
            <a:r>
              <a:rPr lang="vi-VN" sz="2400" smtClean="0"/>
              <a:t>.</a:t>
            </a:r>
            <a:endParaRPr lang="en-US" sz="2400" smtClean="0"/>
          </a:p>
          <a:p>
            <a:pPr algn="just"/>
            <a:r>
              <a:rPr lang="vi-VN" sz="2400" smtClean="0"/>
              <a:t>Phát </a:t>
            </a:r>
            <a:r>
              <a:rPr lang="vi-VN" sz="2400"/>
              <a:t>hiện sớm và phân loại chính xác ung thư vú có thể cải thiện đáng kể tỷ lệ sống sót và chất lượng cuộc sống cho bệnh nhân.</a:t>
            </a:r>
            <a:endParaRPr lang="en-US" sz="2400"/>
          </a:p>
        </p:txBody>
      </p:sp>
      <p:sp>
        <p:nvSpPr>
          <p:cNvPr id="8" name="Text Placeholder 3">
            <a:extLst>
              <a:ext uri="{FF2B5EF4-FFF2-40B4-BE49-F238E27FC236}">
                <a16:creationId xmlns:a16="http://schemas.microsoft.com/office/drawing/2014/main" id="{BA70E0D6-5866-D359-1561-35D9D396DE6F}"/>
              </a:ext>
            </a:extLst>
          </p:cNvPr>
          <p:cNvSpPr txBox="1">
            <a:spLocks/>
          </p:cNvSpPr>
          <p:nvPr/>
        </p:nvSpPr>
        <p:spPr>
          <a:xfrm>
            <a:off x="1189773" y="6190257"/>
            <a:ext cx="9974500" cy="3651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600" smtClean="0">
                <a:solidFill>
                  <a:schemeClr val="tx1"/>
                </a:solidFill>
              </a:rPr>
              <a:t>Hình </a:t>
            </a:r>
            <a:r>
              <a:rPr lang="en-US" sz="1600">
                <a:solidFill>
                  <a:schemeClr val="tx1"/>
                </a:solidFill>
              </a:rPr>
              <a:t>1. </a:t>
            </a:r>
            <a:r>
              <a:rPr lang="en-US" sz="1600" smtClean="0">
                <a:solidFill>
                  <a:schemeClr val="tx1"/>
                </a:solidFill>
              </a:rPr>
              <a:t>Hai chế độ chụp nhũ ảnh MLO và CC</a:t>
            </a:r>
            <a:endParaRPr lang="en-US" sz="1600">
              <a:solidFill>
                <a:schemeClr val="tx1"/>
              </a:solidFill>
            </a:endParaRPr>
          </a:p>
        </p:txBody>
      </p:sp>
      <p:sp>
        <p:nvSpPr>
          <p:cNvPr id="9" name="Text Placeholder 2">
            <a:extLst>
              <a:ext uri="{FF2B5EF4-FFF2-40B4-BE49-F238E27FC236}">
                <a16:creationId xmlns:a16="http://schemas.microsoft.com/office/drawing/2014/main" id="{C6EBFF3D-01F7-94FA-CA6D-6914A5A5A030}"/>
              </a:ext>
            </a:extLst>
          </p:cNvPr>
          <p:cNvSpPr txBox="1">
            <a:spLocks/>
          </p:cNvSpPr>
          <p:nvPr/>
        </p:nvSpPr>
        <p:spPr>
          <a:xfrm>
            <a:off x="440296" y="849800"/>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smtClean="0">
                <a:solidFill>
                  <a:srgbClr val="C00000"/>
                </a:solidFill>
              </a:rPr>
              <a:t>Một số thách thức</a:t>
            </a:r>
            <a:endParaRPr lang="en-US" sz="2800">
              <a:solidFill>
                <a:srgbClr val="C00000"/>
              </a:solidFill>
            </a:endParaRPr>
          </a:p>
        </p:txBody>
      </p:sp>
      <p:pic>
        <p:nvPicPr>
          <p:cNvPr id="10" name="Picture 9">
            <a:extLst>
              <a:ext uri="{FF2B5EF4-FFF2-40B4-BE49-F238E27FC236}">
                <a16:creationId xmlns:a16="http://schemas.microsoft.com/office/drawing/2014/main" id="{DC42A336-B1F2-CC32-E162-5761E3E505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9058" y="2945301"/>
            <a:ext cx="5339549" cy="3244957"/>
          </a:xfrm>
          <a:prstGeom prst="rect">
            <a:avLst/>
          </a:prstGeom>
        </p:spPr>
      </p:pic>
    </p:spTree>
    <p:extLst>
      <p:ext uri="{BB962C8B-B14F-4D97-AF65-F5344CB8AC3E}">
        <p14:creationId xmlns:p14="http://schemas.microsoft.com/office/powerpoint/2010/main" val="2918808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Giới thiệu</a:t>
            </a:r>
          </a:p>
        </p:txBody>
      </p:sp>
      <p:sp>
        <p:nvSpPr>
          <p:cNvPr id="6" name="TextBox 5"/>
          <p:cNvSpPr txBox="1"/>
          <p:nvPr/>
        </p:nvSpPr>
        <p:spPr>
          <a:xfrm>
            <a:off x="1" y="6488668"/>
            <a:ext cx="12191999" cy="369332"/>
          </a:xfrm>
          <a:prstGeom prst="rect">
            <a:avLst/>
          </a:prstGeom>
          <a:noFill/>
        </p:spPr>
        <p:txBody>
          <a:bodyPr wrap="square" rtlCol="0">
            <a:spAutoFit/>
          </a:bodyPr>
          <a:lstStyle/>
          <a:p>
            <a:pPr algn="ctr"/>
            <a:r>
              <a:rPr lang="en-US" smtClean="0">
                <a:latin typeface="Cambria" panose="02040503050406030204" pitchFamily="18" charset="0"/>
                <a:ea typeface="Cambria" panose="02040503050406030204" pitchFamily="18" charset="0"/>
              </a:rPr>
              <a:t>Hình </a:t>
            </a:r>
            <a:r>
              <a:rPr lang="en-US">
                <a:latin typeface="Cambria" panose="02040503050406030204" pitchFamily="18" charset="0"/>
                <a:ea typeface="Cambria" panose="02040503050406030204" pitchFamily="18" charset="0"/>
              </a:rPr>
              <a:t>2. </a:t>
            </a:r>
            <a:r>
              <a:rPr lang="en-US" smtClean="0">
                <a:latin typeface="Cambria" panose="02040503050406030204" pitchFamily="18" charset="0"/>
                <a:ea typeface="Cambria" panose="02040503050406030204" pitchFamily="18" charset="0"/>
              </a:rPr>
              <a:t>Thống kê tỉ lệ ung thư tại Việt Nam</a:t>
            </a:r>
            <a:endParaRPr lang="en-US">
              <a:latin typeface="Cambria" panose="02040503050406030204" pitchFamily="18" charset="0"/>
              <a:ea typeface="Cambria" panose="02040503050406030204" pitchFamily="18" charset="0"/>
            </a:endParaRPr>
          </a:p>
        </p:txBody>
      </p:sp>
      <p:sp>
        <p:nvSpPr>
          <p:cNvPr id="7" name="Text Placeholder 3"/>
          <p:cNvSpPr txBox="1">
            <a:spLocks/>
          </p:cNvSpPr>
          <p:nvPr/>
        </p:nvSpPr>
        <p:spPr>
          <a:xfrm>
            <a:off x="466725" y="1272500"/>
            <a:ext cx="11173587" cy="13665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sz="2200"/>
              <a:t>Ung thư vú (BC) </a:t>
            </a:r>
            <a:r>
              <a:rPr lang="vi-VN" sz="2200" smtClean="0"/>
              <a:t>ảnh </a:t>
            </a:r>
            <a:r>
              <a:rPr lang="vi-VN" sz="2200"/>
              <a:t>hưởng đến 2,3 triệu phụ nữ trên toàn thế giới vào năm 2020, với 685.000 ca tử </a:t>
            </a:r>
            <a:r>
              <a:rPr lang="vi-VN" sz="2200" smtClean="0"/>
              <a:t>von</a:t>
            </a:r>
            <a:r>
              <a:rPr lang="en-US" sz="2200"/>
              <a:t>g</a:t>
            </a:r>
            <a:r>
              <a:rPr lang="vi-VN" sz="2200" smtClean="0"/>
              <a:t>, </a:t>
            </a:r>
            <a:r>
              <a:rPr lang="vi-VN" sz="2200"/>
              <a:t>khiến nó trở thành loại ung thư phổ biến nhất trên thế </a:t>
            </a:r>
            <a:r>
              <a:rPr lang="vi-VN" sz="2200" smtClean="0"/>
              <a:t>giới[1</a:t>
            </a:r>
            <a:r>
              <a:rPr lang="vi-VN" sz="2200"/>
              <a:t>].</a:t>
            </a:r>
            <a:endParaRPr lang="en-US" sz="2200"/>
          </a:p>
        </p:txBody>
      </p:sp>
      <p:sp>
        <p:nvSpPr>
          <p:cNvPr id="8" name="Text Placeholder 2">
            <a:extLst>
              <a:ext uri="{FF2B5EF4-FFF2-40B4-BE49-F238E27FC236}">
                <a16:creationId xmlns:a16="http://schemas.microsoft.com/office/drawing/2014/main" id="{7FAB9184-9F82-0A15-9420-C7CB676F04E4}"/>
              </a:ext>
            </a:extLst>
          </p:cNvPr>
          <p:cNvSpPr txBox="1">
            <a:spLocks/>
          </p:cNvSpPr>
          <p:nvPr/>
        </p:nvSpPr>
        <p:spPr>
          <a:xfrm>
            <a:off x="440296" y="869981"/>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smtClean="0">
                <a:solidFill>
                  <a:srgbClr val="C00000"/>
                </a:solidFill>
              </a:rPr>
              <a:t>Một số thách thức</a:t>
            </a:r>
            <a:endParaRPr lang="en-US" sz="2800">
              <a:solidFill>
                <a:srgbClr val="C00000"/>
              </a:solidFill>
            </a:endParaRPr>
          </a:p>
        </p:txBody>
      </p:sp>
      <p:pic>
        <p:nvPicPr>
          <p:cNvPr id="1028" name="Picture 4" descr="Việt Nam có tỷ lệ ung thư trung bình nhưng tỷ lệ tử vong do ung thư ca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5688" y="1916008"/>
            <a:ext cx="6317636" cy="45329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ancer infographic"/>
          <p:cNvPicPr>
            <a:picLocks noChangeAspect="1" noChangeArrowheads="1"/>
          </p:cNvPicPr>
          <p:nvPr/>
        </p:nvPicPr>
        <p:blipFill rotWithShape="1">
          <a:blip r:embed="rId4">
            <a:extLst>
              <a:ext uri="{28A0092B-C50C-407E-A947-70E740481C1C}">
                <a14:useLocalDpi xmlns:a14="http://schemas.microsoft.com/office/drawing/2010/main" val="0"/>
              </a:ext>
            </a:extLst>
          </a:blip>
          <a:srcRect t="9867" b="12518"/>
          <a:stretch/>
        </p:blipFill>
        <p:spPr bwMode="auto">
          <a:xfrm>
            <a:off x="925375" y="1955764"/>
            <a:ext cx="4093885" cy="4496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12066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Giới thiệu</a:t>
            </a:r>
          </a:p>
        </p:txBody>
      </p:sp>
      <p:sp>
        <p:nvSpPr>
          <p:cNvPr id="4" name="Freeform: Shape 6">
            <a:extLst>
              <a:ext uri="{FF2B5EF4-FFF2-40B4-BE49-F238E27FC236}">
                <a16:creationId xmlns:a16="http://schemas.microsoft.com/office/drawing/2014/main" id="{73376055-55FE-412B-65E9-9C0166160F17}"/>
              </a:ext>
            </a:extLst>
          </p:cNvPr>
          <p:cNvSpPr/>
          <p:nvPr/>
        </p:nvSpPr>
        <p:spPr>
          <a:xfrm>
            <a:off x="3161436" y="2666822"/>
            <a:ext cx="2724470" cy="2359422"/>
          </a:xfrm>
          <a:custGeom>
            <a:avLst/>
            <a:gdLst>
              <a:gd name="connsiteX0" fmla="*/ 2147452 w 2863388"/>
              <a:gd name="connsiteY0" fmla="*/ 0 h 2479727"/>
              <a:gd name="connsiteX1" fmla="*/ 715817 w 2863388"/>
              <a:gd name="connsiteY1" fmla="*/ 0 h 2479727"/>
              <a:gd name="connsiteX2" fmla="*/ 0 w 2863388"/>
              <a:gd name="connsiteY2" fmla="*/ 1239804 h 2479727"/>
              <a:gd name="connsiteX3" fmla="*/ 715817 w 2863388"/>
              <a:gd name="connsiteY3" fmla="*/ 2479728 h 2479727"/>
              <a:gd name="connsiteX4" fmla="*/ 2147452 w 2863388"/>
              <a:gd name="connsiteY4" fmla="*/ 2479728 h 2479727"/>
              <a:gd name="connsiteX5" fmla="*/ 2863389 w 2863388"/>
              <a:gd name="connsiteY5" fmla="*/ 1239804 h 2479727"/>
              <a:gd name="connsiteX6" fmla="*/ 2147452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2147452" y="0"/>
                </a:moveTo>
                <a:lnTo>
                  <a:pt x="715817" y="0"/>
                </a:lnTo>
                <a:lnTo>
                  <a:pt x="0" y="1239804"/>
                </a:lnTo>
                <a:lnTo>
                  <a:pt x="715817" y="2479728"/>
                </a:lnTo>
                <a:lnTo>
                  <a:pt x="2147452" y="2479728"/>
                </a:lnTo>
                <a:lnTo>
                  <a:pt x="2863389" y="1239804"/>
                </a:lnTo>
                <a:lnTo>
                  <a:pt x="2147452" y="0"/>
                </a:lnTo>
                <a:close/>
              </a:path>
            </a:pathLst>
          </a:custGeom>
          <a:gradFill>
            <a:gsLst>
              <a:gs pos="0">
                <a:srgbClr val="5FB7A2">
                  <a:lumMod val="75000"/>
                </a:srgbClr>
              </a:gs>
              <a:gs pos="100000">
                <a:srgbClr val="5FB7A2"/>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5" name="Freeform: Shape 8">
            <a:extLst>
              <a:ext uri="{FF2B5EF4-FFF2-40B4-BE49-F238E27FC236}">
                <a16:creationId xmlns:a16="http://schemas.microsoft.com/office/drawing/2014/main" id="{6CBBA946-F3B2-E57F-478F-BBDF0E578D52}"/>
              </a:ext>
            </a:extLst>
          </p:cNvPr>
          <p:cNvSpPr/>
          <p:nvPr/>
        </p:nvSpPr>
        <p:spPr>
          <a:xfrm>
            <a:off x="5261196" y="1451322"/>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924 h 2479727"/>
              <a:gd name="connsiteX3" fmla="*/ 2147572 w 2863388"/>
              <a:gd name="connsiteY3" fmla="*/ 2479728 h 2479727"/>
              <a:gd name="connsiteX4" fmla="*/ 715937 w 2863388"/>
              <a:gd name="connsiteY4" fmla="*/ 2479728 h 2479727"/>
              <a:gd name="connsiteX5" fmla="*/ 0 w 2863388"/>
              <a:gd name="connsiteY5" fmla="*/ 123992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924"/>
                </a:lnTo>
                <a:lnTo>
                  <a:pt x="2147572" y="2479728"/>
                </a:lnTo>
                <a:lnTo>
                  <a:pt x="715937" y="2479728"/>
                </a:lnTo>
                <a:lnTo>
                  <a:pt x="0" y="1239924"/>
                </a:lnTo>
                <a:lnTo>
                  <a:pt x="715937" y="0"/>
                </a:lnTo>
                <a:close/>
              </a:path>
            </a:pathLst>
          </a:custGeom>
          <a:gradFill>
            <a:gsLst>
              <a:gs pos="0">
                <a:srgbClr val="E35A35">
                  <a:lumMod val="75000"/>
                </a:srgbClr>
              </a:gs>
              <a:gs pos="100000">
                <a:srgbClr val="E35A35"/>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6" name="Freeform: Shape 10">
            <a:extLst>
              <a:ext uri="{FF2B5EF4-FFF2-40B4-BE49-F238E27FC236}">
                <a16:creationId xmlns:a16="http://schemas.microsoft.com/office/drawing/2014/main" id="{E194C910-DF3A-D00E-1F01-74BDF1BEBDD1}"/>
              </a:ext>
            </a:extLst>
          </p:cNvPr>
          <p:cNvSpPr/>
          <p:nvPr/>
        </p:nvSpPr>
        <p:spPr>
          <a:xfrm>
            <a:off x="5261196" y="3882210"/>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804 h 2479727"/>
              <a:gd name="connsiteX3" fmla="*/ 2147572 w 2863388"/>
              <a:gd name="connsiteY3" fmla="*/ 2479728 h 2479727"/>
              <a:gd name="connsiteX4" fmla="*/ 715937 w 2863388"/>
              <a:gd name="connsiteY4" fmla="*/ 2479728 h 2479727"/>
              <a:gd name="connsiteX5" fmla="*/ 0 w 2863388"/>
              <a:gd name="connsiteY5" fmla="*/ 123980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804"/>
                </a:lnTo>
                <a:lnTo>
                  <a:pt x="2147572" y="2479728"/>
                </a:lnTo>
                <a:lnTo>
                  <a:pt x="715937" y="2479728"/>
                </a:lnTo>
                <a:lnTo>
                  <a:pt x="0" y="1239804"/>
                </a:lnTo>
                <a:lnTo>
                  <a:pt x="715937" y="0"/>
                </a:lnTo>
                <a:close/>
              </a:path>
            </a:pathLst>
          </a:custGeom>
          <a:gradFill>
            <a:gsLst>
              <a:gs pos="0">
                <a:srgbClr val="3081AC">
                  <a:lumMod val="75000"/>
                </a:srgbClr>
              </a:gs>
              <a:gs pos="100000">
                <a:srgbClr val="3081AC"/>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7" name="Group 6">
            <a:extLst>
              <a:ext uri="{FF2B5EF4-FFF2-40B4-BE49-F238E27FC236}">
                <a16:creationId xmlns:a16="http://schemas.microsoft.com/office/drawing/2014/main" id="{C3C221D3-13F6-F34D-5030-EFA718B22469}"/>
              </a:ext>
            </a:extLst>
          </p:cNvPr>
          <p:cNvGrpSpPr/>
          <p:nvPr/>
        </p:nvGrpSpPr>
        <p:grpSpPr>
          <a:xfrm>
            <a:off x="5581738" y="4267790"/>
            <a:ext cx="5138268" cy="1825667"/>
            <a:chOff x="6102599" y="4279364"/>
            <a:chExt cx="5138268" cy="1825667"/>
          </a:xfrm>
        </p:grpSpPr>
        <p:sp>
          <p:nvSpPr>
            <p:cNvPr id="8" name="Freeform: Shape 15">
              <a:extLst>
                <a:ext uri="{FF2B5EF4-FFF2-40B4-BE49-F238E27FC236}">
                  <a16:creationId xmlns:a16="http://schemas.microsoft.com/office/drawing/2014/main" id="{81BFC488-FF31-32FC-9639-6813421C1427}"/>
                </a:ext>
              </a:extLst>
            </p:cNvPr>
            <p:cNvSpPr/>
            <p:nvPr/>
          </p:nvSpPr>
          <p:spPr>
            <a:xfrm>
              <a:off x="6102599" y="4419615"/>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9" name="Group 8">
              <a:extLst>
                <a:ext uri="{FF2B5EF4-FFF2-40B4-BE49-F238E27FC236}">
                  <a16:creationId xmlns:a16="http://schemas.microsoft.com/office/drawing/2014/main" id="{19AAC97A-D4A1-1041-71D0-067BA3E4BE11}"/>
                </a:ext>
              </a:extLst>
            </p:cNvPr>
            <p:cNvGrpSpPr/>
            <p:nvPr/>
          </p:nvGrpSpPr>
          <p:grpSpPr>
            <a:xfrm>
              <a:off x="6287656" y="4279364"/>
              <a:ext cx="4953211" cy="1588148"/>
              <a:chOff x="6287656" y="4279364"/>
              <a:chExt cx="4953211" cy="1588148"/>
            </a:xfrm>
          </p:grpSpPr>
          <p:sp>
            <p:nvSpPr>
              <p:cNvPr id="10" name="Freeform: Shape 11">
                <a:extLst>
                  <a:ext uri="{FF2B5EF4-FFF2-40B4-BE49-F238E27FC236}">
                    <a16:creationId xmlns:a16="http://schemas.microsoft.com/office/drawing/2014/main" id="{A86169BC-9CB5-466B-4202-BAF205EAA8E4}"/>
                  </a:ext>
                </a:extLst>
              </p:cNvPr>
              <p:cNvSpPr/>
              <p:nvPr/>
            </p:nvSpPr>
            <p:spPr>
              <a:xfrm>
                <a:off x="6287656" y="4279364"/>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3" name="TextBox 12">
                <a:extLst>
                  <a:ext uri="{FF2B5EF4-FFF2-40B4-BE49-F238E27FC236}">
                    <a16:creationId xmlns:a16="http://schemas.microsoft.com/office/drawing/2014/main" id="{6B903497-ED4F-823C-42CB-8EDB73A7BEB0}"/>
                  </a:ext>
                </a:extLst>
              </p:cNvPr>
              <p:cNvSpPr txBox="1"/>
              <p:nvPr/>
            </p:nvSpPr>
            <p:spPr>
              <a:xfrm>
                <a:off x="7997921" y="4640523"/>
                <a:ext cx="2495908" cy="293370"/>
              </a:xfrm>
              <a:prstGeom prst="rect">
                <a:avLst/>
              </a:prstGeom>
              <a:noFill/>
            </p:spPr>
            <p:txBody>
              <a:bodyPr wrap="square" lIns="0" tIns="0" rIns="0" bIns="0" rtlCol="0" anchor="ctr">
                <a:noAutofit/>
              </a:bodyPr>
              <a:lstStyle/>
              <a:p>
                <a:pPr lvl="0" defTabSz="1218987"/>
                <a:r>
                  <a:rPr lang="en-US" sz="2200" b="1" kern="0" smtClean="0">
                    <a:solidFill>
                      <a:prstClr val="black">
                        <a:lumMod val="95000"/>
                        <a:lumOff val="5000"/>
                      </a:prstClr>
                    </a:solidFill>
                    <a:latin typeface="Segoe UI"/>
                    <a:ea typeface="Segoe UI Black" panose="020B0A02040204020203" pitchFamily="34" charset="0"/>
                  </a:rPr>
                  <a:t>Xây dựng tâp dữ liệu nhũ ảnh.</a:t>
                </a:r>
                <a:endParaRPr lang="en-US" sz="2200" b="1" kern="0" dirty="0">
                  <a:solidFill>
                    <a:prstClr val="black">
                      <a:lumMod val="95000"/>
                      <a:lumOff val="5000"/>
                    </a:prstClr>
                  </a:solidFill>
                  <a:latin typeface="Segoe UI"/>
                  <a:ea typeface="Segoe UI Black" panose="020B0A02040204020203" pitchFamily="34" charset="0"/>
                </a:endParaRPr>
              </a:p>
            </p:txBody>
          </p:sp>
        </p:grpSp>
      </p:grpSp>
      <p:grpSp>
        <p:nvGrpSpPr>
          <p:cNvPr id="15" name="Group 14">
            <a:extLst>
              <a:ext uri="{FF2B5EF4-FFF2-40B4-BE49-F238E27FC236}">
                <a16:creationId xmlns:a16="http://schemas.microsoft.com/office/drawing/2014/main" id="{376DF98B-D7F2-56AE-D18B-FAC8E23999CC}"/>
              </a:ext>
            </a:extLst>
          </p:cNvPr>
          <p:cNvGrpSpPr/>
          <p:nvPr/>
        </p:nvGrpSpPr>
        <p:grpSpPr>
          <a:xfrm>
            <a:off x="242039" y="3052403"/>
            <a:ext cx="5138268" cy="1825667"/>
            <a:chOff x="762900" y="3063977"/>
            <a:chExt cx="5138268" cy="1825667"/>
          </a:xfrm>
        </p:grpSpPr>
        <p:sp>
          <p:nvSpPr>
            <p:cNvPr id="16" name="Freeform: Shape 13">
              <a:extLst>
                <a:ext uri="{FF2B5EF4-FFF2-40B4-BE49-F238E27FC236}">
                  <a16:creationId xmlns:a16="http://schemas.microsoft.com/office/drawing/2014/main" id="{C2215B71-9FB4-ABF7-3F21-F43E6B482D18}"/>
                </a:ext>
              </a:extLst>
            </p:cNvPr>
            <p:cNvSpPr/>
            <p:nvPr/>
          </p:nvSpPr>
          <p:spPr>
            <a:xfrm>
              <a:off x="762900" y="3204228"/>
              <a:ext cx="4953211" cy="1685416"/>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7" name="Freeform: Shape 7">
              <a:extLst>
                <a:ext uri="{FF2B5EF4-FFF2-40B4-BE49-F238E27FC236}">
                  <a16:creationId xmlns:a16="http://schemas.microsoft.com/office/drawing/2014/main" id="{A5B488C9-B71E-BF57-F43D-43FB341A9510}"/>
                </a:ext>
              </a:extLst>
            </p:cNvPr>
            <p:cNvSpPr/>
            <p:nvPr/>
          </p:nvSpPr>
          <p:spPr>
            <a:xfrm>
              <a:off x="947957" y="3063977"/>
              <a:ext cx="4953211" cy="1588148"/>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gradFill flip="none" rotWithShape="1">
              <a:gsLst>
                <a:gs pos="0">
                  <a:sysClr val="window" lastClr="FFFFFF"/>
                </a:gs>
                <a:gs pos="100000">
                  <a:sysClr val="window" lastClr="FFFFFF">
                    <a:lumMod val="95000"/>
                  </a:sysClr>
                </a:gs>
              </a:gsLst>
              <a:lin ang="10800000" scaled="1"/>
              <a:tileRect/>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0" name="TextBox 19">
              <a:extLst>
                <a:ext uri="{FF2B5EF4-FFF2-40B4-BE49-F238E27FC236}">
                  <a16:creationId xmlns:a16="http://schemas.microsoft.com/office/drawing/2014/main" id="{A3350A8D-9C8D-6877-F67A-4D92B29B0353}"/>
                </a:ext>
              </a:extLst>
            </p:cNvPr>
            <p:cNvSpPr txBox="1"/>
            <p:nvPr/>
          </p:nvSpPr>
          <p:spPr>
            <a:xfrm>
              <a:off x="1705980" y="3425135"/>
              <a:ext cx="2495908" cy="994479"/>
            </a:xfrm>
            <a:prstGeom prst="rect">
              <a:avLst/>
            </a:prstGeom>
            <a:noFill/>
          </p:spPr>
          <p:txBody>
            <a:bodyPr wrap="square" lIns="0" tIns="0" rIns="0" bIns="0" rtlCol="0" anchor="ctr">
              <a:noAutofit/>
            </a:bodyPr>
            <a:lstStyle/>
            <a:p>
              <a:pPr lvl="0" algn="r" defTabSz="1218987"/>
              <a:r>
                <a:rPr lang="en-US" sz="2200" b="1" kern="0" smtClean="0">
                  <a:solidFill>
                    <a:prstClr val="black">
                      <a:lumMod val="95000"/>
                      <a:lumOff val="5000"/>
                    </a:prstClr>
                  </a:solidFill>
                  <a:latin typeface="Segoe UI"/>
                  <a:ea typeface="Segoe UI Black" panose="020B0A02040204020203" pitchFamily="34" charset="0"/>
                </a:rPr>
                <a:t>So sánh, đánh giá hiệu quả phương pháp đề xuất</a:t>
              </a:r>
              <a:endParaRPr lang="en-US" sz="2200" b="1" kern="0" dirty="0">
                <a:solidFill>
                  <a:prstClr val="black">
                    <a:lumMod val="95000"/>
                    <a:lumOff val="5000"/>
                  </a:prstClr>
                </a:solidFill>
                <a:latin typeface="Segoe UI"/>
                <a:ea typeface="Segoe UI Black" panose="020B0A02040204020203" pitchFamily="34" charset="0"/>
              </a:endParaRPr>
            </a:p>
          </p:txBody>
        </p:sp>
        <p:pic>
          <p:nvPicPr>
            <p:cNvPr id="19" name="Graphic 28" descr="Gears outline">
              <a:extLst>
                <a:ext uri="{FF2B5EF4-FFF2-40B4-BE49-F238E27FC236}">
                  <a16:creationId xmlns:a16="http://schemas.microsoft.com/office/drawing/2014/main" id="{4B73FE0E-1DF0-11B1-163B-7A80CF32BAF1}"/>
                </a:ext>
              </a:extLst>
            </p:cNvPr>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556650" y="3479617"/>
              <a:ext cx="756868" cy="756868"/>
            </a:xfrm>
            <a:prstGeom prst="rect">
              <a:avLst/>
            </a:prstGeom>
          </p:spPr>
        </p:pic>
      </p:grpSp>
      <p:grpSp>
        <p:nvGrpSpPr>
          <p:cNvPr id="22" name="Group 21">
            <a:extLst>
              <a:ext uri="{FF2B5EF4-FFF2-40B4-BE49-F238E27FC236}">
                <a16:creationId xmlns:a16="http://schemas.microsoft.com/office/drawing/2014/main" id="{27F430EC-ECD2-7C8D-BA48-E521C43BAA8F}"/>
              </a:ext>
            </a:extLst>
          </p:cNvPr>
          <p:cNvGrpSpPr/>
          <p:nvPr/>
        </p:nvGrpSpPr>
        <p:grpSpPr>
          <a:xfrm>
            <a:off x="5581738" y="1837015"/>
            <a:ext cx="5138268" cy="1825667"/>
            <a:chOff x="6102599" y="1848589"/>
            <a:chExt cx="5138268" cy="1825667"/>
          </a:xfrm>
        </p:grpSpPr>
        <p:sp>
          <p:nvSpPr>
            <p:cNvPr id="23" name="Freeform: Shape 14">
              <a:extLst>
                <a:ext uri="{FF2B5EF4-FFF2-40B4-BE49-F238E27FC236}">
                  <a16:creationId xmlns:a16="http://schemas.microsoft.com/office/drawing/2014/main" id="{8C93AB23-A1B5-E974-00AB-47D1331715DD}"/>
                </a:ext>
              </a:extLst>
            </p:cNvPr>
            <p:cNvSpPr/>
            <p:nvPr/>
          </p:nvSpPr>
          <p:spPr>
            <a:xfrm>
              <a:off x="6102599" y="1988840"/>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24" name="Group 23">
              <a:extLst>
                <a:ext uri="{FF2B5EF4-FFF2-40B4-BE49-F238E27FC236}">
                  <a16:creationId xmlns:a16="http://schemas.microsoft.com/office/drawing/2014/main" id="{0710448D-1A34-489D-574C-6BC1C9E258E1}"/>
                </a:ext>
              </a:extLst>
            </p:cNvPr>
            <p:cNvGrpSpPr/>
            <p:nvPr/>
          </p:nvGrpSpPr>
          <p:grpSpPr>
            <a:xfrm>
              <a:off x="6287656" y="1848589"/>
              <a:ext cx="4953211" cy="1588148"/>
              <a:chOff x="6287656" y="1848589"/>
              <a:chExt cx="4953211" cy="1588148"/>
            </a:xfrm>
          </p:grpSpPr>
          <p:sp>
            <p:nvSpPr>
              <p:cNvPr id="25" name="Freeform: Shape 9">
                <a:extLst>
                  <a:ext uri="{FF2B5EF4-FFF2-40B4-BE49-F238E27FC236}">
                    <a16:creationId xmlns:a16="http://schemas.microsoft.com/office/drawing/2014/main" id="{86209F18-D929-9875-9B3D-06B8715E2246}"/>
                  </a:ext>
                </a:extLst>
              </p:cNvPr>
              <p:cNvSpPr/>
              <p:nvPr/>
            </p:nvSpPr>
            <p:spPr>
              <a:xfrm>
                <a:off x="6287656" y="1848589"/>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8" name="TextBox 27">
                <a:extLst>
                  <a:ext uri="{FF2B5EF4-FFF2-40B4-BE49-F238E27FC236}">
                    <a16:creationId xmlns:a16="http://schemas.microsoft.com/office/drawing/2014/main" id="{7511CFC1-9FD2-E407-B865-8E7D095E3ED3}"/>
                  </a:ext>
                </a:extLst>
              </p:cNvPr>
              <p:cNvSpPr txBox="1"/>
              <p:nvPr/>
            </p:nvSpPr>
            <p:spPr>
              <a:xfrm>
                <a:off x="7997920" y="2209747"/>
                <a:ext cx="3057890" cy="854229"/>
              </a:xfrm>
              <a:prstGeom prst="rect">
                <a:avLst/>
              </a:prstGeom>
              <a:noFill/>
            </p:spPr>
            <p:txBody>
              <a:bodyPr wrap="square" lIns="0" tIns="0" rIns="0" bIns="0" rtlCol="0" anchor="ctr">
                <a:noAutofit/>
              </a:bodyPr>
              <a:lstStyle/>
              <a:p>
                <a:pPr lvl="0" defTabSz="1218987"/>
                <a:r>
                  <a:rPr lang="en-US" sz="2000" b="1" kern="0" smtClean="0">
                    <a:solidFill>
                      <a:prstClr val="black">
                        <a:lumMod val="95000"/>
                        <a:lumOff val="5000"/>
                      </a:prstClr>
                    </a:solidFill>
                    <a:latin typeface="Segoe UI"/>
                    <a:ea typeface="Segoe UI Black" panose="020B0A02040204020203" pitchFamily="34" charset="0"/>
                  </a:rPr>
                  <a:t>Đề xuất mô hình học sâu hiệu quả trong phát hiện và phân loại ung thư</a:t>
                </a:r>
                <a:endParaRPr lang="en-US" sz="2000" b="1" kern="0" dirty="0">
                  <a:solidFill>
                    <a:prstClr val="black">
                      <a:lumMod val="95000"/>
                      <a:lumOff val="5000"/>
                    </a:prstClr>
                  </a:solidFill>
                  <a:latin typeface="Segoe UI"/>
                  <a:ea typeface="Segoe UI Black" panose="020B0A02040204020203" pitchFamily="34" charset="0"/>
                </a:endParaRPr>
              </a:p>
            </p:txBody>
          </p:sp>
        </p:grpSp>
      </p:grpSp>
      <p:sp>
        <p:nvSpPr>
          <p:cNvPr id="30" name="Content Placeholder 1"/>
          <p:cNvSpPr>
            <a:spLocks noGrp="1"/>
          </p:cNvSpPr>
          <p:nvPr>
            <p:ph sz="quarter" idx="10"/>
          </p:nvPr>
        </p:nvSpPr>
        <p:spPr>
          <a:xfrm>
            <a:off x="347665" y="911419"/>
            <a:ext cx="11234737" cy="633409"/>
          </a:xfrm>
        </p:spPr>
        <p:txBody>
          <a:bodyPr/>
          <a:lstStyle/>
          <a:p>
            <a:pPr marL="0" lvl="0" indent="0" algn="just">
              <a:lnSpc>
                <a:spcPct val="120000"/>
              </a:lnSpc>
              <a:spcBef>
                <a:spcPts val="600"/>
              </a:spcBef>
              <a:buNone/>
            </a:pPr>
            <a:r>
              <a:rPr lang="en" b="1" smtClean="0">
                <a:solidFill>
                  <a:srgbClr val="C00000"/>
                </a:solidFill>
              </a:rPr>
              <a:t>Giải pháp</a:t>
            </a:r>
          </a:p>
        </p:txBody>
      </p:sp>
      <p:pic>
        <p:nvPicPr>
          <p:cNvPr id="31" name="Picture 30"/>
          <p:cNvPicPr>
            <a:picLocks noChangeAspect="1"/>
          </p:cNvPicPr>
          <p:nvPr/>
        </p:nvPicPr>
        <p:blipFill>
          <a:blip r:embed="rId6"/>
          <a:stretch>
            <a:fillRect/>
          </a:stretch>
        </p:blipFill>
        <p:spPr>
          <a:xfrm>
            <a:off x="6137452" y="2337651"/>
            <a:ext cx="1115623" cy="658891"/>
          </a:xfrm>
          <a:prstGeom prst="rect">
            <a:avLst/>
          </a:prstGeom>
        </p:spPr>
      </p:pic>
      <p:pic>
        <p:nvPicPr>
          <p:cNvPr id="32" name="Picture 31"/>
          <p:cNvPicPr>
            <a:picLocks noChangeAspect="1"/>
          </p:cNvPicPr>
          <p:nvPr/>
        </p:nvPicPr>
        <p:blipFill>
          <a:blip r:embed="rId7"/>
          <a:stretch>
            <a:fillRect/>
          </a:stretch>
        </p:blipFill>
        <p:spPr>
          <a:xfrm>
            <a:off x="6206448" y="4428804"/>
            <a:ext cx="989173" cy="898531"/>
          </a:xfrm>
          <a:prstGeom prst="rect">
            <a:avLst/>
          </a:prstGeom>
        </p:spPr>
      </p:pic>
    </p:spTree>
    <p:extLst>
      <p:ext uri="{BB962C8B-B14F-4D97-AF65-F5344CB8AC3E}">
        <p14:creationId xmlns:p14="http://schemas.microsoft.com/office/powerpoint/2010/main" val="5547378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pPr marL="0" indent="0">
              <a:buNone/>
            </a:pPr>
            <a:r>
              <a:rPr lang="en-US" smtClean="0"/>
              <a:t>2. Nghiên cứu liên quan</a:t>
            </a:r>
            <a:endParaRPr lang="en-US"/>
          </a:p>
        </p:txBody>
      </p:sp>
      <p:sp>
        <p:nvSpPr>
          <p:cNvPr id="9" name="Slide Number Placeholder 8"/>
          <p:cNvSpPr>
            <a:spLocks noGrp="1"/>
          </p:cNvSpPr>
          <p:nvPr>
            <p:ph type="sldNum" sz="quarter" idx="12"/>
          </p:nvPr>
        </p:nvSpPr>
        <p:spPr/>
        <p:txBody>
          <a:bodyPr/>
          <a:lstStyle/>
          <a:p>
            <a:fld id="{BB1995A4-D8DA-4FAF-BB95-1BE7047B607C}" type="slidenum">
              <a:rPr lang="en-US" smtClean="0"/>
              <a:pPr/>
              <a:t>6</a:t>
            </a:fld>
            <a:endParaRPr lang="en-US"/>
          </a:p>
        </p:txBody>
      </p:sp>
      <p:pic>
        <p:nvPicPr>
          <p:cNvPr id="7" name="Picture 6"/>
          <p:cNvPicPr>
            <a:picLocks noChangeAspect="1"/>
          </p:cNvPicPr>
          <p:nvPr/>
        </p:nvPicPr>
        <p:blipFill>
          <a:blip r:embed="rId3"/>
          <a:stretch>
            <a:fillRect/>
          </a:stretch>
        </p:blipFill>
        <p:spPr>
          <a:xfrm>
            <a:off x="696367" y="1064481"/>
            <a:ext cx="8328708" cy="3696926"/>
          </a:xfrm>
          <a:prstGeom prst="rect">
            <a:avLst/>
          </a:prstGeom>
        </p:spPr>
      </p:pic>
      <p:sp>
        <p:nvSpPr>
          <p:cNvPr id="10" name="Rectangle 9"/>
          <p:cNvSpPr/>
          <p:nvPr/>
        </p:nvSpPr>
        <p:spPr>
          <a:xfrm>
            <a:off x="696368" y="4774048"/>
            <a:ext cx="9476092" cy="923330"/>
          </a:xfrm>
          <a:prstGeom prst="rect">
            <a:avLst/>
          </a:prstGeom>
        </p:spPr>
        <p:txBody>
          <a:bodyPr wrap="square">
            <a:spAutoFit/>
          </a:bodyPr>
          <a:lstStyle/>
          <a:p>
            <a:r>
              <a:rPr lang="en-US" smtClean="0">
                <a:latin typeface="Cambria" panose="02040503050406030204" pitchFamily="18" charset="0"/>
                <a:ea typeface="Cambria" panose="02040503050406030204" pitchFamily="18" charset="0"/>
              </a:rPr>
              <a:t>- Kiến trúc mạng: AlexNet, VGG, SquezzeNet, ResNet, DenseNet</a:t>
            </a:r>
          </a:p>
          <a:p>
            <a:r>
              <a:rPr lang="en-US" smtClean="0">
                <a:latin typeface="Cambria" panose="02040503050406030204" pitchFamily="18" charset="0"/>
                <a:ea typeface="Cambria" panose="02040503050406030204" pitchFamily="18" charset="0"/>
              </a:rPr>
              <a:t>- Tập dữ liệu: CBIS-DDSM</a:t>
            </a:r>
          </a:p>
          <a:p>
            <a:r>
              <a:rPr lang="en-US" smtClean="0">
                <a:latin typeface="Cambria" panose="02040503050406030204" pitchFamily="18" charset="0"/>
                <a:ea typeface="Cambria" panose="02040503050406030204" pitchFamily="18" charset="0"/>
              </a:rPr>
              <a:t>- Độ chính xác: 99.8% </a:t>
            </a:r>
            <a:endParaRPr lang="en-US">
              <a:latin typeface="Cambria" panose="02040503050406030204" pitchFamily="18" charset="0"/>
              <a:ea typeface="Cambria" panose="02040503050406030204" pitchFamily="18" charset="0"/>
            </a:endParaRPr>
          </a:p>
        </p:txBody>
      </p:sp>
      <p:sp>
        <p:nvSpPr>
          <p:cNvPr id="11" name="Rectangle 10"/>
          <p:cNvSpPr/>
          <p:nvPr/>
        </p:nvSpPr>
        <p:spPr>
          <a:xfrm>
            <a:off x="486137" y="5987018"/>
            <a:ext cx="11354764"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Hình 3. </a:t>
            </a:r>
            <a:r>
              <a:rPr lang="en-US">
                <a:latin typeface="Cambria" panose="02040503050406030204" pitchFamily="18" charset="0"/>
                <a:ea typeface="Cambria" panose="02040503050406030204" pitchFamily="18" charset="0"/>
              </a:rPr>
              <a:t>Performance Evaluation of Deep Learning Models </a:t>
            </a:r>
            <a:r>
              <a:rPr lang="en-US" smtClean="0">
                <a:latin typeface="Cambria" panose="02040503050406030204" pitchFamily="18" charset="0"/>
                <a:ea typeface="Cambria" panose="02040503050406030204" pitchFamily="18" charset="0"/>
              </a:rPr>
              <a:t>on Mammogram </a:t>
            </a:r>
            <a:r>
              <a:rPr lang="en-US">
                <a:latin typeface="Cambria" panose="02040503050406030204" pitchFamily="18" charset="0"/>
                <a:ea typeface="Cambria" panose="02040503050406030204" pitchFamily="18" charset="0"/>
              </a:rPr>
              <a:t>Classification Using Small </a:t>
            </a:r>
            <a:r>
              <a:rPr lang="en-US" smtClean="0">
                <a:latin typeface="Cambria" panose="02040503050406030204" pitchFamily="18" charset="0"/>
                <a:ea typeface="Cambria" panose="02040503050406030204" pitchFamily="18" charset="0"/>
              </a:rPr>
              <a:t>Dataset [3]</a:t>
            </a:r>
            <a:endParaRPr lang="en-US">
              <a:latin typeface="Cambria" panose="02040503050406030204" pitchFamily="18" charset="0"/>
              <a:ea typeface="Cambria" panose="02040503050406030204" pitchFamily="18" charset="0"/>
            </a:endParaRPr>
          </a:p>
        </p:txBody>
      </p:sp>
      <p:pic>
        <p:nvPicPr>
          <p:cNvPr id="12" name="Picture 11"/>
          <p:cNvPicPr>
            <a:picLocks noChangeAspect="1"/>
          </p:cNvPicPr>
          <p:nvPr/>
        </p:nvPicPr>
        <p:blipFill>
          <a:blip r:embed="rId4"/>
          <a:stretch>
            <a:fillRect/>
          </a:stretch>
        </p:blipFill>
        <p:spPr>
          <a:xfrm>
            <a:off x="9439836" y="1129478"/>
            <a:ext cx="1913964" cy="3566932"/>
          </a:xfrm>
          <a:prstGeom prst="rect">
            <a:avLst/>
          </a:prstGeom>
        </p:spPr>
      </p:pic>
    </p:spTree>
    <p:extLst>
      <p:ext uri="{BB962C8B-B14F-4D97-AF65-F5344CB8AC3E}">
        <p14:creationId xmlns:p14="http://schemas.microsoft.com/office/powerpoint/2010/main" val="19522216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Placeholder 2"/>
          <p:cNvSpPr>
            <a:spLocks noGrp="1"/>
          </p:cNvSpPr>
          <p:nvPr>
            <p:ph type="body" sz="quarter" idx="13"/>
          </p:nvPr>
        </p:nvSpPr>
        <p:spPr>
          <a:xfrm>
            <a:off x="996950" y="182880"/>
            <a:ext cx="10067925" cy="452077"/>
          </a:xfrm>
        </p:spPr>
        <p:txBody>
          <a:bodyPr/>
          <a:lstStyle/>
          <a:p>
            <a:pPr marL="0" indent="0">
              <a:buNone/>
            </a:pPr>
            <a:r>
              <a:rPr lang="en-US" smtClean="0"/>
              <a:t>2. Nghiên cứu liên quan</a:t>
            </a:r>
            <a:endParaRPr lang="en-US"/>
          </a:p>
        </p:txBody>
      </p:sp>
      <p:sp>
        <p:nvSpPr>
          <p:cNvPr id="15" name="Slide Number Placeholder 14"/>
          <p:cNvSpPr>
            <a:spLocks noGrp="1"/>
          </p:cNvSpPr>
          <p:nvPr>
            <p:ph type="sldNum" sz="quarter" idx="12"/>
          </p:nvPr>
        </p:nvSpPr>
        <p:spPr/>
        <p:txBody>
          <a:bodyPr/>
          <a:lstStyle/>
          <a:p>
            <a:fld id="{BB1995A4-D8DA-4FAF-BB95-1BE7047B607C}" type="slidenum">
              <a:rPr lang="en-US" smtClean="0"/>
              <a:pPr/>
              <a:t>7</a:t>
            </a:fld>
            <a:endParaRPr lang="en-US"/>
          </a:p>
        </p:txBody>
      </p:sp>
      <p:pic>
        <p:nvPicPr>
          <p:cNvPr id="3" name="Picture 2"/>
          <p:cNvPicPr>
            <a:picLocks noChangeAspect="1"/>
          </p:cNvPicPr>
          <p:nvPr/>
        </p:nvPicPr>
        <p:blipFill>
          <a:blip r:embed="rId3"/>
          <a:stretch>
            <a:fillRect/>
          </a:stretch>
        </p:blipFill>
        <p:spPr>
          <a:xfrm>
            <a:off x="151998" y="775343"/>
            <a:ext cx="3211219" cy="5946132"/>
          </a:xfrm>
          <a:prstGeom prst="rect">
            <a:avLst/>
          </a:prstGeom>
        </p:spPr>
      </p:pic>
      <p:pic>
        <p:nvPicPr>
          <p:cNvPr id="6" name="Picture 5"/>
          <p:cNvPicPr>
            <a:picLocks noChangeAspect="1"/>
          </p:cNvPicPr>
          <p:nvPr/>
        </p:nvPicPr>
        <p:blipFill>
          <a:blip r:embed="rId4"/>
          <a:stretch>
            <a:fillRect/>
          </a:stretch>
        </p:blipFill>
        <p:spPr>
          <a:xfrm>
            <a:off x="3562410" y="1022437"/>
            <a:ext cx="4144299" cy="4076360"/>
          </a:xfrm>
          <a:prstGeom prst="rect">
            <a:avLst/>
          </a:prstGeom>
        </p:spPr>
      </p:pic>
      <p:sp>
        <p:nvSpPr>
          <p:cNvPr id="16" name="Rectangle 15"/>
          <p:cNvSpPr/>
          <p:nvPr/>
        </p:nvSpPr>
        <p:spPr>
          <a:xfrm>
            <a:off x="7706709" y="1279661"/>
            <a:ext cx="4165198" cy="1477328"/>
          </a:xfrm>
          <a:prstGeom prst="rect">
            <a:avLst/>
          </a:prstGeom>
        </p:spPr>
        <p:txBody>
          <a:bodyPr wrap="square">
            <a:spAutoFit/>
          </a:bodyPr>
          <a:lstStyle/>
          <a:p>
            <a:r>
              <a:rPr lang="en-US" smtClean="0">
                <a:latin typeface="Cambria" panose="02040503050406030204" pitchFamily="18" charset="0"/>
                <a:ea typeface="Cambria" panose="02040503050406030204" pitchFamily="18" charset="0"/>
              </a:rPr>
              <a:t>- Kết </a:t>
            </a:r>
            <a:r>
              <a:rPr lang="en-US">
                <a:latin typeface="Cambria" panose="02040503050406030204" pitchFamily="18" charset="0"/>
                <a:ea typeface="Cambria" panose="02040503050406030204" pitchFamily="18" charset="0"/>
              </a:rPr>
              <a:t>hợp ba thuật toán học máy: Decision Tree, Logistic Regression và Support Vector </a:t>
            </a:r>
            <a:r>
              <a:rPr lang="en-US" smtClean="0">
                <a:latin typeface="Cambria" panose="02040503050406030204" pitchFamily="18" charset="0"/>
                <a:ea typeface="Cambria" panose="02040503050406030204" pitchFamily="18" charset="0"/>
              </a:rPr>
              <a:t>Machine</a:t>
            </a:r>
            <a:endParaRPr lang="en-US">
              <a:latin typeface="Cambria" panose="02040503050406030204" pitchFamily="18" charset="0"/>
              <a:ea typeface="Cambria" panose="02040503050406030204" pitchFamily="18" charset="0"/>
            </a:endParaRPr>
          </a:p>
          <a:p>
            <a:r>
              <a:rPr lang="en-US" smtClean="0">
                <a:latin typeface="Cambria" panose="02040503050406030204" pitchFamily="18" charset="0"/>
                <a:ea typeface="Cambria" panose="02040503050406030204" pitchFamily="18" charset="0"/>
              </a:rPr>
              <a:t>- Tập dữ liệu: WDBC</a:t>
            </a:r>
          </a:p>
          <a:p>
            <a:r>
              <a:rPr lang="en-US" smtClean="0">
                <a:latin typeface="Cambria" panose="02040503050406030204" pitchFamily="18" charset="0"/>
                <a:ea typeface="Cambria" panose="02040503050406030204" pitchFamily="18" charset="0"/>
              </a:rPr>
              <a:t>- Độ chính xác: 98.25% (Hard voting) </a:t>
            </a:r>
            <a:endParaRPr lang="en-US">
              <a:latin typeface="Cambria" panose="02040503050406030204" pitchFamily="18" charset="0"/>
              <a:ea typeface="Cambria" panose="02040503050406030204" pitchFamily="18" charset="0"/>
            </a:endParaRPr>
          </a:p>
        </p:txBody>
      </p:sp>
      <p:sp>
        <p:nvSpPr>
          <p:cNvPr id="17" name="Rectangle 16"/>
          <p:cNvSpPr/>
          <p:nvPr/>
        </p:nvSpPr>
        <p:spPr>
          <a:xfrm>
            <a:off x="3970115" y="5697378"/>
            <a:ext cx="7094759" cy="646331"/>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Hình 4. </a:t>
            </a:r>
            <a:r>
              <a:rPr lang="en-US">
                <a:latin typeface="Cambria" panose="02040503050406030204" pitchFamily="18" charset="0"/>
                <a:ea typeface="Cambria" panose="02040503050406030204" pitchFamily="18" charset="0"/>
              </a:rPr>
              <a:t>Breast Cancer Prediction Using Soft Voting Classifier Based on Machine Learning </a:t>
            </a:r>
            <a:r>
              <a:rPr lang="en-US" smtClean="0">
                <a:latin typeface="Cambria" panose="02040503050406030204" pitchFamily="18" charset="0"/>
                <a:ea typeface="Cambria" panose="02040503050406030204" pitchFamily="18" charset="0"/>
              </a:rPr>
              <a:t>Models [4]</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01226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Placeholder 2"/>
          <p:cNvSpPr>
            <a:spLocks noGrp="1"/>
          </p:cNvSpPr>
          <p:nvPr>
            <p:ph type="body" sz="quarter" idx="13"/>
          </p:nvPr>
        </p:nvSpPr>
        <p:spPr>
          <a:xfrm>
            <a:off x="996950" y="182880"/>
            <a:ext cx="10067925" cy="452077"/>
          </a:xfrm>
        </p:spPr>
        <p:txBody>
          <a:bodyPr/>
          <a:lstStyle/>
          <a:p>
            <a:pPr marL="0" indent="0">
              <a:buNone/>
            </a:pPr>
            <a:r>
              <a:rPr lang="en-US" smtClean="0"/>
              <a:t>2. Nghiên cứu liên quan</a:t>
            </a:r>
            <a:endParaRPr lang="en-US"/>
          </a:p>
        </p:txBody>
      </p:sp>
      <p:sp>
        <p:nvSpPr>
          <p:cNvPr id="15" name="Slide Number Placeholder 14"/>
          <p:cNvSpPr>
            <a:spLocks noGrp="1"/>
          </p:cNvSpPr>
          <p:nvPr>
            <p:ph type="sldNum" sz="quarter" idx="12"/>
          </p:nvPr>
        </p:nvSpPr>
        <p:spPr/>
        <p:txBody>
          <a:bodyPr/>
          <a:lstStyle/>
          <a:p>
            <a:fld id="{BB1995A4-D8DA-4FAF-BB95-1BE7047B607C}" type="slidenum">
              <a:rPr lang="en-US" smtClean="0"/>
              <a:pPr/>
              <a:t>8</a:t>
            </a:fld>
            <a:endParaRPr lang="en-US"/>
          </a:p>
        </p:txBody>
      </p:sp>
      <p:sp>
        <p:nvSpPr>
          <p:cNvPr id="5" name="Rectangle 4"/>
          <p:cNvSpPr/>
          <p:nvPr/>
        </p:nvSpPr>
        <p:spPr>
          <a:xfrm>
            <a:off x="5023231" y="3201877"/>
            <a:ext cx="6330569" cy="1631216"/>
          </a:xfrm>
          <a:prstGeom prst="rect">
            <a:avLst/>
          </a:prstGeom>
        </p:spPr>
        <p:txBody>
          <a:bodyPr wrap="square">
            <a:spAutoFit/>
          </a:bodyPr>
          <a:lstStyle/>
          <a:p>
            <a:pPr algn="just"/>
            <a:r>
              <a:rPr lang="en-US" sz="2000" smtClean="0">
                <a:latin typeface="Cambria" panose="02040503050406030204" pitchFamily="18" charset="0"/>
                <a:ea typeface="Cambria" panose="02040503050406030204" pitchFamily="18" charset="0"/>
              </a:rPr>
              <a:t>- Phân </a:t>
            </a:r>
            <a:r>
              <a:rPr lang="en-US" sz="2000">
                <a:latin typeface="Cambria" panose="02040503050406030204" pitchFamily="18" charset="0"/>
                <a:ea typeface="Cambria" panose="02040503050406030204" pitchFamily="18" charset="0"/>
              </a:rPr>
              <a:t>loại mật độ trên nhũ ảnh (A, B, C, D) sử dụng mô hình kết hợp (ResNet18, ResNet50, EfficientNet-B0</a:t>
            </a:r>
            <a:r>
              <a:rPr lang="en-US" sz="2000" smtClean="0">
                <a:latin typeface="Cambria" panose="02040503050406030204" pitchFamily="18" charset="0"/>
                <a:ea typeface="Cambria" panose="02040503050406030204" pitchFamily="18" charset="0"/>
              </a:rPr>
              <a:t>, </a:t>
            </a:r>
            <a:r>
              <a:rPr lang="en-US" sz="2000">
                <a:latin typeface="Cambria" panose="02040503050406030204" pitchFamily="18" charset="0"/>
                <a:ea typeface="Cambria" panose="02040503050406030204" pitchFamily="18" charset="0"/>
              </a:rPr>
              <a:t>DenseNet121</a:t>
            </a:r>
            <a:r>
              <a:rPr lang="en-US" sz="2000" smtClean="0">
                <a:latin typeface="Cambria" panose="02040503050406030204" pitchFamily="18" charset="0"/>
                <a:ea typeface="Cambria" panose="02040503050406030204" pitchFamily="18" charset="0"/>
              </a:rPr>
              <a:t>)</a:t>
            </a:r>
          </a:p>
          <a:p>
            <a:pPr algn="just"/>
            <a:r>
              <a:rPr lang="en-US" sz="2000" smtClean="0">
                <a:latin typeface="Cambria" panose="02040503050406030204" pitchFamily="18" charset="0"/>
                <a:ea typeface="Cambria" panose="02040503050406030204" pitchFamily="18" charset="0"/>
              </a:rPr>
              <a:t>- Tập dữ liệu: VinDr-Mammo</a:t>
            </a:r>
          </a:p>
          <a:p>
            <a:pPr algn="just"/>
            <a:r>
              <a:rPr lang="en-US" sz="2000" smtClean="0">
                <a:latin typeface="Cambria" panose="02040503050406030204" pitchFamily="18" charset="0"/>
                <a:ea typeface="Cambria" panose="02040503050406030204" pitchFamily="18" charset="0"/>
              </a:rPr>
              <a:t>- Độ </a:t>
            </a:r>
            <a:r>
              <a:rPr lang="en-US" sz="2000">
                <a:latin typeface="Cambria" panose="02040503050406030204" pitchFamily="18" charset="0"/>
                <a:ea typeface="Cambria" panose="02040503050406030204" pitchFamily="18" charset="0"/>
              </a:rPr>
              <a:t>chính xác: AUC: 0.963, F1-score: </a:t>
            </a:r>
            <a:r>
              <a:rPr lang="en-US" sz="2000" smtClean="0">
                <a:latin typeface="Cambria" panose="02040503050406030204" pitchFamily="18" charset="0"/>
                <a:ea typeface="Cambria" panose="02040503050406030204" pitchFamily="18" charset="0"/>
              </a:rPr>
              <a:t>0.952 (Soft voting)</a:t>
            </a:r>
            <a:endParaRPr lang="en-US" sz="20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3"/>
          <a:stretch>
            <a:fillRect/>
          </a:stretch>
        </p:blipFill>
        <p:spPr>
          <a:xfrm>
            <a:off x="5023231" y="871567"/>
            <a:ext cx="6219825" cy="1971675"/>
          </a:xfrm>
          <a:prstGeom prst="rect">
            <a:avLst/>
          </a:prstGeom>
        </p:spPr>
      </p:pic>
      <p:pic>
        <p:nvPicPr>
          <p:cNvPr id="4" name="Picture 3"/>
          <p:cNvPicPr>
            <a:picLocks noChangeAspect="1"/>
          </p:cNvPicPr>
          <p:nvPr/>
        </p:nvPicPr>
        <p:blipFill>
          <a:blip r:embed="rId4"/>
          <a:stretch>
            <a:fillRect/>
          </a:stretch>
        </p:blipFill>
        <p:spPr>
          <a:xfrm>
            <a:off x="356404" y="871567"/>
            <a:ext cx="4227171" cy="5368507"/>
          </a:xfrm>
          <a:prstGeom prst="rect">
            <a:avLst/>
          </a:prstGeom>
        </p:spPr>
      </p:pic>
      <p:sp>
        <p:nvSpPr>
          <p:cNvPr id="8" name="Rectangle 7"/>
          <p:cNvSpPr/>
          <p:nvPr/>
        </p:nvSpPr>
        <p:spPr>
          <a:xfrm>
            <a:off x="5023231" y="5593743"/>
            <a:ext cx="6481299" cy="646331"/>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Hình 5. </a:t>
            </a:r>
            <a:r>
              <a:rPr lang="en-US">
                <a:latin typeface="Cambria" panose="02040503050406030204" pitchFamily="18" charset="0"/>
                <a:ea typeface="Cambria" panose="02040503050406030204" pitchFamily="18" charset="0"/>
              </a:rPr>
              <a:t>Attention-Enhanced Deep Learning Ensemble for Breast Density Classification in </a:t>
            </a:r>
            <a:r>
              <a:rPr lang="en-US" smtClean="0">
                <a:latin typeface="Cambria" panose="02040503050406030204" pitchFamily="18" charset="0"/>
                <a:ea typeface="Cambria" panose="02040503050406030204" pitchFamily="18" charset="0"/>
              </a:rPr>
              <a:t>Mammography</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723161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1149350" y="182880"/>
            <a:ext cx="10067925" cy="4520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rgbClr val="03406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mtClean="0"/>
              <a:t>2. Nghiên cứu liên quan</a:t>
            </a:r>
            <a:endParaRPr lang="en-US"/>
          </a:p>
        </p:txBody>
      </p:sp>
      <p:sp>
        <p:nvSpPr>
          <p:cNvPr id="9" name="Slide Number Placeholder 8"/>
          <p:cNvSpPr>
            <a:spLocks noGrp="1"/>
          </p:cNvSpPr>
          <p:nvPr>
            <p:ph type="sldNum" sz="quarter" idx="12"/>
          </p:nvPr>
        </p:nvSpPr>
        <p:spPr/>
        <p:txBody>
          <a:bodyPr/>
          <a:lstStyle/>
          <a:p>
            <a:fld id="{BB1995A4-D8DA-4FAF-BB95-1BE7047B607C}" type="slidenum">
              <a:rPr lang="en-US" smtClean="0"/>
              <a:pPr/>
              <a:t>9</a:t>
            </a:fld>
            <a:endParaRPr lang="en-US"/>
          </a:p>
        </p:txBody>
      </p:sp>
      <p:sp>
        <p:nvSpPr>
          <p:cNvPr id="2" name="Text Placeholder 1"/>
          <p:cNvSpPr>
            <a:spLocks noGrp="1"/>
          </p:cNvSpPr>
          <p:nvPr>
            <p:ph type="body" sz="quarter" idx="14"/>
          </p:nvPr>
        </p:nvSpPr>
        <p:spPr>
          <a:xfrm>
            <a:off x="466725" y="1014413"/>
            <a:ext cx="11283950" cy="418147"/>
          </a:xfrm>
        </p:spPr>
        <p:txBody>
          <a:bodyPr>
            <a:normAutofit lnSpcReduction="10000"/>
          </a:bodyPr>
          <a:lstStyle/>
          <a:p>
            <a:r>
              <a:rPr lang="en-US" smtClean="0"/>
              <a:t>Phương pháp tổ hợp mô hình học sâu</a:t>
            </a:r>
            <a:endParaRPr lang="en-US"/>
          </a:p>
        </p:txBody>
      </p:sp>
      <p:pic>
        <p:nvPicPr>
          <p:cNvPr id="10" name="Picture 9"/>
          <p:cNvPicPr>
            <a:picLocks noChangeAspect="1"/>
          </p:cNvPicPr>
          <p:nvPr/>
        </p:nvPicPr>
        <p:blipFill>
          <a:blip r:embed="rId3"/>
          <a:stretch>
            <a:fillRect/>
          </a:stretch>
        </p:blipFill>
        <p:spPr>
          <a:xfrm>
            <a:off x="1435100" y="1432560"/>
            <a:ext cx="9517380" cy="4265017"/>
          </a:xfrm>
          <a:prstGeom prst="rect">
            <a:avLst/>
          </a:prstGeom>
        </p:spPr>
      </p:pic>
      <p:sp>
        <p:nvSpPr>
          <p:cNvPr id="11" name="Rectangle 10"/>
          <p:cNvSpPr/>
          <p:nvPr/>
        </p:nvSpPr>
        <p:spPr>
          <a:xfrm>
            <a:off x="1895007" y="5746392"/>
            <a:ext cx="8912860"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Hình 6. </a:t>
            </a:r>
            <a:r>
              <a:rPr lang="vi-VN" smtClean="0">
                <a:latin typeface="Cambria" panose="02040503050406030204" pitchFamily="18" charset="0"/>
                <a:ea typeface="Cambria" panose="02040503050406030204" pitchFamily="18" charset="0"/>
              </a:rPr>
              <a:t>Minh </a:t>
            </a:r>
            <a:r>
              <a:rPr lang="vi-VN">
                <a:latin typeface="Cambria" panose="02040503050406030204" pitchFamily="18" charset="0"/>
                <a:ea typeface="Cambria" panose="02040503050406030204" pitchFamily="18" charset="0"/>
              </a:rPr>
              <a:t>họa cơ chế hoạt động của Hard voting và Soft voting</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641117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0" indent="0">
              <a:buNone/>
            </a:pPr>
            <a:r>
              <a:rPr lang="en-US" smtClean="0"/>
              <a:t>2. Nghiên cứu liên quan</a:t>
            </a:r>
            <a:endParaRPr lang="en-US"/>
          </a:p>
        </p:txBody>
      </p:sp>
      <p:sp>
        <p:nvSpPr>
          <p:cNvPr id="3" name="Text Placeholder 2"/>
          <p:cNvSpPr>
            <a:spLocks noGrp="1"/>
          </p:cNvSpPr>
          <p:nvPr>
            <p:ph type="body" sz="quarter" idx="14"/>
          </p:nvPr>
        </p:nvSpPr>
        <p:spPr>
          <a:xfrm>
            <a:off x="466725" y="1014413"/>
            <a:ext cx="11283950" cy="438467"/>
          </a:xfrm>
        </p:spPr>
        <p:txBody>
          <a:bodyPr/>
          <a:lstStyle/>
          <a:p>
            <a:r>
              <a:rPr lang="en-US" b="1" smtClean="0">
                <a:solidFill>
                  <a:srgbClr val="C00000"/>
                </a:solidFill>
              </a:rPr>
              <a:t>Độ đo đánh giá:</a:t>
            </a:r>
            <a:endParaRPr lang="en-US" b="1">
              <a:solidFill>
                <a:srgbClr val="C00000"/>
              </a:solidFill>
            </a:endParaRPr>
          </a:p>
        </p:txBody>
      </p:sp>
      <mc:AlternateContent xmlns:mc="http://schemas.openxmlformats.org/markup-compatibility/2006" xmlns:a14="http://schemas.microsoft.com/office/drawing/2010/main">
        <mc:Choice Requires="a14">
          <p:sp>
            <p:nvSpPr>
              <p:cNvPr id="6" name="TextBox 5"/>
              <p:cNvSpPr txBox="1"/>
              <p:nvPr/>
            </p:nvSpPr>
            <p:spPr>
              <a:xfrm>
                <a:off x="744025" y="1644128"/>
                <a:ext cx="3357009"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rPr>
                        <m:t>𝐴</m:t>
                      </m:r>
                      <m:r>
                        <a:rPr lang="en-US" sz="2200" b="0" i="1" smtClean="0">
                          <a:latin typeface="Cambria Math" panose="02040503050406030204" pitchFamily="18" charset="0"/>
                        </a:rPr>
                        <m:t>𝑐𝑐</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𝑇𝑁</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𝑇𝑁</m:t>
                          </m:r>
                          <m:r>
                            <a:rPr lang="en-US" sz="2200" b="0" i="1" smtClean="0">
                              <a:latin typeface="Cambria Math" panose="02040503050406030204" pitchFamily="18" charset="0"/>
                            </a:rPr>
                            <m:t>+</m:t>
                          </m:r>
                          <m:r>
                            <a:rPr lang="en-US" sz="2200" b="0" i="1" smtClean="0">
                              <a:latin typeface="Cambria Math" panose="02040503050406030204" pitchFamily="18" charset="0"/>
                            </a:rPr>
                            <m:t>𝐹𝑃</m:t>
                          </m:r>
                          <m:r>
                            <a:rPr lang="en-US" sz="2200" b="0" i="1" smtClean="0">
                              <a:latin typeface="Cambria Math" panose="02040503050406030204" pitchFamily="18" charset="0"/>
                            </a:rPr>
                            <m:t>+</m:t>
                          </m:r>
                          <m:r>
                            <a:rPr lang="en-US" sz="2200" b="0" i="1" smtClean="0">
                              <a:latin typeface="Cambria Math" panose="02040503050406030204" pitchFamily="18" charset="0"/>
                            </a:rPr>
                            <m:t>𝐹𝑁</m:t>
                          </m:r>
                        </m:den>
                      </m:f>
                    </m:oMath>
                  </m:oMathPara>
                </a14:m>
                <a:endParaRPr lang="en-US" sz="2200"/>
              </a:p>
            </p:txBody>
          </p:sp>
        </mc:Choice>
        <mc:Fallback xmlns="">
          <p:sp>
            <p:nvSpPr>
              <p:cNvPr id="6" name="TextBox 5"/>
              <p:cNvSpPr txBox="1">
                <a:spLocks noRot="1" noChangeAspect="1" noMove="1" noResize="1" noEditPoints="1" noAdjustHandles="1" noChangeArrowheads="1" noChangeShapeType="1" noTextEdit="1"/>
              </p:cNvSpPr>
              <p:nvPr/>
            </p:nvSpPr>
            <p:spPr>
              <a:xfrm>
                <a:off x="744025" y="1644128"/>
                <a:ext cx="3357009" cy="6395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744025" y="4134133"/>
                <a:ext cx="2455826" cy="521553"/>
              </a:xfrm>
              <a:prstGeom prst="rect">
                <a:avLst/>
              </a:prstGeom>
              <a:noFill/>
            </p:spPr>
            <p:txBody>
              <a:bodyPr wrap="square" lIns="0" tIns="0" rIns="0" bIns="0" rtlCol="0">
                <a:spAutoFit/>
              </a:bodyPr>
              <a:lstStyle/>
              <a:p>
                <a:pPr/>
                <a14:m>
                  <m:oMath xmlns:m="http://schemas.openxmlformats.org/officeDocument/2006/math">
                    <m:r>
                      <a:rPr lang="en-US" sz="2400" b="0" i="1" smtClean="0">
                        <a:latin typeface="Cambria Math" panose="02040503050406030204" pitchFamily="18" charset="0"/>
                      </a:rPr>
                      <m:t>𝑚𝐴𝑃</m:t>
                    </m:r>
                  </m:oMath>
                </a14:m>
                <a:r>
                  <a:rPr lang="en-US" sz="2400" smtClean="0"/>
                  <a:t>=</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nary>
                      <m:naryPr>
                        <m:chr m:val="∑"/>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𝑁</m:t>
                        </m:r>
                      </m:sup>
                      <m:e>
                        <m:sSub>
                          <m:sSubPr>
                            <m:ctrlPr>
                              <a:rPr lang="en-US" sz="2400" i="1">
                                <a:latin typeface="Cambria Math" panose="02040503050406030204" pitchFamily="18" charset="0"/>
                              </a:rPr>
                            </m:ctrlPr>
                          </m:sSubPr>
                          <m:e>
                            <m:r>
                              <a:rPr lang="en-US" sz="2400" i="1">
                                <a:latin typeface="Cambria Math" panose="02040503050406030204" pitchFamily="18" charset="0"/>
                              </a:rPr>
                              <m:t>𝐴𝑃</m:t>
                            </m:r>
                          </m:e>
                          <m:sub>
                            <m:r>
                              <a:rPr lang="en-US" sz="2400" i="1">
                                <a:latin typeface="Cambria Math" panose="02040503050406030204" pitchFamily="18" charset="0"/>
                              </a:rPr>
                              <m:t>𝑖</m:t>
                            </m:r>
                          </m:sub>
                        </m:sSub>
                      </m:e>
                    </m:nary>
                  </m:oMath>
                </a14:m>
                <a:endParaRPr lang="en-US" sz="2400"/>
              </a:p>
            </p:txBody>
          </p:sp>
        </mc:Choice>
        <mc:Fallback>
          <p:sp>
            <p:nvSpPr>
              <p:cNvPr id="7" name="TextBox 6"/>
              <p:cNvSpPr txBox="1">
                <a:spLocks noRot="1" noChangeAspect="1" noMove="1" noResize="1" noEditPoints="1" noAdjustHandles="1" noChangeArrowheads="1" noChangeShapeType="1" noTextEdit="1"/>
              </p:cNvSpPr>
              <p:nvPr/>
            </p:nvSpPr>
            <p:spPr>
              <a:xfrm>
                <a:off x="744025" y="4134133"/>
                <a:ext cx="2455826" cy="521553"/>
              </a:xfrm>
              <a:prstGeom prst="rect">
                <a:avLst/>
              </a:prstGeom>
              <a:blipFill>
                <a:blip r:embed="rId4"/>
                <a:stretch>
                  <a:fillRect t="-2326"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02612" y="1825395"/>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(1)</m:t>
                      </m:r>
                    </m:oMath>
                  </m:oMathPara>
                </a14:m>
                <a:endParaRPr lang="en-US"/>
              </a:p>
            </p:txBody>
          </p:sp>
        </mc:Choice>
        <mc:Fallback xmlns="">
          <p:sp>
            <p:nvSpPr>
              <p:cNvPr id="8" name="TextBox 7"/>
              <p:cNvSpPr txBox="1">
                <a:spLocks noRot="1" noChangeAspect="1" noMove="1" noResize="1" noEditPoints="1" noAdjustHandles="1" noChangeArrowheads="1" noChangeShapeType="1" noTextEdit="1"/>
              </p:cNvSpPr>
              <p:nvPr/>
            </p:nvSpPr>
            <p:spPr>
              <a:xfrm>
                <a:off x="4902612" y="1825395"/>
                <a:ext cx="424796" cy="276999"/>
              </a:xfrm>
              <a:prstGeom prst="rect">
                <a:avLst/>
              </a:prstGeom>
              <a:blipFill>
                <a:blip r:embed="rId5"/>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902612" y="3195829"/>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(2)</m:t>
                      </m:r>
                    </m:oMath>
                  </m:oMathPara>
                </a14:m>
                <a:endParaRPr lang="en-US"/>
              </a:p>
            </p:txBody>
          </p:sp>
        </mc:Choice>
        <mc:Fallback xmlns="">
          <p:sp>
            <p:nvSpPr>
              <p:cNvPr id="9" name="TextBox 8"/>
              <p:cNvSpPr txBox="1">
                <a:spLocks noRot="1" noChangeAspect="1" noMove="1" noResize="1" noEditPoints="1" noAdjustHandles="1" noChangeArrowheads="1" noChangeShapeType="1" noTextEdit="1"/>
              </p:cNvSpPr>
              <p:nvPr/>
            </p:nvSpPr>
            <p:spPr>
              <a:xfrm>
                <a:off x="4902612" y="3195829"/>
                <a:ext cx="424796" cy="276999"/>
              </a:xfrm>
              <a:prstGeom prst="rect">
                <a:avLst/>
              </a:prstGeom>
              <a:blipFill>
                <a:blip r:embed="rId6"/>
                <a:stretch>
                  <a:fillRect l="-7143" t="-2174" r="-20000" b="-32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4902612" y="4256411"/>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m:t>
                      </m:r>
                      <m:r>
                        <a:rPr lang="en-US" b="0" i="1" smtClean="0">
                          <a:latin typeface="Cambria Math" panose="02040503050406030204" pitchFamily="18" charset="0"/>
                        </a:rPr>
                        <m:t>3</m:t>
                      </m:r>
                      <m:r>
                        <a:rPr lang="en-US" b="0" i="1" smtClean="0">
                          <a:latin typeface="Cambria Math" panose="02040503050406030204" pitchFamily="18" charset="0"/>
                        </a:rPr>
                        <m:t>)</m:t>
                      </m:r>
                    </m:oMath>
                  </m:oMathPara>
                </a14:m>
                <a:endParaRPr lang="en-US"/>
              </a:p>
            </p:txBody>
          </p:sp>
        </mc:Choice>
        <mc:Fallback>
          <p:sp>
            <p:nvSpPr>
              <p:cNvPr id="10" name="TextBox 9"/>
              <p:cNvSpPr txBox="1">
                <a:spLocks noRot="1" noChangeAspect="1" noMove="1" noResize="1" noEditPoints="1" noAdjustHandles="1" noChangeArrowheads="1" noChangeShapeType="1" noTextEdit="1"/>
              </p:cNvSpPr>
              <p:nvPr/>
            </p:nvSpPr>
            <p:spPr>
              <a:xfrm>
                <a:off x="4902612" y="4256411"/>
                <a:ext cx="424796" cy="276999"/>
              </a:xfrm>
              <a:prstGeom prst="rect">
                <a:avLst/>
              </a:prstGeom>
              <a:blipFill>
                <a:blip r:embed="rId7"/>
                <a:stretch>
                  <a:fillRect l="-7143" t="-2174" r="-20000" b="-32609"/>
                </a:stretch>
              </a:blipFill>
            </p:spPr>
            <p:txBody>
              <a:bodyPr/>
              <a:lstStyle/>
              <a:p>
                <a:r>
                  <a:rPr lang="en-US">
                    <a:noFill/>
                  </a:rPr>
                  <a:t> </a:t>
                </a:r>
              </a:p>
            </p:txBody>
          </p:sp>
        </mc:Fallback>
      </mc:AlternateContent>
      <p:sp>
        <p:nvSpPr>
          <p:cNvPr id="11" name="Slide Number Placeholder 10"/>
          <p:cNvSpPr>
            <a:spLocks noGrp="1"/>
          </p:cNvSpPr>
          <p:nvPr>
            <p:ph type="sldNum" sz="quarter" idx="12"/>
          </p:nvPr>
        </p:nvSpPr>
        <p:spPr/>
        <p:txBody>
          <a:bodyPr/>
          <a:lstStyle/>
          <a:p>
            <a:fld id="{BB1995A4-D8DA-4FAF-BB95-1BE7047B607C}" type="slidenum">
              <a:rPr lang="en-US" smtClean="0"/>
              <a:pPr/>
              <a:t>10</a:t>
            </a:fld>
            <a:endParaRPr lang="en-US"/>
          </a:p>
        </p:txBody>
      </p:sp>
      <mc:AlternateContent xmlns:mc="http://schemas.openxmlformats.org/markup-compatibility/2006" xmlns:a14="http://schemas.microsoft.com/office/drawing/2010/main">
        <mc:Choice Requires="a14">
          <p:sp>
            <p:nvSpPr>
              <p:cNvPr id="12" name="TextBox 11"/>
              <p:cNvSpPr txBox="1"/>
              <p:nvPr/>
            </p:nvSpPr>
            <p:spPr>
              <a:xfrm>
                <a:off x="744025" y="2945314"/>
                <a:ext cx="2676310"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𝐹𝑃</m:t>
                          </m:r>
                        </m:den>
                      </m:f>
                    </m:oMath>
                  </m:oMathPara>
                </a14:m>
                <a:endParaRPr lang="en-US" sz="2200"/>
              </a:p>
            </p:txBody>
          </p:sp>
        </mc:Choice>
        <mc:Fallback xmlns="">
          <p:sp>
            <p:nvSpPr>
              <p:cNvPr id="12" name="TextBox 11"/>
              <p:cNvSpPr txBox="1">
                <a:spLocks noRot="1" noChangeAspect="1" noMove="1" noResize="1" noEditPoints="1" noAdjustHandles="1" noChangeArrowheads="1" noChangeShapeType="1" noTextEdit="1"/>
              </p:cNvSpPr>
              <p:nvPr/>
            </p:nvSpPr>
            <p:spPr>
              <a:xfrm>
                <a:off x="744025" y="2945314"/>
                <a:ext cx="2676310" cy="63953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10929004" y="3007576"/>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m:t>
                      </m:r>
                      <m:r>
                        <a:rPr lang="en-US" b="0" i="1" smtClean="0">
                          <a:latin typeface="Cambria Math" panose="02040503050406030204" pitchFamily="18" charset="0"/>
                        </a:rPr>
                        <m:t>4</m:t>
                      </m:r>
                      <m:r>
                        <a:rPr lang="en-US" b="0" i="1" smtClean="0">
                          <a:latin typeface="Cambria Math" panose="02040503050406030204" pitchFamily="18" charset="0"/>
                        </a:rPr>
                        <m:t>)</m:t>
                      </m:r>
                    </m:oMath>
                  </m:oMathPara>
                </a14:m>
                <a:endParaRPr lang="en-US"/>
              </a:p>
            </p:txBody>
          </p:sp>
        </mc:Choice>
        <mc:Fallback>
          <p:sp>
            <p:nvSpPr>
              <p:cNvPr id="13" name="TextBox 12"/>
              <p:cNvSpPr txBox="1">
                <a:spLocks noRot="1" noChangeAspect="1" noMove="1" noResize="1" noEditPoints="1" noAdjustHandles="1" noChangeArrowheads="1" noChangeShapeType="1" noTextEdit="1"/>
              </p:cNvSpPr>
              <p:nvPr/>
            </p:nvSpPr>
            <p:spPr>
              <a:xfrm>
                <a:off x="10929004" y="3007576"/>
                <a:ext cx="424796" cy="276999"/>
              </a:xfrm>
              <a:prstGeom prst="rect">
                <a:avLst/>
              </a:prstGeom>
              <a:blipFill>
                <a:blip r:embed="rId9"/>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894328" y="2840929"/>
                <a:ext cx="2297360"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𝑅𝑒𝑐𝑎𝑙𝑙</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𝐹𝑁</m:t>
                          </m:r>
                        </m:den>
                      </m:f>
                    </m:oMath>
                  </m:oMathPara>
                </a14:m>
                <a:endParaRPr lang="en-US" sz="2200"/>
              </a:p>
            </p:txBody>
          </p:sp>
        </mc:Choice>
        <mc:Fallback xmlns="">
          <p:sp>
            <p:nvSpPr>
              <p:cNvPr id="14" name="TextBox 13"/>
              <p:cNvSpPr txBox="1">
                <a:spLocks noRot="1" noChangeAspect="1" noMove="1" noResize="1" noEditPoints="1" noAdjustHandles="1" noChangeArrowheads="1" noChangeShapeType="1" noTextEdit="1"/>
              </p:cNvSpPr>
              <p:nvPr/>
            </p:nvSpPr>
            <p:spPr>
              <a:xfrm>
                <a:off x="6894328" y="2840929"/>
                <a:ext cx="2297360" cy="63953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10929004" y="4256411"/>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(5)</m:t>
                      </m:r>
                    </m:oMath>
                  </m:oMathPara>
                </a14:m>
                <a:endParaRPr lang="en-US"/>
              </a:p>
            </p:txBody>
          </p:sp>
        </mc:Choice>
        <mc:Fallback>
          <p:sp>
            <p:nvSpPr>
              <p:cNvPr id="15" name="TextBox 14"/>
              <p:cNvSpPr txBox="1">
                <a:spLocks noRot="1" noChangeAspect="1" noMove="1" noResize="1" noEditPoints="1" noAdjustHandles="1" noChangeArrowheads="1" noChangeShapeType="1" noTextEdit="1"/>
              </p:cNvSpPr>
              <p:nvPr/>
            </p:nvSpPr>
            <p:spPr>
              <a:xfrm>
                <a:off x="10929004" y="4256411"/>
                <a:ext cx="424796" cy="276999"/>
              </a:xfrm>
              <a:prstGeom prst="rect">
                <a:avLst/>
              </a:prstGeom>
              <a:blipFill>
                <a:blip r:embed="rId11"/>
                <a:stretch>
                  <a:fillRect l="-7143" t="-2174" r="-20000" b="-32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6231243" y="4041229"/>
                <a:ext cx="4482574" cy="648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𝐹</m:t>
                      </m:r>
                      <m:r>
                        <a:rPr lang="en-US" sz="2200" b="0" i="1" smtClean="0">
                          <a:latin typeface="Cambria Math" panose="02040503050406030204" pitchFamily="18" charset="0"/>
                        </a:rPr>
                        <m:t>1−</m:t>
                      </m:r>
                      <m:r>
                        <a:rPr lang="en-US" sz="2200" b="0" i="1" smtClean="0">
                          <a:latin typeface="Cambria Math" panose="02040503050406030204" pitchFamily="18" charset="0"/>
                        </a:rPr>
                        <m:t>𝑠𝑐𝑜𝑟𝑒</m:t>
                      </m:r>
                      <m:r>
                        <a:rPr lang="en-US" sz="2200" b="0" i="1" smtClean="0">
                          <a:latin typeface="Cambria Math" panose="02040503050406030204" pitchFamily="18" charset="0"/>
                        </a:rPr>
                        <m:t>=2</m:t>
                      </m:r>
                      <m:r>
                        <a:rPr lang="en-US" sz="2200" b="0" i="1" smtClean="0">
                          <a:latin typeface="Cambria Math" panose="02040503050406030204" pitchFamily="18" charset="0"/>
                        </a:rPr>
                        <m:t>𝑥</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𝑃𝑟𝑒</m:t>
                          </m:r>
                          <m:r>
                            <a:rPr lang="en-US" sz="2200" b="0" i="1" smtClean="0">
                              <a:latin typeface="Cambria Math" panose="02040503050406030204" pitchFamily="18" charset="0"/>
                            </a:rPr>
                            <m:t>𝑐𝑖𝑠𝑖𝑜𝑛</m:t>
                          </m:r>
                          <m:r>
                            <a:rPr lang="en-US" sz="2200" b="0" i="1" smtClean="0">
                              <a:latin typeface="Cambria Math" panose="02040503050406030204" pitchFamily="18" charset="0"/>
                            </a:rPr>
                            <m:t>∗</m:t>
                          </m:r>
                          <m:r>
                            <a:rPr lang="en-US" sz="2200" b="0" i="1" smtClean="0">
                              <a:latin typeface="Cambria Math" panose="02040503050406030204" pitchFamily="18" charset="0"/>
                            </a:rPr>
                            <m:t>𝑅𝑒𝑐𝑎</m:t>
                          </m:r>
                          <m:r>
                            <a:rPr lang="en-US" sz="2200" b="0" i="1" smtClean="0">
                              <a:latin typeface="Cambria Math" panose="02040503050406030204" pitchFamily="18" charset="0"/>
                            </a:rPr>
                            <m:t>𝑙𝑙</m:t>
                          </m:r>
                        </m:num>
                        <m:den>
                          <m:r>
                            <a:rPr lang="en-US" sz="2200" b="0" i="1" smtClean="0">
                              <a:latin typeface="Cambria Math" panose="02040503050406030204" pitchFamily="18" charset="0"/>
                            </a:rPr>
                            <m:t>𝑃𝑟𝑒</m:t>
                          </m:r>
                          <m:r>
                            <a:rPr lang="en-US" sz="2200" b="0" i="1" smtClean="0">
                              <a:latin typeface="Cambria Math" panose="02040503050406030204" pitchFamily="18" charset="0"/>
                            </a:rPr>
                            <m:t>𝑐𝑖𝑠𝑖𝑜𝑛</m:t>
                          </m:r>
                          <m:r>
                            <a:rPr lang="en-US" sz="2200" b="0" i="1" smtClean="0">
                              <a:latin typeface="Cambria Math" panose="02040503050406030204" pitchFamily="18" charset="0"/>
                            </a:rPr>
                            <m:t>+</m:t>
                          </m:r>
                          <m:r>
                            <a:rPr lang="en-US" sz="2200" b="0" i="1" smtClean="0">
                              <a:latin typeface="Cambria Math" panose="02040503050406030204" pitchFamily="18" charset="0"/>
                            </a:rPr>
                            <m:t>𝑅𝑒𝑐𝑎</m:t>
                          </m:r>
                          <m:r>
                            <a:rPr lang="en-US" sz="2200" b="0" i="1" smtClean="0">
                              <a:latin typeface="Cambria Math" panose="02040503050406030204" pitchFamily="18" charset="0"/>
                            </a:rPr>
                            <m:t>𝑙𝑙</m:t>
                          </m:r>
                        </m:den>
                      </m:f>
                    </m:oMath>
                  </m:oMathPara>
                </a14:m>
                <a:endParaRPr lang="en-US" sz="2200"/>
              </a:p>
            </p:txBody>
          </p:sp>
        </mc:Choice>
        <mc:Fallback>
          <p:sp>
            <p:nvSpPr>
              <p:cNvPr id="16" name="TextBox 15"/>
              <p:cNvSpPr txBox="1">
                <a:spLocks noRot="1" noChangeAspect="1" noMove="1" noResize="1" noEditPoints="1" noAdjustHandles="1" noChangeArrowheads="1" noChangeShapeType="1" noTextEdit="1"/>
              </p:cNvSpPr>
              <p:nvPr/>
            </p:nvSpPr>
            <p:spPr>
              <a:xfrm>
                <a:off x="6231243" y="4041229"/>
                <a:ext cx="4482574" cy="648447"/>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520262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372910F4-20AE-5C78-B075-FC85EDCB7BB7}"/>
              </a:ext>
            </a:extLst>
          </p:cNvPr>
          <p:cNvSpPr>
            <a:spLocks noGrp="1"/>
          </p:cNvSpPr>
          <p:nvPr>
            <p:ph type="body" sz="quarter" idx="13"/>
          </p:nvPr>
        </p:nvSpPr>
        <p:spPr>
          <a:xfrm>
            <a:off x="996950" y="93672"/>
            <a:ext cx="10067925" cy="452077"/>
          </a:xfrm>
          <a:noFill/>
          <a:ln>
            <a:noFill/>
          </a:ln>
        </p:spPr>
        <p:txBody>
          <a:bodyPr>
            <a:noAutofit/>
          </a:bodyPr>
          <a:lstStyle/>
          <a:p>
            <a:pPr marL="0" indent="0" algn="just">
              <a:lnSpc>
                <a:spcPct val="120000"/>
              </a:lnSpc>
              <a:spcBef>
                <a:spcPts val="600"/>
              </a:spcBef>
              <a:buNone/>
            </a:pPr>
            <a:r>
              <a:rPr lang="en-US" b="1" smtClean="0">
                <a:solidFill>
                  <a:schemeClr val="accent1">
                    <a:lumMod val="50000"/>
                  </a:schemeClr>
                </a:solidFill>
                <a:latin typeface="Cambria" panose="02040503050406030204" pitchFamily="18" charset="0"/>
                <a:ea typeface="Cambria" panose="02040503050406030204" pitchFamily="18" charset="0"/>
              </a:rPr>
              <a:t>3. Phương pháp đề xuất</a:t>
            </a:r>
            <a:endParaRPr lang="en-US" b="1" dirty="0">
              <a:solidFill>
                <a:schemeClr val="accent1">
                  <a:lumMod val="50000"/>
                </a:schemeClr>
              </a:solidFill>
              <a:latin typeface="Cambria" panose="02040503050406030204" pitchFamily="18" charset="0"/>
              <a:ea typeface="Cambria" panose="02040503050406030204" pitchFamily="18" charset="0"/>
            </a:endParaRPr>
          </a:p>
        </p:txBody>
      </p:sp>
      <p:sp>
        <p:nvSpPr>
          <p:cNvPr id="8" name="Rectangle 7"/>
          <p:cNvSpPr/>
          <p:nvPr/>
        </p:nvSpPr>
        <p:spPr>
          <a:xfrm>
            <a:off x="1574482" y="4983533"/>
            <a:ext cx="8912860"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Hình 7. Mô hình tổng quát phương pháp đề xuất</a:t>
            </a:r>
            <a:endParaRPr lang="en-US">
              <a:latin typeface="Cambria" panose="02040503050406030204" pitchFamily="18" charset="0"/>
              <a:ea typeface="Cambria" panose="02040503050406030204" pitchFamily="18" charset="0"/>
            </a:endParaRPr>
          </a:p>
        </p:txBody>
      </p:sp>
      <p:sp>
        <p:nvSpPr>
          <p:cNvPr id="16" name="Slide Number Placeholder 15"/>
          <p:cNvSpPr>
            <a:spLocks noGrp="1"/>
          </p:cNvSpPr>
          <p:nvPr>
            <p:ph type="sldNum" sz="quarter" idx="12"/>
          </p:nvPr>
        </p:nvSpPr>
        <p:spPr/>
        <p:txBody>
          <a:bodyPr/>
          <a:lstStyle/>
          <a:p>
            <a:fld id="{BB1995A4-D8DA-4FAF-BB95-1BE7047B607C}" type="slidenum">
              <a:rPr lang="en-US" smtClean="0"/>
              <a:pPr/>
              <a:t>11</a:t>
            </a:fld>
            <a:endParaRPr lang="en-US"/>
          </a:p>
        </p:txBody>
      </p:sp>
      <p:pic>
        <p:nvPicPr>
          <p:cNvPr id="2" name="Picture 1"/>
          <p:cNvPicPr>
            <a:picLocks noChangeAspect="1"/>
          </p:cNvPicPr>
          <p:nvPr/>
        </p:nvPicPr>
        <p:blipFill>
          <a:blip r:embed="rId3"/>
          <a:stretch>
            <a:fillRect/>
          </a:stretch>
        </p:blipFill>
        <p:spPr>
          <a:xfrm>
            <a:off x="118010" y="977103"/>
            <a:ext cx="11870789" cy="3944408"/>
          </a:xfrm>
          <a:prstGeom prst="rect">
            <a:avLst/>
          </a:prstGeom>
        </p:spPr>
      </p:pic>
    </p:spTree>
    <p:extLst>
      <p:ext uri="{BB962C8B-B14F-4D97-AF65-F5344CB8AC3E}">
        <p14:creationId xmlns:p14="http://schemas.microsoft.com/office/powerpoint/2010/main" val="14309452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372910F4-20AE-5C78-B075-FC85EDCB7BB7}"/>
              </a:ext>
            </a:extLst>
          </p:cNvPr>
          <p:cNvSpPr>
            <a:spLocks noGrp="1"/>
          </p:cNvSpPr>
          <p:nvPr>
            <p:ph type="body" sz="quarter" idx="13"/>
          </p:nvPr>
        </p:nvSpPr>
        <p:spPr>
          <a:ln>
            <a:noFill/>
          </a:ln>
        </p:spPr>
        <p:txBody>
          <a:bodyPr/>
          <a:lstStyle/>
          <a:p>
            <a:pPr marL="0" indent="0">
              <a:buNone/>
            </a:pPr>
            <a:r>
              <a:rPr lang="en-US" b="1">
                <a:solidFill>
                  <a:schemeClr val="accent1">
                    <a:lumMod val="50000"/>
                  </a:schemeClr>
                </a:solidFill>
              </a:rPr>
              <a:t>4.1. Các kịch bản áp dụng</a:t>
            </a:r>
            <a:endParaRPr lang="en-US" b="1" dirty="0">
              <a:solidFill>
                <a:schemeClr val="accent1">
                  <a:lumMod val="50000"/>
                </a:schemeClr>
              </a:solidFill>
            </a:endParaRPr>
          </a:p>
        </p:txBody>
      </p:sp>
      <p:sp>
        <p:nvSpPr>
          <p:cNvPr id="18" name="Rectangle 17"/>
          <p:cNvSpPr/>
          <p:nvPr/>
        </p:nvSpPr>
        <p:spPr>
          <a:xfrm>
            <a:off x="2673504" y="1039091"/>
            <a:ext cx="6090898" cy="369332"/>
          </a:xfrm>
          <a:prstGeom prst="rect">
            <a:avLst/>
          </a:prstGeom>
        </p:spPr>
        <p:txBody>
          <a:bodyPr wrap="none">
            <a:spAutoFit/>
          </a:bodyPr>
          <a:lstStyle/>
          <a:p>
            <a:r>
              <a:rPr lang="en-US" b="1" i="1">
                <a:solidFill>
                  <a:srgbClr val="000000"/>
                </a:solidFill>
                <a:latin typeface="Cambria" panose="02040503050406030204" pitchFamily="18" charset="0"/>
                <a:ea typeface="Cambria" panose="02040503050406030204" pitchFamily="18" charset="0"/>
              </a:rPr>
              <a:t>Bảng </a:t>
            </a:r>
            <a:r>
              <a:rPr lang="en-US" b="1" i="1" smtClean="0">
                <a:solidFill>
                  <a:srgbClr val="000000"/>
                </a:solidFill>
                <a:latin typeface="Cambria" panose="02040503050406030204" pitchFamily="18" charset="0"/>
                <a:ea typeface="Cambria" panose="02040503050406030204" pitchFamily="18" charset="0"/>
              </a:rPr>
              <a:t>1. </a:t>
            </a:r>
            <a:r>
              <a:rPr lang="en-US" i="1">
                <a:solidFill>
                  <a:srgbClr val="000000"/>
                </a:solidFill>
                <a:latin typeface="Cambria" panose="02040503050406030204" pitchFamily="18" charset="0"/>
                <a:ea typeface="Cambria" panose="02040503050406030204" pitchFamily="18" charset="0"/>
              </a:rPr>
              <a:t>Các kịch bản được đề xuất và các tham số huấn luyện</a:t>
            </a:r>
            <a:endParaRPr lang="en-GB">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BB1995A4-D8DA-4FAF-BB95-1BE7047B607C}" type="slidenum">
              <a:rPr lang="en-US" smtClean="0"/>
              <a:pPr/>
              <a:t>12</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3783683061"/>
              </p:ext>
            </p:extLst>
          </p:nvPr>
        </p:nvGraphicFramePr>
        <p:xfrm>
          <a:off x="996950" y="1432820"/>
          <a:ext cx="10524492" cy="4222481"/>
        </p:xfrm>
        <a:graphic>
          <a:graphicData uri="http://schemas.openxmlformats.org/drawingml/2006/table">
            <a:tbl>
              <a:tblPr firstRow="1" firstCol="1" bandRow="1">
                <a:tableStyleId>{93296810-A885-4BE3-A3E7-6D5BEEA58F35}</a:tableStyleId>
              </a:tblPr>
              <a:tblGrid>
                <a:gridCol w="1514248">
                  <a:extLst>
                    <a:ext uri="{9D8B030D-6E8A-4147-A177-3AD203B41FA5}">
                      <a16:colId xmlns:a16="http://schemas.microsoft.com/office/drawing/2014/main" val="2797524788"/>
                    </a:ext>
                  </a:extLst>
                </a:gridCol>
                <a:gridCol w="1997443">
                  <a:extLst>
                    <a:ext uri="{9D8B030D-6E8A-4147-A177-3AD203B41FA5}">
                      <a16:colId xmlns:a16="http://schemas.microsoft.com/office/drawing/2014/main" val="3789088047"/>
                    </a:ext>
                  </a:extLst>
                </a:gridCol>
                <a:gridCol w="1534234">
                  <a:extLst>
                    <a:ext uri="{9D8B030D-6E8A-4147-A177-3AD203B41FA5}">
                      <a16:colId xmlns:a16="http://schemas.microsoft.com/office/drawing/2014/main" val="3097936286"/>
                    </a:ext>
                  </a:extLst>
                </a:gridCol>
                <a:gridCol w="1240319">
                  <a:extLst>
                    <a:ext uri="{9D8B030D-6E8A-4147-A177-3AD203B41FA5}">
                      <a16:colId xmlns:a16="http://schemas.microsoft.com/office/drawing/2014/main" val="4019468568"/>
                    </a:ext>
                  </a:extLst>
                </a:gridCol>
                <a:gridCol w="1196820">
                  <a:extLst>
                    <a:ext uri="{9D8B030D-6E8A-4147-A177-3AD203B41FA5}">
                      <a16:colId xmlns:a16="http://schemas.microsoft.com/office/drawing/2014/main" val="227573350"/>
                    </a:ext>
                  </a:extLst>
                </a:gridCol>
                <a:gridCol w="1516599">
                  <a:extLst>
                    <a:ext uri="{9D8B030D-6E8A-4147-A177-3AD203B41FA5}">
                      <a16:colId xmlns:a16="http://schemas.microsoft.com/office/drawing/2014/main" val="1929162867"/>
                    </a:ext>
                  </a:extLst>
                </a:gridCol>
                <a:gridCol w="1524829">
                  <a:extLst>
                    <a:ext uri="{9D8B030D-6E8A-4147-A177-3AD203B41FA5}">
                      <a16:colId xmlns:a16="http://schemas.microsoft.com/office/drawing/2014/main" val="425313545"/>
                    </a:ext>
                  </a:extLst>
                </a:gridCol>
              </a:tblGrid>
              <a:tr h="979223">
                <a:tc>
                  <a:txBody>
                    <a:bodyPr/>
                    <a:lstStyle/>
                    <a:p>
                      <a:pPr algn="ctr">
                        <a:spcAft>
                          <a:spcPts val="0"/>
                        </a:spcAft>
                      </a:pPr>
                      <a:r>
                        <a:rPr lang="en-US" sz="2000">
                          <a:effectLst/>
                        </a:rPr>
                        <a:t>Kịch bản</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Kiến trúc mạng</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Kích thước</a:t>
                      </a:r>
                    </a:p>
                    <a:p>
                      <a:pPr algn="ctr">
                        <a:spcAft>
                          <a:spcPts val="0"/>
                        </a:spcAft>
                      </a:pPr>
                      <a:r>
                        <a:rPr lang="en-US" sz="2000">
                          <a:effectLst/>
                        </a:rPr>
                        <a:t>(HxW)</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Batch Size</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Epochs</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Optimizer</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Learnig Rate</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80563718"/>
                  </a:ext>
                </a:extLst>
              </a:tr>
              <a:tr h="333494">
                <a:tc>
                  <a:txBody>
                    <a:bodyPr/>
                    <a:lstStyle/>
                    <a:p>
                      <a:pPr algn="ctr">
                        <a:spcAft>
                          <a:spcPts val="0"/>
                        </a:spcAft>
                      </a:pPr>
                      <a:r>
                        <a:rPr lang="en-US" sz="2000">
                          <a:effectLst/>
                        </a:rPr>
                        <a:t>1</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InceptionV3</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384x192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100</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Adam</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1e-4</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7637890"/>
                  </a:ext>
                </a:extLst>
              </a:tr>
              <a:tr h="358738">
                <a:tc>
                  <a:txBody>
                    <a:bodyPr/>
                    <a:lstStyle/>
                    <a:p>
                      <a:pPr algn="ctr">
                        <a:spcAft>
                          <a:spcPts val="0"/>
                        </a:spcAft>
                      </a:pPr>
                      <a:r>
                        <a:rPr lang="en-US" sz="2000">
                          <a:effectLst/>
                        </a:rPr>
                        <a:t>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Resnet152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384x192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100</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Adam</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1e-4</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223689827"/>
                  </a:ext>
                </a:extLst>
              </a:tr>
              <a:tr h="362724">
                <a:tc>
                  <a:txBody>
                    <a:bodyPr/>
                    <a:lstStyle/>
                    <a:p>
                      <a:pPr algn="ctr">
                        <a:spcAft>
                          <a:spcPts val="0"/>
                        </a:spcAft>
                      </a:pPr>
                      <a:r>
                        <a:rPr lang="en-US" sz="2000">
                          <a:effectLst/>
                        </a:rPr>
                        <a:t>3</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Resnet50V2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384x192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100</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Adam</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1e-4</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09221534"/>
                  </a:ext>
                </a:extLst>
              </a:tr>
              <a:tr h="369367">
                <a:tc>
                  <a:txBody>
                    <a:bodyPr/>
                    <a:lstStyle/>
                    <a:p>
                      <a:pPr algn="ctr">
                        <a:spcAft>
                          <a:spcPts val="0"/>
                        </a:spcAft>
                      </a:pPr>
                      <a:r>
                        <a:rPr lang="en-US" sz="2000">
                          <a:effectLst/>
                        </a:rPr>
                        <a:t>4</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Densenet121</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384x192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100</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Adam</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1e-4</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041560136"/>
                  </a:ext>
                </a:extLst>
              </a:tr>
              <a:tr h="354752">
                <a:tc>
                  <a:txBody>
                    <a:bodyPr/>
                    <a:lstStyle/>
                    <a:p>
                      <a:pPr algn="ctr">
                        <a:spcAft>
                          <a:spcPts val="0"/>
                        </a:spcAft>
                      </a:pPr>
                      <a:r>
                        <a:rPr lang="en-US" sz="2000">
                          <a:effectLst/>
                        </a:rPr>
                        <a:t>5</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Densenet201</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384x192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100</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Adam</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1e-4</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480762902"/>
                  </a:ext>
                </a:extLst>
              </a:tr>
              <a:tr h="354752">
                <a:tc>
                  <a:txBody>
                    <a:bodyPr/>
                    <a:lstStyle/>
                    <a:p>
                      <a:pPr algn="ctr">
                        <a:spcAft>
                          <a:spcPts val="0"/>
                        </a:spcAft>
                      </a:pPr>
                      <a:r>
                        <a:rPr lang="en-US" sz="2000">
                          <a:effectLst/>
                        </a:rPr>
                        <a:t>6</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VGG19</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384x192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100</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Adam</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1e-4</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407519613"/>
                  </a:ext>
                </a:extLst>
              </a:tr>
              <a:tr h="379997">
                <a:tc>
                  <a:txBody>
                    <a:bodyPr/>
                    <a:lstStyle/>
                    <a:p>
                      <a:pPr algn="ctr">
                        <a:spcAft>
                          <a:spcPts val="0"/>
                        </a:spcAft>
                      </a:pPr>
                      <a:r>
                        <a:rPr lang="en-US" sz="2000">
                          <a:effectLst/>
                        </a:rPr>
                        <a:t>7</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Xception</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384x192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32</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100</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Adam</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2000">
                          <a:effectLst/>
                        </a:rPr>
                        <a:t>1e-4</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89991682"/>
                  </a:ext>
                </a:extLst>
              </a:tr>
              <a:tr h="372025">
                <a:tc>
                  <a:txBody>
                    <a:bodyPr/>
                    <a:lstStyle/>
                    <a:p>
                      <a:pPr algn="ctr">
                        <a:spcAft>
                          <a:spcPts val="0"/>
                        </a:spcAft>
                      </a:pPr>
                      <a:r>
                        <a:rPr lang="en-US" sz="2000">
                          <a:effectLst/>
                        </a:rPr>
                        <a:t>8</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gridSpan="6">
                  <a:txBody>
                    <a:bodyPr/>
                    <a:lstStyle/>
                    <a:p>
                      <a:pPr algn="ctr">
                        <a:spcAft>
                          <a:spcPts val="0"/>
                        </a:spcAft>
                      </a:pPr>
                      <a:r>
                        <a:rPr lang="en-US" sz="2000">
                          <a:effectLst/>
                        </a:rPr>
                        <a:t>ESD-NET – Hard voting</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14999474"/>
                  </a:ext>
                </a:extLst>
              </a:tr>
              <a:tr h="357409">
                <a:tc>
                  <a:txBody>
                    <a:bodyPr/>
                    <a:lstStyle/>
                    <a:p>
                      <a:pPr algn="ctr">
                        <a:spcAft>
                          <a:spcPts val="0"/>
                        </a:spcAft>
                      </a:pPr>
                      <a:r>
                        <a:rPr lang="en-US" sz="2000">
                          <a:effectLst/>
                        </a:rPr>
                        <a:t>9</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gridSpan="6">
                  <a:txBody>
                    <a:bodyPr/>
                    <a:lstStyle/>
                    <a:p>
                      <a:pPr algn="ctr">
                        <a:spcAft>
                          <a:spcPts val="0"/>
                        </a:spcAft>
                      </a:pPr>
                      <a:r>
                        <a:rPr lang="en-US" sz="2000">
                          <a:effectLst/>
                        </a:rPr>
                        <a:t>ESD-NET – Soft voting</a:t>
                      </a:r>
                      <a:endParaRPr lang="en-US" sz="2000">
                        <a:effectLst/>
                        <a:latin typeface="Times New Roman" panose="02020603050405020304" pitchFamily="18" charset="0"/>
                        <a:ea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449078"/>
                  </a:ext>
                </a:extLst>
              </a:tr>
            </a:tbl>
          </a:graphicData>
        </a:graphic>
      </p:graphicFrame>
    </p:spTree>
    <p:extLst>
      <p:ext uri="{BB962C8B-B14F-4D97-AF65-F5344CB8AC3E}">
        <p14:creationId xmlns:p14="http://schemas.microsoft.com/office/powerpoint/2010/main" val="7267733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0" indent="0">
              <a:buNone/>
            </a:pPr>
            <a:r>
              <a:rPr lang="en-US" smtClean="0"/>
              <a:t>4. Kết quả thực nghiệm</a:t>
            </a:r>
            <a:endParaRPr lang="en-US"/>
          </a:p>
        </p:txBody>
      </p:sp>
      <p:sp>
        <p:nvSpPr>
          <p:cNvPr id="3" name="Text Placeholder 2"/>
          <p:cNvSpPr>
            <a:spLocks noGrp="1"/>
          </p:cNvSpPr>
          <p:nvPr>
            <p:ph type="body" sz="quarter" idx="14"/>
          </p:nvPr>
        </p:nvSpPr>
        <p:spPr>
          <a:xfrm>
            <a:off x="476885" y="943293"/>
            <a:ext cx="11283950" cy="1241107"/>
          </a:xfrm>
        </p:spPr>
        <p:txBody>
          <a:bodyPr>
            <a:noAutofit/>
          </a:bodyPr>
          <a:lstStyle/>
          <a:p>
            <a:pPr>
              <a:lnSpc>
                <a:spcPct val="100000"/>
              </a:lnSpc>
              <a:buFontTx/>
              <a:buChar char="-"/>
            </a:pPr>
            <a:r>
              <a:rPr lang="en-US" sz="1800" b="1" smtClean="0">
                <a:solidFill>
                  <a:srgbClr val="C00000"/>
                </a:solidFill>
              </a:rPr>
              <a:t>Tập dữ liệu </a:t>
            </a:r>
          </a:p>
          <a:p>
            <a:pPr lvl="1">
              <a:lnSpc>
                <a:spcPct val="100000"/>
              </a:lnSpc>
              <a:buFont typeface="Wingdings" panose="05000000000000000000" pitchFamily="2" charset="2"/>
              <a:buChar char="§"/>
            </a:pPr>
            <a:r>
              <a:rPr lang="en-US" sz="1800" b="1" smtClean="0">
                <a:solidFill>
                  <a:srgbClr val="C00000"/>
                </a:solidFill>
              </a:rPr>
              <a:t>VinDr + Private:</a:t>
            </a:r>
            <a:r>
              <a:rPr lang="en-US" sz="1800" smtClean="0"/>
              <a:t>  huấn luyện 2,841, xác thực 355, tập kiểm thử 1,068 ảnh.</a:t>
            </a:r>
          </a:p>
          <a:p>
            <a:pPr lvl="1">
              <a:lnSpc>
                <a:spcPct val="100000"/>
              </a:lnSpc>
              <a:buFont typeface="Wingdings" panose="05000000000000000000" pitchFamily="2" charset="2"/>
              <a:buChar char="§"/>
            </a:pPr>
            <a:r>
              <a:rPr lang="en-US" sz="1800" smtClean="0"/>
              <a:t>2 nhóm bệnh: lành tính (Benign - B) và ác tính (Malignant – M)</a:t>
            </a:r>
          </a:p>
          <a:p>
            <a:pPr marL="0" indent="0">
              <a:lnSpc>
                <a:spcPct val="100000"/>
              </a:lnSpc>
              <a:buNone/>
            </a:pPr>
            <a:r>
              <a:rPr lang="en-US" sz="1800" b="1" smtClean="0">
                <a:solidFill>
                  <a:srgbClr val="C00000"/>
                </a:solidFill>
              </a:rPr>
              <a:t>- </a:t>
            </a:r>
            <a:r>
              <a:rPr lang="en-US" sz="1800" b="1">
                <a:solidFill>
                  <a:srgbClr val="C00000"/>
                </a:solidFill>
              </a:rPr>
              <a:t>Môi trường cài đặt: </a:t>
            </a:r>
            <a:r>
              <a:rPr lang="en-US" sz="1800" smtClean="0"/>
              <a:t>Kaggle </a:t>
            </a:r>
            <a:r>
              <a:rPr lang="en-US" sz="1800"/>
              <a:t>bộ vi xử lý Intel® Xeon® 2.00 GHz bộ nhớ RAM </a:t>
            </a:r>
            <a:r>
              <a:rPr lang="en-US" sz="1800" smtClean="0"/>
              <a:t>30GB</a:t>
            </a:r>
            <a:r>
              <a:rPr lang="en-US" sz="1800"/>
              <a:t>, bộ xử lý đồ họa với cấu hình RAM </a:t>
            </a:r>
            <a:r>
              <a:rPr lang="en-US" sz="1800" smtClean="0"/>
              <a:t>16 </a:t>
            </a:r>
            <a:r>
              <a:rPr lang="en-US" sz="1800"/>
              <a:t>GB và dùng GPU P</a:t>
            </a:r>
            <a:r>
              <a:rPr lang="en-US" sz="1800" smtClean="0"/>
              <a:t>100.</a:t>
            </a:r>
            <a:endParaRPr lang="en-US" sz="1800"/>
          </a:p>
        </p:txBody>
      </p:sp>
      <p:sp>
        <p:nvSpPr>
          <p:cNvPr id="5" name="Rectangle 4"/>
          <p:cNvSpPr/>
          <p:nvPr/>
        </p:nvSpPr>
        <p:spPr>
          <a:xfrm>
            <a:off x="2901632" y="5584387"/>
            <a:ext cx="6258560"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Hình </a:t>
            </a:r>
            <a:r>
              <a:rPr lang="en-US">
                <a:latin typeface="Cambria" panose="02040503050406030204" pitchFamily="18" charset="0"/>
                <a:ea typeface="Cambria" panose="02040503050406030204" pitchFamily="18" charset="0"/>
              </a:rPr>
              <a:t>8</a:t>
            </a:r>
            <a:r>
              <a:rPr lang="en-US" smtClean="0">
                <a:latin typeface="Cambria" panose="02040503050406030204" pitchFamily="18" charset="0"/>
                <a:ea typeface="Cambria" panose="02040503050406030204" pitchFamily="18" charset="0"/>
              </a:rPr>
              <a:t>. Một số hình ảnh trong tập dữ liệu VinDr và Private</a:t>
            </a:r>
            <a:endParaRPr lang="en-US">
              <a:latin typeface="Cambria" panose="02040503050406030204" pitchFamily="18" charset="0"/>
              <a:ea typeface="Cambria" panose="02040503050406030204" pitchFamily="18" charset="0"/>
            </a:endParaRPr>
          </a:p>
        </p:txBody>
      </p:sp>
      <p:sp>
        <p:nvSpPr>
          <p:cNvPr id="8" name="Slide Number Placeholder 7"/>
          <p:cNvSpPr>
            <a:spLocks noGrp="1"/>
          </p:cNvSpPr>
          <p:nvPr>
            <p:ph type="sldNum" sz="quarter" idx="12"/>
          </p:nvPr>
        </p:nvSpPr>
        <p:spPr/>
        <p:txBody>
          <a:bodyPr/>
          <a:lstStyle/>
          <a:p>
            <a:fld id="{BB1995A4-D8DA-4FAF-BB95-1BE7047B607C}" type="slidenum">
              <a:rPr lang="en-US" smtClean="0"/>
              <a:pPr/>
              <a:t>13</a:t>
            </a:fld>
            <a:endParaRPr lang="en-US"/>
          </a:p>
        </p:txBody>
      </p:sp>
      <p:pic>
        <p:nvPicPr>
          <p:cNvPr id="6" name="Picture 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147635" y="2798564"/>
            <a:ext cx="2179699" cy="2738636"/>
          </a:xfrm>
          <a:prstGeom prst="rect">
            <a:avLst/>
          </a:prstGeom>
        </p:spPr>
      </p:pic>
      <p:pic>
        <p:nvPicPr>
          <p:cNvPr id="7" name="Picture 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4468414" y="2798564"/>
            <a:ext cx="2145745" cy="273178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55239" y="2798564"/>
            <a:ext cx="1210642" cy="2738636"/>
          </a:xfrm>
          <a:prstGeom prst="rect">
            <a:avLst/>
          </a:prstGeom>
        </p:spPr>
      </p:pic>
      <p:pic>
        <p:nvPicPr>
          <p:cNvPr id="10" name="Picture 9"/>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8131049" y="2801868"/>
            <a:ext cx="1175511" cy="2721444"/>
          </a:xfrm>
          <a:prstGeom prst="rect">
            <a:avLst/>
          </a:prstGeom>
        </p:spPr>
      </p:pic>
    </p:spTree>
    <p:extLst>
      <p:ext uri="{BB962C8B-B14F-4D97-AF65-F5344CB8AC3E}">
        <p14:creationId xmlns:p14="http://schemas.microsoft.com/office/powerpoint/2010/main" val="38125094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372910F4-20AE-5C78-B075-FC85EDCB7BB7}"/>
              </a:ext>
            </a:extLst>
          </p:cNvPr>
          <p:cNvSpPr>
            <a:spLocks noGrp="1"/>
          </p:cNvSpPr>
          <p:nvPr>
            <p:ph type="body" sz="quarter" idx="13"/>
          </p:nvPr>
        </p:nvSpPr>
        <p:spPr>
          <a:ln>
            <a:noFill/>
          </a:ln>
        </p:spPr>
        <p:txBody>
          <a:bodyPr/>
          <a:lstStyle/>
          <a:p>
            <a:pPr marL="0" indent="0">
              <a:buNone/>
            </a:pPr>
            <a:r>
              <a:rPr lang="en-US" b="1"/>
              <a:t>4.2. </a:t>
            </a:r>
            <a:r>
              <a:rPr lang="en-US" b="1" dirty="0" err="1"/>
              <a:t>Kết</a:t>
            </a:r>
            <a:r>
              <a:rPr lang="en-US" b="1" dirty="0"/>
              <a:t> </a:t>
            </a:r>
            <a:r>
              <a:rPr lang="en-US" b="1" dirty="0" err="1"/>
              <a:t>quả</a:t>
            </a:r>
            <a:r>
              <a:rPr lang="en-US" b="1" dirty="0"/>
              <a:t> </a:t>
            </a:r>
            <a:r>
              <a:rPr lang="en-US" b="1" dirty="0" err="1"/>
              <a:t>huấn</a:t>
            </a:r>
            <a:r>
              <a:rPr lang="en-US" b="1" dirty="0"/>
              <a:t> </a:t>
            </a:r>
            <a:r>
              <a:rPr lang="en-US" b="1" dirty="0" err="1"/>
              <a:t>luyện</a:t>
            </a:r>
            <a:r>
              <a:rPr lang="en-US" b="1" dirty="0"/>
              <a:t> </a:t>
            </a: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24" name="Rectangle 23"/>
          <p:cNvSpPr/>
          <p:nvPr/>
        </p:nvSpPr>
        <p:spPr>
          <a:xfrm>
            <a:off x="1574482" y="6387360"/>
            <a:ext cx="8912860" cy="369332"/>
          </a:xfrm>
          <a:prstGeom prst="rect">
            <a:avLst/>
          </a:prstGeom>
        </p:spPr>
        <p:txBody>
          <a:bodyPr wrap="square">
            <a:spAutoFit/>
          </a:bodyPr>
          <a:lstStyle/>
          <a:p>
            <a:pPr algn="ctr"/>
            <a:r>
              <a:rPr lang="en-US" smtClean="0">
                <a:solidFill>
                  <a:schemeClr val="bg1"/>
                </a:solidFill>
                <a:latin typeface="Cambria" panose="02040503050406030204" pitchFamily="18" charset="0"/>
                <a:ea typeface="Cambria" panose="02040503050406030204" pitchFamily="18" charset="0"/>
              </a:rPr>
              <a:t>Hình </a:t>
            </a:r>
            <a:r>
              <a:rPr lang="en-US">
                <a:solidFill>
                  <a:schemeClr val="bg1"/>
                </a:solidFill>
                <a:latin typeface="Cambria" panose="02040503050406030204" pitchFamily="18" charset="0"/>
                <a:ea typeface="Cambria" panose="02040503050406030204" pitchFamily="18" charset="0"/>
              </a:rPr>
              <a:t>9</a:t>
            </a:r>
            <a:r>
              <a:rPr lang="en-US" smtClean="0">
                <a:solidFill>
                  <a:schemeClr val="bg1"/>
                </a:solidFill>
                <a:latin typeface="Cambria" panose="02040503050406030204" pitchFamily="18" charset="0"/>
                <a:ea typeface="Cambria" panose="02040503050406030204" pitchFamily="18" charset="0"/>
              </a:rPr>
              <a:t>. Kết quả đánh giá độ đo Loss và Acc</a:t>
            </a:r>
            <a:endParaRPr lang="en-US">
              <a:solidFill>
                <a:schemeClr val="bg1"/>
              </a:solidFill>
              <a:latin typeface="Cambria" panose="02040503050406030204" pitchFamily="18" charset="0"/>
              <a:ea typeface="Cambria" panose="02040503050406030204" pitchFamily="18" charset="0"/>
            </a:endParaRPr>
          </a:p>
        </p:txBody>
      </p:sp>
      <p:sp>
        <p:nvSpPr>
          <p:cNvPr id="17" name="Slide Number Placeholder 16"/>
          <p:cNvSpPr>
            <a:spLocks noGrp="1"/>
          </p:cNvSpPr>
          <p:nvPr>
            <p:ph type="sldNum" sz="quarter" idx="12"/>
          </p:nvPr>
        </p:nvSpPr>
        <p:spPr/>
        <p:txBody>
          <a:bodyPr/>
          <a:lstStyle/>
          <a:p>
            <a:fld id="{BB1995A4-D8DA-4FAF-BB95-1BE7047B607C}" type="slidenum">
              <a:rPr lang="en-US" smtClean="0"/>
              <a:pPr/>
              <a:t>14</a:t>
            </a:fld>
            <a:endParaRPr lang="en-US"/>
          </a:p>
        </p:txBody>
      </p:sp>
      <p:pic>
        <p:nvPicPr>
          <p:cNvPr id="20" name="Picture 19"/>
          <p:cNvPicPr/>
          <p:nvPr/>
        </p:nvPicPr>
        <p:blipFill>
          <a:blip r:embed="rId3"/>
          <a:stretch>
            <a:fillRect/>
          </a:stretch>
        </p:blipFill>
        <p:spPr>
          <a:xfrm>
            <a:off x="272183" y="1045657"/>
            <a:ext cx="5582078" cy="2245499"/>
          </a:xfrm>
          <a:prstGeom prst="rect">
            <a:avLst/>
          </a:prstGeom>
        </p:spPr>
      </p:pic>
      <p:pic>
        <p:nvPicPr>
          <p:cNvPr id="27" name="Picture 26"/>
          <p:cNvPicPr/>
          <p:nvPr/>
        </p:nvPicPr>
        <p:blipFill>
          <a:blip r:embed="rId4"/>
          <a:stretch>
            <a:fillRect/>
          </a:stretch>
        </p:blipFill>
        <p:spPr>
          <a:xfrm>
            <a:off x="6157036" y="1045657"/>
            <a:ext cx="5646081" cy="2263492"/>
          </a:xfrm>
          <a:prstGeom prst="rect">
            <a:avLst/>
          </a:prstGeom>
        </p:spPr>
      </p:pic>
      <p:pic>
        <p:nvPicPr>
          <p:cNvPr id="28" name="Picture 27"/>
          <p:cNvPicPr/>
          <p:nvPr/>
        </p:nvPicPr>
        <p:blipFill>
          <a:blip r:embed="rId5"/>
          <a:stretch>
            <a:fillRect/>
          </a:stretch>
        </p:blipFill>
        <p:spPr>
          <a:xfrm>
            <a:off x="272183" y="3668318"/>
            <a:ext cx="5503046" cy="2196454"/>
          </a:xfrm>
          <a:prstGeom prst="rect">
            <a:avLst/>
          </a:prstGeom>
        </p:spPr>
      </p:pic>
      <p:pic>
        <p:nvPicPr>
          <p:cNvPr id="29" name="Picture 28"/>
          <p:cNvPicPr/>
          <p:nvPr/>
        </p:nvPicPr>
        <p:blipFill>
          <a:blip r:embed="rId6"/>
          <a:stretch>
            <a:fillRect/>
          </a:stretch>
        </p:blipFill>
        <p:spPr>
          <a:xfrm>
            <a:off x="6157036" y="3668318"/>
            <a:ext cx="5646081" cy="2274116"/>
          </a:xfrm>
          <a:prstGeom prst="rect">
            <a:avLst/>
          </a:prstGeom>
        </p:spPr>
      </p:pic>
      <p:sp>
        <p:nvSpPr>
          <p:cNvPr id="30" name="Rectangle 29"/>
          <p:cNvSpPr/>
          <p:nvPr/>
        </p:nvSpPr>
        <p:spPr>
          <a:xfrm>
            <a:off x="2123866" y="5932271"/>
            <a:ext cx="1596796"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Kịch bản 3</a:t>
            </a:r>
            <a:endParaRPr lang="en-US">
              <a:latin typeface="Cambria" panose="02040503050406030204" pitchFamily="18" charset="0"/>
              <a:ea typeface="Cambria" panose="02040503050406030204" pitchFamily="18" charset="0"/>
            </a:endParaRPr>
          </a:p>
        </p:txBody>
      </p:sp>
      <p:sp>
        <p:nvSpPr>
          <p:cNvPr id="31" name="Rectangle 30"/>
          <p:cNvSpPr/>
          <p:nvPr/>
        </p:nvSpPr>
        <p:spPr>
          <a:xfrm>
            <a:off x="8181678" y="5932271"/>
            <a:ext cx="1596796"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Kịch bản 4</a:t>
            </a:r>
            <a:endParaRPr lang="en-US">
              <a:latin typeface="Cambria" panose="02040503050406030204" pitchFamily="18" charset="0"/>
              <a:ea typeface="Cambria" panose="02040503050406030204" pitchFamily="18" charset="0"/>
            </a:endParaRPr>
          </a:p>
        </p:txBody>
      </p:sp>
      <p:sp>
        <p:nvSpPr>
          <p:cNvPr id="32" name="Rectangle 31"/>
          <p:cNvSpPr/>
          <p:nvPr/>
        </p:nvSpPr>
        <p:spPr>
          <a:xfrm>
            <a:off x="8181678" y="3244239"/>
            <a:ext cx="1596796"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Kịch bản 2</a:t>
            </a:r>
            <a:endParaRPr lang="en-US">
              <a:latin typeface="Cambria" panose="02040503050406030204" pitchFamily="18" charset="0"/>
              <a:ea typeface="Cambria" panose="02040503050406030204" pitchFamily="18" charset="0"/>
            </a:endParaRPr>
          </a:p>
        </p:txBody>
      </p:sp>
      <p:sp>
        <p:nvSpPr>
          <p:cNvPr id="33" name="Rectangle 32"/>
          <p:cNvSpPr/>
          <p:nvPr/>
        </p:nvSpPr>
        <p:spPr>
          <a:xfrm>
            <a:off x="2264824" y="3211762"/>
            <a:ext cx="1596796"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Kịch bản 1</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703005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372910F4-20AE-5C78-B075-FC85EDCB7BB7}"/>
              </a:ext>
            </a:extLst>
          </p:cNvPr>
          <p:cNvSpPr>
            <a:spLocks noGrp="1"/>
          </p:cNvSpPr>
          <p:nvPr>
            <p:ph type="body" sz="quarter" idx="13"/>
          </p:nvPr>
        </p:nvSpPr>
        <p:spPr>
          <a:ln>
            <a:noFill/>
          </a:ln>
        </p:spPr>
        <p:txBody>
          <a:bodyPr/>
          <a:lstStyle/>
          <a:p>
            <a:pPr marL="0" indent="0">
              <a:buNone/>
            </a:pPr>
            <a:r>
              <a:rPr lang="en-US" b="1"/>
              <a:t>4.2. </a:t>
            </a:r>
            <a:r>
              <a:rPr lang="en-US" b="1" dirty="0" err="1"/>
              <a:t>Kết</a:t>
            </a:r>
            <a:r>
              <a:rPr lang="en-US" b="1" dirty="0"/>
              <a:t> </a:t>
            </a:r>
            <a:r>
              <a:rPr lang="en-US" b="1" dirty="0" err="1"/>
              <a:t>quả</a:t>
            </a:r>
            <a:r>
              <a:rPr lang="en-US" b="1" dirty="0"/>
              <a:t> </a:t>
            </a:r>
            <a:r>
              <a:rPr lang="en-US" b="1" dirty="0" err="1"/>
              <a:t>huấn</a:t>
            </a:r>
            <a:r>
              <a:rPr lang="en-US" b="1" dirty="0"/>
              <a:t> </a:t>
            </a:r>
            <a:r>
              <a:rPr lang="en-US" b="1" dirty="0" err="1"/>
              <a:t>luyện</a:t>
            </a:r>
            <a:r>
              <a:rPr lang="en-US" b="1" dirty="0"/>
              <a:t> </a:t>
            </a: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24" name="Rectangle 23"/>
          <p:cNvSpPr/>
          <p:nvPr/>
        </p:nvSpPr>
        <p:spPr>
          <a:xfrm>
            <a:off x="1574482" y="6387360"/>
            <a:ext cx="8912860" cy="369332"/>
          </a:xfrm>
          <a:prstGeom prst="rect">
            <a:avLst/>
          </a:prstGeom>
        </p:spPr>
        <p:txBody>
          <a:bodyPr wrap="square">
            <a:spAutoFit/>
          </a:bodyPr>
          <a:lstStyle/>
          <a:p>
            <a:pPr algn="ctr"/>
            <a:r>
              <a:rPr lang="en-US" smtClean="0">
                <a:solidFill>
                  <a:schemeClr val="bg1"/>
                </a:solidFill>
                <a:latin typeface="Cambria" panose="02040503050406030204" pitchFamily="18" charset="0"/>
                <a:ea typeface="Cambria" panose="02040503050406030204" pitchFamily="18" charset="0"/>
              </a:rPr>
              <a:t>Hình </a:t>
            </a:r>
            <a:r>
              <a:rPr lang="en-US">
                <a:solidFill>
                  <a:schemeClr val="bg1"/>
                </a:solidFill>
                <a:latin typeface="Cambria" panose="02040503050406030204" pitchFamily="18" charset="0"/>
                <a:ea typeface="Cambria" panose="02040503050406030204" pitchFamily="18" charset="0"/>
              </a:rPr>
              <a:t>9</a:t>
            </a:r>
            <a:r>
              <a:rPr lang="en-US" smtClean="0">
                <a:solidFill>
                  <a:schemeClr val="bg1"/>
                </a:solidFill>
                <a:latin typeface="Cambria" panose="02040503050406030204" pitchFamily="18" charset="0"/>
                <a:ea typeface="Cambria" panose="02040503050406030204" pitchFamily="18" charset="0"/>
              </a:rPr>
              <a:t>. Kết quả đánh giá độ đo Loss và Acc</a:t>
            </a:r>
            <a:endParaRPr lang="en-US">
              <a:solidFill>
                <a:schemeClr val="bg1"/>
              </a:solidFill>
              <a:latin typeface="Cambria" panose="02040503050406030204" pitchFamily="18" charset="0"/>
              <a:ea typeface="Cambria" panose="02040503050406030204" pitchFamily="18" charset="0"/>
            </a:endParaRPr>
          </a:p>
        </p:txBody>
      </p:sp>
      <p:sp>
        <p:nvSpPr>
          <p:cNvPr id="17" name="Slide Number Placeholder 16"/>
          <p:cNvSpPr>
            <a:spLocks noGrp="1"/>
          </p:cNvSpPr>
          <p:nvPr>
            <p:ph type="sldNum" sz="quarter" idx="12"/>
          </p:nvPr>
        </p:nvSpPr>
        <p:spPr/>
        <p:txBody>
          <a:bodyPr/>
          <a:lstStyle/>
          <a:p>
            <a:fld id="{BB1995A4-D8DA-4FAF-BB95-1BE7047B607C}" type="slidenum">
              <a:rPr lang="en-US" smtClean="0"/>
              <a:pPr/>
              <a:t>15</a:t>
            </a:fld>
            <a:endParaRPr lang="en-US"/>
          </a:p>
        </p:txBody>
      </p:sp>
      <p:sp>
        <p:nvSpPr>
          <p:cNvPr id="30" name="Rectangle 29"/>
          <p:cNvSpPr/>
          <p:nvPr/>
        </p:nvSpPr>
        <p:spPr>
          <a:xfrm>
            <a:off x="5297602" y="6091600"/>
            <a:ext cx="1596796"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Kịch bản 7</a:t>
            </a:r>
            <a:endParaRPr lang="en-US">
              <a:latin typeface="Cambria" panose="02040503050406030204" pitchFamily="18" charset="0"/>
              <a:ea typeface="Cambria" panose="02040503050406030204" pitchFamily="18" charset="0"/>
            </a:endParaRPr>
          </a:p>
        </p:txBody>
      </p:sp>
      <p:sp>
        <p:nvSpPr>
          <p:cNvPr id="32" name="Rectangle 31"/>
          <p:cNvSpPr/>
          <p:nvPr/>
        </p:nvSpPr>
        <p:spPr>
          <a:xfrm>
            <a:off x="8181678" y="3244239"/>
            <a:ext cx="1596796"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Kịch bản 6</a:t>
            </a:r>
            <a:endParaRPr lang="en-US">
              <a:latin typeface="Cambria" panose="02040503050406030204" pitchFamily="18" charset="0"/>
              <a:ea typeface="Cambria" panose="02040503050406030204" pitchFamily="18" charset="0"/>
            </a:endParaRPr>
          </a:p>
        </p:txBody>
      </p:sp>
      <p:sp>
        <p:nvSpPr>
          <p:cNvPr id="33" name="Rectangle 32"/>
          <p:cNvSpPr/>
          <p:nvPr/>
        </p:nvSpPr>
        <p:spPr>
          <a:xfrm>
            <a:off x="2295371" y="3271819"/>
            <a:ext cx="1596796"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Kịch bản 5</a:t>
            </a:r>
            <a:endParaRPr lang="en-US">
              <a:latin typeface="Cambria" panose="02040503050406030204" pitchFamily="18" charset="0"/>
              <a:ea typeface="Cambria" panose="02040503050406030204" pitchFamily="18" charset="0"/>
            </a:endParaRPr>
          </a:p>
        </p:txBody>
      </p:sp>
      <p:pic>
        <p:nvPicPr>
          <p:cNvPr id="14" name="Picture 13"/>
          <p:cNvPicPr/>
          <p:nvPr/>
        </p:nvPicPr>
        <p:blipFill>
          <a:blip r:embed="rId3"/>
          <a:stretch>
            <a:fillRect/>
          </a:stretch>
        </p:blipFill>
        <p:spPr>
          <a:xfrm>
            <a:off x="91538" y="922743"/>
            <a:ext cx="6004462" cy="2422099"/>
          </a:xfrm>
          <a:prstGeom prst="rect">
            <a:avLst/>
          </a:prstGeom>
        </p:spPr>
      </p:pic>
      <p:pic>
        <p:nvPicPr>
          <p:cNvPr id="15" name="Picture 14"/>
          <p:cNvPicPr/>
          <p:nvPr/>
        </p:nvPicPr>
        <p:blipFill>
          <a:blip r:embed="rId4"/>
          <a:stretch>
            <a:fillRect/>
          </a:stretch>
        </p:blipFill>
        <p:spPr>
          <a:xfrm>
            <a:off x="6212876" y="934911"/>
            <a:ext cx="5792759" cy="2336908"/>
          </a:xfrm>
          <a:prstGeom prst="rect">
            <a:avLst/>
          </a:prstGeom>
        </p:spPr>
      </p:pic>
      <p:pic>
        <p:nvPicPr>
          <p:cNvPr id="16" name="Picture 15"/>
          <p:cNvPicPr/>
          <p:nvPr/>
        </p:nvPicPr>
        <p:blipFill>
          <a:blip r:embed="rId5"/>
          <a:stretch>
            <a:fillRect/>
          </a:stretch>
        </p:blipFill>
        <p:spPr>
          <a:xfrm>
            <a:off x="2904582" y="3735003"/>
            <a:ext cx="5934617" cy="2383628"/>
          </a:xfrm>
          <a:prstGeom prst="rect">
            <a:avLst/>
          </a:prstGeom>
        </p:spPr>
      </p:pic>
    </p:spTree>
    <p:extLst>
      <p:ext uri="{BB962C8B-B14F-4D97-AF65-F5344CB8AC3E}">
        <p14:creationId xmlns:p14="http://schemas.microsoft.com/office/powerpoint/2010/main" val="17778454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372910F4-20AE-5C78-B075-FC85EDCB7BB7}"/>
              </a:ext>
            </a:extLst>
          </p:cNvPr>
          <p:cNvSpPr>
            <a:spLocks noGrp="1"/>
          </p:cNvSpPr>
          <p:nvPr>
            <p:ph type="body" sz="quarter" idx="13"/>
          </p:nvPr>
        </p:nvSpPr>
        <p:spPr>
          <a:ln>
            <a:noFill/>
          </a:ln>
        </p:spPr>
        <p:txBody>
          <a:bodyPr/>
          <a:lstStyle/>
          <a:p>
            <a:pPr marL="0" indent="0">
              <a:buNone/>
            </a:pPr>
            <a:r>
              <a:rPr lang="en-US" b="1">
                <a:solidFill>
                  <a:schemeClr val="accent1">
                    <a:lumMod val="50000"/>
                  </a:schemeClr>
                </a:solidFill>
              </a:rPr>
              <a:t>4.2</a:t>
            </a:r>
            <a:r>
              <a:rPr lang="en-US" b="1" dirty="0">
                <a:solidFill>
                  <a:schemeClr val="accent1">
                    <a:lumMod val="50000"/>
                  </a:schemeClr>
                </a:solidFill>
              </a:rPr>
              <a:t>. </a:t>
            </a:r>
            <a:r>
              <a:rPr lang="en-US" b="1" dirty="0" err="1">
                <a:solidFill>
                  <a:schemeClr val="accent1">
                    <a:lumMod val="50000"/>
                  </a:schemeClr>
                </a:solidFill>
              </a:rPr>
              <a:t>Thời</a:t>
            </a:r>
            <a:r>
              <a:rPr lang="en-US" b="1" dirty="0">
                <a:solidFill>
                  <a:schemeClr val="accent1">
                    <a:lumMod val="50000"/>
                  </a:schemeClr>
                </a:solidFill>
              </a:rPr>
              <a:t> </a:t>
            </a:r>
            <a:r>
              <a:rPr lang="en-US" b="1" dirty="0" err="1">
                <a:solidFill>
                  <a:schemeClr val="accent1">
                    <a:lumMod val="50000"/>
                  </a:schemeClr>
                </a:solidFill>
              </a:rPr>
              <a:t>gian</a:t>
            </a:r>
            <a:r>
              <a:rPr lang="en-US" b="1" dirty="0">
                <a:solidFill>
                  <a:schemeClr val="accent1">
                    <a:lumMod val="50000"/>
                  </a:schemeClr>
                </a:solidFill>
              </a:rPr>
              <a:t> </a:t>
            </a:r>
            <a:r>
              <a:rPr lang="en-US" b="1" dirty="0" err="1">
                <a:solidFill>
                  <a:schemeClr val="accent1">
                    <a:lumMod val="50000"/>
                  </a:schemeClr>
                </a:solidFill>
              </a:rPr>
              <a:t>huấn</a:t>
            </a:r>
            <a:r>
              <a:rPr lang="en-US" b="1" dirty="0">
                <a:solidFill>
                  <a:schemeClr val="accent1">
                    <a:lumMod val="50000"/>
                  </a:schemeClr>
                </a:solidFill>
              </a:rPr>
              <a:t> </a:t>
            </a:r>
            <a:r>
              <a:rPr lang="en-US" b="1" dirty="0" err="1">
                <a:solidFill>
                  <a:schemeClr val="accent1">
                    <a:lumMod val="50000"/>
                  </a:schemeClr>
                </a:solidFill>
              </a:rPr>
              <a:t>luyện</a:t>
            </a:r>
            <a:r>
              <a:rPr lang="en-US" b="1" dirty="0">
                <a:solidFill>
                  <a:schemeClr val="accent1">
                    <a:lumMod val="50000"/>
                  </a:schemeClr>
                </a:solidFill>
              </a:rPr>
              <a:t> </a:t>
            </a:r>
          </a:p>
        </p:txBody>
      </p:sp>
      <p:sp>
        <p:nvSpPr>
          <p:cNvPr id="6" name="Rectangle 5"/>
          <p:cNvSpPr/>
          <p:nvPr/>
        </p:nvSpPr>
        <p:spPr>
          <a:xfrm>
            <a:off x="681259" y="4946254"/>
            <a:ext cx="10812401" cy="369332"/>
          </a:xfrm>
          <a:prstGeom prst="rect">
            <a:avLst/>
          </a:prstGeom>
        </p:spPr>
        <p:txBody>
          <a:bodyPr wrap="square">
            <a:spAutoFit/>
          </a:bodyPr>
          <a:lstStyle/>
          <a:p>
            <a:pPr algn="ctr"/>
            <a:r>
              <a:rPr lang="en-US" i="1" smtClean="0">
                <a:latin typeface="Cambria" panose="02040503050406030204" pitchFamily="18" charset="0"/>
                <a:ea typeface="Cambria" panose="02040503050406030204" pitchFamily="18" charset="0"/>
                <a:cs typeface="Times New Roman" panose="02020603050405020304" pitchFamily="18" charset="0"/>
              </a:rPr>
              <a:t>Hình 10. Biểu đồ so sánh Accuracy và Loss của các kịch bản</a:t>
            </a:r>
            <a:endParaRPr lang="en-GB"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B1995A4-D8DA-4FAF-BB95-1BE7047B607C}" type="slidenum">
              <a:rPr lang="en-US" smtClean="0"/>
              <a:pPr/>
              <a:t>16</a:t>
            </a:fld>
            <a:endParaRPr lang="en-US"/>
          </a:p>
        </p:txBody>
      </p:sp>
      <p:pic>
        <p:nvPicPr>
          <p:cNvPr id="7" name="Picture 6"/>
          <p:cNvPicPr/>
          <p:nvPr/>
        </p:nvPicPr>
        <p:blipFill>
          <a:blip r:embed="rId3"/>
          <a:stretch>
            <a:fillRect/>
          </a:stretch>
        </p:blipFill>
        <p:spPr>
          <a:xfrm>
            <a:off x="47209" y="1172552"/>
            <a:ext cx="6072238" cy="3605439"/>
          </a:xfrm>
          <a:prstGeom prst="rect">
            <a:avLst/>
          </a:prstGeom>
        </p:spPr>
      </p:pic>
      <p:pic>
        <p:nvPicPr>
          <p:cNvPr id="9" name="Picture 8"/>
          <p:cNvPicPr/>
          <p:nvPr/>
        </p:nvPicPr>
        <p:blipFill>
          <a:blip r:embed="rId4"/>
          <a:stretch>
            <a:fillRect/>
          </a:stretch>
        </p:blipFill>
        <p:spPr>
          <a:xfrm>
            <a:off x="6119447" y="1172552"/>
            <a:ext cx="5972070" cy="3605439"/>
          </a:xfrm>
          <a:prstGeom prst="rect">
            <a:avLst/>
          </a:prstGeom>
        </p:spPr>
      </p:pic>
    </p:spTree>
    <p:extLst>
      <p:ext uri="{BB962C8B-B14F-4D97-AF65-F5344CB8AC3E}">
        <p14:creationId xmlns:p14="http://schemas.microsoft.com/office/powerpoint/2010/main" val="32721507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372910F4-20AE-5C78-B075-FC85EDCB7BB7}"/>
              </a:ext>
            </a:extLst>
          </p:cNvPr>
          <p:cNvSpPr>
            <a:spLocks noGrp="1"/>
          </p:cNvSpPr>
          <p:nvPr>
            <p:ph type="body" sz="quarter" idx="13"/>
          </p:nvPr>
        </p:nvSpPr>
        <p:spPr>
          <a:ln>
            <a:noFill/>
          </a:ln>
        </p:spPr>
        <p:txBody>
          <a:bodyPr/>
          <a:lstStyle/>
          <a:p>
            <a:pPr marL="0" indent="0">
              <a:buNone/>
            </a:pPr>
            <a:r>
              <a:rPr lang="en-US" b="1">
                <a:solidFill>
                  <a:schemeClr val="accent1">
                    <a:lumMod val="50000"/>
                  </a:schemeClr>
                </a:solidFill>
              </a:rPr>
              <a:t>4.3. So sánh, đánh </a:t>
            </a:r>
            <a:r>
              <a:rPr lang="en-US" b="1" smtClean="0">
                <a:solidFill>
                  <a:schemeClr val="accent1">
                    <a:lumMod val="50000"/>
                  </a:schemeClr>
                </a:solidFill>
              </a:rPr>
              <a:t>giá</a:t>
            </a:r>
            <a:endParaRPr lang="en-US" b="1">
              <a:solidFill>
                <a:schemeClr val="accent1">
                  <a:lumMod val="50000"/>
                </a:schemeClr>
              </a:solidFill>
            </a:endParaRPr>
          </a:p>
        </p:txBody>
      </p:sp>
      <p:sp>
        <p:nvSpPr>
          <p:cNvPr id="7" name="Content Placeholder 1">
            <a:extLst>
              <a:ext uri="{FF2B5EF4-FFF2-40B4-BE49-F238E27FC236}">
                <a16:creationId xmlns:a16="http://schemas.microsoft.com/office/drawing/2014/main" id="{372910F4-20AE-5C78-B075-FC85EDCB7BB7}"/>
              </a:ext>
            </a:extLst>
          </p:cNvPr>
          <p:cNvSpPr txBox="1">
            <a:spLocks/>
          </p:cNvSpPr>
          <p:nvPr/>
        </p:nvSpPr>
        <p:spPr>
          <a:xfrm>
            <a:off x="473956" y="5871452"/>
            <a:ext cx="11234737" cy="492741"/>
          </a:xfrm>
          <a:prstGeom prst="rect">
            <a:avLst/>
          </a:prstGeom>
          <a:ln>
            <a:noFill/>
          </a:ln>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i="1" smtClean="0">
                <a:latin typeface="Cambria" panose="02040503050406030204" pitchFamily="18" charset="0"/>
                <a:ea typeface="Cambria" panose="02040503050406030204" pitchFamily="18" charset="0"/>
              </a:rPr>
              <a:t>Hình 11. Biểu </a:t>
            </a:r>
            <a:r>
              <a:rPr lang="en-US" sz="1800" i="1" dirty="0" err="1">
                <a:latin typeface="Cambria" panose="02040503050406030204" pitchFamily="18" charset="0"/>
                <a:ea typeface="Cambria" panose="02040503050406030204" pitchFamily="18" charset="0"/>
              </a:rPr>
              <a:t>đồ</a:t>
            </a:r>
            <a:r>
              <a:rPr lang="en-US" sz="1800" i="1" dirty="0">
                <a:latin typeface="Cambria" panose="02040503050406030204" pitchFamily="18" charset="0"/>
                <a:ea typeface="Cambria" panose="02040503050406030204" pitchFamily="18" charset="0"/>
              </a:rPr>
              <a:t> </a:t>
            </a:r>
            <a:r>
              <a:rPr lang="en-US" sz="1800" i="1">
                <a:latin typeface="Cambria" panose="02040503050406030204" pitchFamily="18" charset="0"/>
                <a:ea typeface="Cambria" panose="02040503050406030204" pitchFamily="18" charset="0"/>
              </a:rPr>
              <a:t>so </a:t>
            </a:r>
            <a:r>
              <a:rPr lang="en-US" sz="1800" i="1" smtClean="0">
                <a:latin typeface="Cambria" panose="02040503050406030204" pitchFamily="18" charset="0"/>
                <a:ea typeface="Cambria" panose="02040503050406030204" pitchFamily="18" charset="0"/>
              </a:rPr>
              <a:t>sánh</a:t>
            </a:r>
            <a:r>
              <a:rPr lang="en-US" sz="1800" i="1">
                <a:latin typeface="Cambria" panose="02040503050406030204" pitchFamily="18" charset="0"/>
                <a:ea typeface="Cambria" panose="02040503050406030204" pitchFamily="18" charset="0"/>
              </a:rPr>
              <a:t> </a:t>
            </a:r>
            <a:r>
              <a:rPr lang="en-US" sz="1800" i="1" smtClean="0">
                <a:latin typeface="Cambria" panose="02040503050406030204" pitchFamily="18" charset="0"/>
                <a:ea typeface="Cambria" panose="02040503050406030204" pitchFamily="18" charset="0"/>
              </a:rPr>
              <a:t>thời gian huấn luyện</a:t>
            </a:r>
            <a:endParaRPr lang="en-US" sz="1800" i="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fld id="{BB1995A4-D8DA-4FAF-BB95-1BE7047B607C}" type="slidenum">
              <a:rPr lang="en-US" smtClean="0"/>
              <a:pPr/>
              <a:t>17</a:t>
            </a:fld>
            <a:endParaRPr lang="en-US"/>
          </a:p>
        </p:txBody>
      </p:sp>
      <p:pic>
        <p:nvPicPr>
          <p:cNvPr id="8" name="Picture 7"/>
          <p:cNvPicPr/>
          <p:nvPr/>
        </p:nvPicPr>
        <p:blipFill>
          <a:blip r:embed="rId3"/>
          <a:stretch>
            <a:fillRect/>
          </a:stretch>
        </p:blipFill>
        <p:spPr>
          <a:xfrm>
            <a:off x="1537421" y="1050099"/>
            <a:ext cx="9107806" cy="4464071"/>
          </a:xfrm>
          <a:prstGeom prst="rect">
            <a:avLst/>
          </a:prstGeom>
        </p:spPr>
      </p:pic>
    </p:spTree>
    <p:extLst>
      <p:ext uri="{BB962C8B-B14F-4D97-AF65-F5344CB8AC3E}">
        <p14:creationId xmlns:p14="http://schemas.microsoft.com/office/powerpoint/2010/main" val="5198345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372910F4-20AE-5C78-B075-FC85EDCB7BB7}"/>
              </a:ext>
            </a:extLst>
          </p:cNvPr>
          <p:cNvSpPr>
            <a:spLocks noGrp="1"/>
          </p:cNvSpPr>
          <p:nvPr>
            <p:ph type="body" sz="quarter" idx="13"/>
          </p:nvPr>
        </p:nvSpPr>
        <p:spPr>
          <a:ln>
            <a:noFill/>
          </a:ln>
        </p:spPr>
        <p:txBody>
          <a:bodyPr/>
          <a:lstStyle/>
          <a:p>
            <a:pPr marL="0" indent="0">
              <a:buNone/>
            </a:pPr>
            <a:r>
              <a:rPr lang="en-US">
                <a:solidFill>
                  <a:schemeClr val="accent1">
                    <a:lumMod val="50000"/>
                  </a:schemeClr>
                </a:solidFill>
              </a:rPr>
              <a:t>4.3. So sánh, đánh giá</a:t>
            </a:r>
          </a:p>
        </p:txBody>
      </p:sp>
      <p:sp>
        <p:nvSpPr>
          <p:cNvPr id="9" name="Rectangle 8"/>
          <p:cNvSpPr/>
          <p:nvPr/>
        </p:nvSpPr>
        <p:spPr>
          <a:xfrm>
            <a:off x="1258674" y="6423240"/>
            <a:ext cx="8912860" cy="369332"/>
          </a:xfrm>
          <a:prstGeom prst="rect">
            <a:avLst/>
          </a:prstGeom>
        </p:spPr>
        <p:txBody>
          <a:bodyPr wrap="square">
            <a:spAutoFit/>
          </a:bodyPr>
          <a:lstStyle/>
          <a:p>
            <a:pPr algn="ctr"/>
            <a:r>
              <a:rPr lang="en-US" smtClean="0">
                <a:solidFill>
                  <a:schemeClr val="bg1"/>
                </a:solidFill>
                <a:latin typeface="Cambria" panose="02040503050406030204" pitchFamily="18" charset="0"/>
                <a:ea typeface="Cambria" panose="02040503050406030204" pitchFamily="18" charset="0"/>
              </a:rPr>
              <a:t>Hình 12. Kết quả đánh giá ma trận nhầm lẫn (confusion matrix)</a:t>
            </a:r>
            <a:endParaRPr lang="en-US">
              <a:solidFill>
                <a:schemeClr val="bg1"/>
              </a:solidFill>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BB1995A4-D8DA-4FAF-BB95-1BE7047B607C}" type="slidenum">
              <a:rPr lang="en-US" smtClean="0"/>
              <a:pPr/>
              <a:t>18</a:t>
            </a:fld>
            <a:endParaRPr lang="en-US"/>
          </a:p>
        </p:txBody>
      </p:sp>
      <p:pic>
        <p:nvPicPr>
          <p:cNvPr id="15" name="Picture 14"/>
          <p:cNvPicPr/>
          <p:nvPr/>
        </p:nvPicPr>
        <p:blipFill>
          <a:blip r:embed="rId3"/>
          <a:stretch>
            <a:fillRect/>
          </a:stretch>
        </p:blipFill>
        <p:spPr>
          <a:xfrm>
            <a:off x="308609" y="874123"/>
            <a:ext cx="11444606" cy="5549117"/>
          </a:xfrm>
          <a:prstGeom prst="rect">
            <a:avLst/>
          </a:prstGeom>
        </p:spPr>
      </p:pic>
    </p:spTree>
    <p:extLst>
      <p:ext uri="{BB962C8B-B14F-4D97-AF65-F5344CB8AC3E}">
        <p14:creationId xmlns:p14="http://schemas.microsoft.com/office/powerpoint/2010/main" val="39631297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372910F4-20AE-5C78-B075-FC85EDCB7BB7}"/>
              </a:ext>
            </a:extLst>
          </p:cNvPr>
          <p:cNvSpPr>
            <a:spLocks noGrp="1"/>
          </p:cNvSpPr>
          <p:nvPr>
            <p:ph type="body" sz="quarter" idx="13"/>
          </p:nvPr>
        </p:nvSpPr>
        <p:spPr>
          <a:ln>
            <a:noFill/>
          </a:ln>
        </p:spPr>
        <p:txBody>
          <a:bodyPr/>
          <a:lstStyle/>
          <a:p>
            <a:pPr marL="0" indent="0">
              <a:buNone/>
            </a:pPr>
            <a:r>
              <a:rPr lang="en-US">
                <a:solidFill>
                  <a:schemeClr val="accent1">
                    <a:lumMod val="50000"/>
                  </a:schemeClr>
                </a:solidFill>
              </a:rPr>
              <a:t>4.3. So sánh, đánh giá</a:t>
            </a:r>
          </a:p>
        </p:txBody>
      </p:sp>
      <p:sp>
        <p:nvSpPr>
          <p:cNvPr id="14" name="Content Placeholder 1">
            <a:extLst>
              <a:ext uri="{FF2B5EF4-FFF2-40B4-BE49-F238E27FC236}">
                <a16:creationId xmlns:a16="http://schemas.microsoft.com/office/drawing/2014/main" id="{372910F4-20AE-5C78-B075-FC85EDCB7BB7}"/>
              </a:ext>
            </a:extLst>
          </p:cNvPr>
          <p:cNvSpPr txBox="1">
            <a:spLocks/>
          </p:cNvSpPr>
          <p:nvPr/>
        </p:nvSpPr>
        <p:spPr>
          <a:xfrm>
            <a:off x="1328737" y="5018006"/>
            <a:ext cx="9203690" cy="395336"/>
          </a:xfrm>
          <a:prstGeom prst="rect">
            <a:avLst/>
          </a:prstGeom>
          <a:ln>
            <a:noFill/>
          </a:ln>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i="1">
                <a:latin typeface="Cambria" panose="02040503050406030204" pitchFamily="18" charset="0"/>
                <a:ea typeface="Cambria" panose="02040503050406030204" pitchFamily="18" charset="0"/>
              </a:rPr>
              <a:t>	Kịch </a:t>
            </a:r>
            <a:r>
              <a:rPr lang="en-US" sz="1800" i="1" err="1">
                <a:latin typeface="Cambria" panose="02040503050406030204" pitchFamily="18" charset="0"/>
                <a:ea typeface="Cambria" panose="02040503050406030204" pitchFamily="18" charset="0"/>
              </a:rPr>
              <a:t>bản</a:t>
            </a:r>
            <a:r>
              <a:rPr lang="en-US" sz="1800" i="1">
                <a:latin typeface="Cambria" panose="02040503050406030204" pitchFamily="18" charset="0"/>
                <a:ea typeface="Cambria" panose="02040503050406030204" pitchFamily="18" charset="0"/>
              </a:rPr>
              <a:t> </a:t>
            </a:r>
            <a:r>
              <a:rPr lang="en-US" sz="1800" i="1" smtClean="0">
                <a:latin typeface="Cambria" panose="02040503050406030204" pitchFamily="18" charset="0"/>
                <a:ea typeface="Cambria" panose="02040503050406030204" pitchFamily="18" charset="0"/>
              </a:rPr>
              <a:t>8 </a:t>
            </a:r>
            <a:r>
              <a:rPr lang="en-US" sz="1800" i="1" smtClean="0">
                <a:latin typeface="Cambria" panose="02040503050406030204" pitchFamily="18" charset="0"/>
                <a:ea typeface="Cambria" panose="02040503050406030204" pitchFamily="18" charset="0"/>
              </a:rPr>
              <a:t>(ESD-Net Hard Voting)</a:t>
            </a:r>
            <a:r>
              <a:rPr lang="en-US" sz="1800" i="1">
                <a:latin typeface="Cambria" panose="02040503050406030204" pitchFamily="18" charset="0"/>
                <a:ea typeface="Cambria" panose="02040503050406030204" pitchFamily="18" charset="0"/>
              </a:rPr>
              <a:t>		</a:t>
            </a:r>
            <a:r>
              <a:rPr lang="en-US" sz="1800" i="1" smtClean="0">
                <a:latin typeface="Cambria" panose="02040503050406030204" pitchFamily="18" charset="0"/>
                <a:ea typeface="Cambria" panose="02040503050406030204" pitchFamily="18" charset="0"/>
              </a:rPr>
              <a:t>Kịch </a:t>
            </a:r>
            <a:r>
              <a:rPr lang="en-US" sz="1800" i="1" err="1">
                <a:latin typeface="Cambria" panose="02040503050406030204" pitchFamily="18" charset="0"/>
                <a:ea typeface="Cambria" panose="02040503050406030204" pitchFamily="18" charset="0"/>
              </a:rPr>
              <a:t>bản</a:t>
            </a:r>
            <a:r>
              <a:rPr lang="en-US" sz="1800" i="1">
                <a:latin typeface="Cambria" panose="02040503050406030204" pitchFamily="18" charset="0"/>
                <a:ea typeface="Cambria" panose="02040503050406030204" pitchFamily="18" charset="0"/>
              </a:rPr>
              <a:t> </a:t>
            </a:r>
            <a:r>
              <a:rPr lang="en-US" sz="1800" i="1">
                <a:latin typeface="Cambria" panose="02040503050406030204" pitchFamily="18" charset="0"/>
                <a:ea typeface="Cambria" panose="02040503050406030204" pitchFamily="18" charset="0"/>
              </a:rPr>
              <a:t>9 (</a:t>
            </a:r>
            <a:r>
              <a:rPr lang="en-US" sz="1800" i="1">
                <a:latin typeface="Cambria" panose="02040503050406030204" pitchFamily="18" charset="0"/>
                <a:ea typeface="Cambria" panose="02040503050406030204" pitchFamily="18" charset="0"/>
              </a:rPr>
              <a:t>ESD-Net </a:t>
            </a:r>
            <a:r>
              <a:rPr lang="en-US" sz="1800" i="1" smtClean="0">
                <a:latin typeface="Cambria" panose="02040503050406030204" pitchFamily="18" charset="0"/>
                <a:ea typeface="Cambria" panose="02040503050406030204" pitchFamily="18" charset="0"/>
              </a:rPr>
              <a:t>Soft </a:t>
            </a:r>
            <a:r>
              <a:rPr lang="en-US" sz="1800" i="1">
                <a:latin typeface="Cambria" panose="02040503050406030204" pitchFamily="18" charset="0"/>
                <a:ea typeface="Cambria" panose="02040503050406030204" pitchFamily="18" charset="0"/>
              </a:rPr>
              <a:t>Voting)</a:t>
            </a:r>
            <a:endParaRPr lang="en-US" sz="1800" i="1" dirty="0">
              <a:latin typeface="Cambria" panose="02040503050406030204" pitchFamily="18" charset="0"/>
              <a:ea typeface="Cambria" panose="02040503050406030204" pitchFamily="18" charset="0"/>
            </a:endParaRPr>
          </a:p>
          <a:p>
            <a:pPr marL="0" indent="0">
              <a:buNone/>
            </a:pPr>
            <a:endParaRPr lang="en-US" sz="1800" i="1" dirty="0">
              <a:latin typeface="Cambria" panose="02040503050406030204" pitchFamily="18" charset="0"/>
              <a:ea typeface="Cambria" panose="02040503050406030204" pitchFamily="18" charset="0"/>
            </a:endParaRPr>
          </a:p>
          <a:p>
            <a:pPr marL="0" indent="0">
              <a:buNone/>
            </a:pPr>
            <a:endParaRPr lang="en-US" sz="1800" i="1" dirty="0">
              <a:latin typeface="Cambria" panose="02040503050406030204" pitchFamily="18" charset="0"/>
              <a:ea typeface="Cambria" panose="02040503050406030204" pitchFamily="18" charset="0"/>
            </a:endParaRPr>
          </a:p>
        </p:txBody>
      </p:sp>
      <p:sp>
        <p:nvSpPr>
          <p:cNvPr id="8" name="Rectangle 7"/>
          <p:cNvSpPr/>
          <p:nvPr/>
        </p:nvSpPr>
        <p:spPr>
          <a:xfrm>
            <a:off x="1474152" y="5515514"/>
            <a:ext cx="8912860" cy="369332"/>
          </a:xfrm>
          <a:prstGeom prst="rect">
            <a:avLst/>
          </a:prstGeom>
        </p:spPr>
        <p:txBody>
          <a:bodyPr wrap="square">
            <a:spAutoFit/>
          </a:bodyPr>
          <a:lstStyle/>
          <a:p>
            <a:pPr algn="ctr"/>
            <a:r>
              <a:rPr lang="en-US" smtClean="0">
                <a:latin typeface="Cambria" panose="02040503050406030204" pitchFamily="18" charset="0"/>
                <a:ea typeface="Cambria" panose="02040503050406030204" pitchFamily="18" charset="0"/>
              </a:rPr>
              <a:t>Hình 12. Kết quả ma trận nhầm lẫn trên 2 kịch bản đề xuất 8 và 9</a:t>
            </a:r>
            <a:endParaRPr lang="en-US">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BB1995A4-D8DA-4FAF-BB95-1BE7047B607C}" type="slidenum">
              <a:rPr lang="en-US" smtClean="0"/>
              <a:pPr/>
              <a:t>19</a:t>
            </a:fld>
            <a:endParaRPr lang="en-US"/>
          </a:p>
        </p:txBody>
      </p:sp>
      <p:pic>
        <p:nvPicPr>
          <p:cNvPr id="9" name="Picture 8"/>
          <p:cNvPicPr/>
          <p:nvPr/>
        </p:nvPicPr>
        <p:blipFill>
          <a:blip r:embed="rId3"/>
          <a:stretch>
            <a:fillRect/>
          </a:stretch>
        </p:blipFill>
        <p:spPr>
          <a:xfrm>
            <a:off x="1328737" y="1083907"/>
            <a:ext cx="8993823" cy="3723461"/>
          </a:xfrm>
          <a:prstGeom prst="rect">
            <a:avLst/>
          </a:prstGeom>
        </p:spPr>
      </p:pic>
    </p:spTree>
    <p:extLst>
      <p:ext uri="{BB962C8B-B14F-4D97-AF65-F5344CB8AC3E}">
        <p14:creationId xmlns:p14="http://schemas.microsoft.com/office/powerpoint/2010/main" val="17428503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0" indent="0">
              <a:buNone/>
            </a:pPr>
            <a:r>
              <a:rPr lang="en-US">
                <a:solidFill>
                  <a:schemeClr val="accent1">
                    <a:lumMod val="50000"/>
                  </a:schemeClr>
                </a:solidFill>
              </a:rPr>
              <a:t>4.3. So sánh, đánh giá</a:t>
            </a:r>
          </a:p>
        </p:txBody>
      </p:sp>
      <p:sp>
        <p:nvSpPr>
          <p:cNvPr id="5" name="Rectangle 4"/>
          <p:cNvSpPr/>
          <p:nvPr/>
        </p:nvSpPr>
        <p:spPr>
          <a:xfrm>
            <a:off x="3386400" y="805411"/>
            <a:ext cx="4389215" cy="369332"/>
          </a:xfrm>
          <a:prstGeom prst="rect">
            <a:avLst/>
          </a:prstGeom>
        </p:spPr>
        <p:txBody>
          <a:bodyPr wrap="none">
            <a:spAutoFit/>
          </a:bodyPr>
          <a:lstStyle/>
          <a:p>
            <a:r>
              <a:rPr lang="en-US" b="1" i="1">
                <a:solidFill>
                  <a:srgbClr val="000000"/>
                </a:solidFill>
                <a:latin typeface="Cambria" panose="02040503050406030204" pitchFamily="18" charset="0"/>
                <a:ea typeface="Cambria" panose="02040503050406030204" pitchFamily="18" charset="0"/>
              </a:rPr>
              <a:t>Bảng </a:t>
            </a:r>
            <a:r>
              <a:rPr lang="en-US" b="1" i="1" smtClean="0">
                <a:solidFill>
                  <a:srgbClr val="000000"/>
                </a:solidFill>
                <a:latin typeface="Cambria" panose="02040503050406030204" pitchFamily="18" charset="0"/>
                <a:ea typeface="Cambria" panose="02040503050406030204" pitchFamily="18" charset="0"/>
              </a:rPr>
              <a:t>2. </a:t>
            </a:r>
            <a:r>
              <a:rPr lang="en-US" i="1" smtClean="0">
                <a:solidFill>
                  <a:srgbClr val="000000"/>
                </a:solidFill>
                <a:latin typeface="Cambria" panose="02040503050406030204" pitchFamily="18" charset="0"/>
                <a:ea typeface="Cambria" panose="02040503050406030204" pitchFamily="18" charset="0"/>
              </a:rPr>
              <a:t>Kết quả phân loại trên tập kiểm tra</a:t>
            </a:r>
            <a:endParaRPr lang="en-GB">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BB1995A4-D8DA-4FAF-BB95-1BE7047B607C}" type="slidenum">
              <a:rPr lang="en-US" smtClean="0"/>
              <a:pPr/>
              <a:t>20</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16081872"/>
              </p:ext>
            </p:extLst>
          </p:nvPr>
        </p:nvGraphicFramePr>
        <p:xfrm>
          <a:off x="243841" y="1174743"/>
          <a:ext cx="11744958" cy="5212080"/>
        </p:xfrm>
        <a:graphic>
          <a:graphicData uri="http://schemas.openxmlformats.org/drawingml/2006/table">
            <a:tbl>
              <a:tblPr firstRow="1" firstCol="1" bandRow="1">
                <a:tableStyleId>{5C22544A-7EE6-4342-B048-85BDC9FD1C3A}</a:tableStyleId>
              </a:tblPr>
              <a:tblGrid>
                <a:gridCol w="1660374">
                  <a:extLst>
                    <a:ext uri="{9D8B030D-6E8A-4147-A177-3AD203B41FA5}">
                      <a16:colId xmlns:a16="http://schemas.microsoft.com/office/drawing/2014/main" val="1682143560"/>
                    </a:ext>
                  </a:extLst>
                </a:gridCol>
                <a:gridCol w="1858452">
                  <a:extLst>
                    <a:ext uri="{9D8B030D-6E8A-4147-A177-3AD203B41FA5}">
                      <a16:colId xmlns:a16="http://schemas.microsoft.com/office/drawing/2014/main" val="4226333305"/>
                    </a:ext>
                  </a:extLst>
                </a:gridCol>
                <a:gridCol w="2107509">
                  <a:extLst>
                    <a:ext uri="{9D8B030D-6E8A-4147-A177-3AD203B41FA5}">
                      <a16:colId xmlns:a16="http://schemas.microsoft.com/office/drawing/2014/main" val="2815932719"/>
                    </a:ext>
                  </a:extLst>
                </a:gridCol>
                <a:gridCol w="1660374">
                  <a:extLst>
                    <a:ext uri="{9D8B030D-6E8A-4147-A177-3AD203B41FA5}">
                      <a16:colId xmlns:a16="http://schemas.microsoft.com/office/drawing/2014/main" val="3677516733"/>
                    </a:ext>
                  </a:extLst>
                </a:gridCol>
                <a:gridCol w="2187616">
                  <a:extLst>
                    <a:ext uri="{9D8B030D-6E8A-4147-A177-3AD203B41FA5}">
                      <a16:colId xmlns:a16="http://schemas.microsoft.com/office/drawing/2014/main" val="1296244513"/>
                    </a:ext>
                  </a:extLst>
                </a:gridCol>
                <a:gridCol w="2270633">
                  <a:extLst>
                    <a:ext uri="{9D8B030D-6E8A-4147-A177-3AD203B41FA5}">
                      <a16:colId xmlns:a16="http://schemas.microsoft.com/office/drawing/2014/main" val="1516883328"/>
                    </a:ext>
                  </a:extLst>
                </a:gridCol>
              </a:tblGrid>
              <a:tr h="178427">
                <a:tc>
                  <a:txBody>
                    <a:bodyPr/>
                    <a:lstStyle/>
                    <a:p>
                      <a:pPr algn="ctr">
                        <a:spcAft>
                          <a:spcPts val="0"/>
                        </a:spcAft>
                      </a:pPr>
                      <a:r>
                        <a:rPr lang="en-US" sz="1800">
                          <a:effectLst/>
                        </a:rPr>
                        <a:t>Kịch bản</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Phân loại</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Precision (%)</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Recall (%)</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F1- score (%)</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smtClean="0">
                          <a:effectLst/>
                        </a:rPr>
                        <a:t>mAP </a:t>
                      </a:r>
                      <a:r>
                        <a:rPr lang="en-US" sz="1800">
                          <a:effectLst/>
                        </a:rPr>
                        <a:t>(%)</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031440755"/>
                  </a:ext>
                </a:extLst>
              </a:tr>
              <a:tr h="356853">
                <a:tc>
                  <a:txBody>
                    <a:bodyPr/>
                    <a:lstStyle/>
                    <a:p>
                      <a:pPr algn="ctr">
                        <a:spcAft>
                          <a:spcPts val="0"/>
                        </a:spcAft>
                      </a:pPr>
                      <a:r>
                        <a:rPr lang="en-US" sz="1800">
                          <a:effectLst/>
                        </a:rPr>
                        <a:t>1</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94.6</a:t>
                      </a:r>
                    </a:p>
                    <a:p>
                      <a:pPr algn="ctr">
                        <a:spcAft>
                          <a:spcPts val="0"/>
                        </a:spcAft>
                      </a:pPr>
                      <a:r>
                        <a:rPr lang="en-US" sz="1800">
                          <a:effectLst/>
                        </a:rPr>
                        <a:t>94.2</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94.6</a:t>
                      </a:r>
                    </a:p>
                    <a:p>
                      <a:pPr algn="ctr">
                        <a:spcAft>
                          <a:spcPts val="0"/>
                        </a:spcAft>
                      </a:pPr>
                      <a:r>
                        <a:rPr lang="en-US" sz="1800">
                          <a:effectLst/>
                        </a:rPr>
                        <a:t>94.9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92.0</a:t>
                      </a:r>
                    </a:p>
                    <a:p>
                      <a:pPr algn="ctr">
                        <a:spcAft>
                          <a:spcPts val="0"/>
                        </a:spcAft>
                      </a:pPr>
                      <a:r>
                        <a:rPr lang="en-US" sz="1800">
                          <a:effectLst/>
                        </a:rPr>
                        <a:t>91.0</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94.7</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235503542"/>
                  </a:ext>
                </a:extLst>
              </a:tr>
              <a:tr h="356853">
                <a:tc>
                  <a:txBody>
                    <a:bodyPr/>
                    <a:lstStyle/>
                    <a:p>
                      <a:pPr algn="ctr">
                        <a:spcAft>
                          <a:spcPts val="0"/>
                        </a:spcAft>
                      </a:pPr>
                      <a:r>
                        <a:rPr lang="en-US" sz="1800">
                          <a:effectLst/>
                        </a:rPr>
                        <a:t>2</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96.5</a:t>
                      </a:r>
                    </a:p>
                    <a:p>
                      <a:pPr algn="ctr">
                        <a:spcAft>
                          <a:spcPts val="0"/>
                        </a:spcAft>
                      </a:pPr>
                      <a:r>
                        <a:rPr lang="en-US" sz="1800">
                          <a:effectLst/>
                        </a:rPr>
                        <a:t>94.8</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94.0</a:t>
                      </a:r>
                    </a:p>
                    <a:p>
                      <a:pPr algn="ctr">
                        <a:spcAft>
                          <a:spcPts val="0"/>
                        </a:spcAft>
                      </a:pPr>
                      <a:r>
                        <a:rPr lang="en-US" sz="1800">
                          <a:effectLst/>
                        </a:rPr>
                        <a:t>97.0</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95.3</a:t>
                      </a:r>
                    </a:p>
                    <a:p>
                      <a:pPr algn="ctr">
                        <a:spcAft>
                          <a:spcPts val="0"/>
                        </a:spcAft>
                      </a:pPr>
                      <a:r>
                        <a:rPr lang="en-US" sz="1800">
                          <a:effectLst/>
                        </a:rPr>
                        <a:t>95.9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95.6</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15861858"/>
                  </a:ext>
                </a:extLst>
              </a:tr>
              <a:tr h="356853">
                <a:tc>
                  <a:txBody>
                    <a:bodyPr/>
                    <a:lstStyle/>
                    <a:p>
                      <a:pPr algn="ctr">
                        <a:spcAft>
                          <a:spcPts val="0"/>
                        </a:spcAft>
                      </a:pPr>
                      <a:r>
                        <a:rPr lang="en-US" sz="1800">
                          <a:effectLst/>
                        </a:rPr>
                        <a:t>3</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94.3</a:t>
                      </a:r>
                    </a:p>
                    <a:p>
                      <a:pPr algn="ctr">
                        <a:spcAft>
                          <a:spcPts val="0"/>
                        </a:spcAft>
                      </a:pPr>
                      <a:r>
                        <a:rPr lang="en-US" sz="1800">
                          <a:effectLst/>
                        </a:rPr>
                        <a:t>95.9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95.4</a:t>
                      </a:r>
                    </a:p>
                    <a:p>
                      <a:pPr algn="ctr">
                        <a:spcAft>
                          <a:spcPts val="0"/>
                        </a:spcAft>
                      </a:pPr>
                      <a:r>
                        <a:rPr lang="en-US" sz="1800">
                          <a:effectLst/>
                        </a:rPr>
                        <a:t>94.9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94.8</a:t>
                      </a:r>
                    </a:p>
                    <a:p>
                      <a:pPr algn="ctr">
                        <a:spcAft>
                          <a:spcPts val="0"/>
                        </a:spcAft>
                      </a:pPr>
                      <a:r>
                        <a:rPr lang="en-US" sz="1800">
                          <a:effectLst/>
                        </a:rPr>
                        <a:t>95.4</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95.1</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93970266"/>
                  </a:ext>
                </a:extLst>
              </a:tr>
              <a:tr h="356853">
                <a:tc>
                  <a:txBody>
                    <a:bodyPr/>
                    <a:lstStyle/>
                    <a:p>
                      <a:pPr algn="ctr">
                        <a:spcAft>
                          <a:spcPts val="0"/>
                        </a:spcAft>
                      </a:pPr>
                      <a:r>
                        <a:rPr lang="en-US" sz="1800">
                          <a:effectLst/>
                        </a:rPr>
                        <a:t>4</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95.3</a:t>
                      </a:r>
                    </a:p>
                    <a:p>
                      <a:pPr algn="ctr">
                        <a:spcAft>
                          <a:spcPts val="0"/>
                        </a:spcAft>
                      </a:pPr>
                      <a:r>
                        <a:rPr lang="en-US" sz="1800">
                          <a:effectLst/>
                        </a:rPr>
                        <a:t>93.2</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92.0</a:t>
                      </a:r>
                    </a:p>
                    <a:p>
                      <a:pPr algn="ctr">
                        <a:spcAft>
                          <a:spcPts val="0"/>
                        </a:spcAft>
                      </a:pPr>
                      <a:r>
                        <a:rPr lang="en-US" sz="1800">
                          <a:effectLst/>
                        </a:rPr>
                        <a:t>95.9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93.6</a:t>
                      </a:r>
                    </a:p>
                    <a:p>
                      <a:pPr algn="ctr">
                        <a:spcAft>
                          <a:spcPts val="0"/>
                        </a:spcAft>
                      </a:pPr>
                      <a:r>
                        <a:rPr lang="en-US" sz="1800">
                          <a:effectLst/>
                        </a:rPr>
                        <a:t>94.5</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94.1</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924047999"/>
                  </a:ext>
                </a:extLst>
              </a:tr>
              <a:tr h="356853">
                <a:tc>
                  <a:txBody>
                    <a:bodyPr/>
                    <a:lstStyle/>
                    <a:p>
                      <a:pPr algn="ctr">
                        <a:spcAft>
                          <a:spcPts val="0"/>
                        </a:spcAft>
                      </a:pPr>
                      <a:r>
                        <a:rPr lang="en-US" sz="1800">
                          <a:effectLst/>
                        </a:rPr>
                        <a:t>5</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87.5</a:t>
                      </a:r>
                    </a:p>
                    <a:p>
                      <a:pPr algn="ctr">
                        <a:spcAft>
                          <a:spcPts val="0"/>
                        </a:spcAft>
                      </a:pPr>
                      <a:r>
                        <a:rPr lang="en-US" sz="1800">
                          <a:effectLst/>
                        </a:rPr>
                        <a:t>83.3</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79.6</a:t>
                      </a:r>
                    </a:p>
                    <a:p>
                      <a:pPr algn="ctr">
                        <a:spcAft>
                          <a:spcPts val="0"/>
                        </a:spcAft>
                      </a:pPr>
                      <a:r>
                        <a:rPr lang="en-US" sz="1800">
                          <a:effectLst/>
                        </a:rPr>
                        <a:t>90.0</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83.4</a:t>
                      </a:r>
                    </a:p>
                    <a:p>
                      <a:pPr algn="ctr">
                        <a:spcAft>
                          <a:spcPts val="0"/>
                        </a:spcAft>
                      </a:pPr>
                      <a:r>
                        <a:rPr lang="en-US" sz="1800">
                          <a:effectLst/>
                        </a:rPr>
                        <a:t>86.5</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85.1</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17101364"/>
                  </a:ext>
                </a:extLst>
              </a:tr>
              <a:tr h="356853">
                <a:tc>
                  <a:txBody>
                    <a:bodyPr/>
                    <a:lstStyle/>
                    <a:p>
                      <a:pPr algn="ctr">
                        <a:spcAft>
                          <a:spcPts val="0"/>
                        </a:spcAft>
                      </a:pPr>
                      <a:r>
                        <a:rPr lang="en-US" sz="1800">
                          <a:effectLst/>
                        </a:rPr>
                        <a:t>6</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90.2</a:t>
                      </a:r>
                    </a:p>
                    <a:p>
                      <a:pPr algn="ctr">
                        <a:spcAft>
                          <a:spcPts val="0"/>
                        </a:spcAft>
                      </a:pPr>
                      <a:r>
                        <a:rPr lang="en-US" sz="1800">
                          <a:effectLst/>
                        </a:rPr>
                        <a:t>94.3</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93.8</a:t>
                      </a:r>
                    </a:p>
                    <a:p>
                      <a:pPr algn="ctr">
                        <a:spcAft>
                          <a:spcPts val="0"/>
                        </a:spcAft>
                      </a:pPr>
                      <a:r>
                        <a:rPr lang="en-US" sz="1800">
                          <a:effectLst/>
                        </a:rPr>
                        <a:t>91.0</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92.0</a:t>
                      </a:r>
                    </a:p>
                    <a:p>
                      <a:pPr algn="ctr">
                        <a:spcAft>
                          <a:spcPts val="0"/>
                        </a:spcAft>
                      </a:pPr>
                      <a:r>
                        <a:rPr lang="en-US" sz="1800">
                          <a:effectLst/>
                        </a:rPr>
                        <a:t>92.6</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92.3</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6369108"/>
                  </a:ext>
                </a:extLst>
              </a:tr>
              <a:tr h="356853">
                <a:tc>
                  <a:txBody>
                    <a:bodyPr/>
                    <a:lstStyle/>
                    <a:p>
                      <a:pPr algn="ctr">
                        <a:spcAft>
                          <a:spcPts val="0"/>
                        </a:spcAft>
                      </a:pPr>
                      <a:r>
                        <a:rPr lang="en-US" sz="1800">
                          <a:effectLst/>
                        </a:rPr>
                        <a:t>7</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92.5</a:t>
                      </a:r>
                    </a:p>
                    <a:p>
                      <a:pPr algn="ctr">
                        <a:spcAft>
                          <a:spcPts val="0"/>
                        </a:spcAft>
                      </a:pPr>
                      <a:r>
                        <a:rPr lang="en-US" sz="1800">
                          <a:effectLst/>
                        </a:rPr>
                        <a:t>90.0</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88.2</a:t>
                      </a:r>
                    </a:p>
                    <a:p>
                      <a:pPr algn="ctr">
                        <a:spcAft>
                          <a:spcPts val="0"/>
                        </a:spcAft>
                      </a:pPr>
                      <a:r>
                        <a:rPr lang="en-US" sz="1800">
                          <a:effectLst/>
                        </a:rPr>
                        <a:t>93.7</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90.3</a:t>
                      </a:r>
                    </a:p>
                    <a:p>
                      <a:pPr algn="ctr">
                        <a:spcAft>
                          <a:spcPts val="0"/>
                        </a:spcAft>
                      </a:pPr>
                      <a:r>
                        <a:rPr lang="en-US" sz="1800">
                          <a:effectLst/>
                        </a:rPr>
                        <a:t>91.8</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91.1</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52658301"/>
                  </a:ext>
                </a:extLst>
              </a:tr>
              <a:tr h="356853">
                <a:tc>
                  <a:txBody>
                    <a:bodyPr/>
                    <a:lstStyle/>
                    <a:p>
                      <a:pPr algn="ctr">
                        <a:spcAft>
                          <a:spcPts val="0"/>
                        </a:spcAft>
                      </a:pPr>
                      <a:r>
                        <a:rPr lang="en-US" sz="1800">
                          <a:effectLst/>
                        </a:rPr>
                        <a:t>8</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95.9</a:t>
                      </a:r>
                    </a:p>
                    <a:p>
                      <a:pPr algn="ctr">
                        <a:spcAft>
                          <a:spcPts val="0"/>
                        </a:spcAft>
                      </a:pPr>
                      <a:r>
                        <a:rPr lang="en-US" sz="1800">
                          <a:effectLst/>
                        </a:rPr>
                        <a:t>95.3</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94.6</a:t>
                      </a:r>
                    </a:p>
                    <a:p>
                      <a:pPr algn="ctr">
                        <a:spcAft>
                          <a:spcPts val="0"/>
                        </a:spcAft>
                      </a:pPr>
                      <a:r>
                        <a:rPr lang="en-US" sz="1800">
                          <a:effectLst/>
                        </a:rPr>
                        <a:t>96.4</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95.2</a:t>
                      </a:r>
                    </a:p>
                    <a:p>
                      <a:pPr algn="ctr">
                        <a:spcAft>
                          <a:spcPts val="0"/>
                        </a:spcAft>
                      </a:pPr>
                      <a:r>
                        <a:rPr lang="en-US" sz="1800">
                          <a:effectLst/>
                        </a:rPr>
                        <a:t>95.8</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b="1">
                          <a:effectLst/>
                        </a:rPr>
                        <a:t>95.6</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342553438"/>
                  </a:ext>
                </a:extLst>
              </a:tr>
              <a:tr h="356853">
                <a:tc>
                  <a:txBody>
                    <a:bodyPr/>
                    <a:lstStyle/>
                    <a:p>
                      <a:pPr algn="ctr">
                        <a:spcAft>
                          <a:spcPts val="0"/>
                        </a:spcAft>
                      </a:pPr>
                      <a:r>
                        <a:rPr lang="en-US" sz="1800">
                          <a:effectLst/>
                        </a:rPr>
                        <a:t>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B</a:t>
                      </a:r>
                    </a:p>
                    <a:p>
                      <a:pPr algn="ctr">
                        <a:spcAft>
                          <a:spcPts val="0"/>
                        </a:spcAft>
                      </a:pPr>
                      <a:r>
                        <a:rPr lang="en-US" sz="1800">
                          <a:effectLst/>
                        </a:rPr>
                        <a:t>M</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96.3</a:t>
                      </a:r>
                    </a:p>
                    <a:p>
                      <a:pPr algn="ctr">
                        <a:spcAft>
                          <a:spcPts val="0"/>
                        </a:spcAft>
                      </a:pPr>
                      <a:r>
                        <a:rPr lang="en-US" sz="1800">
                          <a:effectLst/>
                        </a:rPr>
                        <a:t>95.4</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94.8</a:t>
                      </a:r>
                    </a:p>
                    <a:p>
                      <a:pPr algn="ctr">
                        <a:spcAft>
                          <a:spcPts val="0"/>
                        </a:spcAft>
                      </a:pPr>
                      <a:r>
                        <a:rPr lang="en-US" sz="1800">
                          <a:effectLst/>
                        </a:rPr>
                        <a:t>96.8</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a:effectLst/>
                        </a:rPr>
                        <a:t>95.5</a:t>
                      </a:r>
                    </a:p>
                    <a:p>
                      <a:pPr algn="ctr">
                        <a:spcAft>
                          <a:spcPts val="0"/>
                        </a:spcAft>
                      </a:pPr>
                      <a:r>
                        <a:rPr lang="en-US" sz="1800">
                          <a:effectLst/>
                        </a:rPr>
                        <a:t>96.1</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800" b="1">
                          <a:effectLst/>
                        </a:rPr>
                        <a:t>95.8</a:t>
                      </a:r>
                      <a:endParaRPr lang="en-US" sz="1800" b="1">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64017093"/>
                  </a:ext>
                </a:extLst>
              </a:tr>
            </a:tbl>
          </a:graphicData>
        </a:graphic>
      </p:graphicFrame>
    </p:spTree>
    <p:extLst>
      <p:ext uri="{BB962C8B-B14F-4D97-AF65-F5344CB8AC3E}">
        <p14:creationId xmlns:p14="http://schemas.microsoft.com/office/powerpoint/2010/main" val="26927221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0" indent="0">
              <a:buNone/>
            </a:pPr>
            <a:r>
              <a:rPr lang="en-US" smtClean="0"/>
              <a:t>4.4 Kết quả phân loại</a:t>
            </a:r>
            <a:endParaRPr lang="en-US"/>
          </a:p>
        </p:txBody>
      </p:sp>
      <p:sp>
        <p:nvSpPr>
          <p:cNvPr id="5" name="Rectangle 4"/>
          <p:cNvSpPr/>
          <p:nvPr/>
        </p:nvSpPr>
        <p:spPr>
          <a:xfrm>
            <a:off x="4016320" y="5987018"/>
            <a:ext cx="4195251" cy="369332"/>
          </a:xfrm>
          <a:prstGeom prst="rect">
            <a:avLst/>
          </a:prstGeom>
        </p:spPr>
        <p:txBody>
          <a:bodyPr wrap="none">
            <a:spAutoFit/>
          </a:bodyPr>
          <a:lstStyle/>
          <a:p>
            <a:r>
              <a:rPr lang="en-US" smtClean="0">
                <a:solidFill>
                  <a:srgbClr val="000000"/>
                </a:solidFill>
                <a:latin typeface="Cambria" panose="02040503050406030204" pitchFamily="18" charset="0"/>
                <a:ea typeface="Cambria" panose="02040503050406030204" pitchFamily="18" charset="0"/>
              </a:rPr>
              <a:t>Hình </a:t>
            </a:r>
            <a:r>
              <a:rPr lang="en-US" b="1" i="1" smtClean="0">
                <a:solidFill>
                  <a:srgbClr val="000000"/>
                </a:solidFill>
                <a:latin typeface="Cambria" panose="02040503050406030204" pitchFamily="18" charset="0"/>
                <a:ea typeface="Cambria" panose="02040503050406030204" pitchFamily="18" charset="0"/>
              </a:rPr>
              <a:t>. </a:t>
            </a:r>
            <a:r>
              <a:rPr lang="en-US" i="1" smtClean="0">
                <a:solidFill>
                  <a:srgbClr val="000000"/>
                </a:solidFill>
                <a:latin typeface="Cambria" panose="02040503050406030204" pitchFamily="18" charset="0"/>
                <a:ea typeface="Cambria" panose="02040503050406030204" pitchFamily="18" charset="0"/>
              </a:rPr>
              <a:t>Kết quả phân loại trên tập kiểm tra</a:t>
            </a:r>
            <a:endParaRPr lang="en-GB">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BB1995A4-D8DA-4FAF-BB95-1BE7047B607C}" type="slidenum">
              <a:rPr lang="en-US" smtClean="0"/>
              <a:pPr/>
              <a:t>21</a:t>
            </a:fld>
            <a:endParaRPr lang="en-US"/>
          </a:p>
        </p:txBody>
      </p:sp>
      <p:pic>
        <p:nvPicPr>
          <p:cNvPr id="4" name="Picture 3"/>
          <p:cNvPicPr>
            <a:picLocks noChangeAspect="1"/>
          </p:cNvPicPr>
          <p:nvPr/>
        </p:nvPicPr>
        <p:blipFill>
          <a:blip r:embed="rId2"/>
          <a:stretch>
            <a:fillRect/>
          </a:stretch>
        </p:blipFill>
        <p:spPr>
          <a:xfrm>
            <a:off x="1108392" y="654664"/>
            <a:ext cx="8873808" cy="5701686"/>
          </a:xfrm>
          <a:prstGeom prst="rect">
            <a:avLst/>
          </a:prstGeom>
        </p:spPr>
      </p:pic>
      <p:sp>
        <p:nvSpPr>
          <p:cNvPr id="7" name="Rectangle 6"/>
          <p:cNvSpPr/>
          <p:nvPr/>
        </p:nvSpPr>
        <p:spPr>
          <a:xfrm>
            <a:off x="1657515" y="6488668"/>
            <a:ext cx="8912860" cy="369332"/>
          </a:xfrm>
          <a:prstGeom prst="rect">
            <a:avLst/>
          </a:prstGeom>
        </p:spPr>
        <p:txBody>
          <a:bodyPr wrap="square">
            <a:spAutoFit/>
          </a:bodyPr>
          <a:lstStyle/>
          <a:p>
            <a:pPr algn="ctr"/>
            <a:r>
              <a:rPr lang="en-US" smtClean="0">
                <a:solidFill>
                  <a:schemeClr val="bg1"/>
                </a:solidFill>
                <a:latin typeface="Cambria" panose="02040503050406030204" pitchFamily="18" charset="0"/>
                <a:ea typeface="Cambria" panose="02040503050406030204" pitchFamily="18" charset="0"/>
              </a:rPr>
              <a:t>Hình 13. Hình ảnh kết quả phân loại trên tập kiểm tra</a:t>
            </a:r>
            <a:endParaRPr lang="en-US">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882213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0" indent="0">
              <a:buNone/>
            </a:pPr>
            <a:r>
              <a:rPr lang="vi-VN"/>
              <a:t>5. KẾT LUẬN VÀ HƯỚNG PHÁT TRIỂN</a:t>
            </a:r>
          </a:p>
          <a:p>
            <a:pPr marL="0" indent="0">
              <a:buNone/>
            </a:pPr>
            <a:endParaRPr lang="en-US"/>
          </a:p>
        </p:txBody>
      </p:sp>
      <p:sp>
        <p:nvSpPr>
          <p:cNvPr id="3" name="Text Placeholder 2"/>
          <p:cNvSpPr>
            <a:spLocks noGrp="1"/>
          </p:cNvSpPr>
          <p:nvPr>
            <p:ph type="body" sz="quarter" idx="14"/>
          </p:nvPr>
        </p:nvSpPr>
        <p:spPr>
          <a:xfrm>
            <a:off x="466725" y="1014412"/>
            <a:ext cx="11283950" cy="4360227"/>
          </a:xfrm>
        </p:spPr>
        <p:txBody>
          <a:bodyPr>
            <a:normAutofit/>
          </a:bodyPr>
          <a:lstStyle/>
          <a:p>
            <a:pPr algn="just">
              <a:buFont typeface="Wingdings" panose="05000000000000000000" pitchFamily="2" charset="2"/>
              <a:buChar char="§"/>
            </a:pPr>
            <a:r>
              <a:rPr lang="en-US"/>
              <a:t>Đ</a:t>
            </a:r>
            <a:r>
              <a:rPr lang="vi-VN" smtClean="0"/>
              <a:t>ề </a:t>
            </a:r>
            <a:r>
              <a:rPr lang="vi-VN"/>
              <a:t>xuất mô hình ESD-NET nhằm nâng cao hiệu quả phân loại ung thư vú trên nhũ ảnh thông qua việc tổ hợp các mô hình học sâu</a:t>
            </a:r>
            <a:r>
              <a:rPr lang="en-US" smtClean="0"/>
              <a:t>.</a:t>
            </a:r>
            <a:endParaRPr lang="vi-VN"/>
          </a:p>
          <a:p>
            <a:pPr algn="just">
              <a:buFont typeface="Wingdings" panose="05000000000000000000" pitchFamily="2" charset="2"/>
              <a:buChar char="§"/>
            </a:pPr>
            <a:r>
              <a:rPr lang="vi-VN"/>
              <a:t>Kết quả thực nghiệm cho thấy mô hình </a:t>
            </a:r>
            <a:r>
              <a:rPr lang="vi-VN" smtClean="0"/>
              <a:t>Soft </a:t>
            </a:r>
            <a:r>
              <a:rPr lang="vi-VN"/>
              <a:t>voting đạt độ chính xác cao nhất với 95.8%, </a:t>
            </a:r>
            <a:r>
              <a:rPr lang="vi-VN" smtClean="0"/>
              <a:t>Hard </a:t>
            </a:r>
            <a:r>
              <a:rPr lang="vi-VN"/>
              <a:t>voting (95.6%), đồng thời cho kết quả F1-score và Recall </a:t>
            </a:r>
            <a:r>
              <a:rPr lang="en-US" smtClean="0"/>
              <a:t>được cải thiện</a:t>
            </a:r>
            <a:r>
              <a:rPr lang="vi-VN" smtClean="0"/>
              <a:t> </a:t>
            </a:r>
            <a:r>
              <a:rPr lang="vi-VN"/>
              <a:t>ở cả hai lớp lành tính và ác tính.</a:t>
            </a:r>
          </a:p>
          <a:p>
            <a:pPr algn="just">
              <a:buFont typeface="Wingdings" panose="05000000000000000000" pitchFamily="2" charset="2"/>
              <a:buChar char="§"/>
            </a:pPr>
            <a:r>
              <a:rPr lang="vi-VN" b="1">
                <a:solidFill>
                  <a:srgbClr val="AB5621"/>
                </a:solidFill>
              </a:rPr>
              <a:t>Hướng phát </a:t>
            </a:r>
            <a:r>
              <a:rPr lang="vi-VN" b="1" smtClean="0">
                <a:solidFill>
                  <a:srgbClr val="AB5621"/>
                </a:solidFill>
              </a:rPr>
              <a:t>triển: </a:t>
            </a:r>
            <a:endParaRPr lang="en-US" b="1" smtClean="0">
              <a:solidFill>
                <a:srgbClr val="AB5621"/>
              </a:solidFill>
            </a:endParaRPr>
          </a:p>
          <a:p>
            <a:pPr lvl="1" algn="just"/>
            <a:r>
              <a:rPr lang="en-US" smtClean="0"/>
              <a:t>Thực nghiệm trên một số tập dữ liệu mở để so sánh, đánh giá toàn diện phương pháp.</a:t>
            </a:r>
          </a:p>
          <a:p>
            <a:pPr lvl="1" algn="just"/>
            <a:r>
              <a:rPr lang="en-US" smtClean="0"/>
              <a:t>Chọn bộ tham số tối ưu ứng với từng bộ dữ liệu.</a:t>
            </a:r>
          </a:p>
          <a:p>
            <a:pPr lvl="1" algn="just"/>
            <a:r>
              <a:rPr lang="en-US" smtClean="0"/>
              <a:t>X</a:t>
            </a:r>
            <a:r>
              <a:rPr lang="vi-VN" smtClean="0"/>
              <a:t>ây </a:t>
            </a:r>
            <a:r>
              <a:rPr lang="vi-VN"/>
              <a:t>dựng một hệ thống hỗ trợ chẩn đoán toàn diện, kết hợp cả phát hiện và phân loại nhằm nâng cao hiệu quả trong tầm soát và điều trị ung thư vú</a:t>
            </a:r>
          </a:p>
        </p:txBody>
      </p:sp>
      <p:sp>
        <p:nvSpPr>
          <p:cNvPr id="5" name="Slide Number Placeholder 4"/>
          <p:cNvSpPr>
            <a:spLocks noGrp="1"/>
          </p:cNvSpPr>
          <p:nvPr>
            <p:ph type="sldNum" sz="quarter" idx="12"/>
          </p:nvPr>
        </p:nvSpPr>
        <p:spPr/>
        <p:txBody>
          <a:bodyPr/>
          <a:lstStyle/>
          <a:p>
            <a:fld id="{BB1995A4-D8DA-4FAF-BB95-1BE7047B607C}" type="slidenum">
              <a:rPr lang="en-US" smtClean="0"/>
              <a:pPr/>
              <a:t>22</a:t>
            </a:fld>
            <a:endParaRPr lang="en-US"/>
          </a:p>
        </p:txBody>
      </p:sp>
    </p:spTree>
    <p:extLst>
      <p:ext uri="{BB962C8B-B14F-4D97-AF65-F5344CB8AC3E}">
        <p14:creationId xmlns:p14="http://schemas.microsoft.com/office/powerpoint/2010/main" val="35312957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0" indent="0">
              <a:buNone/>
            </a:pPr>
            <a:r>
              <a:rPr lang="en-US" smtClean="0"/>
              <a:t>Tài liệu tham khảo</a:t>
            </a:r>
            <a:endParaRPr lang="en-US"/>
          </a:p>
        </p:txBody>
      </p:sp>
      <p:sp>
        <p:nvSpPr>
          <p:cNvPr id="3" name="Text Placeholder 2"/>
          <p:cNvSpPr>
            <a:spLocks noGrp="1"/>
          </p:cNvSpPr>
          <p:nvPr>
            <p:ph type="body" sz="quarter" idx="14"/>
          </p:nvPr>
        </p:nvSpPr>
        <p:spPr>
          <a:xfrm>
            <a:off x="388937" y="824842"/>
            <a:ext cx="11283950" cy="5148262"/>
          </a:xfrm>
        </p:spPr>
        <p:txBody>
          <a:bodyPr>
            <a:noAutofit/>
          </a:bodyPr>
          <a:lstStyle/>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1] B</a:t>
            </a:r>
            <a:r>
              <a:rPr lang="en-US" sz="1600">
                <a:solidFill>
                  <a:srgbClr val="000000"/>
                </a:solidFill>
                <a:cs typeface="Times New Roman" panose="02020603050405020304" pitchFamily="18" charset="0"/>
              </a:rPr>
              <a:t>. S. Chhikara and K. Parang, “Global Cancer Statistics 2022: the trends projection analysis,” 2023.</a:t>
            </a:r>
          </a:p>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2] Y</a:t>
            </a:r>
            <a:r>
              <a:rPr lang="en-US" sz="1600">
                <a:solidFill>
                  <a:srgbClr val="000000"/>
                </a:solidFill>
                <a:cs typeface="Times New Roman" panose="02020603050405020304" pitchFamily="18" charset="0"/>
              </a:rPr>
              <a:t>. Eroğlu, M. Yildirim, and A. Çinar, “Convolutional Neural Networks based classification of breast ultrasonography images by hybrid method with respect to benign, malignant, and normal using mRMR,” Computers in biology and medicine, vol. 133, p. 104407, 2021.</a:t>
            </a:r>
          </a:p>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3] A</a:t>
            </a:r>
            <a:r>
              <a:rPr lang="en-US" sz="1600">
                <a:solidFill>
                  <a:srgbClr val="000000"/>
                </a:solidFill>
                <a:cs typeface="Times New Roman" panose="02020603050405020304" pitchFamily="18" charset="0"/>
              </a:rPr>
              <a:t>. P. Adedigba, S. A. Adeshina, and A. M. Aibinu, “Performance Evaluation of Deep Learning Models on Mammogram Classification Using Small Dataset. Bioengineering 2022, 9, 161.” s Note: MDPI stays neutral with regard to jurisdictional claims in published …, 2022. Accessed: June 10, 2025. [Online]. Available: https://www.academia.edu/download/91821754/pdf.pdf</a:t>
            </a:r>
          </a:p>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4] M</a:t>
            </a:r>
            <a:r>
              <a:rPr lang="en-US" sz="1600">
                <a:solidFill>
                  <a:srgbClr val="000000"/>
                </a:solidFill>
                <a:cs typeface="Times New Roman" panose="02020603050405020304" pitchFamily="18" charset="0"/>
              </a:rPr>
              <a:t>. S. Hashim and A. A. Yassin, “Breast Cancer Prediction Using Soft voting Classifier Based on Machine Learning Models.,” IAENG International Journal of Computer Science, vol. 50, no. 2, 2023, Accessed: June 09, 2025. [Online]. Available: https://www.researchgate.net/profile/Mohammed-S-Hashim/publication/373020233_Breast_Cancer_Prediction_Using_Soft_Voting_Classifier_Based_on_Machine_Learning_Models/links/64d4c2e1b684851d3d9d2ae1/Breast-Cancer-Prediction-Using-Soft-Voting-Classifier-Based-on-Machine-Learning-Models.pdf</a:t>
            </a:r>
          </a:p>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5] T</a:t>
            </a:r>
            <a:r>
              <a:rPr lang="en-US" sz="1600">
                <a:solidFill>
                  <a:srgbClr val="000000"/>
                </a:solidFill>
                <a:cs typeface="Times New Roman" panose="02020603050405020304" pitchFamily="18" charset="0"/>
              </a:rPr>
              <a:t>. M. Hanis, M. A. Islam, and K. I. Musa, “Diagnostic accuracy of machine learning models on mammography in breast cancer classification: a meta-analysis,” Diagnostics, vol. 12, no. 7, p. 1643, 2022.</a:t>
            </a:r>
          </a:p>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6] C</a:t>
            </a:r>
            <a:r>
              <a:rPr lang="en-US" sz="1600">
                <a:solidFill>
                  <a:srgbClr val="000000"/>
                </a:solidFill>
                <a:cs typeface="Times New Roman" panose="02020603050405020304" pitchFamily="18" charset="0"/>
              </a:rPr>
              <a:t>. Szegedy, V. Vanhoucke, S. Ioffe, J. Shlens, and Z. Wojna, “Rethinking the inception architecture for computer vision,” presented at the Proceedings of the IEEE conference on computer vision and pattern recognition, 2016, pp. 2818–2826.</a:t>
            </a:r>
          </a:p>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7] K</a:t>
            </a:r>
            <a:r>
              <a:rPr lang="en-US" sz="1600">
                <a:solidFill>
                  <a:srgbClr val="000000"/>
                </a:solidFill>
                <a:cs typeface="Times New Roman" panose="02020603050405020304" pitchFamily="18" charset="0"/>
              </a:rPr>
              <a:t>. He, X. Zhang, S. Ren, and J. Sun, “Deep residual learning for image recognition,” presented at the Proceedings of the IEEE conference on computer vision and pattern recognition, 2016, pp. 770–778.</a:t>
            </a:r>
          </a:p>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8] C</a:t>
            </a:r>
            <a:r>
              <a:rPr lang="en-US" sz="1600">
                <a:solidFill>
                  <a:srgbClr val="000000"/>
                </a:solidFill>
                <a:cs typeface="Times New Roman" panose="02020603050405020304" pitchFamily="18" charset="0"/>
              </a:rPr>
              <a:t>. Szegedy, S. Ioffe, V. Vanhoucke, and A. Alemi, “Inception-v4, inception-resnet and the impact of residual connections on learning,” in Proceedings of the AAAI conference on artificial intelligence, 2017. Accessed: June 09, 2025. [Online]. Available: https://ojs.aaai.org/index.php/aaai/article/view/11231</a:t>
            </a:r>
          </a:p>
          <a:p>
            <a:pPr marL="0" indent="0" algn="just" fontAlgn="t">
              <a:spcBef>
                <a:spcPts val="0"/>
              </a:spcBef>
              <a:buNone/>
            </a:pPr>
            <a:r>
              <a:rPr lang="en-US" sz="1600">
                <a:solidFill>
                  <a:srgbClr val="000000"/>
                </a:solidFill>
                <a:cs typeface="Times New Roman" panose="02020603050405020304" pitchFamily="18" charset="0"/>
              </a:rPr>
              <a:t>[</a:t>
            </a:r>
            <a:r>
              <a:rPr lang="en-US" sz="1600" smtClean="0">
                <a:solidFill>
                  <a:srgbClr val="000000"/>
                </a:solidFill>
                <a:cs typeface="Times New Roman" panose="02020603050405020304" pitchFamily="18" charset="0"/>
              </a:rPr>
              <a:t>9] G</a:t>
            </a:r>
            <a:r>
              <a:rPr lang="en-US" sz="1600">
                <a:solidFill>
                  <a:srgbClr val="000000"/>
                </a:solidFill>
                <a:cs typeface="Times New Roman" panose="02020603050405020304" pitchFamily="18" charset="0"/>
              </a:rPr>
              <a:t>. Huang, Z. Liu, L. Van Der Maaten, and K. Q. Weinberger, “Densely connected convolutional networks,” in Proceedings of the IEEE conference on computer vision and pattern recognition, 2017, pp. 4700–4708. Accessed: June 09, 2025. [Online]. Available: http://</a:t>
            </a:r>
            <a:r>
              <a:rPr lang="en-US" sz="1600" smtClean="0">
                <a:solidFill>
                  <a:srgbClr val="000000"/>
                </a:solidFill>
                <a:cs typeface="Times New Roman" panose="02020603050405020304" pitchFamily="18" charset="0"/>
              </a:rPr>
              <a:t>openaccess.thecvf.com/content_cvpr_2017/html/Huang_Densely_Connected_Convolutional_CVPR_2017_paper.html</a:t>
            </a:r>
            <a:endParaRPr lang="en-US" sz="1600">
              <a:solidFill>
                <a:srgbClr val="000000"/>
              </a:solidFill>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B1995A4-D8DA-4FAF-BB95-1BE7047B607C}" type="slidenum">
              <a:rPr lang="en-US" smtClean="0"/>
              <a:pPr/>
              <a:t>23</a:t>
            </a:fld>
            <a:endParaRPr lang="en-US"/>
          </a:p>
        </p:txBody>
      </p:sp>
    </p:spTree>
    <p:extLst>
      <p:ext uri="{BB962C8B-B14F-4D97-AF65-F5344CB8AC3E}">
        <p14:creationId xmlns:p14="http://schemas.microsoft.com/office/powerpoint/2010/main" val="33313230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13"/>
          </p:nvPr>
        </p:nvSpPr>
        <p:spPr>
          <a:xfrm>
            <a:off x="-219919" y="2372468"/>
            <a:ext cx="12191999" cy="452077"/>
          </a:xfrm>
        </p:spPr>
        <p:txBody>
          <a:bodyPr/>
          <a:lstStyle/>
          <a:p>
            <a:pPr marL="0" indent="0" algn="ctr">
              <a:buNone/>
            </a:pPr>
            <a:r>
              <a:rPr lang="en-US" sz="5400" smtClean="0">
                <a:solidFill>
                  <a:srgbClr val="002060"/>
                </a:solidFill>
              </a:rPr>
              <a:t>Trân trọng</a:t>
            </a:r>
          </a:p>
          <a:p>
            <a:pPr marL="0" indent="0" algn="ctr">
              <a:buNone/>
            </a:pPr>
            <a:r>
              <a:rPr lang="en-US" sz="5400" smtClean="0">
                <a:solidFill>
                  <a:srgbClr val="002060"/>
                </a:solidFill>
              </a:rPr>
              <a:t>cảm ơn sự theo dõi !!!</a:t>
            </a:r>
            <a:endParaRPr lang="en-US" sz="5400">
              <a:solidFill>
                <a:srgbClr val="002060"/>
              </a:solidFill>
            </a:endParaRPr>
          </a:p>
        </p:txBody>
      </p:sp>
      <p:sp>
        <p:nvSpPr>
          <p:cNvPr id="7" name="Slide Number Placeholder 6"/>
          <p:cNvSpPr>
            <a:spLocks noGrp="1"/>
          </p:cNvSpPr>
          <p:nvPr>
            <p:ph type="sldNum" sz="quarter" idx="12"/>
          </p:nvPr>
        </p:nvSpPr>
        <p:spPr/>
        <p:txBody>
          <a:bodyPr/>
          <a:lstStyle/>
          <a:p>
            <a:fld id="{BB1995A4-D8DA-4FAF-BB95-1BE7047B607C}" type="slidenum">
              <a:rPr lang="en-US" smtClean="0"/>
              <a:pPr/>
              <a:t>24</a:t>
            </a:fld>
            <a:endParaRPr lang="en-US"/>
          </a:p>
        </p:txBody>
      </p:sp>
    </p:spTree>
    <p:extLst>
      <p:ext uri="{BB962C8B-B14F-4D97-AF65-F5344CB8AC3E}">
        <p14:creationId xmlns:p14="http://schemas.microsoft.com/office/powerpoint/2010/main" val="88056907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11117</TotalTime>
  <Words>3080</Words>
  <Application>Microsoft Office PowerPoint</Application>
  <PresentationFormat>Widescreen</PresentationFormat>
  <Paragraphs>343</Paragraphs>
  <Slides>24</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Arial</vt:lpstr>
      <vt:lpstr>Arial Unicode MS</vt:lpstr>
      <vt:lpstr>Calibri</vt:lpstr>
      <vt:lpstr>Calibri Light</vt:lpstr>
      <vt:lpstr>Cambria</vt:lpstr>
      <vt:lpstr>Cambria Math</vt:lpstr>
      <vt:lpstr>Segoe UI</vt:lpstr>
      <vt:lpstr>Segoe UI Black</vt:lpstr>
      <vt:lpstr>Tahoma</vt:lpstr>
      <vt:lpstr>Times New Roman</vt:lpstr>
      <vt:lpstr>Wingdings</vt:lpstr>
      <vt:lpstr>1_Office Theme</vt:lpstr>
      <vt:lpstr>PowerPoint Presentation</vt:lpstr>
      <vt:lpstr>PowerPoint Presentation</vt:lpstr>
      <vt:lpstr>1. Giới thiệu</vt:lpstr>
      <vt:lpstr>1. Giới thiệu</vt:lpstr>
      <vt:lpstr>1. Giới thiệu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SƯ PHẠM KỸ THUẬT VĨNH LONG KHOA CÔNG NGHỆ THÔNG TIN</dc:title>
  <dc:creator>HienDo</dc:creator>
  <cp:lastModifiedBy>dat</cp:lastModifiedBy>
  <cp:revision>271</cp:revision>
  <dcterms:created xsi:type="dcterms:W3CDTF">2023-08-27T11:42:50Z</dcterms:created>
  <dcterms:modified xsi:type="dcterms:W3CDTF">2025-08-22T02:43:29Z</dcterms:modified>
</cp:coreProperties>
</file>