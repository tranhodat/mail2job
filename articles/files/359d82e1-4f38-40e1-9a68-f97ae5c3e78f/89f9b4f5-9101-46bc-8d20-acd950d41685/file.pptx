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  <p:sldMasterId id="2147483863" r:id="rId2"/>
  </p:sldMasterIdLst>
  <p:notesMasterIdLst>
    <p:notesMasterId r:id="rId22"/>
  </p:notesMasterIdLst>
  <p:sldIdLst>
    <p:sldId id="291" r:id="rId3"/>
    <p:sldId id="292" r:id="rId4"/>
    <p:sldId id="293" r:id="rId5"/>
    <p:sldId id="294" r:id="rId6"/>
    <p:sldId id="295" r:id="rId7"/>
    <p:sldId id="296" r:id="rId8"/>
    <p:sldId id="297" r:id="rId9"/>
    <p:sldId id="318" r:id="rId10"/>
    <p:sldId id="298" r:id="rId11"/>
    <p:sldId id="299" r:id="rId12"/>
    <p:sldId id="301" r:id="rId13"/>
    <p:sldId id="302" r:id="rId14"/>
    <p:sldId id="303" r:id="rId15"/>
    <p:sldId id="305" r:id="rId16"/>
    <p:sldId id="306" r:id="rId17"/>
    <p:sldId id="307" r:id="rId18"/>
    <p:sldId id="308" r:id="rId19"/>
    <p:sldId id="309" r:id="rId20"/>
    <p:sldId id="317" r:id="rId21"/>
  </p:sldIdLst>
  <p:sldSz cx="12192000" cy="6858000"/>
  <p:notesSz cx="6858000" cy="9144000"/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EF8"/>
    <a:srgbClr val="E8DEF0"/>
    <a:srgbClr val="CCD2DE"/>
    <a:srgbClr val="E2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6" autoAdjust="0"/>
    <p:restoredTop sz="86517" autoAdjust="0"/>
  </p:normalViewPr>
  <p:slideViewPr>
    <p:cSldViewPr snapToGrid="0">
      <p:cViewPr varScale="1">
        <p:scale>
          <a:sx n="71" d="100"/>
          <a:sy n="71" d="100"/>
        </p:scale>
        <p:origin x="1090" y="4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EC91D-BEBA-4CF8-88AE-6F4F22BBCE5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A3CC4-A1AF-4799-818E-6EEBBE945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ace7fa64f5_1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ace7fa64f5_1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191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08BB-36BE-5518-39A4-AB64BEE6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D5DD3-B5A6-DF90-B876-330DAF32D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96C19-A7E4-4A52-DB70-004BED8AD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D511B-F2CF-025A-8034-0F3A66FC3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18498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A3CC4-A1AF-4799-818E-6EEBBE9456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4048-7A0E-F6D1-CC76-329EE7F0C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66C70-62AE-505D-6DE2-D11479C4D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1A95D-256E-3F71-CE7C-40B3859C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FDE33-C2D0-D4F6-EAAA-A488810A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8FE39-57E6-D643-C66C-E7E08577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8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8A6B-1E11-870F-9FAE-5F56E95A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3E874-1809-994C-1A1C-71FBD4C1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495F5-B24E-3EA4-F069-C12D2EB8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4A93-2CE3-ADCB-17D7-0FBE13DC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FBB78-6BEA-E840-0A5D-083B8A88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4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0F97-283A-2E91-C2FB-6C3C8E8F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09C5A-541D-22D5-A72C-8E6A4D789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F1F9F-ADD7-201E-D3FF-A57E7DDD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669C8-EDEF-71B5-7F05-57EA7F29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C73C-01AE-9964-C171-BA515DEB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26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985C-B3E8-59F0-0A1B-0E58FD5E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5C37-5D35-168A-6287-1045828A7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FE33F-F5DF-ED04-102A-19B214AC3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4C9C0-B282-BD74-3406-5D998E6C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DBE1-CF19-6AF5-3942-DF86F81C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DA522-355E-848B-C1AA-56D7D32A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55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1B30-AB59-DB1E-9512-A8BF9D72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9C621-12ED-E7E5-7DA5-6B92926DA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76A62-5089-248D-5FA7-C8E878BFC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B2717-E7C8-DD23-AE64-B7F07A87C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2E7CB-8AAA-9AA1-C634-EE04119EC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63780-30AA-EB4E-D62B-9DA53363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B88E4-3CEE-DDDE-8FE0-148480AA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58B8B-6386-633C-C5A7-4F917BDD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4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55C-B6ED-2EA4-FD6A-2D06A039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D81E1-091A-DEB6-D4E5-C5E8E846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7E8E2-6396-0E50-2DE6-16D6B8ED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B9FEA-A3D6-804D-73DB-8B0840BF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0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51188-EDC2-B162-34A0-9E17EE2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2E1EA-92EE-9019-BA30-02D87EC8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1EEA5-CF87-0E55-3887-24DE764A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8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434-AD96-3DE3-802A-868C6944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B1EC8-A45A-1DCD-F225-91DC8202E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3F9B4-CF04-2432-168A-BFDA49447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163DC-642E-96AB-17C1-7FADB55F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3A441-A081-9D84-21E3-589481E8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D4B59-CFC7-B605-44E0-5F2B5221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7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35B2-D6BB-22BD-F152-D8F542CC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16224-C1BB-9A5A-3CF3-C8BAA5823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7FE61-EEF3-F9D0-D16A-5927F6461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F1079-BB67-4C46-5E91-6C7CD045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196DF-3B78-ECA1-6EF2-C9D978EF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6EEF0-1296-706E-2F52-66232523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3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228A-090C-D852-9C03-1E3B34A1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6CDB7-4EA5-263B-CADD-520004FEC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9939-8721-B7EF-04FA-9760B69F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995E2-8FC5-F847-FC96-EF4D6021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7D4-9CDC-3BDB-E6D9-BFE1BEF1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3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6E64C9-897C-F05A-6F31-A5A1E6E39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334EC-5B2B-73B3-A601-617D7F252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2BAA6-37AF-4475-0D7A-A2A2619F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93CAC-3170-C993-33AF-CF149D8D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1950-80AC-BCAD-6DD8-099CB4EB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729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347665" y="145144"/>
            <a:ext cx="11234736" cy="70650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8000">
                <a:schemeClr val="accent1">
                  <a:lumMod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1"/>
            <a:ext cx="11234737" cy="5397404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347665" y="6476290"/>
            <a:ext cx="11234736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8000">
                <a:schemeClr val="accent1">
                  <a:lumMod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34166" y="6499149"/>
            <a:ext cx="47513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fld id="{67037DFD-7A2B-4512-A492-6059EDE34B73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16858" y="213164"/>
            <a:ext cx="10515600" cy="638484"/>
          </a:xfrm>
        </p:spPr>
        <p:txBody>
          <a:bodyPr>
            <a:normAutofit/>
          </a:bodyPr>
          <a:lstStyle>
            <a:lvl1pPr>
              <a:defRPr sz="35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025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145145" y="145145"/>
            <a:ext cx="7380609" cy="5080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2. Các công trình nghiên cứu liên quan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0"/>
            <a:ext cx="11234737" cy="5500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5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145142" y="145145"/>
            <a:ext cx="4961880" cy="5080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Cơ sở lý thuyết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0"/>
            <a:ext cx="11234737" cy="5500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06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145142" y="145145"/>
            <a:ext cx="7155545" cy="5080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Phương pháp đề xuất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0"/>
            <a:ext cx="11234737" cy="5500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40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145141" y="145145"/>
            <a:ext cx="8589784" cy="5080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6. Kết luận và hướng phát triển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0"/>
            <a:ext cx="11234737" cy="5500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14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3403E1-F657-927A-94DB-C64E7369A5E4}"/>
              </a:ext>
            </a:extLst>
          </p:cNvPr>
          <p:cNvSpPr/>
          <p:nvPr userDrawn="1"/>
        </p:nvSpPr>
        <p:spPr>
          <a:xfrm>
            <a:off x="145141" y="145145"/>
            <a:ext cx="5302348" cy="5080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 Kết quả và thảo luận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B7B182-FCCD-C8A6-565D-2C2A9DE791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7665" y="1030290"/>
            <a:ext cx="11234737" cy="5500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448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420400" y="2630967"/>
            <a:ext cx="51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6420400" y="3427433"/>
            <a:ext cx="51620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464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81345" y="62085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>
                <a:latin typeface="Montserrat" pitchFamily="2" charset="77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53593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3737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">
  <p:cSld name="Table of Contents 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09600" y="593367"/>
            <a:ext cx="10972800" cy="6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/>
          </p:nvPr>
        </p:nvSpPr>
        <p:spPr>
          <a:xfrm>
            <a:off x="1493400" y="2436867"/>
            <a:ext cx="2986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1515400" y="2944337"/>
            <a:ext cx="29868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1515400" y="1681369"/>
            <a:ext cx="2986800" cy="8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1402233" y="4805333"/>
            <a:ext cx="32132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1515400" y="5260197"/>
            <a:ext cx="2986800" cy="1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 hasCustomPrompt="1"/>
          </p:nvPr>
        </p:nvSpPr>
        <p:spPr>
          <a:xfrm>
            <a:off x="1515400" y="4048375"/>
            <a:ext cx="2986800" cy="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/>
          </p:nvPr>
        </p:nvSpPr>
        <p:spPr>
          <a:xfrm>
            <a:off x="4704967" y="2423233"/>
            <a:ext cx="2986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4589769" y="2944337"/>
            <a:ext cx="2986800" cy="8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9" hasCustomPrompt="1"/>
          </p:nvPr>
        </p:nvSpPr>
        <p:spPr>
          <a:xfrm>
            <a:off x="4589769" y="1647267"/>
            <a:ext cx="2986800" cy="9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3"/>
          </p:nvPr>
        </p:nvSpPr>
        <p:spPr>
          <a:xfrm>
            <a:off x="4589769" y="4805337"/>
            <a:ext cx="2986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4"/>
          </p:nvPr>
        </p:nvSpPr>
        <p:spPr>
          <a:xfrm>
            <a:off x="4589769" y="5260197"/>
            <a:ext cx="2986800" cy="1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5" hasCustomPrompt="1"/>
          </p:nvPr>
        </p:nvSpPr>
        <p:spPr>
          <a:xfrm>
            <a:off x="4589769" y="4016067"/>
            <a:ext cx="2986800" cy="8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6"/>
          </p:nvPr>
        </p:nvSpPr>
        <p:spPr>
          <a:xfrm>
            <a:off x="7576567" y="2434900"/>
            <a:ext cx="32132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7691936" y="2881703"/>
            <a:ext cx="29868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8" hasCustomPrompt="1"/>
          </p:nvPr>
        </p:nvSpPr>
        <p:spPr>
          <a:xfrm>
            <a:off x="7691935" y="1686008"/>
            <a:ext cx="2986800" cy="8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9"/>
          </p:nvPr>
        </p:nvSpPr>
        <p:spPr>
          <a:xfrm>
            <a:off x="7691936" y="4803391"/>
            <a:ext cx="29868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0"/>
          </p:nvPr>
        </p:nvSpPr>
        <p:spPr>
          <a:xfrm>
            <a:off x="7691936" y="5250176"/>
            <a:ext cx="2986800" cy="1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1" hasCustomPrompt="1"/>
          </p:nvPr>
        </p:nvSpPr>
        <p:spPr>
          <a:xfrm>
            <a:off x="7691935" y="4052819"/>
            <a:ext cx="2986800" cy="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/>
          <p:nvPr/>
        </p:nvSpPr>
        <p:spPr>
          <a:xfrm>
            <a:off x="2286784" y="3916001"/>
            <a:ext cx="1755461" cy="916432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2130018" y="1551549"/>
            <a:ext cx="1755461" cy="982231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5204352" y="1560251"/>
            <a:ext cx="1755461" cy="982231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5408719" y="3916001"/>
            <a:ext cx="1755461" cy="916432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8393520" y="3916001"/>
            <a:ext cx="1755461" cy="916432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8306520" y="1551549"/>
            <a:ext cx="1755461" cy="982231"/>
          </a:xfrm>
          <a:custGeom>
            <a:avLst/>
            <a:gdLst/>
            <a:ahLst/>
            <a:cxnLst/>
            <a:rect l="l" t="t" r="r" b="b"/>
            <a:pathLst>
              <a:path w="43850" h="20955" extrusionOk="0">
                <a:moveTo>
                  <a:pt x="35868" y="1"/>
                </a:moveTo>
                <a:cubicBezTo>
                  <a:pt x="33099" y="1"/>
                  <a:pt x="29407" y="1533"/>
                  <a:pt x="25541" y="5166"/>
                </a:cubicBezTo>
                <a:cubicBezTo>
                  <a:pt x="22783" y="7783"/>
                  <a:pt x="17994" y="8281"/>
                  <a:pt x="14745" y="8281"/>
                </a:cubicBezTo>
                <a:cubicBezTo>
                  <a:pt x="12746" y="8281"/>
                  <a:pt x="11330" y="8093"/>
                  <a:pt x="11330" y="8093"/>
                </a:cubicBezTo>
                <a:cubicBezTo>
                  <a:pt x="10126" y="7944"/>
                  <a:pt x="9040" y="7874"/>
                  <a:pt x="8063" y="7874"/>
                </a:cubicBezTo>
                <a:cubicBezTo>
                  <a:pt x="1782" y="7874"/>
                  <a:pt x="1" y="10760"/>
                  <a:pt x="338" y="14109"/>
                </a:cubicBezTo>
                <a:cubicBezTo>
                  <a:pt x="687" y="17299"/>
                  <a:pt x="7181" y="20954"/>
                  <a:pt x="15993" y="20954"/>
                </a:cubicBezTo>
                <a:cubicBezTo>
                  <a:pt x="17869" y="20954"/>
                  <a:pt x="19850" y="20789"/>
                  <a:pt x="21899" y="20418"/>
                </a:cubicBezTo>
                <a:cubicBezTo>
                  <a:pt x="35297" y="17979"/>
                  <a:pt x="43850" y="7800"/>
                  <a:pt x="39980" y="1914"/>
                </a:cubicBezTo>
                <a:cubicBezTo>
                  <a:pt x="39181" y="696"/>
                  <a:pt x="37734" y="1"/>
                  <a:pt x="35868" y="1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58;p12"/>
          <p:cNvSpPr txBox="1">
            <a:spLocks noGrp="1"/>
          </p:cNvSpPr>
          <p:nvPr>
            <p:ph type="sldNum" idx="22"/>
          </p:nvPr>
        </p:nvSpPr>
        <p:spPr>
          <a:xfrm>
            <a:off x="11296611" y="6235820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4318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6420412" y="1719000"/>
            <a:ext cx="516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3"/>
          <p:cNvSpPr txBox="1">
            <a:spLocks noGrp="1"/>
          </p:cNvSpPr>
          <p:nvPr>
            <p:ph type="subTitle" idx="1"/>
          </p:nvPr>
        </p:nvSpPr>
        <p:spPr>
          <a:xfrm>
            <a:off x="6420400" y="3317221"/>
            <a:ext cx="51620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8344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Google Shape;58;p12"/>
          <p:cNvSpPr txBox="1">
            <a:spLocks noGrp="1"/>
          </p:cNvSpPr>
          <p:nvPr>
            <p:ph type="sldNum" idx="4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729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2E368-DA95-4E0E-69B7-070546B7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E9B9C-DB00-4016-0EAD-39BB7BBD3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FD6CD-82E8-A568-FEFC-19C346B76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9C013-B326-BD05-156D-A3D6289A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FB734-D57E-5259-379D-D6F0B8A64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82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58;p12"/>
          <p:cNvSpPr txBox="1">
            <a:spLocks noGrp="1"/>
          </p:cNvSpPr>
          <p:nvPr>
            <p:ph type="sldNum" idx="4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 i="0">
                <a:latin typeface="Montserrat" pitchFamily="2" charset="77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14000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E49EE5E-4575-4217-1F6D-960A2B0C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228"/>
            <a:ext cx="12192000" cy="6972422"/>
          </a:xfrm>
          <a:prstGeom prst="rect">
            <a:avLst/>
          </a:prstGeom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00783" y="4395614"/>
            <a:ext cx="9299643" cy="886744"/>
          </a:xfrm>
        </p:spPr>
        <p:txBody>
          <a:bodyPr/>
          <a:lstStyle/>
          <a:p>
            <a:pPr algn="ctr">
              <a:defRPr sz="2300">
                <a:solidFill>
                  <a:srgbClr val="FFFFFF"/>
                </a:solidFill>
                <a:latin typeface="Arial"/>
              </a:defRPr>
            </a:pPr>
            <a:r>
              <a:rPr b="1"/>
              <a:t>Ho-Dat T</a:t>
            </a:r>
            <a:r>
              <a:rPr lang="en-US" b="1"/>
              <a:t>RAN</a:t>
            </a:r>
            <a:r>
              <a:rPr b="1"/>
              <a:t>, Thuong-Cang P</a:t>
            </a:r>
            <a:r>
              <a:rPr lang="en-US" b="1"/>
              <a:t>HAN</a:t>
            </a:r>
            <a:r>
              <a:rPr b="1"/>
              <a:t>, Ngoc-Thuan B</a:t>
            </a:r>
            <a:r>
              <a:rPr lang="en-US" b="1"/>
              <a:t>UI</a:t>
            </a:r>
            <a:r>
              <a:rPr b="1"/>
              <a:t>,</a:t>
            </a:r>
          </a:p>
          <a:p>
            <a:pPr algn="ctr">
              <a:defRPr sz="2300">
                <a:solidFill>
                  <a:srgbClr val="FFFFFF"/>
                </a:solidFill>
                <a:latin typeface="Arial"/>
              </a:defRPr>
            </a:pPr>
            <a:r>
              <a:rPr b="1"/>
              <a:t>Vinh-Phong N</a:t>
            </a:r>
            <a:r>
              <a:rPr lang="en-US" b="1"/>
              <a:t>GUYEN</a:t>
            </a:r>
            <a:r>
              <a:rPr b="1"/>
              <a:t>, and Anh-Cang P</a:t>
            </a:r>
            <a:r>
              <a:rPr lang="en-US" b="1"/>
              <a:t>HAN</a:t>
            </a:r>
            <a:r>
              <a:rPr lang="en-US" b="1" baseline="30000">
                <a:sym typeface="Wingdings" panose="05000000000000000000" pitchFamily="2" charset="2"/>
              </a:rPr>
              <a:t></a:t>
            </a:r>
            <a:endParaRPr b="1" baseline="30000"/>
          </a:p>
        </p:txBody>
      </p:sp>
      <p:sp>
        <p:nvSpPr>
          <p:cNvPr id="5" name="Google Shape;764;p41"/>
          <p:cNvSpPr txBox="1">
            <a:spLocks/>
          </p:cNvSpPr>
          <p:nvPr/>
        </p:nvSpPr>
        <p:spPr>
          <a:xfrm>
            <a:off x="269783" y="2680582"/>
            <a:ext cx="11652434" cy="15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defTabSz="1219170">
              <a:buClr>
                <a:srgbClr val="07105C"/>
              </a:buClr>
            </a:pPr>
            <a:r>
              <a:rPr lang="en-US">
                <a:solidFill>
                  <a:srgbClr val="FFFF00"/>
                </a:solidFill>
              </a:rPr>
              <a:t>NFTransUNet: A Neuro-Fuzzy Deep Learning</a:t>
            </a:r>
          </a:p>
          <a:p>
            <a:pPr defTabSz="1219170">
              <a:buClr>
                <a:srgbClr val="07105C"/>
              </a:buClr>
            </a:pPr>
            <a:r>
              <a:rPr lang="en-US">
                <a:solidFill>
                  <a:srgbClr val="FFFF00"/>
                </a:solidFill>
              </a:rPr>
              <a:t>Model for Breast Tumor Segmentation in Big</a:t>
            </a:r>
          </a:p>
          <a:p>
            <a:pPr defTabSz="1219170">
              <a:buClr>
                <a:srgbClr val="07105C"/>
              </a:buClr>
            </a:pPr>
            <a:r>
              <a:rPr lang="en-US">
                <a:solidFill>
                  <a:srgbClr val="FFFF00"/>
                </a:solidFill>
              </a:rPr>
              <a:t>Data Environment</a:t>
            </a:r>
            <a:endParaRPr lang="en-US" sz="3200" kern="0" dirty="0">
              <a:solidFill>
                <a:srgbClr val="FFFF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ubtitle 1"/>
          <p:cNvSpPr txBox="1">
            <a:spLocks/>
          </p:cNvSpPr>
          <p:nvPr/>
        </p:nvSpPr>
        <p:spPr>
          <a:xfrm>
            <a:off x="155575" y="6246064"/>
            <a:ext cx="11886977" cy="61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609585" indent="-457189" defTabSz="1219170">
              <a:buClr>
                <a:srgbClr val="07105C"/>
              </a:buClr>
            </a:pPr>
            <a:r>
              <a:rPr lang="en-US" sz="1867" kern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10-12 October 2026</a:t>
            </a:r>
          </a:p>
        </p:txBody>
      </p:sp>
      <p:sp>
        <p:nvSpPr>
          <p:cNvPr id="10" name="Subtitle 1"/>
          <p:cNvSpPr txBox="1">
            <a:spLocks/>
          </p:cNvSpPr>
          <p:nvPr/>
        </p:nvSpPr>
        <p:spPr>
          <a:xfrm>
            <a:off x="437746" y="73152"/>
            <a:ext cx="11031165" cy="61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sz="2800" b="1" kern="0">
                <a:solidFill>
                  <a:schemeClr val="bg1"/>
                </a:solidFill>
              </a:rPr>
              <a:t>The 19th International Conference on Multi-disciplinary Trends in Artificial Intelligence</a:t>
            </a:r>
          </a:p>
        </p:txBody>
      </p:sp>
      <p:sp>
        <p:nvSpPr>
          <p:cNvPr id="8" name="AutoShape 2" descr="http://localhost/wordpress/wp-content/uploads/2025/02/scopus.png"/>
          <p:cNvSpPr>
            <a:spLocks noChangeAspect="1" noChangeArrowheads="1"/>
          </p:cNvSpPr>
          <p:nvPr/>
        </p:nvSpPr>
        <p:spPr bwMode="auto">
          <a:xfrm>
            <a:off x="155575" y="-457200"/>
            <a:ext cx="30289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0D60BF31-81CC-7BE2-31B3-CA5F9CBE6442}"/>
              </a:ext>
            </a:extLst>
          </p:cNvPr>
          <p:cNvSpPr txBox="1">
            <a:spLocks/>
          </p:cNvSpPr>
          <p:nvPr/>
        </p:nvSpPr>
        <p:spPr>
          <a:xfrm>
            <a:off x="966065" y="1570498"/>
            <a:ext cx="3646575" cy="61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sz="2800" b="1" kern="0">
                <a:solidFill>
                  <a:schemeClr val="bg1"/>
                </a:solidFill>
              </a:rPr>
              <a:t>MIWAI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4E161-49CB-8ABB-6ADB-226043A9C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488" y="1459006"/>
            <a:ext cx="2402392" cy="890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167741-06FC-08E6-4716-CBE43BF86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445" y="1496298"/>
            <a:ext cx="2992755" cy="82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0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41000">
        <p14:reveal/>
      </p:transition>
    </mc:Choice>
    <mc:Fallback xmlns="">
      <p:transition spd="slow" advClick="0" advTm="4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Challenges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635" y="1175738"/>
            <a:ext cx="2788920" cy="93268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Ambiguous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2707" y="1175738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Low contrast and gradual tissue transitions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635" y="2410178"/>
            <a:ext cx="2788920" cy="93268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Diverse appearances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2707" y="2410178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Irregular contours and varying tumor sizes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635" y="3644618"/>
            <a:ext cx="2788920" cy="93268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Growing data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2707" y="3644618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Accurate segmentation with faster, scalable training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3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97FF49-D2BF-FDFC-BF3A-1A06AE9B0D85}"/>
              </a:ext>
            </a:extLst>
          </p:cNvPr>
          <p:cNvGrpSpPr/>
          <p:nvPr/>
        </p:nvGrpSpPr>
        <p:grpSpPr>
          <a:xfrm>
            <a:off x="804672" y="1065007"/>
            <a:ext cx="10241280" cy="3629817"/>
            <a:chOff x="804672" y="1065007"/>
            <a:chExt cx="10241280" cy="3629817"/>
          </a:xfrm>
        </p:grpSpPr>
        <p:sp>
          <p:nvSpPr>
            <p:cNvPr id="6" name="TextBox 5"/>
            <p:cNvSpPr txBox="1"/>
            <p:nvPr/>
          </p:nvSpPr>
          <p:spPr>
            <a:xfrm>
              <a:off x="804672" y="1065007"/>
              <a:ext cx="10241280" cy="594009"/>
            </a:xfrm>
            <a:prstGeom prst="rect">
              <a:avLst/>
            </a:prstGeom>
            <a:noFill/>
          </p:spPr>
          <p:txBody>
            <a:bodyPr wrap="square" lIns="109728" tIns="54864" rIns="109728">
              <a:spAutoFit/>
            </a:bodyPr>
            <a:lstStyle/>
            <a:p>
              <a:pPr>
                <a:spcAft>
                  <a:spcPts val="1000"/>
                </a:spcAft>
                <a:defRPr sz="2600" b="1">
                  <a:solidFill>
                    <a:srgbClr val="1765A5"/>
                  </a:solidFill>
                  <a:latin typeface="Arial"/>
                </a:defRPr>
              </a:pPr>
              <a:r>
                <a:rPr sz="3200"/>
                <a:t>01   Introduction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823959"/>
              <a:ext cx="10241280" cy="594009"/>
            </a:xfrm>
            <a:prstGeom prst="rect">
              <a:avLst/>
            </a:prstGeom>
            <a:noFill/>
          </p:spPr>
          <p:txBody>
            <a:bodyPr wrap="square" lIns="109728" tIns="54864" rIns="109728">
              <a:spAutoFit/>
            </a:bodyPr>
            <a:lstStyle/>
            <a:p>
              <a:pPr>
                <a:spcAft>
                  <a:spcPts val="1000"/>
                </a:spcAft>
                <a:defRPr sz="2600" b="1">
                  <a:solidFill>
                    <a:srgbClr val="15365C"/>
                  </a:solidFill>
                  <a:latin typeface="Arial"/>
                </a:defRPr>
              </a:pPr>
              <a:r>
                <a:rPr sz="3200"/>
                <a:t>02   Related works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582911"/>
              <a:ext cx="10241280" cy="594009"/>
            </a:xfrm>
            <a:prstGeom prst="rect">
              <a:avLst/>
            </a:prstGeom>
            <a:noFill/>
          </p:spPr>
          <p:txBody>
            <a:bodyPr wrap="square" lIns="109728" tIns="54864" rIns="109728">
              <a:spAutoFit/>
            </a:bodyPr>
            <a:lstStyle/>
            <a:p>
              <a:pPr>
                <a:spcAft>
                  <a:spcPts val="1000"/>
                </a:spcAft>
                <a:defRPr sz="2600" b="1">
                  <a:solidFill>
                    <a:srgbClr val="1765A5"/>
                  </a:solidFill>
                  <a:latin typeface="Arial"/>
                </a:defRPr>
              </a:pPr>
              <a:r>
                <a:rPr sz="3200"/>
                <a:t>03   Proposed method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4672" y="3341863"/>
              <a:ext cx="10241280" cy="594009"/>
            </a:xfrm>
            <a:prstGeom prst="rect">
              <a:avLst/>
            </a:prstGeom>
            <a:noFill/>
          </p:spPr>
          <p:txBody>
            <a:bodyPr wrap="square" lIns="109728" tIns="54864" rIns="109728">
              <a:spAutoFit/>
            </a:bodyPr>
            <a:lstStyle/>
            <a:p>
              <a:pPr>
                <a:spcAft>
                  <a:spcPts val="1000"/>
                </a:spcAft>
                <a:defRPr sz="2600" b="1">
                  <a:solidFill>
                    <a:srgbClr val="15365C"/>
                  </a:solidFill>
                  <a:latin typeface="Arial"/>
                </a:defRPr>
              </a:pPr>
              <a:r>
                <a:rPr sz="3200"/>
                <a:t>04   Experimental results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4672" y="4100815"/>
              <a:ext cx="10241280" cy="594009"/>
            </a:xfrm>
            <a:prstGeom prst="rect">
              <a:avLst/>
            </a:prstGeom>
            <a:noFill/>
          </p:spPr>
          <p:txBody>
            <a:bodyPr wrap="square" lIns="109728" tIns="54864" rIns="109728">
              <a:spAutoFit/>
            </a:bodyPr>
            <a:lstStyle/>
            <a:p>
              <a:pPr>
                <a:spcAft>
                  <a:spcPts val="1000"/>
                </a:spcAft>
                <a:defRPr sz="2600" b="1">
                  <a:solidFill>
                    <a:srgbClr val="1765A5"/>
                  </a:solidFill>
                  <a:latin typeface="Arial"/>
                </a:defRPr>
              </a:pPr>
              <a:r>
                <a:rPr sz="3200"/>
                <a:t>05   Conclusion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93BDF6-6F6F-79E6-55B0-5909B404851C}"/>
                </a:ext>
              </a:extLst>
            </p:cNvPr>
            <p:cNvCxnSpPr/>
            <p:nvPr/>
          </p:nvCxnSpPr>
          <p:spPr>
            <a:xfrm>
              <a:off x="946673" y="1723563"/>
              <a:ext cx="99400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1EE961-11A9-C1D3-9023-54618D2F65B7}"/>
                </a:ext>
              </a:extLst>
            </p:cNvPr>
            <p:cNvCxnSpPr/>
            <p:nvPr/>
          </p:nvCxnSpPr>
          <p:spPr>
            <a:xfrm>
              <a:off x="946673" y="2461000"/>
              <a:ext cx="99400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2C7E65-9908-D04D-8DD9-EC56701380DF}"/>
                </a:ext>
              </a:extLst>
            </p:cNvPr>
            <p:cNvCxnSpPr/>
            <p:nvPr/>
          </p:nvCxnSpPr>
          <p:spPr>
            <a:xfrm>
              <a:off x="946673" y="3234841"/>
              <a:ext cx="99400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7AE989-A27F-06D0-8D64-B84B8603AE01}"/>
                </a:ext>
              </a:extLst>
            </p:cNvPr>
            <p:cNvCxnSpPr/>
            <p:nvPr/>
          </p:nvCxnSpPr>
          <p:spPr>
            <a:xfrm>
              <a:off x="946673" y="3993794"/>
              <a:ext cx="99400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9000"/>
    </mc:Choice>
    <mc:Fallback xmlns="">
      <p:transition spd="slow" advClick="0" advTm="29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064240" cy="64008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t>Task and main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2788920" cy="93268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Segment lesions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880" y="1922244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Input mammogram → pixel-level tumor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3200400"/>
            <a:ext cx="3450169" cy="455509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Refine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3156684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Learnable Gaussian rules at the encoder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34840"/>
            <a:ext cx="2788920" cy="93268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1765A5"/>
                </a:solidFill>
                <a:latin typeface="Arial"/>
              </a:defRPr>
            </a:pPr>
            <a:r>
              <a:t>Evaluate broadly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3880" y="4391124"/>
            <a:ext cx="7818120" cy="100584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43746"/>
                </a:solidFill>
                <a:latin typeface="Arial"/>
              </a:defRPr>
            </a:pPr>
            <a:r>
              <a:t>Three backbones • two datasets • distributed training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1000"/>
    </mc:Choice>
    <mc:Fallback xmlns="">
      <p:transition spd="slow" advClick="0" advTm="3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2. Related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19" y="1024128"/>
            <a:ext cx="11973003" cy="470898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400"/>
              <a:t>Evolution of Medical Image Segmentation Models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35511"/>
              </p:ext>
            </p:extLst>
          </p:nvPr>
        </p:nvGraphicFramePr>
        <p:xfrm>
          <a:off x="581834" y="1581912"/>
          <a:ext cx="1114252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2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4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Main strength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Medical segmentation benefit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 / U-Net++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Skip connections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Better spatial detail and boundaries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TransUNet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CNN + Transformer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Local and global feature modeling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Fuzzy </a:t>
                      </a:r>
                      <a:r>
                        <a:rPr lang="en-US"/>
                        <a:t>models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Uncertainty modeling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Better handling of ambiguous lesions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Our approach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Neuro-fuzzy + Spark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Feature refinement and scalable training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7000"/>
    </mc:Choice>
    <mc:Fallback xmlns="">
      <p:transition spd="slow" advClick="0" advTm="3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3. Proposed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007608"/>
            <a:ext cx="11494136" cy="845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 algn="ctr"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000"/>
              <a:t>Fig.1 The proposed NFTransUNet pipeline for tumor segmentation on mammograms</a:t>
            </a:r>
          </a:p>
          <a:p>
            <a:pPr algn="ctr"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000"/>
              <a:t>in a big-data environment.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9" y="852708"/>
            <a:ext cx="11494136" cy="5154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4000"/>
    </mc:Choice>
    <mc:Fallback xmlns="">
      <p:transition spd="slow" advClick="0" advTm="4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3. Proposed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08D206-DFD9-B387-677F-50D57A04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7453"/>
            <a:ext cx="10626925" cy="4531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0"/>
    </mc:Choice>
    <mc:Fallback xmlns="">
      <p:transition spd="slow" advClick="0" advTm="4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5901-90F5-6A26-2D50-8FFFAC03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DFCD7E-944E-8402-857B-742E2862A312}"/>
              </a:ext>
            </a:extLst>
          </p:cNvPr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3. Proposed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DCC8B-FC4B-E784-6356-28AAF833874D}"/>
              </a:ext>
            </a:extLst>
          </p:cNvPr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8648C-98DE-A878-DE0B-F957CD784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63" y="926926"/>
            <a:ext cx="8639713" cy="533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5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1000"/>
    </mc:Choice>
    <mc:Fallback xmlns="">
      <p:transition spd="slow" advClick="0" advTm="5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3. Proposed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128" y="1136862"/>
            <a:ext cx="11064240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1. Experimental scenarios and training parameters.</a:t>
            </a:r>
            <a:endParaRPr sz="2200"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76B004-7FCB-9C4C-9730-5D63A84C0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879930"/>
              </p:ext>
            </p:extLst>
          </p:nvPr>
        </p:nvGraphicFramePr>
        <p:xfrm>
          <a:off x="662940" y="1668780"/>
          <a:ext cx="1072321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0181">
                  <a:extLst>
                    <a:ext uri="{9D8B030D-6E8A-4147-A177-3AD203B41FA5}">
                      <a16:colId xmlns:a16="http://schemas.microsoft.com/office/drawing/2014/main" val="3815429000"/>
                    </a:ext>
                  </a:extLst>
                </a:gridCol>
                <a:gridCol w="1590806">
                  <a:extLst>
                    <a:ext uri="{9D8B030D-6E8A-4147-A177-3AD203B41FA5}">
                      <a16:colId xmlns:a16="http://schemas.microsoft.com/office/drawing/2014/main" val="549985701"/>
                    </a:ext>
                  </a:extLst>
                </a:gridCol>
                <a:gridCol w="1553226">
                  <a:extLst>
                    <a:ext uri="{9D8B030D-6E8A-4147-A177-3AD203B41FA5}">
                      <a16:colId xmlns:a16="http://schemas.microsoft.com/office/drawing/2014/main" val="217351174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Sce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Method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Epoch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LR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Batch size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Num rules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Baseline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150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Neuro-fuzzy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374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U-Net++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Baseline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374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U-Net++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Neuro-fuzzy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374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TransUNet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Baseline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374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NFTransUNet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Proposed method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374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0.0001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8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" y="5531691"/>
            <a:ext cx="10744200" cy="5029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43746"/>
                </a:solidFill>
                <a:latin typeface="Arial"/>
              </a:defRPr>
            </a:pPr>
            <a:r>
              <a:t>Compute: single node vs. Spark cluster with 12 workers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22338"/>
              </p:ext>
            </p:extLst>
          </p:nvPr>
        </p:nvGraphicFramePr>
        <p:xfrm>
          <a:off x="704088" y="1536317"/>
          <a:ext cx="107441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/>
                        <a:t>Dataset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/>
                        <a:t>Benign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/>
                        <a:t>Malignant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/>
                        <a:t>Normal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/>
                        <a:t>Total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VL-Bre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1,108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1,260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1,992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4,360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VinDr-Mammo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1,696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720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2,012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sz="2300"/>
                        <a:t>4,428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188078"/>
            <a:ext cx="10698480" cy="64008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1765A5"/>
                </a:solidFill>
                <a:latin typeface="Arial"/>
              </a:defRPr>
            </a:pPr>
            <a:r>
              <a:t>70% training   /   15% validation   /   15%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64042-C65D-4D46-E719-E5B05661A660}"/>
              </a:ext>
            </a:extLst>
          </p:cNvPr>
          <p:cNvSpPr txBox="1"/>
          <p:nvPr/>
        </p:nvSpPr>
        <p:spPr>
          <a:xfrm>
            <a:off x="603128" y="1136862"/>
            <a:ext cx="11064240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2. The dataset used in the paper.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5000"/>
    </mc:Choice>
    <mc:Fallback xmlns="">
      <p:transition spd="slow" advClick="0" advTm="2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008322"/>
              </p:ext>
            </p:extLst>
          </p:nvPr>
        </p:nvGraphicFramePr>
        <p:xfrm>
          <a:off x="658368" y="1724002"/>
          <a:ext cx="10744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 rowSpan="2"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T="82296" anchor="ctr">
                    <a:solidFill>
                      <a:srgbClr val="1536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VL-Bre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VinDr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4304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IoU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IoU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86.00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84.90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91.00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 + NF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87.70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92.80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86.60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92.30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U-Net++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86.60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92.00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85.50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U-Net++ + NF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88.20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93.10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87.10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92.60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TransUNet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87.10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92.40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86.00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91.90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NFTransUNet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88.90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93.50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87.60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93.00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C3CC21-5189-1B52-9ECC-764A8FBC8F81}"/>
              </a:ext>
            </a:extLst>
          </p:cNvPr>
          <p:cNvSpPr txBox="1"/>
          <p:nvPr/>
        </p:nvSpPr>
        <p:spPr>
          <a:xfrm>
            <a:off x="603128" y="1136862"/>
            <a:ext cx="10799440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3. Segmentation results on VL-Bre and VinDr-Mammo (%).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6000"/>
    </mc:Choice>
    <mc:Fallback xmlns="">
      <p:transition spd="slow" advClick="0" advTm="26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13653"/>
              </p:ext>
            </p:extLst>
          </p:nvPr>
        </p:nvGraphicFramePr>
        <p:xfrm>
          <a:off x="723900" y="1572017"/>
          <a:ext cx="107442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VL-Bre 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VinDr 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/>
                        <a:t>Pair t-test</a:t>
                      </a:r>
                      <a:endParaRPr/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U-Net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  <a:r>
                        <a:rPr lang="en-US"/>
                        <a:t>1</a:t>
                      </a:r>
                      <a:r>
                        <a:t>.</a:t>
                      </a:r>
                      <a:r>
                        <a:rPr lang="en-US"/>
                        <a:t>5</a:t>
                      </a:r>
                      <a:r>
                        <a:t> ± 0.</a:t>
                      </a:r>
                      <a:r>
                        <a:rPr lang="en-US"/>
                        <a:t>35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  <a:r>
                        <a:rPr lang="en-US"/>
                        <a:t>1</a:t>
                      </a:r>
                      <a:r>
                        <a:t>.</a:t>
                      </a:r>
                      <a:r>
                        <a:rPr lang="en-US"/>
                        <a:t>0</a:t>
                      </a:r>
                      <a:r>
                        <a:t>0 ± 0.</a:t>
                      </a:r>
                      <a:r>
                        <a:rPr lang="en-US"/>
                        <a:t>42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U-Net + NF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92.80 ± 0.28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92.30 ± 0.31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&lt; 0.05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203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 +</a:t>
                      </a:r>
                      <a:r>
                        <a:rPr lang="en-US"/>
                        <a:t>+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  <a:r>
                        <a:rPr lang="en-US"/>
                        <a:t>2</a:t>
                      </a:r>
                      <a:r>
                        <a:t>.</a:t>
                      </a:r>
                      <a:r>
                        <a:rPr lang="en-US"/>
                        <a:t>0</a:t>
                      </a:r>
                      <a:r>
                        <a:t>0 ± 0.</a:t>
                      </a:r>
                      <a:r>
                        <a:rPr lang="en-US"/>
                        <a:t>34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  <a:r>
                        <a:rPr lang="en-US"/>
                        <a:t>1</a:t>
                      </a:r>
                      <a:r>
                        <a:t>.</a:t>
                      </a:r>
                      <a:r>
                        <a:rPr lang="en-US"/>
                        <a:t>50</a:t>
                      </a:r>
                      <a:r>
                        <a:t> ± 0.</a:t>
                      </a:r>
                      <a:r>
                        <a:rPr lang="en-US"/>
                        <a:t>3</a:t>
                      </a:r>
                      <a:r>
                        <a:t>9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8895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U-Net++ + NF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93.10 ± 0.27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92.60 ± 0.29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&lt; 0.05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TransUNet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92.40 ± 0.29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91.90 ± 0.38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NFTransUNet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93.50 ± 0.22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93.00 ± 0.25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&lt; 0.01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7729CE-4C38-4C30-25A4-6BF1AFB0316B}"/>
              </a:ext>
            </a:extLst>
          </p:cNvPr>
          <p:cNvSpPr txBox="1"/>
          <p:nvPr/>
        </p:nvSpPr>
        <p:spPr>
          <a:xfrm>
            <a:off x="603128" y="1136862"/>
            <a:ext cx="10799440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4. Statistical significance of the neuro-fuzzy improvements on the test set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778140"/>
              </p:ext>
            </p:extLst>
          </p:nvPr>
        </p:nvGraphicFramePr>
        <p:xfrm>
          <a:off x="658368" y="1686629"/>
          <a:ext cx="107441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NFTransUNet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VL-Bre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VinDr-Mammo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Time: 1 → 12 nodes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26,300 → 3,190 s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27,600 → 3,356 s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8.24×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8.22×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Dice: 1 → 12 nodes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93.50 → 91.00%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93.00 → 91.15%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Dice reduction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2.50 points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2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1.85 points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657AEE-0325-815A-361F-F2354C25CA6C}"/>
              </a:ext>
            </a:extLst>
          </p:cNvPr>
          <p:cNvSpPr txBox="1"/>
          <p:nvPr/>
        </p:nvSpPr>
        <p:spPr>
          <a:xfrm>
            <a:off x="603128" y="1136862"/>
            <a:ext cx="10799440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5. Comparison table of experimental results with 1 node vs 12 nodes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00393"/>
              </p:ext>
            </p:extLst>
          </p:nvPr>
        </p:nvGraphicFramePr>
        <p:xfrm>
          <a:off x="658368" y="1661577"/>
          <a:ext cx="107442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Rules K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VL</a:t>
                      </a:r>
                      <a:r>
                        <a:rPr lang="en-US"/>
                        <a:t>-Bre</a:t>
                      </a:r>
                      <a:r>
                        <a:t> IoU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VL</a:t>
                      </a:r>
                      <a:r>
                        <a:rPr lang="en-US"/>
                        <a:t>-Bre</a:t>
                      </a:r>
                      <a:r>
                        <a:t> 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VinDr IoU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VinDr Dice</a:t>
                      </a:r>
                    </a:p>
                  </a:txBody>
                  <a:tcPr marT="82296">
                    <a:solidFill>
                      <a:srgbClr val="15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85.30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90.40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84.10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89.90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88.90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93.50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87.60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93.00</a:t>
                      </a:r>
                    </a:p>
                  </a:txBody>
                  <a:tcPr marT="82296">
                    <a:solidFill>
                      <a:srgbClr val="D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87.25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90.50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86.90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92.13</a:t>
                      </a:r>
                    </a:p>
                  </a:txBody>
                  <a:tcPr marT="82296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86.90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91.60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85.80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43746"/>
                          </a:solidFill>
                          <a:latin typeface="Arial"/>
                        </a:defRPr>
                      </a:pPr>
                      <a:r>
                        <a:t>91.10</a:t>
                      </a:r>
                    </a:p>
                  </a:txBody>
                  <a:tcPr marT="8229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A9E7E0-0099-90BC-E9AC-CA40614EA043}"/>
              </a:ext>
            </a:extLst>
          </p:cNvPr>
          <p:cNvSpPr txBox="1"/>
          <p:nvPr/>
        </p:nvSpPr>
        <p:spPr>
          <a:xfrm>
            <a:off x="603128" y="1136862"/>
            <a:ext cx="11334176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6. Assessment on the number of fuzzy rules K for NFTransUNet (test set, %).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2000"/>
    </mc:Choice>
    <mc:Fallback xmlns="">
      <p:transition spd="slow" advClick="0" advTm="2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DCCF04-F1E2-8AD7-8CB8-F61C5EC6F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62" y="920714"/>
            <a:ext cx="10246290" cy="51844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A18B12-23DE-65C9-A46C-004574B2ED32}"/>
              </a:ext>
            </a:extLst>
          </p:cNvPr>
          <p:cNvSpPr txBox="1"/>
          <p:nvPr/>
        </p:nvSpPr>
        <p:spPr>
          <a:xfrm>
            <a:off x="428912" y="6055076"/>
            <a:ext cx="11334176" cy="44012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 algn="ctr"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Fig.2. Segmentation and Grad-CAM results across all scenarios.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7000"/>
    </mc:Choice>
    <mc:Fallback xmlns="">
      <p:transition spd="slow" advClick="0" advTm="27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0" y="2010757"/>
            <a:ext cx="12077300" cy="235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58D94F-0E1E-CF8B-1860-D22E5C626EDA}"/>
              </a:ext>
            </a:extLst>
          </p:cNvPr>
          <p:cNvSpPr txBox="1"/>
          <p:nvPr/>
        </p:nvSpPr>
        <p:spPr>
          <a:xfrm>
            <a:off x="438912" y="1136862"/>
            <a:ext cx="11498392" cy="906915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Table 7. Sample fuzzy rules learned by NFTransUNet (bottleneck channels F18–F486;</a:t>
            </a:r>
          </a:p>
          <a:p>
            <a:pPr>
              <a:spcAft>
                <a:spcPts val="1000"/>
              </a:spcAft>
              <a:defRPr sz="2700" b="1">
                <a:solidFill>
                  <a:srgbClr val="15365C"/>
                </a:solidFill>
                <a:latin typeface="Arial"/>
              </a:defRPr>
            </a:pPr>
            <a:r>
              <a:rPr lang="en-US" sz="2200"/>
              <a:t>∥vj∥</a:t>
            </a:r>
            <a:r>
              <a:rPr lang="en-US" sz="2200" baseline="-25000"/>
              <a:t>2</a:t>
            </a:r>
            <a:r>
              <a:rPr lang="en-US" sz="2200"/>
              <a:t> is the L2-norm of the rule’s consequent vector)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4000"/>
    </mc:Choice>
    <mc:Fallback xmlns="">
      <p:transition spd="slow" advClick="0" advTm="2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5.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E5FB1-0D74-064E-9580-61583FD0F3C9}"/>
              </a:ext>
            </a:extLst>
          </p:cNvPr>
          <p:cNvSpPr txBox="1"/>
          <p:nvPr/>
        </p:nvSpPr>
        <p:spPr>
          <a:xfrm>
            <a:off x="438912" y="1260887"/>
            <a:ext cx="11064240" cy="4051365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 sz="2400"/>
              <a:t>This study proposes a learnable neuro-fuzzy inference layer integrated at the encoder bottleneck and evaluates it across three backbone architectures for mammographic tumor segmentation. 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 sz="2400"/>
              <a:t>NFTransUNet achieved the best performance, with Dice scores of 93.5% on VL-Bre and 93.0% on VinDr-Mammo, while distributed training reduced computation time by approximately 6.7–8.7 with only a modest average Dice reduction of about 1.8 percentage points. 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 sz="2400"/>
              <a:t>Future work will evaluate the framework on additional datasets and extend it to other mammographic lesions, particularly microcalcification detection and segmentation.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8000"/>
    </mc:Choice>
    <mc:Fallback xmlns="">
      <p:transition spd="slow" advClick="0" advTm="38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10312"/>
            <a:ext cx="10607040" cy="594360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457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109728" tIns="54864" rIns="109728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15365C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039660"/>
            <a:ext cx="11265408" cy="5051639"/>
          </a:xfrm>
          <a:prstGeom prst="rect">
            <a:avLst/>
          </a:prstGeom>
          <a:noFill/>
        </p:spPr>
        <p:txBody>
          <a:bodyPr wrap="square" lIns="109728" tIns="54864" rIns="109728">
            <a:spAutoFit/>
          </a:bodyPr>
          <a:lstStyle/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t>[</a:t>
            </a:r>
            <a:r>
              <a:rPr lang="en-US"/>
              <a:t>1</a:t>
            </a:r>
            <a:r>
              <a:t>] </a:t>
            </a:r>
            <a:r>
              <a:rPr lang="en-US"/>
              <a:t>Anari, S., Sadeghi, S., Sheikhi, G., Ranjbarzadeh, R., Bendechache, M.: Explainable attention based breast tumor segmentation using a combination of unet, resnet, densenet, and efficientnet models. Scientific Reports 15(1), 1027 (2025).</a:t>
            </a:r>
          </a:p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/>
              <a:t>[2] Bray, F., Laversanne, M., Sung, H., Ferlay, J., Siegel, R.L., Soerjomataram, I., Jemal, A.: Global cancer statistics 2022: Globocan estimates of incidence and mortality worldwide for 36 cancers in 185 countries. CA: a cancer journal for clinicians 74(3), 229–263 (2024).</a:t>
            </a:r>
          </a:p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/>
              <a:t>[3] Carriero, A., Groenhoff, L., Vologina, E., Basile, P., Albera, M.: Deep learning in breast cancer imaging: State of the art and recent advancements in early 2024. Diagnostics 14(8), 848 (2024)</a:t>
            </a:r>
          </a:p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/>
              <a:t>[4] Chen, J., Lu, Y., Yu, Q., Luo, X., Adeli, E., Wang, Y., Lu, L., Yuille, A.L., Zhou, Y.: Transunet: Transformers make strong encoders for medical image segmentation. arXiv preprint arXiv:2102.04306 (2021)</a:t>
            </a:r>
          </a:p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/>
              <a:t>[5] Pani, K., Chawla, I.: Fuzzy inception unet: bridging uncertainties in MRI for multimodal brain tumor segmentation. SN Computer Science 6(6), 621 (2025)</a:t>
            </a:r>
          </a:p>
          <a:p>
            <a:pPr algn="just">
              <a:spcAft>
                <a:spcPts val="1000"/>
              </a:spcAft>
              <a:defRPr sz="2000" b="0">
                <a:solidFill>
                  <a:srgbClr val="243746"/>
                </a:solidFill>
                <a:latin typeface="Arial"/>
              </a:defRPr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lifax, Nova Scotia - Wikipedia">
            <a:extLst>
              <a:ext uri="{FF2B5EF4-FFF2-40B4-BE49-F238E27FC236}">
                <a16:creationId xmlns:a16="http://schemas.microsoft.com/office/drawing/2014/main" id="{8A4E17A9-57FC-B305-47C0-B292927A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44325" y="5807430"/>
            <a:ext cx="7467600" cy="638484"/>
          </a:xfrm>
        </p:spPr>
        <p:txBody>
          <a:bodyPr>
            <a:noAutofit/>
          </a:bodyPr>
          <a:lstStyle/>
          <a:p>
            <a:pPr>
              <a:defRPr sz="2600" b="1"/>
            </a:pPr>
            <a:r>
              <a:t>THANK YOU</a:t>
            </a:r>
          </a:p>
          <a:p>
            <a:pPr>
              <a:defRPr sz="2600" b="1"/>
            </a:pPr>
            <a:r>
              <a:rPr lang="en-US"/>
              <a:t>FOR YOUR ATTENTION 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099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vestor Social Media by Slidesgo">
  <a:themeElements>
    <a:clrScheme name="Simple Light">
      <a:dk1>
        <a:srgbClr val="07105C"/>
      </a:dk1>
      <a:lt1>
        <a:srgbClr val="FFFFFF"/>
      </a:lt1>
      <a:dk2>
        <a:srgbClr val="FDE571"/>
      </a:dk2>
      <a:lt2>
        <a:srgbClr val="8FCEF9"/>
      </a:lt2>
      <a:accent1>
        <a:srgbClr val="07105C"/>
      </a:accent1>
      <a:accent2>
        <a:srgbClr val="5664E1"/>
      </a:accent2>
      <a:accent3>
        <a:srgbClr val="1226DB"/>
      </a:accent3>
      <a:accent4>
        <a:srgbClr val="23295C"/>
      </a:accent4>
      <a:accent5>
        <a:srgbClr val="0E1DA8"/>
      </a:accent5>
      <a:accent6>
        <a:srgbClr val="FFB127"/>
      </a:accent6>
      <a:hlink>
        <a:srgbClr val="E1D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20721</TotalTime>
  <Words>1028</Words>
  <Application>Microsoft Office PowerPoint</Application>
  <PresentationFormat>Widescreen</PresentationFormat>
  <Paragraphs>270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Montserrat</vt:lpstr>
      <vt:lpstr>Open Sans</vt:lpstr>
      <vt:lpstr>Times New Roman</vt:lpstr>
      <vt:lpstr>Ubuntu</vt:lpstr>
      <vt:lpstr>Wingdings</vt:lpstr>
      <vt:lpstr>Office Theme</vt:lpstr>
      <vt:lpstr>Investor Social Media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SƯ PHẠM KỸ THUẬT VĨNH LONG KHOA CÔNG NGHỆ THÔNG TIN</dc:title>
  <dc:creator>HienDo</dc:creator>
  <cp:lastModifiedBy>Ho-Dat TRAN</cp:lastModifiedBy>
  <cp:revision>372</cp:revision>
  <dcterms:created xsi:type="dcterms:W3CDTF">2023-08-27T11:42:50Z</dcterms:created>
  <dcterms:modified xsi:type="dcterms:W3CDTF">2026-10-04T14:05:41Z</dcterms:modified>
</cp:coreProperties>
</file>